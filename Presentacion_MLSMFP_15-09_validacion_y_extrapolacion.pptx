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3" r:id="rId1"/>
  </p:sldMasterIdLst>
  <p:notesMasterIdLst>
    <p:notesMasterId r:id="rId38"/>
  </p:notesMasterIdLst>
  <p:handoutMasterIdLst>
    <p:handoutMasterId r:id="rId39"/>
  </p:handoutMasterIdLst>
  <p:sldIdLst>
    <p:sldId id="356" r:id="rId2"/>
    <p:sldId id="412" r:id="rId3"/>
    <p:sldId id="419" r:id="rId4"/>
    <p:sldId id="420" r:id="rId5"/>
    <p:sldId id="429" r:id="rId6"/>
    <p:sldId id="431" r:id="rId7"/>
    <p:sldId id="421" r:id="rId8"/>
    <p:sldId id="422" r:id="rId9"/>
    <p:sldId id="423" r:id="rId10"/>
    <p:sldId id="424" r:id="rId11"/>
    <p:sldId id="432" r:id="rId12"/>
    <p:sldId id="416" r:id="rId13"/>
    <p:sldId id="417" r:id="rId14"/>
    <p:sldId id="418" r:id="rId15"/>
    <p:sldId id="427" r:id="rId16"/>
    <p:sldId id="428" r:id="rId17"/>
    <p:sldId id="433" r:id="rId18"/>
    <p:sldId id="434" r:id="rId19"/>
    <p:sldId id="435" r:id="rId20"/>
    <p:sldId id="436" r:id="rId21"/>
    <p:sldId id="437" r:id="rId22"/>
    <p:sldId id="438" r:id="rId23"/>
    <p:sldId id="439" r:id="rId24"/>
    <p:sldId id="440" r:id="rId25"/>
    <p:sldId id="441" r:id="rId26"/>
    <p:sldId id="442" r:id="rId27"/>
    <p:sldId id="443" r:id="rId28"/>
    <p:sldId id="444" r:id="rId29"/>
    <p:sldId id="445" r:id="rId30"/>
    <p:sldId id="446" r:id="rId31"/>
    <p:sldId id="447" r:id="rId32"/>
    <p:sldId id="448" r:id="rId33"/>
    <p:sldId id="449" r:id="rId34"/>
    <p:sldId id="450" r:id="rId35"/>
    <p:sldId id="451" r:id="rId36"/>
    <p:sldId id="452" r:id="rId37"/>
  </p:sldIdLst>
  <p:sldSz cx="9144000" cy="5143500" type="screen16x9"/>
  <p:notesSz cx="6858000" cy="9144000"/>
  <p:embeddedFontLst>
    <p:embeddedFont>
      <p:font typeface="Libre Baskerville" panose="020B0604020202020204" charset="0"/>
      <p:regular r:id="rId40"/>
      <p:bold r:id="rId41"/>
      <p:italic r:id="rId42"/>
    </p:embeddedFont>
    <p:embeddedFont>
      <p:font typeface="Montserrat" panose="00000500000000000000" pitchFamily="2"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B3"/>
    <a:srgbClr val="A4FF9F"/>
    <a:srgbClr val="5E8CBE"/>
    <a:srgbClr val="867AB8"/>
    <a:srgbClr val="FF7C80"/>
    <a:srgbClr val="8BC5FA"/>
    <a:srgbClr val="31547B"/>
    <a:srgbClr val="355A84"/>
    <a:srgbClr val="93A6C1"/>
    <a:srgbClr val="5083C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70DF707-0B7A-4722-825E-A8C82910448D}">
  <a:tblStyle styleId="{B70DF707-0B7A-4722-825E-A8C82910448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Estilo claro 2 - Acento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84E427A-3D55-4303-BF80-6455036E1DE7}" styleName="Estilo temático 1 - Énfasis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762" autoAdjust="0"/>
    <p:restoredTop sz="94400" autoAdjust="0"/>
  </p:normalViewPr>
  <p:slideViewPr>
    <p:cSldViewPr snapToGrid="0">
      <p:cViewPr varScale="1">
        <p:scale>
          <a:sx n="87" d="100"/>
          <a:sy n="87" d="100"/>
        </p:scale>
        <p:origin x="96" y="102"/>
      </p:cViewPr>
      <p:guideLst>
        <p:guide orient="horz" pos="162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p:cViewPr varScale="1">
        <p:scale>
          <a:sx n="54" d="100"/>
          <a:sy n="54" d="100"/>
        </p:scale>
        <p:origin x="2565"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3.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4.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font" Target="fonts/font7.fntdata"/><Relationship Id="rId20" Type="http://schemas.openxmlformats.org/officeDocument/2006/relationships/slide" Target="slides/slide19.xml"/><Relationship Id="rId41"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01D31A96-AA36-E222-75CD-942A5EB9919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a:extLst>
              <a:ext uri="{FF2B5EF4-FFF2-40B4-BE49-F238E27FC236}">
                <a16:creationId xmlns:a16="http://schemas.microsoft.com/office/drawing/2014/main" id="{88C89931-5FA1-104C-E402-96DD3FE88BB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C416F0B-887D-48C5-BC7E-1B58F2397D46}" type="datetimeFigureOut">
              <a:rPr lang="es-CO" smtClean="0"/>
              <a:t>22/09/2026</a:t>
            </a:fld>
            <a:endParaRPr lang="es-CO"/>
          </a:p>
        </p:txBody>
      </p:sp>
      <p:sp>
        <p:nvSpPr>
          <p:cNvPr id="4" name="Marcador de pie de página 3">
            <a:extLst>
              <a:ext uri="{FF2B5EF4-FFF2-40B4-BE49-F238E27FC236}">
                <a16:creationId xmlns:a16="http://schemas.microsoft.com/office/drawing/2014/main" id="{CCDE2FF6-00C1-28C4-B854-E31A77EFB58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D3F43366-C97E-5D30-6A61-70599CFB0E2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8D8D6B6-0D79-4A52-B148-990ABCFC1EBF}" type="slidenum">
              <a:rPr lang="es-CO" smtClean="0"/>
              <a:t>‹Nº›</a:t>
            </a:fld>
            <a:endParaRPr lang="es-CO"/>
          </a:p>
        </p:txBody>
      </p:sp>
    </p:spTree>
    <p:extLst>
      <p:ext uri="{BB962C8B-B14F-4D97-AF65-F5344CB8AC3E}">
        <p14:creationId xmlns:p14="http://schemas.microsoft.com/office/powerpoint/2010/main" val="630113549"/>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1T14:39:27.120"/>
    </inkml:context>
    <inkml:brush xml:id="br0">
      <inkml:brushProperty name="width" value="0.2" units="cm"/>
      <inkml:brushProperty name="height" value="0.2" units="cm"/>
      <inkml:brushProperty name="color" value="#FFFFFF"/>
    </inkml:brush>
  </inkml:definitions>
  <inkml:trace contextRef="#ctx0" brushRef="#br0">0 0 24461,'1039'19'0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27698632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52ACD-391E-BFA8-4946-273C3C1B706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360AC92-FD3C-B5B1-9592-566E42FFD122}"/>
              </a:ext>
            </a:extLst>
          </p:cNvPr>
          <p:cNvSpPr>
            <a:spLocks noGrp="1" noRot="1" noChangeAspect="1"/>
          </p:cNvSpPr>
          <p:nvPr>
            <p:ph type="sldImg"/>
          </p:nvPr>
        </p:nvSpPr>
        <p:spPr>
          <a:xfrm>
            <a:off x="381000" y="685800"/>
            <a:ext cx="6096000" cy="3429000"/>
          </a:xfrm>
        </p:spPr>
      </p:sp>
      <p:sp>
        <p:nvSpPr>
          <p:cNvPr id="3" name="Marcador de notas 2">
            <a:extLst>
              <a:ext uri="{FF2B5EF4-FFF2-40B4-BE49-F238E27FC236}">
                <a16:creationId xmlns:a16="http://schemas.microsoft.com/office/drawing/2014/main" id="{9F749602-211D-CC24-93A9-B99A4826DC34}"/>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34725660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209AF-B256-F79D-01C0-DEE25CE6178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EFE2BDB-D1CD-9102-A167-9BEACBD2543B}"/>
              </a:ext>
            </a:extLst>
          </p:cNvPr>
          <p:cNvSpPr>
            <a:spLocks noGrp="1" noRot="1" noChangeAspect="1"/>
          </p:cNvSpPr>
          <p:nvPr>
            <p:ph type="sldImg"/>
          </p:nvPr>
        </p:nvSpPr>
        <p:spPr>
          <a:xfrm>
            <a:off x="381000" y="685800"/>
            <a:ext cx="6096000" cy="3429000"/>
          </a:xfrm>
        </p:spPr>
      </p:sp>
      <p:sp>
        <p:nvSpPr>
          <p:cNvPr id="3" name="Marcador de notas 2">
            <a:extLst>
              <a:ext uri="{FF2B5EF4-FFF2-40B4-BE49-F238E27FC236}">
                <a16:creationId xmlns:a16="http://schemas.microsoft.com/office/drawing/2014/main" id="{16A35544-7779-52CD-525A-C3F8424B76E4}"/>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34762979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17103367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38763-6BE7-3EED-06AF-187EA77AC4E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5DBBC01-22A6-4A87-E929-CC7F58418444}"/>
              </a:ext>
            </a:extLst>
          </p:cNvPr>
          <p:cNvSpPr>
            <a:spLocks noGrp="1" noRot="1" noChangeAspect="1"/>
          </p:cNvSpPr>
          <p:nvPr>
            <p:ph type="sldImg"/>
          </p:nvPr>
        </p:nvSpPr>
        <p:spPr>
          <a:xfrm>
            <a:off x="381000" y="685800"/>
            <a:ext cx="6096000" cy="3429000"/>
          </a:xfrm>
        </p:spPr>
      </p:sp>
      <p:sp>
        <p:nvSpPr>
          <p:cNvPr id="3" name="Marcador de notas 2">
            <a:extLst>
              <a:ext uri="{FF2B5EF4-FFF2-40B4-BE49-F238E27FC236}">
                <a16:creationId xmlns:a16="http://schemas.microsoft.com/office/drawing/2014/main" id="{E5E92510-A5BB-A530-B362-1E6107B37425}"/>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28655307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8E2EB-6CB3-7D3A-712B-258AC4F713D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8856E60-D474-CB55-D00C-240581A3C646}"/>
              </a:ext>
            </a:extLst>
          </p:cNvPr>
          <p:cNvSpPr>
            <a:spLocks noGrp="1" noRot="1" noChangeAspect="1"/>
          </p:cNvSpPr>
          <p:nvPr>
            <p:ph type="sldImg"/>
          </p:nvPr>
        </p:nvSpPr>
        <p:spPr>
          <a:xfrm>
            <a:off x="381000" y="685800"/>
            <a:ext cx="6096000" cy="3429000"/>
          </a:xfrm>
        </p:spPr>
      </p:sp>
      <p:sp>
        <p:nvSpPr>
          <p:cNvPr id="3" name="Marcador de notas 2">
            <a:extLst>
              <a:ext uri="{FF2B5EF4-FFF2-40B4-BE49-F238E27FC236}">
                <a16:creationId xmlns:a16="http://schemas.microsoft.com/office/drawing/2014/main" id="{F8ECDF11-1B20-9101-FCCE-82BA35AEEE8D}"/>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13648845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Graph neural network-based surrogate modelling for real-time hydraulic prediction of urban drainage networks</a:t>
            </a:r>
          </a:p>
          <a:p>
            <a:r>
              <a:t>*Detalles computacionales del preprint; publicación revisada verificada. Contrastar con versión editorial antes de replicar.</a:t>
            </a:r>
          </a:p>
          <a:p>
            <a:r>
              <a:t>Fuente: https://arxiv.org/pdf/2404.10324</a:t>
            </a:r>
          </a:p>
          <a:p>
            <a:r>
              <a:t>Código: https://github.com/Zhiyu014/GNN-UDS</a:t>
            </a:r>
          </a:p>
          <a:p>
            <a:endParaRPr/>
          </a:p>
          <a:p>
            <a:r>
              <a:t>Extended English synthesis is an original paraphrase; consult the DOI for the publisher abstract.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Accelerating hydrodynamic simulations of urban drainage systems with physics-guided machine learning</a:t>
            </a:r>
          </a:p>
          <a:p>
            <a:r>
              <a:t>Texto publicado, secciones 2.3–2.6, 3.2 y 3.5. Sus tiempos no incluyen nuestro desarrollo ni se trasladan a nuestra red.</a:t>
            </a:r>
          </a:p>
          <a:p>
            <a:r>
              <a:t>Fuente: https://backend.orbit.dtu.dk/ws/portalfiles/portal/282620979/1_s2.0_S0043135422009198_main.pdf</a:t>
            </a:r>
          </a:p>
          <a:p>
            <a:r>
              <a:t>Código: </a:t>
            </a:r>
          </a:p>
          <a:p>
            <a:endParaRPr/>
          </a:p>
          <a:p>
            <a:r>
              <a:t>Extended English synthesis is an original paraphrase; consult the DOI for the publisher abstract.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Transferable and data efficient metamodeling of storm water system nodal depths using auto-regressive graph neural networks</a:t>
            </a:r>
          </a:p>
          <a:p>
            <a:r>
              <a:t>Texto publicado, secciones 2.1, 2.4, 4.3–4.4 y 6.2.3. Transferencia limitada y objetivo distinto al de la tesis.</a:t>
            </a:r>
          </a:p>
          <a:p>
            <a:r>
              <a:t>Fuente: https://repository.tudelft.nl/file/File_82fef3ff-9a5f-4275-bd8f-6a4eb06c463d</a:t>
            </a:r>
          </a:p>
          <a:p>
            <a:r>
              <a:t>Código: https://github.com/alextremo0205/SWMM_GNN_Repository_Paper_version</a:t>
            </a:r>
          </a:p>
          <a:p>
            <a:endParaRPr/>
          </a:p>
          <a:p>
            <a:r>
              <a:t>Extended English synthesis is an original paraphrase; consult the DOI for the publisher abstract.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Evaluation of graph neural networks for urban drainage metamodeling: Key components and transferability analysis</a:t>
            </a:r>
          </a:p>
          <a:p>
            <a:r>
              <a:t>Texto publicado, secciones 3.3–3.6 y 5.3; README del código. A100 usada no significa A100 obligatoria.</a:t>
            </a:r>
          </a:p>
          <a:p>
            <a:r>
              <a:t>Fuente: https://repository.tudelft.nl/file/File_1cf09147-d8d4-4be3-8b42-f2e508ab64a6</a:t>
            </a:r>
          </a:p>
          <a:p>
            <a:r>
              <a:t>Código: https://github.com/alextremo0205/SWMM_GNN_Component_Evaluation_and_Transferability_Analysis</a:t>
            </a:r>
          </a:p>
          <a:p>
            <a:endParaRPr/>
          </a:p>
          <a:p>
            <a:r>
              <a:t>Extended English synthesis is an original paraphrase; consult the DOI for the publisher abstract.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Evaluation of Artificial Neural Network Surrogate Models for Detention-Based Flood Control in Urban Areas</a:t>
            </a:r>
          </a:p>
          <a:p>
            <a:r>
              <a:t>Solo resumen editorial y afiliaciones. Publicado en línea 03/09/2026; número de revista noviembre 2026.</a:t>
            </a:r>
          </a:p>
          <a:p>
            <a:r>
              <a:t>Fuente: https://ascelibrary.org/doi/abs/10.1061/JWRMD5.WRENG-7598</a:t>
            </a:r>
          </a:p>
          <a:p>
            <a:r>
              <a:t>Código: </a:t>
            </a:r>
          </a:p>
          <a:p>
            <a:endParaRPr/>
          </a:p>
          <a:p>
            <a:r>
              <a:t>Extended English synthesis is an original paraphrase; consult the DOI for the publisher abstract.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P1</a:t>
            </a:r>
          </a:p>
          <a:p>
            <a:r>
              <a:t>*Detalles computacionales del preprint; publicación revisada verificada. Contrastar con versión editorial antes de replicar.</a:t>
            </a:r>
          </a:p>
          <a:p>
            <a:r>
              <a:t>CONDICIONAL: útil si necesitamos dinámica temporal; no sustituir XGBoost solo por modernidad.</a:t>
            </a:r>
          </a:p>
          <a:p>
            <a:r>
              <a:t>Fuente: https://arxiv.org/pdf/2404.10324</a:t>
            </a:r>
          </a:p>
          <a:p>
            <a:endParaRPr/>
          </a:p>
          <a:p>
            <a:r>
              <a:t>P2</a:t>
            </a:r>
          </a:p>
          <a:p>
            <a:r>
              <a:t>Texto publicado, secciones 2.3–2.6, 3.2 y 3.5. Sus tiempos no incluyen nuestro desarrollo ni se trasladan a nuestra red.</a:t>
            </a:r>
          </a:p>
          <a:p>
            <a:r>
              <a:t>APROVECHAR IDEAS: extremos y errores de volumen. Implementación temporal completa, solo con una necesidad demostrada.</a:t>
            </a:r>
          </a:p>
          <a:p>
            <a:r>
              <a:t>Fuente: https://backend.orbit.dtu.dk/ws/portalfiles/portal/282620979/1_s2.0_S0043135422009198_main.pdf</a:t>
            </a:r>
          </a:p>
          <a:p>
            <a:endParaRPr/>
          </a:p>
          <a:p>
            <a:r>
              <a:t>Estimated effort is specific to adapting the method to our target, not an author-reported result.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P3</a:t>
            </a:r>
          </a:p>
          <a:p>
            <a:r>
              <a:t>Texto publicado, secciones 2.1, 2.4, 4.3–4.4 y 6.2.3. Transferencia limitada y objetivo distinto al de la tesis.</a:t>
            </a:r>
          </a:p>
          <a:p>
            <a:r>
              <a:t>SEGUNDA ETAPA: mejor candidato reproducible si la topología aporta valor medible sobre la MLP.</a:t>
            </a:r>
          </a:p>
          <a:p>
            <a:r>
              <a:t>Fuente: https://repository.tudelft.nl/file/File_82fef3ff-9a5f-4275-bd8f-6a4eb06c463d</a:t>
            </a:r>
          </a:p>
          <a:p>
            <a:endParaRPr/>
          </a:p>
          <a:p>
            <a:r>
              <a:t>P4</a:t>
            </a:r>
          </a:p>
          <a:p>
            <a:r>
              <a:t>Texto publicado, secciones 3.3–3.6 y 5.3; README del código. A100 usada no significa A100 obligatoria.</a:t>
            </a:r>
          </a:p>
          <a:p>
            <a:r>
              <a:t>POSPONER: alto costo para el objetivo actual. Priorizar cuando transferencia sea una pregunta central de la tesis.</a:t>
            </a:r>
          </a:p>
          <a:p>
            <a:r>
              <a:t>Fuente: https://repository.tudelft.nl/file/File_1cf09147-d8d4-4be3-8b42-f2e508ab64a6</a:t>
            </a:r>
          </a:p>
          <a:p>
            <a:endParaRPr/>
          </a:p>
          <a:p>
            <a:r>
              <a:t>P5</a:t>
            </a:r>
          </a:p>
          <a:p>
            <a:r>
              <a:t>Solo resumen editorial y afiliaciones. Publicado en línea 03/09/2026; número de revista noviembre 2026.</a:t>
            </a:r>
          </a:p>
          <a:p>
            <a:r>
              <a:t>PRIORIDAD ALTA: piloto MLP acotado; consultar texto completo antes de atribuirle detalles de entrenamiento.</a:t>
            </a:r>
          </a:p>
          <a:p>
            <a:r>
              <a:t>Fuente: https://ascelibrary.org/doi/abs/10.1061/JWRMD5.WRENG-7598</a:t>
            </a:r>
          </a:p>
          <a:p>
            <a:endParaRPr/>
          </a:p>
          <a:p>
            <a:r>
              <a:t>Estimated effort is specific to adapting the method to our target, not an author-reported result.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P1 *Detalles computacionales del preprint; publicación revisada verificada. Contrastar con versión editorial antes de replicar.</a:t>
            </a:r>
          </a:p>
          <a:p>
            <a:r>
              <a:t>https://arxiv.org/pdf/2404.10324</a:t>
            </a:r>
          </a:p>
          <a:p>
            <a:r>
              <a:t>https://github.com/Zhiyu014/GNN-UDS</a:t>
            </a:r>
          </a:p>
          <a:p>
            <a:endParaRPr/>
          </a:p>
          <a:p>
            <a:r>
              <a:t>P2 Texto publicado, secciones 2.3–2.6, 3.2 y 3.5. Sus tiempos no incluyen nuestro desarrollo ni se trasladan a nuestra red.</a:t>
            </a:r>
          </a:p>
          <a:p>
            <a:r>
              <a:t>https://backend.orbit.dtu.dk/ws/portalfiles/portal/282620979/1_s2.0_S0043135422009198_main.pdf</a:t>
            </a:r>
          </a:p>
          <a:p>
            <a:endParaRPr/>
          </a:p>
          <a:p>
            <a:endParaRPr/>
          </a:p>
          <a:p>
            <a:r>
              <a:t>P3 Texto publicado, secciones 2.1, 2.4, 4.3–4.4 y 6.2.3. Transferencia limitada y objetivo distinto al de la tesis.</a:t>
            </a:r>
          </a:p>
          <a:p>
            <a:r>
              <a:t>https://repository.tudelft.nl/file/File_82fef3ff-9a5f-4275-bd8f-6a4eb06c463d</a:t>
            </a:r>
          </a:p>
          <a:p>
            <a:r>
              <a:t>https://github.com/alextremo0205/SWMM_GNN_Repository_Paper_version</a:t>
            </a:r>
          </a:p>
          <a:p>
            <a:endParaRPr/>
          </a:p>
          <a:p>
            <a:r>
              <a:t>P4 Texto publicado, secciones 3.3–3.6 y 5.3; README del código. A100 usada no significa A100 obligatoria.</a:t>
            </a:r>
          </a:p>
          <a:p>
            <a:r>
              <a:t>https://repository.tudelft.nl/file/File_1cf09147-d8d4-4be3-8b42-f2e508ab64a6</a:t>
            </a:r>
          </a:p>
          <a:p>
            <a:r>
              <a:t>https://github.com/alextremo0205/SWMM_GNN_Component_Evaluation_and_Transferability_Analysis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P5 Solo resumen editorial y afiliaciones. Publicado en línea 03/09/2026; número de revista noviembre 2026.</a:t>
            </a:r>
          </a:p>
          <a:p>
            <a:r>
              <a:t>https://ascelibrary.org/doi/abs/10.1061/JWRMD5.WRENG-7598</a:t>
            </a:r>
          </a:p>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Validation scenario: val_double_peak_7h15_f2.500. Total flood volume: SWMM=11853.0 m3; XGBoost=9016.45496726036 m3; error=-23.931030395171174%. Classification TP=48, TN=109, FP=2, FN=1; MAE flooded=62.20207897497683; RMSE flooded=113.01502269869242.</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val_early_flash_2h45_f3.100. SWMM=5075.0 m3; XGBoost=5098.680940628052 m3; error=0.46661951976456667%. Classification: TP=61, TN=97, FP=2, FN=0; MAE flooded=8.983326059872986; RMSE flooded=13.137753366740471.</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val_long_late_11h75_f1.900. SWMM=8147.0 m3; XGBoost=8290.07001876831 m3; error=1.756106772656322%. Classification: TP=37, TN=121, FP=2, FN=0; MAE flooded=40.60555630761224; RMSE flooded=66.94986376428494.</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val_triple_pulse_5h75_f3.700. SWMM=22818.0 m3; XGBoost=22936.970107793808 m3; error=0.521387097001525%. Classification: TP=74, TN=83, FP=3, FN=0; MAE flooded=35.01980643981212; RMSE flooded=64.18400238809014.</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val_single_peak_4h5_f2.300. SWMM=6271.0 m3; XGBoost=4546.102333307266 m3; error=-27.50594269961304%. Classification: TP=44, TN=114, FP=1, FN=1; MAE flooded=38.80525533888075; RMSE flooded=56.31726775146786.</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val_extrap_ultrafast_20min_f3.700. SWMM=829.0 m3; XGBoost=622.5739199221134 m3; error=-24.900612795884992%. Classification: TP=64, TN=88, FP=8, FN=0; MAE flooded=3.558563472237438; RMSE flooded=5.687336441212176.</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val_extrap_marathon_20h_f2.500. SWMM=28227.0 m3; XGBoost=23801.18204021454 m3; error=-15.679377758123291%. Classification: TP=48, TN=109, FP=2, FN=1; MAE flooded=104.34113975447052; RMSE flooded=184.2450113557699.</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reserve="1" userDrawn="1">
  <p:cSld name="Portada">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mt="12000"/>
          </a:blip>
          <a:stretch>
            <a:fillRect/>
          </a:stretch>
        </p:blipFill>
        <p:spPr>
          <a:xfrm>
            <a:off x="-3" y="0"/>
            <a:ext cx="9144000" cy="5143500"/>
          </a:xfrm>
          <a:prstGeom prst="rect">
            <a:avLst/>
          </a:prstGeom>
          <a:noFill/>
          <a:ln>
            <a:noFill/>
          </a:ln>
        </p:spPr>
      </p:pic>
      <p:sp>
        <p:nvSpPr>
          <p:cNvPr id="4" name="Marcador de número de diapositiva 32">
            <a:extLst>
              <a:ext uri="{FF2B5EF4-FFF2-40B4-BE49-F238E27FC236}">
                <a16:creationId xmlns:a16="http://schemas.microsoft.com/office/drawing/2014/main" id="{502B9196-72B9-D526-4C1D-BD5F0CF5C7A6}"/>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
        <p:nvSpPr>
          <p:cNvPr id="2" name="Título 1">
            <a:extLst>
              <a:ext uri="{FF2B5EF4-FFF2-40B4-BE49-F238E27FC236}">
                <a16:creationId xmlns:a16="http://schemas.microsoft.com/office/drawing/2014/main" id="{1835F034-20D9-B4C5-8358-9688592E6032}"/>
              </a:ext>
            </a:extLst>
          </p:cNvPr>
          <p:cNvSpPr>
            <a:spLocks noGrp="1"/>
          </p:cNvSpPr>
          <p:nvPr>
            <p:ph type="title"/>
          </p:nvPr>
        </p:nvSpPr>
        <p:spPr>
          <a:xfrm>
            <a:off x="1230705" y="987873"/>
            <a:ext cx="6588199" cy="375821"/>
          </a:xfrm>
        </p:spPr>
        <p:txBody>
          <a:bodyPr/>
          <a:lstStyle>
            <a:lvl1pPr algn="ctr">
              <a:defRPr sz="3600"/>
            </a:lvl1pPr>
          </a:lstStyle>
          <a:p>
            <a:r>
              <a:rPr lang="es-ES" dirty="0"/>
              <a:t>Haga clic para modificar el estilo de título del patrón</a:t>
            </a:r>
            <a:endParaRPr lang="es-CO" dirty="0"/>
          </a:p>
        </p:txBody>
      </p:sp>
      <p:cxnSp>
        <p:nvCxnSpPr>
          <p:cNvPr id="3" name="Conector recto 2">
            <a:extLst>
              <a:ext uri="{FF2B5EF4-FFF2-40B4-BE49-F238E27FC236}">
                <a16:creationId xmlns:a16="http://schemas.microsoft.com/office/drawing/2014/main" id="{089B234E-DA3E-ADB7-C645-D2663C91D17A}"/>
              </a:ext>
            </a:extLst>
          </p:cNvPr>
          <p:cNvCxnSpPr/>
          <p:nvPr userDrawn="1"/>
        </p:nvCxnSpPr>
        <p:spPr>
          <a:xfrm>
            <a:off x="224175" y="3099830"/>
            <a:ext cx="8695649" cy="0"/>
          </a:xfrm>
          <a:prstGeom prst="line">
            <a:avLst/>
          </a:prstGeom>
          <a:ln w="19050"/>
        </p:spPr>
        <p:style>
          <a:lnRef idx="1">
            <a:schemeClr val="dk1"/>
          </a:lnRef>
          <a:fillRef idx="0">
            <a:schemeClr val="dk1"/>
          </a:fillRef>
          <a:effectRef idx="0">
            <a:schemeClr val="dk1"/>
          </a:effectRef>
          <a:fontRef idx="minor">
            <a:schemeClr val="tx1"/>
          </a:fontRef>
        </p:style>
      </p:cxnSp>
      <p:sp>
        <p:nvSpPr>
          <p:cNvPr id="5" name="Google Shape;11;p2">
            <a:extLst>
              <a:ext uri="{FF2B5EF4-FFF2-40B4-BE49-F238E27FC236}">
                <a16:creationId xmlns:a16="http://schemas.microsoft.com/office/drawing/2014/main" id="{46BD2D74-0A2E-C2B6-BEBB-A7A73007EDF2}"/>
              </a:ext>
            </a:extLst>
          </p:cNvPr>
          <p:cNvSpPr txBox="1">
            <a:spLocks noGrp="1"/>
          </p:cNvSpPr>
          <p:nvPr>
            <p:ph type="subTitle" idx="1"/>
          </p:nvPr>
        </p:nvSpPr>
        <p:spPr>
          <a:xfrm>
            <a:off x="2318445" y="3513265"/>
            <a:ext cx="4507107" cy="4056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2000"/>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dirty="0"/>
          </a:p>
        </p:txBody>
      </p:sp>
      <p:sp>
        <p:nvSpPr>
          <p:cNvPr id="7" name="Marcador de texto 6">
            <a:extLst>
              <a:ext uri="{FF2B5EF4-FFF2-40B4-BE49-F238E27FC236}">
                <a16:creationId xmlns:a16="http://schemas.microsoft.com/office/drawing/2014/main" id="{CBC81BF4-67AC-BF92-3B23-337A171E5C5F}"/>
              </a:ext>
            </a:extLst>
          </p:cNvPr>
          <p:cNvSpPr>
            <a:spLocks noGrp="1"/>
          </p:cNvSpPr>
          <p:nvPr>
            <p:ph type="body" sz="quarter" idx="10" hasCustomPrompt="1"/>
          </p:nvPr>
        </p:nvSpPr>
        <p:spPr>
          <a:xfrm>
            <a:off x="4010747" y="4108392"/>
            <a:ext cx="1122501" cy="447813"/>
          </a:xfrm>
        </p:spPr>
        <p:txBody>
          <a:bodyPr/>
          <a:lstStyle>
            <a:lvl1pPr marL="114300" indent="0">
              <a:buNone/>
              <a:defRPr sz="1400"/>
            </a:lvl1pPr>
          </a:lstStyle>
          <a:p>
            <a:pPr lvl="0"/>
            <a:r>
              <a:rPr lang="es-ES" dirty="0" err="1"/>
              <a:t>to</a:t>
            </a:r>
            <a:r>
              <a:rPr lang="es-ES" dirty="0"/>
              <a:t> nivel</a:t>
            </a:r>
            <a:endParaRPr lang="es-CO" dirty="0"/>
          </a:p>
        </p:txBody>
      </p:sp>
    </p:spTree>
    <p:extLst>
      <p:ext uri="{BB962C8B-B14F-4D97-AF65-F5344CB8AC3E}">
        <p14:creationId xmlns:p14="http://schemas.microsoft.com/office/powerpoint/2010/main" val="1889363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reserve="1">
  <p:cSld name="Title slid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10" name="Google Shape;10;p2"/>
          <p:cNvSpPr txBox="1">
            <a:spLocks noGrp="1"/>
          </p:cNvSpPr>
          <p:nvPr>
            <p:ph type="ctrTitle"/>
          </p:nvPr>
        </p:nvSpPr>
        <p:spPr>
          <a:xfrm>
            <a:off x="711350" y="1423263"/>
            <a:ext cx="5405100" cy="1948500"/>
          </a:xfrm>
          <a:prstGeom prst="rect">
            <a:avLst/>
          </a:prstGeom>
          <a:noFill/>
        </p:spPr>
        <p:txBody>
          <a:bodyPr spcFirstLastPara="1" wrap="square" lIns="91425" tIns="91425" rIns="91425" bIns="91425" anchor="t" anchorCtr="0">
            <a:noAutofit/>
          </a:bodyPr>
          <a:lstStyle>
            <a:lvl1pPr lvl="0" rtl="0">
              <a:lnSpc>
                <a:spcPct val="90000"/>
              </a:lnSpc>
              <a:spcBef>
                <a:spcPts val="0"/>
              </a:spcBef>
              <a:spcAft>
                <a:spcPts val="0"/>
              </a:spcAft>
              <a:buSzPts val="5200"/>
              <a:buNone/>
              <a:defRPr sz="4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dirty="0"/>
          </a:p>
        </p:txBody>
      </p:sp>
      <p:sp>
        <p:nvSpPr>
          <p:cNvPr id="11" name="Google Shape;11;p2"/>
          <p:cNvSpPr txBox="1">
            <a:spLocks noGrp="1"/>
          </p:cNvSpPr>
          <p:nvPr>
            <p:ph type="subTitle" idx="1"/>
          </p:nvPr>
        </p:nvSpPr>
        <p:spPr>
          <a:xfrm>
            <a:off x="711350" y="3314625"/>
            <a:ext cx="5405100" cy="405600"/>
          </a:xfrm>
          <a:prstGeom prst="rect">
            <a:avLst/>
          </a:prstGeom>
          <a:noFill/>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600"/>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dirty="0"/>
          </a:p>
        </p:txBody>
      </p:sp>
      <p:sp>
        <p:nvSpPr>
          <p:cNvPr id="4" name="Marcador de número de diapositiva 32">
            <a:extLst>
              <a:ext uri="{FF2B5EF4-FFF2-40B4-BE49-F238E27FC236}">
                <a16:creationId xmlns:a16="http://schemas.microsoft.com/office/drawing/2014/main" id="{502B9196-72B9-D526-4C1D-BD5F0CF5C7A6}"/>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36095087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reserve="1">
  <p:cSld name="Section header">
    <p:spTree>
      <p:nvGrpSpPr>
        <p:cNvPr id="1" name="Shape 14"/>
        <p:cNvGrpSpPr/>
        <p:nvPr/>
      </p:nvGrpSpPr>
      <p:grpSpPr>
        <a:xfrm>
          <a:off x="0" y="0"/>
          <a:ext cx="0" cy="0"/>
          <a:chOff x="0" y="0"/>
          <a:chExt cx="0" cy="0"/>
        </a:xfrm>
      </p:grpSpPr>
      <p:pic>
        <p:nvPicPr>
          <p:cNvPr id="15" name="Google Shape;15;p3"/>
          <p:cNvPicPr preferRelativeResize="0"/>
          <p:nvPr/>
        </p:nvPicPr>
        <p:blipFill>
          <a:blip r:embed="rId2">
            <a:alphaModFix amt="12000"/>
          </a:blip>
          <a:stretch>
            <a:fillRect/>
          </a:stretch>
        </p:blipFill>
        <p:spPr>
          <a:xfrm>
            <a:off x="0" y="-22250"/>
            <a:ext cx="9144000" cy="5143500"/>
          </a:xfrm>
          <a:prstGeom prst="rect">
            <a:avLst/>
          </a:prstGeom>
          <a:noFill/>
          <a:ln>
            <a:noFill/>
          </a:ln>
        </p:spPr>
      </p:pic>
      <p:sp>
        <p:nvSpPr>
          <p:cNvPr id="16" name="Google Shape;16;p3"/>
          <p:cNvSpPr txBox="1">
            <a:spLocks noGrp="1"/>
          </p:cNvSpPr>
          <p:nvPr>
            <p:ph type="title"/>
          </p:nvPr>
        </p:nvSpPr>
        <p:spPr>
          <a:xfrm>
            <a:off x="1141350" y="2549500"/>
            <a:ext cx="6861300" cy="1078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5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7" name="Google Shape;17;p3"/>
          <p:cNvSpPr txBox="1">
            <a:spLocks noGrp="1"/>
          </p:cNvSpPr>
          <p:nvPr>
            <p:ph type="title" idx="2" hasCustomPrompt="1"/>
          </p:nvPr>
        </p:nvSpPr>
        <p:spPr>
          <a:xfrm>
            <a:off x="3758700" y="1353788"/>
            <a:ext cx="1626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solidFill>
                  <a:schemeClr val="dk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8" name="Google Shape;18;p3"/>
          <p:cNvSpPr txBox="1">
            <a:spLocks noGrp="1"/>
          </p:cNvSpPr>
          <p:nvPr>
            <p:ph type="subTitle" idx="1"/>
          </p:nvPr>
        </p:nvSpPr>
        <p:spPr>
          <a:xfrm>
            <a:off x="2331150" y="3627713"/>
            <a:ext cx="4481700" cy="389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 name="Marcador de número de diapositiva 32">
            <a:extLst>
              <a:ext uri="{FF2B5EF4-FFF2-40B4-BE49-F238E27FC236}">
                <a16:creationId xmlns:a16="http://schemas.microsoft.com/office/drawing/2014/main" id="{D7D205FF-0CD9-CE2F-E2C1-83481A2B81DB}"/>
              </a:ext>
            </a:extLst>
          </p:cNvPr>
          <p:cNvSpPr>
            <a:spLocks noGrp="1"/>
          </p:cNvSpPr>
          <p:nvPr>
            <p:ph type="sldNum" sz="quarter" idx="4"/>
          </p:nvPr>
        </p:nvSpPr>
        <p:spPr>
          <a:xfrm>
            <a:off x="697395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11977197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reserve="1">
  <p:cSld name="Title and body">
    <p:spTree>
      <p:nvGrpSpPr>
        <p:cNvPr id="1" name="Shape 21"/>
        <p:cNvGrpSpPr/>
        <p:nvPr/>
      </p:nvGrpSpPr>
      <p:grpSpPr>
        <a:xfrm>
          <a:off x="0" y="0"/>
          <a:ext cx="0" cy="0"/>
          <a:chOff x="0" y="0"/>
          <a:chExt cx="0" cy="0"/>
        </a:xfrm>
      </p:grpSpPr>
      <p:pic>
        <p:nvPicPr>
          <p:cNvPr id="22" name="Google Shape;22;p4"/>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23" name="Google Shape;23;p4"/>
          <p:cNvSpPr txBox="1">
            <a:spLocks noGrp="1"/>
          </p:cNvSpPr>
          <p:nvPr>
            <p:ph type="body" idx="1"/>
          </p:nvPr>
        </p:nvSpPr>
        <p:spPr>
          <a:xfrm>
            <a:off x="720000" y="1521092"/>
            <a:ext cx="7704000" cy="498300"/>
          </a:xfrm>
          <a:prstGeom prst="rect">
            <a:avLst/>
          </a:prstGeom>
        </p:spPr>
        <p:txBody>
          <a:bodyPr spcFirstLastPara="1" wrap="square" lIns="91425" tIns="91425" rIns="91425" bIns="91425" anchor="t" anchorCtr="0">
            <a:noAutofit/>
          </a:bodyPr>
          <a:lstStyle>
            <a:lvl1pPr marL="139700" lvl="0" indent="0" algn="l" rtl="0">
              <a:lnSpc>
                <a:spcPct val="100000"/>
              </a:lnSpc>
              <a:spcBef>
                <a:spcPts val="0"/>
              </a:spcBef>
              <a:spcAft>
                <a:spcPts val="0"/>
              </a:spcAft>
              <a:buSzPts val="1400"/>
              <a:buFontTx/>
              <a:buNone/>
              <a:defRPr sz="16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dirty="0"/>
          </a:p>
        </p:txBody>
      </p:sp>
      <p:sp>
        <p:nvSpPr>
          <p:cNvPr id="24" name="Google Shape;24;p4"/>
          <p:cNvSpPr txBox="1">
            <a:spLocks noGrp="1"/>
          </p:cNvSpPr>
          <p:nvPr>
            <p:ph type="title"/>
          </p:nvPr>
        </p:nvSpPr>
        <p:spPr>
          <a:xfrm>
            <a:off x="720000" y="719146"/>
            <a:ext cx="7704000" cy="58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100"/>
              <a:buNone/>
              <a:defRPr sz="33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dirty="0"/>
          </a:p>
        </p:txBody>
      </p:sp>
      <p:sp>
        <p:nvSpPr>
          <p:cNvPr id="2" name="Marcador de número de diapositiva 32">
            <a:extLst>
              <a:ext uri="{FF2B5EF4-FFF2-40B4-BE49-F238E27FC236}">
                <a16:creationId xmlns:a16="http://schemas.microsoft.com/office/drawing/2014/main" id="{4A24E282-299A-8125-64F0-0A3A21458A06}"/>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1617664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reserve="1" userDrawn="1">
  <p:cSld name="Title only">
    <p:spTree>
      <p:nvGrpSpPr>
        <p:cNvPr id="1" name="Shape 38"/>
        <p:cNvGrpSpPr/>
        <p:nvPr/>
      </p:nvGrpSpPr>
      <p:grpSpPr>
        <a:xfrm>
          <a:off x="0" y="0"/>
          <a:ext cx="0" cy="0"/>
          <a:chOff x="0" y="0"/>
          <a:chExt cx="0" cy="0"/>
        </a:xfrm>
      </p:grpSpPr>
      <p:pic>
        <p:nvPicPr>
          <p:cNvPr id="39" name="Google Shape;39;p6"/>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2" name="Marcador de número de diapositiva 32">
            <a:extLst>
              <a:ext uri="{FF2B5EF4-FFF2-40B4-BE49-F238E27FC236}">
                <a16:creationId xmlns:a16="http://schemas.microsoft.com/office/drawing/2014/main" id="{1AF50676-8359-BE63-DD6F-3F783BB612C7}"/>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
        <p:nvSpPr>
          <p:cNvPr id="3" name="Google Shape;24;p4">
            <a:extLst>
              <a:ext uri="{FF2B5EF4-FFF2-40B4-BE49-F238E27FC236}">
                <a16:creationId xmlns:a16="http://schemas.microsoft.com/office/drawing/2014/main" id="{B7538562-B18C-A308-8992-A29375029CFE}"/>
              </a:ext>
            </a:extLst>
          </p:cNvPr>
          <p:cNvSpPr txBox="1">
            <a:spLocks noGrp="1"/>
          </p:cNvSpPr>
          <p:nvPr>
            <p:ph type="title"/>
          </p:nvPr>
        </p:nvSpPr>
        <p:spPr>
          <a:xfrm>
            <a:off x="720000" y="719146"/>
            <a:ext cx="7704000" cy="58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100"/>
              <a:buNone/>
              <a:defRPr sz="33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dirty="0"/>
          </a:p>
        </p:txBody>
      </p:sp>
    </p:spTree>
    <p:extLst>
      <p:ext uri="{BB962C8B-B14F-4D97-AF65-F5344CB8AC3E}">
        <p14:creationId xmlns:p14="http://schemas.microsoft.com/office/powerpoint/2010/main" val="34461591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body" type="tx" preserve="1">
  <p:cSld name="1_Title and body">
    <p:spTree>
      <p:nvGrpSpPr>
        <p:cNvPr id="1" name="Shape 21"/>
        <p:cNvGrpSpPr/>
        <p:nvPr/>
      </p:nvGrpSpPr>
      <p:grpSpPr>
        <a:xfrm>
          <a:off x="0" y="0"/>
          <a:ext cx="0" cy="0"/>
          <a:chOff x="0" y="0"/>
          <a:chExt cx="0" cy="0"/>
        </a:xfrm>
      </p:grpSpPr>
      <p:pic>
        <p:nvPicPr>
          <p:cNvPr id="22" name="Google Shape;22;p4"/>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23" name="Google Shape;23;p4"/>
          <p:cNvSpPr txBox="1">
            <a:spLocks noGrp="1"/>
          </p:cNvSpPr>
          <p:nvPr>
            <p:ph type="body" idx="1"/>
          </p:nvPr>
        </p:nvSpPr>
        <p:spPr>
          <a:xfrm>
            <a:off x="720000" y="1391583"/>
            <a:ext cx="7704000" cy="498300"/>
          </a:xfrm>
          <a:prstGeom prst="rect">
            <a:avLst/>
          </a:prstGeom>
        </p:spPr>
        <p:txBody>
          <a:bodyPr spcFirstLastPara="1" wrap="square" lIns="91425" tIns="91425" rIns="91425" bIns="91425" anchor="t" anchorCtr="0">
            <a:noAutofit/>
          </a:bodyPr>
          <a:lstStyle>
            <a:lvl1pPr marL="457200" lvl="0" indent="-317500" algn="ctr" rtl="0">
              <a:lnSpc>
                <a:spcPct val="100000"/>
              </a:lnSpc>
              <a:spcBef>
                <a:spcPts val="0"/>
              </a:spcBef>
              <a:spcAft>
                <a:spcPts val="0"/>
              </a:spcAft>
              <a:buSzPts val="1400"/>
              <a:buChar char="●"/>
              <a:defRPr sz="16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dirty="0"/>
          </a:p>
        </p:txBody>
      </p:sp>
      <p:sp>
        <p:nvSpPr>
          <p:cNvPr id="24" name="Google Shape;24;p4"/>
          <p:cNvSpPr txBox="1">
            <a:spLocks noGrp="1"/>
          </p:cNvSpPr>
          <p:nvPr>
            <p:ph type="title"/>
          </p:nvPr>
        </p:nvSpPr>
        <p:spPr>
          <a:xfrm>
            <a:off x="720000" y="719146"/>
            <a:ext cx="7704000" cy="58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100"/>
              <a:buNone/>
              <a:defRPr sz="33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dirty="0"/>
          </a:p>
        </p:txBody>
      </p:sp>
      <p:sp>
        <p:nvSpPr>
          <p:cNvPr id="2" name="Marcador de número de diapositiva 32">
            <a:extLst>
              <a:ext uri="{FF2B5EF4-FFF2-40B4-BE49-F238E27FC236}">
                <a16:creationId xmlns:a16="http://schemas.microsoft.com/office/drawing/2014/main" id="{4A24E282-299A-8125-64F0-0A3A21458A06}"/>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1210558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ubtitulos">
    <p:spTree>
      <p:nvGrpSpPr>
        <p:cNvPr id="1" name=""/>
        <p:cNvGrpSpPr/>
        <p:nvPr/>
      </p:nvGrpSpPr>
      <p:grpSpPr>
        <a:xfrm>
          <a:off x="0" y="0"/>
          <a:ext cx="0" cy="0"/>
          <a:chOff x="0" y="0"/>
          <a:chExt cx="0" cy="0"/>
        </a:xfrm>
      </p:grpSpPr>
      <p:pic>
        <p:nvPicPr>
          <p:cNvPr id="6" name="Google Shape;22;p4">
            <a:extLst>
              <a:ext uri="{FF2B5EF4-FFF2-40B4-BE49-F238E27FC236}">
                <a16:creationId xmlns:a16="http://schemas.microsoft.com/office/drawing/2014/main" id="{4C5B8F73-FC8B-9241-7678-C4DDCD3019AE}"/>
              </a:ext>
            </a:extLst>
          </p:cNvPr>
          <p:cNvPicPr preferRelativeResize="0"/>
          <p:nvPr userDrawn="1"/>
        </p:nvPicPr>
        <p:blipFill>
          <a:blip r:embed="rId2">
            <a:alphaModFix amt="12000"/>
          </a:blip>
          <a:stretch>
            <a:fillRect/>
          </a:stretch>
        </p:blipFill>
        <p:spPr>
          <a:xfrm>
            <a:off x="0" y="0"/>
            <a:ext cx="9144000" cy="5143500"/>
          </a:xfrm>
          <a:prstGeom prst="rect">
            <a:avLst/>
          </a:prstGeom>
          <a:noFill/>
          <a:ln>
            <a:noFill/>
          </a:ln>
        </p:spPr>
      </p:pic>
      <p:sp>
        <p:nvSpPr>
          <p:cNvPr id="2" name="Título 1">
            <a:extLst>
              <a:ext uri="{FF2B5EF4-FFF2-40B4-BE49-F238E27FC236}">
                <a16:creationId xmlns:a16="http://schemas.microsoft.com/office/drawing/2014/main" id="{B3A07BA6-F4A9-9808-ED15-76AEE7C7AF26}"/>
              </a:ext>
            </a:extLst>
          </p:cNvPr>
          <p:cNvSpPr>
            <a:spLocks noGrp="1"/>
          </p:cNvSpPr>
          <p:nvPr>
            <p:ph type="title"/>
          </p:nvPr>
        </p:nvSpPr>
        <p:spPr/>
        <p:txBody>
          <a:bodyPr/>
          <a:lstStyle>
            <a:lvl1pPr algn="ctr">
              <a:defRPr sz="3300"/>
            </a:lvl1pPr>
          </a:lstStyle>
          <a:p>
            <a:r>
              <a:rPr lang="es-ES" dirty="0"/>
              <a:t>Haga clic para modificar</a:t>
            </a:r>
            <a:endParaRPr lang="es-CO" dirty="0"/>
          </a:p>
        </p:txBody>
      </p:sp>
      <p:sp>
        <p:nvSpPr>
          <p:cNvPr id="3" name="Marcador de número de diapositiva 2">
            <a:extLst>
              <a:ext uri="{FF2B5EF4-FFF2-40B4-BE49-F238E27FC236}">
                <a16:creationId xmlns:a16="http://schemas.microsoft.com/office/drawing/2014/main" id="{AD75B560-8E7C-D540-20BE-B237247E6F84}"/>
              </a:ext>
            </a:extLst>
          </p:cNvPr>
          <p:cNvSpPr>
            <a:spLocks noGrp="1"/>
          </p:cNvSpPr>
          <p:nvPr>
            <p:ph type="sldNum" sz="quarter" idx="10"/>
          </p:nvPr>
        </p:nvSpPr>
        <p:spPr/>
        <p:txBody>
          <a:bodyPr/>
          <a:lstStyle/>
          <a:p>
            <a:fld id="{2FE31968-4ACB-4FDC-A729-E0AFD0CA931C}" type="slidenum">
              <a:rPr lang="es-CO" smtClean="0"/>
              <a:t>‹Nº›</a:t>
            </a:fld>
            <a:endParaRPr lang="es-CO"/>
          </a:p>
        </p:txBody>
      </p:sp>
      <p:sp>
        <p:nvSpPr>
          <p:cNvPr id="5" name="Marcador de texto 4">
            <a:extLst>
              <a:ext uri="{FF2B5EF4-FFF2-40B4-BE49-F238E27FC236}">
                <a16:creationId xmlns:a16="http://schemas.microsoft.com/office/drawing/2014/main" id="{910C5ADD-74DF-90D3-03A8-63663869A774}"/>
              </a:ext>
            </a:extLst>
          </p:cNvPr>
          <p:cNvSpPr>
            <a:spLocks noGrp="1"/>
          </p:cNvSpPr>
          <p:nvPr>
            <p:ph type="body" sz="quarter" idx="11" hasCustomPrompt="1"/>
          </p:nvPr>
        </p:nvSpPr>
        <p:spPr>
          <a:xfrm>
            <a:off x="297555" y="1391915"/>
            <a:ext cx="6187177" cy="421861"/>
          </a:xfrm>
        </p:spPr>
        <p:txBody>
          <a:bodyPr/>
          <a:lstStyle>
            <a:lvl1pPr marL="114300" indent="0" algn="l">
              <a:buNone/>
              <a:defRPr lang="es-CO" sz="2400" b="1" i="0" u="none" strike="noStrike" cap="none" dirty="0">
                <a:solidFill>
                  <a:srgbClr val="FFFFB3"/>
                </a:solidFill>
                <a:latin typeface="Montserrat"/>
                <a:ea typeface="Montserrat"/>
                <a:cs typeface="Montserrat"/>
                <a:sym typeface="Montserrat"/>
              </a:defRPr>
            </a:lvl1pPr>
          </a:lstStyle>
          <a:p>
            <a:pPr lvl="0"/>
            <a:r>
              <a:rPr lang="es-ES" dirty="0"/>
              <a:t>Subtítulo</a:t>
            </a:r>
            <a:endParaRPr lang="es-CO" dirty="0"/>
          </a:p>
        </p:txBody>
      </p:sp>
    </p:spTree>
    <p:extLst>
      <p:ext uri="{BB962C8B-B14F-4D97-AF65-F5344CB8AC3E}">
        <p14:creationId xmlns:p14="http://schemas.microsoft.com/office/powerpoint/2010/main" val="263058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reserve="1">
  <p:cSld name="One column text">
    <p:spTree>
      <p:nvGrpSpPr>
        <p:cNvPr id="1" name="Shape 48"/>
        <p:cNvGrpSpPr/>
        <p:nvPr/>
      </p:nvGrpSpPr>
      <p:grpSpPr>
        <a:xfrm>
          <a:off x="0" y="0"/>
          <a:ext cx="0" cy="0"/>
          <a:chOff x="0" y="0"/>
          <a:chExt cx="0" cy="0"/>
        </a:xfrm>
      </p:grpSpPr>
      <p:pic>
        <p:nvPicPr>
          <p:cNvPr id="49" name="Google Shape;49;p7"/>
          <p:cNvPicPr preferRelativeResize="0"/>
          <p:nvPr/>
        </p:nvPicPr>
        <p:blipFill>
          <a:blip r:embed="rId2">
            <a:alphaModFix amt="12000"/>
          </a:blip>
          <a:stretch>
            <a:fillRect/>
          </a:stretch>
        </p:blipFill>
        <p:spPr>
          <a:xfrm>
            <a:off x="0" y="-20903"/>
            <a:ext cx="9144000" cy="5143500"/>
          </a:xfrm>
          <a:prstGeom prst="rect">
            <a:avLst/>
          </a:prstGeom>
          <a:noFill/>
          <a:ln>
            <a:noFill/>
          </a:ln>
        </p:spPr>
      </p:pic>
      <p:sp>
        <p:nvSpPr>
          <p:cNvPr id="50" name="Google Shape;50;p7"/>
          <p:cNvSpPr txBox="1">
            <a:spLocks noGrp="1"/>
          </p:cNvSpPr>
          <p:nvPr>
            <p:ph type="body" idx="1"/>
          </p:nvPr>
        </p:nvSpPr>
        <p:spPr>
          <a:xfrm>
            <a:off x="3562925" y="2238025"/>
            <a:ext cx="4864800" cy="19347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tx1"/>
              </a:buClr>
              <a:buSzPts val="1400"/>
              <a:buChar char="●"/>
              <a:defRPr sz="14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dirty="0"/>
          </a:p>
        </p:txBody>
      </p:sp>
      <p:sp>
        <p:nvSpPr>
          <p:cNvPr id="51" name="Google Shape;51;p7"/>
          <p:cNvSpPr txBox="1">
            <a:spLocks noGrp="1"/>
          </p:cNvSpPr>
          <p:nvPr>
            <p:ph type="title"/>
          </p:nvPr>
        </p:nvSpPr>
        <p:spPr>
          <a:xfrm>
            <a:off x="3562925" y="970775"/>
            <a:ext cx="4864800" cy="12111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sz="35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a:p>
        </p:txBody>
      </p:sp>
      <p:sp>
        <p:nvSpPr>
          <p:cNvPr id="2" name="Marcador de número de diapositiva 32">
            <a:extLst>
              <a:ext uri="{FF2B5EF4-FFF2-40B4-BE49-F238E27FC236}">
                <a16:creationId xmlns:a16="http://schemas.microsoft.com/office/drawing/2014/main" id="{F9367B2C-BBE5-04C5-44F7-3356491E6B66}"/>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35564052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reserve="1">
  <p:cSld name="Section title and description">
    <p:spTree>
      <p:nvGrpSpPr>
        <p:cNvPr id="1" name="Shape 62"/>
        <p:cNvGrpSpPr/>
        <p:nvPr/>
      </p:nvGrpSpPr>
      <p:grpSpPr>
        <a:xfrm>
          <a:off x="0" y="0"/>
          <a:ext cx="0" cy="0"/>
          <a:chOff x="0" y="0"/>
          <a:chExt cx="0" cy="0"/>
        </a:xfrm>
      </p:grpSpPr>
      <p:pic>
        <p:nvPicPr>
          <p:cNvPr id="63" name="Google Shape;63;p9"/>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64" name="Google Shape;64;p9"/>
          <p:cNvSpPr txBox="1">
            <a:spLocks noGrp="1"/>
          </p:cNvSpPr>
          <p:nvPr>
            <p:ph type="title"/>
          </p:nvPr>
        </p:nvSpPr>
        <p:spPr>
          <a:xfrm>
            <a:off x="711350" y="1580150"/>
            <a:ext cx="5151000" cy="8418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65" name="Google Shape;65;p9"/>
          <p:cNvSpPr txBox="1">
            <a:spLocks noGrp="1"/>
          </p:cNvSpPr>
          <p:nvPr>
            <p:ph type="subTitle" idx="1"/>
          </p:nvPr>
        </p:nvSpPr>
        <p:spPr>
          <a:xfrm>
            <a:off x="711350" y="2340250"/>
            <a:ext cx="5151000" cy="1223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 name="Marcador de número de diapositiva 32">
            <a:extLst>
              <a:ext uri="{FF2B5EF4-FFF2-40B4-BE49-F238E27FC236}">
                <a16:creationId xmlns:a16="http://schemas.microsoft.com/office/drawing/2014/main" id="{E374F13D-0CE4-3400-4DA2-4B2131FFDD6A}"/>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12285427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reserve="1">
  <p:cSld name="Caption">
    <p:spTree>
      <p:nvGrpSpPr>
        <p:cNvPr id="1" name="Shape 67"/>
        <p:cNvGrpSpPr/>
        <p:nvPr/>
      </p:nvGrpSpPr>
      <p:grpSpPr>
        <a:xfrm>
          <a:off x="0" y="0"/>
          <a:ext cx="0" cy="0"/>
          <a:chOff x="0" y="0"/>
          <a:chExt cx="0" cy="0"/>
        </a:xfrm>
      </p:grpSpPr>
      <p:pic>
        <p:nvPicPr>
          <p:cNvPr id="68" name="Google Shape;68;p10"/>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69" name="Google Shape;69;p10"/>
          <p:cNvSpPr txBox="1">
            <a:spLocks noGrp="1"/>
          </p:cNvSpPr>
          <p:nvPr>
            <p:ph type="title"/>
          </p:nvPr>
        </p:nvSpPr>
        <p:spPr>
          <a:xfrm>
            <a:off x="3560250" y="3291125"/>
            <a:ext cx="4626600" cy="1173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sz="35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2" name="Marcador de número de diapositiva 32">
            <a:extLst>
              <a:ext uri="{FF2B5EF4-FFF2-40B4-BE49-F238E27FC236}">
                <a16:creationId xmlns:a16="http://schemas.microsoft.com/office/drawing/2014/main" id="{A8B88258-C5B6-1041-8893-E62BA8F14BB0}"/>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35308910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reserve="1">
  <p:cSld name="Big number">
    <p:spTree>
      <p:nvGrpSpPr>
        <p:cNvPr id="1" name="Shape 70"/>
        <p:cNvGrpSpPr/>
        <p:nvPr/>
      </p:nvGrpSpPr>
      <p:grpSpPr>
        <a:xfrm>
          <a:off x="0" y="0"/>
          <a:ext cx="0" cy="0"/>
          <a:chOff x="0" y="0"/>
          <a:chExt cx="0" cy="0"/>
        </a:xfrm>
      </p:grpSpPr>
      <p:pic>
        <p:nvPicPr>
          <p:cNvPr id="71" name="Google Shape;71;p11"/>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72" name="Google Shape;72;p11"/>
          <p:cNvSpPr txBox="1">
            <a:spLocks noGrp="1"/>
          </p:cNvSpPr>
          <p:nvPr>
            <p:ph type="title" hasCustomPrompt="1"/>
          </p:nvPr>
        </p:nvSpPr>
        <p:spPr>
          <a:xfrm>
            <a:off x="1670700" y="1580875"/>
            <a:ext cx="5802600" cy="1511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9600"/>
              <a:buNone/>
              <a:defRPr sz="9600"/>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
        <p:nvSpPr>
          <p:cNvPr id="73" name="Google Shape;73;p11"/>
          <p:cNvSpPr txBox="1">
            <a:spLocks noGrp="1"/>
          </p:cNvSpPr>
          <p:nvPr>
            <p:ph type="subTitle" idx="1"/>
          </p:nvPr>
        </p:nvSpPr>
        <p:spPr>
          <a:xfrm>
            <a:off x="1670700" y="3114124"/>
            <a:ext cx="5802600" cy="448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2" name="Marcador de número de diapositiva 32">
            <a:extLst>
              <a:ext uri="{FF2B5EF4-FFF2-40B4-BE49-F238E27FC236}">
                <a16:creationId xmlns:a16="http://schemas.microsoft.com/office/drawing/2014/main" id="{8AC9DA0D-3DCA-DFC3-BE58-DCA1A78946E9}"/>
              </a:ext>
            </a:extLst>
          </p:cNvPr>
          <p:cNvSpPr>
            <a:spLocks noGrp="1"/>
          </p:cNvSpPr>
          <p:nvPr>
            <p:ph type="sldNum" sz="quarter" idx="4"/>
          </p:nvPr>
        </p:nvSpPr>
        <p:spPr>
          <a:xfrm>
            <a:off x="6960572"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27763412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reserve="1">
  <p:cSld name="Table of contents">
    <p:spTree>
      <p:nvGrpSpPr>
        <p:cNvPr id="1" name="Shape 82"/>
        <p:cNvGrpSpPr/>
        <p:nvPr/>
      </p:nvGrpSpPr>
      <p:grpSpPr>
        <a:xfrm>
          <a:off x="0" y="0"/>
          <a:ext cx="0" cy="0"/>
          <a:chOff x="0" y="0"/>
          <a:chExt cx="0" cy="0"/>
        </a:xfrm>
      </p:grpSpPr>
      <p:pic>
        <p:nvPicPr>
          <p:cNvPr id="83" name="Google Shape;83;p13"/>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84" name="Google Shape;84;p13"/>
          <p:cNvSpPr txBox="1">
            <a:spLocks noGrp="1"/>
          </p:cNvSpPr>
          <p:nvPr>
            <p:ph type="title"/>
          </p:nvPr>
        </p:nvSpPr>
        <p:spPr>
          <a:xfrm>
            <a:off x="720000" y="757845"/>
            <a:ext cx="7704000" cy="58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100"/>
              <a:buNone/>
              <a:defRPr sz="35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dirty="0"/>
          </a:p>
        </p:txBody>
      </p:sp>
      <p:sp>
        <p:nvSpPr>
          <p:cNvPr id="85" name="Google Shape;85;p13"/>
          <p:cNvSpPr txBox="1">
            <a:spLocks noGrp="1"/>
          </p:cNvSpPr>
          <p:nvPr>
            <p:ph type="title" idx="2" hasCustomPrompt="1"/>
          </p:nvPr>
        </p:nvSpPr>
        <p:spPr>
          <a:xfrm>
            <a:off x="767145" y="1806480"/>
            <a:ext cx="621900" cy="502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3000"/>
              <a:buNone/>
              <a:defRPr sz="2400">
                <a:solidFill>
                  <a:schemeClr val="dk1"/>
                </a:solidFill>
              </a:defRPr>
            </a:lvl1pPr>
            <a:lvl2pPr lvl="1" rtl="0">
              <a:spcBef>
                <a:spcPts val="0"/>
              </a:spcBef>
              <a:spcAft>
                <a:spcPts val="0"/>
              </a:spcAft>
              <a:buClr>
                <a:schemeClr val="accent1"/>
              </a:buClr>
              <a:buSzPts val="3000"/>
              <a:buNone/>
              <a:defRPr sz="3000">
                <a:solidFill>
                  <a:schemeClr val="accent1"/>
                </a:solidFill>
              </a:defRPr>
            </a:lvl2pPr>
            <a:lvl3pPr lvl="2" rtl="0">
              <a:spcBef>
                <a:spcPts val="0"/>
              </a:spcBef>
              <a:spcAft>
                <a:spcPts val="0"/>
              </a:spcAft>
              <a:buClr>
                <a:schemeClr val="accent1"/>
              </a:buClr>
              <a:buSzPts val="3000"/>
              <a:buNone/>
              <a:defRPr sz="3000">
                <a:solidFill>
                  <a:schemeClr val="accent1"/>
                </a:solidFill>
              </a:defRPr>
            </a:lvl3pPr>
            <a:lvl4pPr lvl="3" rtl="0">
              <a:spcBef>
                <a:spcPts val="0"/>
              </a:spcBef>
              <a:spcAft>
                <a:spcPts val="0"/>
              </a:spcAft>
              <a:buClr>
                <a:schemeClr val="accent1"/>
              </a:buClr>
              <a:buSzPts val="3000"/>
              <a:buNone/>
              <a:defRPr sz="3000">
                <a:solidFill>
                  <a:schemeClr val="accent1"/>
                </a:solidFill>
              </a:defRPr>
            </a:lvl4pPr>
            <a:lvl5pPr lvl="4" rtl="0">
              <a:spcBef>
                <a:spcPts val="0"/>
              </a:spcBef>
              <a:spcAft>
                <a:spcPts val="0"/>
              </a:spcAft>
              <a:buClr>
                <a:schemeClr val="accent1"/>
              </a:buClr>
              <a:buSzPts val="3000"/>
              <a:buNone/>
              <a:defRPr sz="3000">
                <a:solidFill>
                  <a:schemeClr val="accent1"/>
                </a:solidFill>
              </a:defRPr>
            </a:lvl5pPr>
            <a:lvl6pPr lvl="5" rtl="0">
              <a:spcBef>
                <a:spcPts val="0"/>
              </a:spcBef>
              <a:spcAft>
                <a:spcPts val="0"/>
              </a:spcAft>
              <a:buClr>
                <a:schemeClr val="accent1"/>
              </a:buClr>
              <a:buSzPts val="3000"/>
              <a:buNone/>
              <a:defRPr sz="3000">
                <a:solidFill>
                  <a:schemeClr val="accent1"/>
                </a:solidFill>
              </a:defRPr>
            </a:lvl6pPr>
            <a:lvl7pPr lvl="6" rtl="0">
              <a:spcBef>
                <a:spcPts val="0"/>
              </a:spcBef>
              <a:spcAft>
                <a:spcPts val="0"/>
              </a:spcAft>
              <a:buClr>
                <a:schemeClr val="accent1"/>
              </a:buClr>
              <a:buSzPts val="3000"/>
              <a:buNone/>
              <a:defRPr sz="3000">
                <a:solidFill>
                  <a:schemeClr val="accent1"/>
                </a:solidFill>
              </a:defRPr>
            </a:lvl7pPr>
            <a:lvl8pPr lvl="7" rtl="0">
              <a:spcBef>
                <a:spcPts val="0"/>
              </a:spcBef>
              <a:spcAft>
                <a:spcPts val="0"/>
              </a:spcAft>
              <a:buClr>
                <a:schemeClr val="accent1"/>
              </a:buClr>
              <a:buSzPts val="3000"/>
              <a:buNone/>
              <a:defRPr sz="3000">
                <a:solidFill>
                  <a:schemeClr val="accent1"/>
                </a:solidFill>
              </a:defRPr>
            </a:lvl8pPr>
            <a:lvl9pPr lvl="8" rtl="0">
              <a:spcBef>
                <a:spcPts val="0"/>
              </a:spcBef>
              <a:spcAft>
                <a:spcPts val="0"/>
              </a:spcAft>
              <a:buClr>
                <a:schemeClr val="accent1"/>
              </a:buClr>
              <a:buSzPts val="3000"/>
              <a:buNone/>
              <a:defRPr sz="3000">
                <a:solidFill>
                  <a:schemeClr val="accent1"/>
                </a:solidFill>
              </a:defRPr>
            </a:lvl9pPr>
          </a:lstStyle>
          <a:p>
            <a:r>
              <a:t>xx%</a:t>
            </a:r>
          </a:p>
        </p:txBody>
      </p:sp>
      <p:sp>
        <p:nvSpPr>
          <p:cNvPr id="86" name="Google Shape;86;p13"/>
          <p:cNvSpPr txBox="1">
            <a:spLocks noGrp="1"/>
          </p:cNvSpPr>
          <p:nvPr>
            <p:ph type="subTitle" idx="1"/>
          </p:nvPr>
        </p:nvSpPr>
        <p:spPr>
          <a:xfrm>
            <a:off x="1444845" y="1971700"/>
            <a:ext cx="30816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87" name="Google Shape;87;p13"/>
          <p:cNvSpPr txBox="1">
            <a:spLocks noGrp="1"/>
          </p:cNvSpPr>
          <p:nvPr>
            <p:ph type="title" idx="3" hasCustomPrompt="1"/>
          </p:nvPr>
        </p:nvSpPr>
        <p:spPr>
          <a:xfrm>
            <a:off x="4664695" y="2391672"/>
            <a:ext cx="621900" cy="502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3000"/>
              <a:buNone/>
              <a:defRPr sz="2400">
                <a:solidFill>
                  <a:schemeClr val="dk1"/>
                </a:solidFill>
              </a:defRPr>
            </a:lvl1pPr>
            <a:lvl2pPr lvl="1" rtl="0">
              <a:spcBef>
                <a:spcPts val="0"/>
              </a:spcBef>
              <a:spcAft>
                <a:spcPts val="0"/>
              </a:spcAft>
              <a:buClr>
                <a:schemeClr val="accent1"/>
              </a:buClr>
              <a:buSzPts val="3000"/>
              <a:buNone/>
              <a:defRPr sz="3000">
                <a:solidFill>
                  <a:schemeClr val="accent1"/>
                </a:solidFill>
              </a:defRPr>
            </a:lvl2pPr>
            <a:lvl3pPr lvl="2" rtl="0">
              <a:spcBef>
                <a:spcPts val="0"/>
              </a:spcBef>
              <a:spcAft>
                <a:spcPts val="0"/>
              </a:spcAft>
              <a:buClr>
                <a:schemeClr val="accent1"/>
              </a:buClr>
              <a:buSzPts val="3000"/>
              <a:buNone/>
              <a:defRPr sz="3000">
                <a:solidFill>
                  <a:schemeClr val="accent1"/>
                </a:solidFill>
              </a:defRPr>
            </a:lvl3pPr>
            <a:lvl4pPr lvl="3" rtl="0">
              <a:spcBef>
                <a:spcPts val="0"/>
              </a:spcBef>
              <a:spcAft>
                <a:spcPts val="0"/>
              </a:spcAft>
              <a:buClr>
                <a:schemeClr val="accent1"/>
              </a:buClr>
              <a:buSzPts val="3000"/>
              <a:buNone/>
              <a:defRPr sz="3000">
                <a:solidFill>
                  <a:schemeClr val="accent1"/>
                </a:solidFill>
              </a:defRPr>
            </a:lvl4pPr>
            <a:lvl5pPr lvl="4" rtl="0">
              <a:spcBef>
                <a:spcPts val="0"/>
              </a:spcBef>
              <a:spcAft>
                <a:spcPts val="0"/>
              </a:spcAft>
              <a:buClr>
                <a:schemeClr val="accent1"/>
              </a:buClr>
              <a:buSzPts val="3000"/>
              <a:buNone/>
              <a:defRPr sz="3000">
                <a:solidFill>
                  <a:schemeClr val="accent1"/>
                </a:solidFill>
              </a:defRPr>
            </a:lvl5pPr>
            <a:lvl6pPr lvl="5" rtl="0">
              <a:spcBef>
                <a:spcPts val="0"/>
              </a:spcBef>
              <a:spcAft>
                <a:spcPts val="0"/>
              </a:spcAft>
              <a:buClr>
                <a:schemeClr val="accent1"/>
              </a:buClr>
              <a:buSzPts val="3000"/>
              <a:buNone/>
              <a:defRPr sz="3000">
                <a:solidFill>
                  <a:schemeClr val="accent1"/>
                </a:solidFill>
              </a:defRPr>
            </a:lvl6pPr>
            <a:lvl7pPr lvl="6" rtl="0">
              <a:spcBef>
                <a:spcPts val="0"/>
              </a:spcBef>
              <a:spcAft>
                <a:spcPts val="0"/>
              </a:spcAft>
              <a:buClr>
                <a:schemeClr val="accent1"/>
              </a:buClr>
              <a:buSzPts val="3000"/>
              <a:buNone/>
              <a:defRPr sz="3000">
                <a:solidFill>
                  <a:schemeClr val="accent1"/>
                </a:solidFill>
              </a:defRPr>
            </a:lvl7pPr>
            <a:lvl8pPr lvl="7" rtl="0">
              <a:spcBef>
                <a:spcPts val="0"/>
              </a:spcBef>
              <a:spcAft>
                <a:spcPts val="0"/>
              </a:spcAft>
              <a:buClr>
                <a:schemeClr val="accent1"/>
              </a:buClr>
              <a:buSzPts val="3000"/>
              <a:buNone/>
              <a:defRPr sz="3000">
                <a:solidFill>
                  <a:schemeClr val="accent1"/>
                </a:solidFill>
              </a:defRPr>
            </a:lvl8pPr>
            <a:lvl9pPr lvl="8" rtl="0">
              <a:spcBef>
                <a:spcPts val="0"/>
              </a:spcBef>
              <a:spcAft>
                <a:spcPts val="0"/>
              </a:spcAft>
              <a:buClr>
                <a:schemeClr val="accent1"/>
              </a:buClr>
              <a:buSzPts val="3000"/>
              <a:buNone/>
              <a:defRPr sz="3000">
                <a:solidFill>
                  <a:schemeClr val="accent1"/>
                </a:solidFill>
              </a:defRPr>
            </a:lvl9pPr>
          </a:lstStyle>
          <a:p>
            <a:r>
              <a:t>xx%</a:t>
            </a:r>
          </a:p>
        </p:txBody>
      </p:sp>
      <p:sp>
        <p:nvSpPr>
          <p:cNvPr id="88" name="Google Shape;88;p13"/>
          <p:cNvSpPr txBox="1">
            <a:spLocks noGrp="1"/>
          </p:cNvSpPr>
          <p:nvPr>
            <p:ph type="subTitle" idx="4"/>
          </p:nvPr>
        </p:nvSpPr>
        <p:spPr>
          <a:xfrm>
            <a:off x="5342395" y="2557690"/>
            <a:ext cx="30816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89" name="Google Shape;89;p13"/>
          <p:cNvSpPr txBox="1">
            <a:spLocks noGrp="1"/>
          </p:cNvSpPr>
          <p:nvPr>
            <p:ph type="title" idx="5" hasCustomPrompt="1"/>
          </p:nvPr>
        </p:nvSpPr>
        <p:spPr>
          <a:xfrm>
            <a:off x="767145" y="2976864"/>
            <a:ext cx="621900" cy="502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3000"/>
              <a:buNone/>
              <a:defRPr sz="2400">
                <a:solidFill>
                  <a:schemeClr val="dk1"/>
                </a:solidFill>
              </a:defRPr>
            </a:lvl1pPr>
            <a:lvl2pPr lvl="1" rtl="0">
              <a:spcBef>
                <a:spcPts val="0"/>
              </a:spcBef>
              <a:spcAft>
                <a:spcPts val="0"/>
              </a:spcAft>
              <a:buClr>
                <a:schemeClr val="accent1"/>
              </a:buClr>
              <a:buSzPts val="3000"/>
              <a:buNone/>
              <a:defRPr sz="3000">
                <a:solidFill>
                  <a:schemeClr val="accent1"/>
                </a:solidFill>
              </a:defRPr>
            </a:lvl2pPr>
            <a:lvl3pPr lvl="2" rtl="0">
              <a:spcBef>
                <a:spcPts val="0"/>
              </a:spcBef>
              <a:spcAft>
                <a:spcPts val="0"/>
              </a:spcAft>
              <a:buClr>
                <a:schemeClr val="accent1"/>
              </a:buClr>
              <a:buSzPts val="3000"/>
              <a:buNone/>
              <a:defRPr sz="3000">
                <a:solidFill>
                  <a:schemeClr val="accent1"/>
                </a:solidFill>
              </a:defRPr>
            </a:lvl3pPr>
            <a:lvl4pPr lvl="3" rtl="0">
              <a:spcBef>
                <a:spcPts val="0"/>
              </a:spcBef>
              <a:spcAft>
                <a:spcPts val="0"/>
              </a:spcAft>
              <a:buClr>
                <a:schemeClr val="accent1"/>
              </a:buClr>
              <a:buSzPts val="3000"/>
              <a:buNone/>
              <a:defRPr sz="3000">
                <a:solidFill>
                  <a:schemeClr val="accent1"/>
                </a:solidFill>
              </a:defRPr>
            </a:lvl4pPr>
            <a:lvl5pPr lvl="4" rtl="0">
              <a:spcBef>
                <a:spcPts val="0"/>
              </a:spcBef>
              <a:spcAft>
                <a:spcPts val="0"/>
              </a:spcAft>
              <a:buClr>
                <a:schemeClr val="accent1"/>
              </a:buClr>
              <a:buSzPts val="3000"/>
              <a:buNone/>
              <a:defRPr sz="3000">
                <a:solidFill>
                  <a:schemeClr val="accent1"/>
                </a:solidFill>
              </a:defRPr>
            </a:lvl5pPr>
            <a:lvl6pPr lvl="5" rtl="0">
              <a:spcBef>
                <a:spcPts val="0"/>
              </a:spcBef>
              <a:spcAft>
                <a:spcPts val="0"/>
              </a:spcAft>
              <a:buClr>
                <a:schemeClr val="accent1"/>
              </a:buClr>
              <a:buSzPts val="3000"/>
              <a:buNone/>
              <a:defRPr sz="3000">
                <a:solidFill>
                  <a:schemeClr val="accent1"/>
                </a:solidFill>
              </a:defRPr>
            </a:lvl6pPr>
            <a:lvl7pPr lvl="6" rtl="0">
              <a:spcBef>
                <a:spcPts val="0"/>
              </a:spcBef>
              <a:spcAft>
                <a:spcPts val="0"/>
              </a:spcAft>
              <a:buClr>
                <a:schemeClr val="accent1"/>
              </a:buClr>
              <a:buSzPts val="3000"/>
              <a:buNone/>
              <a:defRPr sz="3000">
                <a:solidFill>
                  <a:schemeClr val="accent1"/>
                </a:solidFill>
              </a:defRPr>
            </a:lvl7pPr>
            <a:lvl8pPr lvl="7" rtl="0">
              <a:spcBef>
                <a:spcPts val="0"/>
              </a:spcBef>
              <a:spcAft>
                <a:spcPts val="0"/>
              </a:spcAft>
              <a:buClr>
                <a:schemeClr val="accent1"/>
              </a:buClr>
              <a:buSzPts val="3000"/>
              <a:buNone/>
              <a:defRPr sz="3000">
                <a:solidFill>
                  <a:schemeClr val="accent1"/>
                </a:solidFill>
              </a:defRPr>
            </a:lvl8pPr>
            <a:lvl9pPr lvl="8" rtl="0">
              <a:spcBef>
                <a:spcPts val="0"/>
              </a:spcBef>
              <a:spcAft>
                <a:spcPts val="0"/>
              </a:spcAft>
              <a:buClr>
                <a:schemeClr val="accent1"/>
              </a:buClr>
              <a:buSzPts val="3000"/>
              <a:buNone/>
              <a:defRPr sz="3000">
                <a:solidFill>
                  <a:schemeClr val="accent1"/>
                </a:solidFill>
              </a:defRPr>
            </a:lvl9pPr>
          </a:lstStyle>
          <a:p>
            <a:r>
              <a:t>xx%</a:t>
            </a:r>
          </a:p>
        </p:txBody>
      </p:sp>
      <p:sp>
        <p:nvSpPr>
          <p:cNvPr id="90" name="Google Shape;90;p13"/>
          <p:cNvSpPr txBox="1">
            <a:spLocks noGrp="1"/>
          </p:cNvSpPr>
          <p:nvPr>
            <p:ph type="subTitle" idx="6"/>
          </p:nvPr>
        </p:nvSpPr>
        <p:spPr>
          <a:xfrm>
            <a:off x="1444845" y="3143681"/>
            <a:ext cx="30816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1" name="Google Shape;91;p13"/>
          <p:cNvSpPr txBox="1">
            <a:spLocks noGrp="1"/>
          </p:cNvSpPr>
          <p:nvPr>
            <p:ph type="title" idx="7" hasCustomPrompt="1"/>
          </p:nvPr>
        </p:nvSpPr>
        <p:spPr>
          <a:xfrm>
            <a:off x="4664695" y="3562056"/>
            <a:ext cx="621900" cy="502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3000"/>
              <a:buNone/>
              <a:defRPr sz="2400">
                <a:solidFill>
                  <a:schemeClr val="dk1"/>
                </a:solidFill>
              </a:defRPr>
            </a:lvl1pPr>
            <a:lvl2pPr lvl="1" rtl="0">
              <a:spcBef>
                <a:spcPts val="0"/>
              </a:spcBef>
              <a:spcAft>
                <a:spcPts val="0"/>
              </a:spcAft>
              <a:buClr>
                <a:schemeClr val="accent1"/>
              </a:buClr>
              <a:buSzPts val="3000"/>
              <a:buNone/>
              <a:defRPr sz="3000">
                <a:solidFill>
                  <a:schemeClr val="accent1"/>
                </a:solidFill>
              </a:defRPr>
            </a:lvl2pPr>
            <a:lvl3pPr lvl="2" rtl="0">
              <a:spcBef>
                <a:spcPts val="0"/>
              </a:spcBef>
              <a:spcAft>
                <a:spcPts val="0"/>
              </a:spcAft>
              <a:buClr>
                <a:schemeClr val="accent1"/>
              </a:buClr>
              <a:buSzPts val="3000"/>
              <a:buNone/>
              <a:defRPr sz="3000">
                <a:solidFill>
                  <a:schemeClr val="accent1"/>
                </a:solidFill>
              </a:defRPr>
            </a:lvl3pPr>
            <a:lvl4pPr lvl="3" rtl="0">
              <a:spcBef>
                <a:spcPts val="0"/>
              </a:spcBef>
              <a:spcAft>
                <a:spcPts val="0"/>
              </a:spcAft>
              <a:buClr>
                <a:schemeClr val="accent1"/>
              </a:buClr>
              <a:buSzPts val="3000"/>
              <a:buNone/>
              <a:defRPr sz="3000">
                <a:solidFill>
                  <a:schemeClr val="accent1"/>
                </a:solidFill>
              </a:defRPr>
            </a:lvl4pPr>
            <a:lvl5pPr lvl="4" rtl="0">
              <a:spcBef>
                <a:spcPts val="0"/>
              </a:spcBef>
              <a:spcAft>
                <a:spcPts val="0"/>
              </a:spcAft>
              <a:buClr>
                <a:schemeClr val="accent1"/>
              </a:buClr>
              <a:buSzPts val="3000"/>
              <a:buNone/>
              <a:defRPr sz="3000">
                <a:solidFill>
                  <a:schemeClr val="accent1"/>
                </a:solidFill>
              </a:defRPr>
            </a:lvl5pPr>
            <a:lvl6pPr lvl="5" rtl="0">
              <a:spcBef>
                <a:spcPts val="0"/>
              </a:spcBef>
              <a:spcAft>
                <a:spcPts val="0"/>
              </a:spcAft>
              <a:buClr>
                <a:schemeClr val="accent1"/>
              </a:buClr>
              <a:buSzPts val="3000"/>
              <a:buNone/>
              <a:defRPr sz="3000">
                <a:solidFill>
                  <a:schemeClr val="accent1"/>
                </a:solidFill>
              </a:defRPr>
            </a:lvl6pPr>
            <a:lvl7pPr lvl="6" rtl="0">
              <a:spcBef>
                <a:spcPts val="0"/>
              </a:spcBef>
              <a:spcAft>
                <a:spcPts val="0"/>
              </a:spcAft>
              <a:buClr>
                <a:schemeClr val="accent1"/>
              </a:buClr>
              <a:buSzPts val="3000"/>
              <a:buNone/>
              <a:defRPr sz="3000">
                <a:solidFill>
                  <a:schemeClr val="accent1"/>
                </a:solidFill>
              </a:defRPr>
            </a:lvl7pPr>
            <a:lvl8pPr lvl="7" rtl="0">
              <a:spcBef>
                <a:spcPts val="0"/>
              </a:spcBef>
              <a:spcAft>
                <a:spcPts val="0"/>
              </a:spcAft>
              <a:buClr>
                <a:schemeClr val="accent1"/>
              </a:buClr>
              <a:buSzPts val="3000"/>
              <a:buNone/>
              <a:defRPr sz="3000">
                <a:solidFill>
                  <a:schemeClr val="accent1"/>
                </a:solidFill>
              </a:defRPr>
            </a:lvl8pPr>
            <a:lvl9pPr lvl="8" rtl="0">
              <a:spcBef>
                <a:spcPts val="0"/>
              </a:spcBef>
              <a:spcAft>
                <a:spcPts val="0"/>
              </a:spcAft>
              <a:buClr>
                <a:schemeClr val="accent1"/>
              </a:buClr>
              <a:buSzPts val="3000"/>
              <a:buNone/>
              <a:defRPr sz="3000">
                <a:solidFill>
                  <a:schemeClr val="accent1"/>
                </a:solidFill>
              </a:defRPr>
            </a:lvl9pPr>
          </a:lstStyle>
          <a:p>
            <a:r>
              <a:t>xx%</a:t>
            </a:r>
          </a:p>
        </p:txBody>
      </p:sp>
      <p:sp>
        <p:nvSpPr>
          <p:cNvPr id="92" name="Google Shape;92;p13"/>
          <p:cNvSpPr txBox="1">
            <a:spLocks noGrp="1"/>
          </p:cNvSpPr>
          <p:nvPr>
            <p:ph type="subTitle" idx="8"/>
          </p:nvPr>
        </p:nvSpPr>
        <p:spPr>
          <a:xfrm>
            <a:off x="5342395" y="3729672"/>
            <a:ext cx="30816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3" name="Google Shape;93;p13"/>
          <p:cNvSpPr txBox="1">
            <a:spLocks noGrp="1"/>
          </p:cNvSpPr>
          <p:nvPr>
            <p:ph type="title" idx="9" hasCustomPrompt="1"/>
          </p:nvPr>
        </p:nvSpPr>
        <p:spPr>
          <a:xfrm>
            <a:off x="767145" y="4147248"/>
            <a:ext cx="621900" cy="502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3000"/>
              <a:buNone/>
              <a:defRPr sz="2400">
                <a:solidFill>
                  <a:schemeClr val="dk1"/>
                </a:solidFill>
              </a:defRPr>
            </a:lvl1pPr>
            <a:lvl2pPr lvl="1" rtl="0">
              <a:spcBef>
                <a:spcPts val="0"/>
              </a:spcBef>
              <a:spcAft>
                <a:spcPts val="0"/>
              </a:spcAft>
              <a:buClr>
                <a:schemeClr val="accent1"/>
              </a:buClr>
              <a:buSzPts val="3000"/>
              <a:buNone/>
              <a:defRPr sz="3000">
                <a:solidFill>
                  <a:schemeClr val="accent1"/>
                </a:solidFill>
              </a:defRPr>
            </a:lvl2pPr>
            <a:lvl3pPr lvl="2" rtl="0">
              <a:spcBef>
                <a:spcPts val="0"/>
              </a:spcBef>
              <a:spcAft>
                <a:spcPts val="0"/>
              </a:spcAft>
              <a:buClr>
                <a:schemeClr val="accent1"/>
              </a:buClr>
              <a:buSzPts val="3000"/>
              <a:buNone/>
              <a:defRPr sz="3000">
                <a:solidFill>
                  <a:schemeClr val="accent1"/>
                </a:solidFill>
              </a:defRPr>
            </a:lvl3pPr>
            <a:lvl4pPr lvl="3" rtl="0">
              <a:spcBef>
                <a:spcPts val="0"/>
              </a:spcBef>
              <a:spcAft>
                <a:spcPts val="0"/>
              </a:spcAft>
              <a:buClr>
                <a:schemeClr val="accent1"/>
              </a:buClr>
              <a:buSzPts val="3000"/>
              <a:buNone/>
              <a:defRPr sz="3000">
                <a:solidFill>
                  <a:schemeClr val="accent1"/>
                </a:solidFill>
              </a:defRPr>
            </a:lvl4pPr>
            <a:lvl5pPr lvl="4" rtl="0">
              <a:spcBef>
                <a:spcPts val="0"/>
              </a:spcBef>
              <a:spcAft>
                <a:spcPts val="0"/>
              </a:spcAft>
              <a:buClr>
                <a:schemeClr val="accent1"/>
              </a:buClr>
              <a:buSzPts val="3000"/>
              <a:buNone/>
              <a:defRPr sz="3000">
                <a:solidFill>
                  <a:schemeClr val="accent1"/>
                </a:solidFill>
              </a:defRPr>
            </a:lvl5pPr>
            <a:lvl6pPr lvl="5" rtl="0">
              <a:spcBef>
                <a:spcPts val="0"/>
              </a:spcBef>
              <a:spcAft>
                <a:spcPts val="0"/>
              </a:spcAft>
              <a:buClr>
                <a:schemeClr val="accent1"/>
              </a:buClr>
              <a:buSzPts val="3000"/>
              <a:buNone/>
              <a:defRPr sz="3000">
                <a:solidFill>
                  <a:schemeClr val="accent1"/>
                </a:solidFill>
              </a:defRPr>
            </a:lvl6pPr>
            <a:lvl7pPr lvl="6" rtl="0">
              <a:spcBef>
                <a:spcPts val="0"/>
              </a:spcBef>
              <a:spcAft>
                <a:spcPts val="0"/>
              </a:spcAft>
              <a:buClr>
                <a:schemeClr val="accent1"/>
              </a:buClr>
              <a:buSzPts val="3000"/>
              <a:buNone/>
              <a:defRPr sz="3000">
                <a:solidFill>
                  <a:schemeClr val="accent1"/>
                </a:solidFill>
              </a:defRPr>
            </a:lvl7pPr>
            <a:lvl8pPr lvl="7" rtl="0">
              <a:spcBef>
                <a:spcPts val="0"/>
              </a:spcBef>
              <a:spcAft>
                <a:spcPts val="0"/>
              </a:spcAft>
              <a:buClr>
                <a:schemeClr val="accent1"/>
              </a:buClr>
              <a:buSzPts val="3000"/>
              <a:buNone/>
              <a:defRPr sz="3000">
                <a:solidFill>
                  <a:schemeClr val="accent1"/>
                </a:solidFill>
              </a:defRPr>
            </a:lvl8pPr>
            <a:lvl9pPr lvl="8" rtl="0">
              <a:spcBef>
                <a:spcPts val="0"/>
              </a:spcBef>
              <a:spcAft>
                <a:spcPts val="0"/>
              </a:spcAft>
              <a:buClr>
                <a:schemeClr val="accent1"/>
              </a:buClr>
              <a:buSzPts val="3000"/>
              <a:buNone/>
              <a:defRPr sz="3000">
                <a:solidFill>
                  <a:schemeClr val="accent1"/>
                </a:solidFill>
              </a:defRPr>
            </a:lvl9pPr>
          </a:lstStyle>
          <a:p>
            <a:r>
              <a:t>xx%</a:t>
            </a:r>
          </a:p>
        </p:txBody>
      </p:sp>
      <p:sp>
        <p:nvSpPr>
          <p:cNvPr id="94" name="Google Shape;94;p13"/>
          <p:cNvSpPr txBox="1">
            <a:spLocks noGrp="1"/>
          </p:cNvSpPr>
          <p:nvPr>
            <p:ph type="subTitle" idx="13"/>
          </p:nvPr>
        </p:nvSpPr>
        <p:spPr>
          <a:xfrm>
            <a:off x="1444845" y="4315663"/>
            <a:ext cx="30816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8" name="Google Shape;98;p13"/>
          <p:cNvSpPr txBox="1">
            <a:spLocks noGrp="1"/>
          </p:cNvSpPr>
          <p:nvPr>
            <p:ph type="subTitle" idx="14"/>
          </p:nvPr>
        </p:nvSpPr>
        <p:spPr>
          <a:xfrm>
            <a:off x="1444875" y="1646950"/>
            <a:ext cx="3081600" cy="453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rgbClr val="FFFF00"/>
              </a:buClr>
              <a:buSzPts val="2200"/>
              <a:buFont typeface="Libre Baskerville"/>
              <a:buNone/>
              <a:defRPr sz="2200" b="1">
                <a:solidFill>
                  <a:schemeClr val="dk2"/>
                </a:solidFill>
                <a:latin typeface="Libre Baskerville"/>
                <a:ea typeface="Libre Baskerville"/>
                <a:cs typeface="Libre Baskerville"/>
                <a:sym typeface="Libre Baskerville"/>
              </a:defRPr>
            </a:lvl1pPr>
            <a:lvl2pPr lvl="1"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2pPr>
            <a:lvl3pPr lvl="2"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3pPr>
            <a:lvl4pPr lvl="3"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4pPr>
            <a:lvl5pPr lvl="4"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5pPr>
            <a:lvl6pPr lvl="5"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6pPr>
            <a:lvl7pPr lvl="6"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7pPr>
            <a:lvl8pPr lvl="7"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8pPr>
            <a:lvl9pPr lvl="8"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9pPr>
          </a:lstStyle>
          <a:p>
            <a:endParaRPr/>
          </a:p>
        </p:txBody>
      </p:sp>
      <p:sp>
        <p:nvSpPr>
          <p:cNvPr id="99" name="Google Shape;99;p13"/>
          <p:cNvSpPr txBox="1">
            <a:spLocks noGrp="1"/>
          </p:cNvSpPr>
          <p:nvPr>
            <p:ph type="subTitle" idx="15"/>
          </p:nvPr>
        </p:nvSpPr>
        <p:spPr>
          <a:xfrm>
            <a:off x="1444875" y="2841512"/>
            <a:ext cx="3081600" cy="453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rgbClr val="FFFF00"/>
              </a:buClr>
              <a:buSzPts val="2200"/>
              <a:buFont typeface="Libre Baskerville"/>
              <a:buNone/>
              <a:defRPr sz="2200" b="1">
                <a:solidFill>
                  <a:schemeClr val="dk2"/>
                </a:solidFill>
                <a:latin typeface="Libre Baskerville"/>
                <a:ea typeface="Libre Baskerville"/>
                <a:cs typeface="Libre Baskerville"/>
                <a:sym typeface="Libre Baskerville"/>
              </a:defRPr>
            </a:lvl1pPr>
            <a:lvl2pPr lvl="1"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2pPr>
            <a:lvl3pPr lvl="2"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3pPr>
            <a:lvl4pPr lvl="3"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4pPr>
            <a:lvl5pPr lvl="4"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5pPr>
            <a:lvl6pPr lvl="5"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6pPr>
            <a:lvl7pPr lvl="6"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7pPr>
            <a:lvl8pPr lvl="7"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8pPr>
            <a:lvl9pPr lvl="8"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9pPr>
          </a:lstStyle>
          <a:p>
            <a:endParaRPr/>
          </a:p>
        </p:txBody>
      </p:sp>
      <p:sp>
        <p:nvSpPr>
          <p:cNvPr id="100" name="Google Shape;100;p13"/>
          <p:cNvSpPr txBox="1">
            <a:spLocks noGrp="1"/>
          </p:cNvSpPr>
          <p:nvPr>
            <p:ph type="subTitle" idx="16"/>
          </p:nvPr>
        </p:nvSpPr>
        <p:spPr>
          <a:xfrm>
            <a:off x="1444875" y="4036075"/>
            <a:ext cx="3081600" cy="453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rgbClr val="FFFF00"/>
              </a:buClr>
              <a:buSzPts val="2200"/>
              <a:buFont typeface="Libre Baskerville"/>
              <a:buNone/>
              <a:defRPr sz="2200" b="1">
                <a:solidFill>
                  <a:schemeClr val="dk2"/>
                </a:solidFill>
                <a:latin typeface="Libre Baskerville"/>
                <a:ea typeface="Libre Baskerville"/>
                <a:cs typeface="Libre Baskerville"/>
                <a:sym typeface="Libre Baskerville"/>
              </a:defRPr>
            </a:lvl1pPr>
            <a:lvl2pPr lvl="1"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2pPr>
            <a:lvl3pPr lvl="2"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3pPr>
            <a:lvl4pPr lvl="3"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4pPr>
            <a:lvl5pPr lvl="4"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5pPr>
            <a:lvl6pPr lvl="5"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6pPr>
            <a:lvl7pPr lvl="6"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7pPr>
            <a:lvl8pPr lvl="7"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8pPr>
            <a:lvl9pPr lvl="8" rtl="0">
              <a:spcBef>
                <a:spcPts val="0"/>
              </a:spcBef>
              <a:spcAft>
                <a:spcPts val="0"/>
              </a:spcAft>
              <a:buClr>
                <a:srgbClr val="FFFF00"/>
              </a:buClr>
              <a:buSzPts val="2200"/>
              <a:buFont typeface="Libre Baskerville"/>
              <a:buNone/>
              <a:defRPr sz="2200" b="1">
                <a:solidFill>
                  <a:srgbClr val="FFFF00"/>
                </a:solidFill>
                <a:latin typeface="Libre Baskerville"/>
                <a:ea typeface="Libre Baskerville"/>
                <a:cs typeface="Libre Baskerville"/>
                <a:sym typeface="Libre Baskerville"/>
              </a:defRPr>
            </a:lvl9pPr>
          </a:lstStyle>
          <a:p>
            <a:endParaRPr/>
          </a:p>
        </p:txBody>
      </p:sp>
      <p:sp>
        <p:nvSpPr>
          <p:cNvPr id="101" name="Google Shape;101;p13"/>
          <p:cNvSpPr txBox="1">
            <a:spLocks noGrp="1"/>
          </p:cNvSpPr>
          <p:nvPr>
            <p:ph type="subTitle" idx="17"/>
          </p:nvPr>
        </p:nvSpPr>
        <p:spPr>
          <a:xfrm>
            <a:off x="5342400" y="3438794"/>
            <a:ext cx="3081600" cy="453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200"/>
              <a:buFont typeface="Libre Baskerville"/>
              <a:buNone/>
              <a:defRPr sz="2200" b="1">
                <a:solidFill>
                  <a:schemeClr val="dk2"/>
                </a:solidFill>
                <a:latin typeface="Libre Baskerville"/>
                <a:ea typeface="Libre Baskerville"/>
                <a:cs typeface="Libre Baskerville"/>
                <a:sym typeface="Libre Baskerville"/>
              </a:defRPr>
            </a:lvl1pPr>
            <a:lvl2pPr lvl="1"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2pPr>
            <a:lvl3pPr lvl="2"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3pPr>
            <a:lvl4pPr lvl="3"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4pPr>
            <a:lvl5pPr lvl="4"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5pPr>
            <a:lvl6pPr lvl="5"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6pPr>
            <a:lvl7pPr lvl="6"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7pPr>
            <a:lvl8pPr lvl="7"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8pPr>
            <a:lvl9pPr lvl="8"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9pPr>
          </a:lstStyle>
          <a:p>
            <a:endParaRPr/>
          </a:p>
        </p:txBody>
      </p:sp>
      <p:sp>
        <p:nvSpPr>
          <p:cNvPr id="102" name="Google Shape;102;p13"/>
          <p:cNvSpPr txBox="1">
            <a:spLocks noGrp="1"/>
          </p:cNvSpPr>
          <p:nvPr>
            <p:ph type="subTitle" idx="18"/>
          </p:nvPr>
        </p:nvSpPr>
        <p:spPr>
          <a:xfrm>
            <a:off x="5342400" y="2244231"/>
            <a:ext cx="3081600" cy="453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200"/>
              <a:buFont typeface="Libre Baskerville"/>
              <a:buNone/>
              <a:defRPr sz="2200" b="1">
                <a:solidFill>
                  <a:schemeClr val="dk2"/>
                </a:solidFill>
                <a:latin typeface="Libre Baskerville"/>
                <a:ea typeface="Libre Baskerville"/>
                <a:cs typeface="Libre Baskerville"/>
                <a:sym typeface="Libre Baskerville"/>
              </a:defRPr>
            </a:lvl1pPr>
            <a:lvl2pPr lvl="1"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2pPr>
            <a:lvl3pPr lvl="2"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3pPr>
            <a:lvl4pPr lvl="3"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4pPr>
            <a:lvl5pPr lvl="4"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5pPr>
            <a:lvl6pPr lvl="5"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6pPr>
            <a:lvl7pPr lvl="6"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7pPr>
            <a:lvl8pPr lvl="7"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8pPr>
            <a:lvl9pPr lvl="8" rtl="0">
              <a:spcBef>
                <a:spcPts val="0"/>
              </a:spcBef>
              <a:spcAft>
                <a:spcPts val="0"/>
              </a:spcAft>
              <a:buClr>
                <a:schemeClr val="dk1"/>
              </a:buClr>
              <a:buSzPts val="2200"/>
              <a:buFont typeface="Libre Baskerville"/>
              <a:buNone/>
              <a:defRPr sz="2200" b="1">
                <a:solidFill>
                  <a:schemeClr val="dk1"/>
                </a:solidFill>
                <a:latin typeface="Libre Baskerville"/>
                <a:ea typeface="Libre Baskerville"/>
                <a:cs typeface="Libre Baskerville"/>
                <a:sym typeface="Libre Baskerville"/>
              </a:defRPr>
            </a:lvl9pPr>
          </a:lstStyle>
          <a:p>
            <a:endParaRPr/>
          </a:p>
        </p:txBody>
      </p:sp>
      <p:sp>
        <p:nvSpPr>
          <p:cNvPr id="2" name="Marcador de número de diapositiva 32">
            <a:extLst>
              <a:ext uri="{FF2B5EF4-FFF2-40B4-BE49-F238E27FC236}">
                <a16:creationId xmlns:a16="http://schemas.microsoft.com/office/drawing/2014/main" id="{A6A022A7-5EAA-EFCC-2C64-7193F2986839}"/>
              </a:ext>
            </a:extLst>
          </p:cNvPr>
          <p:cNvSpPr>
            <a:spLocks noGrp="1"/>
          </p:cNvSpPr>
          <p:nvPr>
            <p:ph type="sldNum" sz="quarter" idx="19"/>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12894604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reserve="1">
  <p:cSld name="Quote">
    <p:spTree>
      <p:nvGrpSpPr>
        <p:cNvPr id="1" name="Shape 103"/>
        <p:cNvGrpSpPr/>
        <p:nvPr/>
      </p:nvGrpSpPr>
      <p:grpSpPr>
        <a:xfrm>
          <a:off x="0" y="0"/>
          <a:ext cx="0" cy="0"/>
          <a:chOff x="0" y="0"/>
          <a:chExt cx="0" cy="0"/>
        </a:xfrm>
      </p:grpSpPr>
      <p:pic>
        <p:nvPicPr>
          <p:cNvPr id="104" name="Google Shape;104;p14"/>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105" name="Google Shape;105;p14"/>
          <p:cNvSpPr txBox="1">
            <a:spLocks noGrp="1"/>
          </p:cNvSpPr>
          <p:nvPr>
            <p:ph type="title"/>
          </p:nvPr>
        </p:nvSpPr>
        <p:spPr>
          <a:xfrm>
            <a:off x="2290050" y="3989413"/>
            <a:ext cx="4563900" cy="419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22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06" name="Google Shape;106;p14"/>
          <p:cNvSpPr txBox="1">
            <a:spLocks noGrp="1"/>
          </p:cNvSpPr>
          <p:nvPr>
            <p:ph type="subTitle" idx="1"/>
          </p:nvPr>
        </p:nvSpPr>
        <p:spPr>
          <a:xfrm>
            <a:off x="1458150" y="2816863"/>
            <a:ext cx="6227700" cy="1229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500"/>
              <a:buNone/>
              <a:defRPr sz="2200"/>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a:p>
        </p:txBody>
      </p:sp>
      <p:sp>
        <p:nvSpPr>
          <p:cNvPr id="2" name="Marcador de número de diapositiva 32">
            <a:extLst>
              <a:ext uri="{FF2B5EF4-FFF2-40B4-BE49-F238E27FC236}">
                <a16:creationId xmlns:a16="http://schemas.microsoft.com/office/drawing/2014/main" id="{4E81FD6E-2FFF-28AE-374E-DDC20EFB91FF}"/>
              </a:ext>
            </a:extLst>
          </p:cNvPr>
          <p:cNvSpPr>
            <a:spLocks noGrp="1"/>
          </p:cNvSpPr>
          <p:nvPr>
            <p:ph type="sldNum" sz="quarter" idx="4"/>
          </p:nvPr>
        </p:nvSpPr>
        <p:spPr>
          <a:xfrm>
            <a:off x="6974084" y="4868702"/>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10294438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preserve="1">
  <p:cSld name="Title and text">
    <p:spTree>
      <p:nvGrpSpPr>
        <p:cNvPr id="1" name="Shape 140"/>
        <p:cNvGrpSpPr/>
        <p:nvPr/>
      </p:nvGrpSpPr>
      <p:grpSpPr>
        <a:xfrm>
          <a:off x="0" y="0"/>
          <a:ext cx="0" cy="0"/>
          <a:chOff x="0" y="0"/>
          <a:chExt cx="0" cy="0"/>
        </a:xfrm>
      </p:grpSpPr>
      <p:pic>
        <p:nvPicPr>
          <p:cNvPr id="141" name="Google Shape;141;p18"/>
          <p:cNvPicPr preferRelativeResize="0"/>
          <p:nvPr/>
        </p:nvPicPr>
        <p:blipFill>
          <a:blip r:embed="rId2">
            <a:alphaModFix amt="12000"/>
          </a:blip>
          <a:stretch>
            <a:fillRect/>
          </a:stretch>
        </p:blipFill>
        <p:spPr>
          <a:xfrm>
            <a:off x="0" y="0"/>
            <a:ext cx="9144000" cy="5143500"/>
          </a:xfrm>
          <a:prstGeom prst="rect">
            <a:avLst/>
          </a:prstGeom>
          <a:noFill/>
          <a:ln>
            <a:noFill/>
          </a:ln>
        </p:spPr>
      </p:pic>
      <p:sp>
        <p:nvSpPr>
          <p:cNvPr id="142" name="Google Shape;142;p18"/>
          <p:cNvSpPr txBox="1">
            <a:spLocks noGrp="1"/>
          </p:cNvSpPr>
          <p:nvPr>
            <p:ph type="subTitle" idx="1"/>
          </p:nvPr>
        </p:nvSpPr>
        <p:spPr>
          <a:xfrm>
            <a:off x="973797" y="3011475"/>
            <a:ext cx="4398300" cy="86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3" name="Google Shape;143;p18"/>
          <p:cNvSpPr txBox="1">
            <a:spLocks noGrp="1"/>
          </p:cNvSpPr>
          <p:nvPr>
            <p:ph type="title"/>
          </p:nvPr>
        </p:nvSpPr>
        <p:spPr>
          <a:xfrm>
            <a:off x="973809" y="1270425"/>
            <a:ext cx="4398300" cy="17814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3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47" name="Google Shape;147;p18"/>
          <p:cNvSpPr>
            <a:spLocks noGrp="1"/>
          </p:cNvSpPr>
          <p:nvPr>
            <p:ph type="pic" idx="2"/>
          </p:nvPr>
        </p:nvSpPr>
        <p:spPr>
          <a:xfrm>
            <a:off x="5327150" y="1080200"/>
            <a:ext cx="2983200" cy="2983200"/>
          </a:xfrm>
          <a:prstGeom prst="ellipse">
            <a:avLst/>
          </a:prstGeom>
          <a:noFill/>
          <a:ln w="38100" cap="flat" cmpd="sng">
            <a:solidFill>
              <a:schemeClr val="dk2"/>
            </a:solidFill>
            <a:prstDash val="solid"/>
            <a:round/>
            <a:headEnd type="none" w="sm" len="sm"/>
            <a:tailEnd type="none" w="sm" len="sm"/>
          </a:ln>
        </p:spPr>
      </p:sp>
      <p:sp>
        <p:nvSpPr>
          <p:cNvPr id="2" name="Marcador de número de diapositiva 32">
            <a:extLst>
              <a:ext uri="{FF2B5EF4-FFF2-40B4-BE49-F238E27FC236}">
                <a16:creationId xmlns:a16="http://schemas.microsoft.com/office/drawing/2014/main" id="{7011B3A5-BA18-77C0-B197-5934FE56912F}"/>
              </a:ext>
            </a:extLst>
          </p:cNvPr>
          <p:cNvSpPr>
            <a:spLocks noGrp="1"/>
          </p:cNvSpPr>
          <p:nvPr>
            <p:ph type="sldNum" sz="quarter" idx="4"/>
          </p:nvPr>
        </p:nvSpPr>
        <p:spPr>
          <a:xfrm>
            <a:off x="6969580"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24601591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1" preserve="1">
  <p:cSld name="Title and text 1">
    <p:spTree>
      <p:nvGrpSpPr>
        <p:cNvPr id="1" name="Shape 148"/>
        <p:cNvGrpSpPr/>
        <p:nvPr/>
      </p:nvGrpSpPr>
      <p:grpSpPr>
        <a:xfrm>
          <a:off x="0" y="0"/>
          <a:ext cx="0" cy="0"/>
          <a:chOff x="0" y="0"/>
          <a:chExt cx="0" cy="0"/>
        </a:xfrm>
      </p:grpSpPr>
      <p:pic>
        <p:nvPicPr>
          <p:cNvPr id="149" name="Google Shape;149;p19"/>
          <p:cNvPicPr preferRelativeResize="0"/>
          <p:nvPr/>
        </p:nvPicPr>
        <p:blipFill>
          <a:blip r:embed="rId2">
            <a:alphaModFix amt="12000"/>
          </a:blip>
          <a:stretch>
            <a:fillRect/>
          </a:stretch>
        </p:blipFill>
        <p:spPr>
          <a:xfrm>
            <a:off x="0" y="-13714"/>
            <a:ext cx="9144000" cy="5143500"/>
          </a:xfrm>
          <a:prstGeom prst="rect">
            <a:avLst/>
          </a:prstGeom>
          <a:noFill/>
          <a:ln>
            <a:noFill/>
          </a:ln>
        </p:spPr>
      </p:pic>
      <p:sp>
        <p:nvSpPr>
          <p:cNvPr id="150" name="Google Shape;150;p19"/>
          <p:cNvSpPr txBox="1">
            <a:spLocks noGrp="1"/>
          </p:cNvSpPr>
          <p:nvPr>
            <p:ph type="subTitle" idx="1"/>
          </p:nvPr>
        </p:nvSpPr>
        <p:spPr>
          <a:xfrm>
            <a:off x="1889400" y="3812150"/>
            <a:ext cx="5365200" cy="631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1" name="Google Shape;151;p19"/>
          <p:cNvSpPr txBox="1">
            <a:spLocks noGrp="1"/>
          </p:cNvSpPr>
          <p:nvPr>
            <p:ph type="title"/>
          </p:nvPr>
        </p:nvSpPr>
        <p:spPr>
          <a:xfrm>
            <a:off x="1889550" y="3306875"/>
            <a:ext cx="5365200" cy="631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800"/>
              <a:buNone/>
              <a:defRPr sz="35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 name="Marcador de número de diapositiva 32">
            <a:extLst>
              <a:ext uri="{FF2B5EF4-FFF2-40B4-BE49-F238E27FC236}">
                <a16:creationId xmlns:a16="http://schemas.microsoft.com/office/drawing/2014/main" id="{4C836EED-38EE-4930-F765-43666026257A}"/>
              </a:ext>
            </a:extLst>
          </p:cNvPr>
          <p:cNvSpPr>
            <a:spLocks noGrp="1"/>
          </p:cNvSpPr>
          <p:nvPr>
            <p:ph type="sldNum" sz="quarter" idx="4"/>
          </p:nvPr>
        </p:nvSpPr>
        <p:spPr>
          <a:xfrm>
            <a:off x="6965076" y="4855149"/>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29955881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2" preserve="1">
  <p:cSld name="Title and text 2">
    <p:spTree>
      <p:nvGrpSpPr>
        <p:cNvPr id="1" name="Shape 153"/>
        <p:cNvGrpSpPr/>
        <p:nvPr/>
      </p:nvGrpSpPr>
      <p:grpSpPr>
        <a:xfrm>
          <a:off x="0" y="0"/>
          <a:ext cx="0" cy="0"/>
          <a:chOff x="0" y="0"/>
          <a:chExt cx="0" cy="0"/>
        </a:xfrm>
      </p:grpSpPr>
      <p:pic>
        <p:nvPicPr>
          <p:cNvPr id="154" name="Google Shape;154;p20"/>
          <p:cNvPicPr preferRelativeResize="0"/>
          <p:nvPr/>
        </p:nvPicPr>
        <p:blipFill>
          <a:blip r:embed="rId2">
            <a:alphaModFix amt="12000"/>
          </a:blip>
          <a:stretch>
            <a:fillRect/>
          </a:stretch>
        </p:blipFill>
        <p:spPr>
          <a:xfrm>
            <a:off x="31531" y="0"/>
            <a:ext cx="9144000" cy="5143500"/>
          </a:xfrm>
          <a:prstGeom prst="rect">
            <a:avLst/>
          </a:prstGeom>
          <a:noFill/>
          <a:ln>
            <a:noFill/>
          </a:ln>
        </p:spPr>
      </p:pic>
      <p:sp>
        <p:nvSpPr>
          <p:cNvPr id="155" name="Google Shape;155;p20"/>
          <p:cNvSpPr txBox="1">
            <a:spLocks noGrp="1"/>
          </p:cNvSpPr>
          <p:nvPr>
            <p:ph type="title"/>
          </p:nvPr>
        </p:nvSpPr>
        <p:spPr>
          <a:xfrm>
            <a:off x="720000" y="667103"/>
            <a:ext cx="7704000" cy="58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100"/>
              <a:buNone/>
              <a:defRPr sz="35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dirty="0"/>
          </a:p>
        </p:txBody>
      </p:sp>
      <p:sp>
        <p:nvSpPr>
          <p:cNvPr id="156" name="Google Shape;156;p20"/>
          <p:cNvSpPr txBox="1">
            <a:spLocks noGrp="1"/>
          </p:cNvSpPr>
          <p:nvPr>
            <p:ph type="subTitle" idx="1"/>
          </p:nvPr>
        </p:nvSpPr>
        <p:spPr>
          <a:xfrm>
            <a:off x="719413" y="1383062"/>
            <a:ext cx="5347500" cy="1745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Char char="●"/>
              <a:defRPr sz="1400"/>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dirty="0"/>
          </a:p>
        </p:txBody>
      </p:sp>
      <p:sp>
        <p:nvSpPr>
          <p:cNvPr id="2" name="Marcador de número de diapositiva 32">
            <a:extLst>
              <a:ext uri="{FF2B5EF4-FFF2-40B4-BE49-F238E27FC236}">
                <a16:creationId xmlns:a16="http://schemas.microsoft.com/office/drawing/2014/main" id="{75E61C1E-9234-A230-B547-BF54ADA7F1AE}"/>
              </a:ext>
            </a:extLst>
          </p:cNvPr>
          <p:cNvSpPr>
            <a:spLocks noGrp="1"/>
          </p:cNvSpPr>
          <p:nvPr>
            <p:ph type="sldNum" sz="quarter" idx="4"/>
          </p:nvPr>
        </p:nvSpPr>
        <p:spPr>
          <a:xfrm>
            <a:off x="6938049"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4649993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wo columns 1" preserve="1">
  <p:cSld name="Title and two columns 1">
    <p:spTree>
      <p:nvGrpSpPr>
        <p:cNvPr id="1" name="Shape 163"/>
        <p:cNvGrpSpPr/>
        <p:nvPr/>
      </p:nvGrpSpPr>
      <p:grpSpPr>
        <a:xfrm>
          <a:off x="0" y="0"/>
          <a:ext cx="0" cy="0"/>
          <a:chOff x="0" y="0"/>
          <a:chExt cx="0" cy="0"/>
        </a:xfrm>
      </p:grpSpPr>
      <p:pic>
        <p:nvPicPr>
          <p:cNvPr id="164" name="Google Shape;164;p21"/>
          <p:cNvPicPr preferRelativeResize="0"/>
          <p:nvPr/>
        </p:nvPicPr>
        <p:blipFill>
          <a:blip r:embed="rId2">
            <a:alphaModFix amt="12000"/>
          </a:blip>
          <a:stretch>
            <a:fillRect/>
          </a:stretch>
        </p:blipFill>
        <p:spPr>
          <a:xfrm>
            <a:off x="0" y="-14188"/>
            <a:ext cx="9144000" cy="5143500"/>
          </a:xfrm>
          <a:prstGeom prst="rect">
            <a:avLst/>
          </a:prstGeom>
          <a:noFill/>
          <a:ln>
            <a:noFill/>
          </a:ln>
        </p:spPr>
      </p:pic>
      <p:sp>
        <p:nvSpPr>
          <p:cNvPr id="165" name="Google Shape;165;p21"/>
          <p:cNvSpPr txBox="1">
            <a:spLocks noGrp="1"/>
          </p:cNvSpPr>
          <p:nvPr>
            <p:ph type="subTitle" idx="1"/>
          </p:nvPr>
        </p:nvSpPr>
        <p:spPr>
          <a:xfrm>
            <a:off x="1366805" y="1856906"/>
            <a:ext cx="3026700" cy="402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accent2"/>
              </a:buClr>
              <a:buSzPts val="2200"/>
              <a:buFont typeface="Zen Antique"/>
              <a:buNone/>
              <a:defRPr sz="2200" b="1">
                <a:solidFill>
                  <a:schemeClr val="dk2"/>
                </a:solidFill>
                <a:latin typeface="Libre Baskerville"/>
                <a:ea typeface="Libre Baskerville"/>
                <a:cs typeface="Libre Baskerville"/>
                <a:sym typeface="Libre Baskerville"/>
              </a:defRPr>
            </a:lvl1pPr>
            <a:lvl2pPr lvl="1"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2pPr>
            <a:lvl3pPr lvl="2"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3pPr>
            <a:lvl4pPr lvl="3"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4pPr>
            <a:lvl5pPr lvl="4"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5pPr>
            <a:lvl6pPr lvl="5"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6pPr>
            <a:lvl7pPr lvl="6"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7pPr>
            <a:lvl8pPr lvl="7"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8pPr>
            <a:lvl9pPr lvl="8"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9pPr>
          </a:lstStyle>
          <a:p>
            <a:endParaRPr dirty="0"/>
          </a:p>
        </p:txBody>
      </p:sp>
      <p:sp>
        <p:nvSpPr>
          <p:cNvPr id="166" name="Google Shape;166;p21"/>
          <p:cNvSpPr txBox="1">
            <a:spLocks noGrp="1"/>
          </p:cNvSpPr>
          <p:nvPr>
            <p:ph type="subTitle" idx="2"/>
          </p:nvPr>
        </p:nvSpPr>
        <p:spPr>
          <a:xfrm>
            <a:off x="4706911" y="1895947"/>
            <a:ext cx="3023100" cy="402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accent2"/>
              </a:buClr>
              <a:buSzPts val="2200"/>
              <a:buFont typeface="Zen Antique"/>
              <a:buNone/>
              <a:defRPr sz="2200" b="1">
                <a:solidFill>
                  <a:schemeClr val="dk2"/>
                </a:solidFill>
                <a:latin typeface="Libre Baskerville"/>
                <a:ea typeface="Libre Baskerville"/>
                <a:cs typeface="Libre Baskerville"/>
                <a:sym typeface="Libre Baskerville"/>
              </a:defRPr>
            </a:lvl1pPr>
            <a:lvl2pPr lvl="1"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2pPr>
            <a:lvl3pPr lvl="2"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3pPr>
            <a:lvl4pPr lvl="3"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4pPr>
            <a:lvl5pPr lvl="4"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5pPr>
            <a:lvl6pPr lvl="5"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6pPr>
            <a:lvl7pPr lvl="6"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7pPr>
            <a:lvl8pPr lvl="7"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8pPr>
            <a:lvl9pPr lvl="8" algn="ctr" rtl="0">
              <a:lnSpc>
                <a:spcPct val="100000"/>
              </a:lnSpc>
              <a:spcBef>
                <a:spcPts val="0"/>
              </a:spcBef>
              <a:spcAft>
                <a:spcPts val="0"/>
              </a:spcAft>
              <a:buClr>
                <a:schemeClr val="accent2"/>
              </a:buClr>
              <a:buSzPts val="2200"/>
              <a:buFont typeface="Zen Antique"/>
              <a:buNone/>
              <a:defRPr sz="2200">
                <a:solidFill>
                  <a:schemeClr val="accent2"/>
                </a:solidFill>
                <a:latin typeface="Zen Antique"/>
                <a:ea typeface="Zen Antique"/>
                <a:cs typeface="Zen Antique"/>
                <a:sym typeface="Zen Antique"/>
              </a:defRPr>
            </a:lvl9pPr>
          </a:lstStyle>
          <a:p>
            <a:endParaRPr dirty="0"/>
          </a:p>
        </p:txBody>
      </p:sp>
      <p:sp>
        <p:nvSpPr>
          <p:cNvPr id="167" name="Google Shape;167;p21"/>
          <p:cNvSpPr txBox="1">
            <a:spLocks noGrp="1"/>
          </p:cNvSpPr>
          <p:nvPr>
            <p:ph type="subTitle" idx="3"/>
          </p:nvPr>
        </p:nvSpPr>
        <p:spPr>
          <a:xfrm>
            <a:off x="1366805" y="2360869"/>
            <a:ext cx="3026700" cy="226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tx1"/>
              </a:buClr>
              <a:buSzPts val="1400"/>
              <a:buChar char="●"/>
              <a:defRPr sz="1400"/>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dirty="0"/>
          </a:p>
        </p:txBody>
      </p:sp>
      <p:sp>
        <p:nvSpPr>
          <p:cNvPr id="168" name="Google Shape;168;p21"/>
          <p:cNvSpPr txBox="1">
            <a:spLocks noGrp="1"/>
          </p:cNvSpPr>
          <p:nvPr>
            <p:ph type="subTitle" idx="4"/>
          </p:nvPr>
        </p:nvSpPr>
        <p:spPr>
          <a:xfrm>
            <a:off x="4706911" y="2362069"/>
            <a:ext cx="3023100" cy="2263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tx1"/>
              </a:buClr>
              <a:buSzPts val="1400"/>
              <a:buChar char="●"/>
              <a:defRPr sz="1400"/>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dirty="0"/>
          </a:p>
        </p:txBody>
      </p:sp>
      <p:sp>
        <p:nvSpPr>
          <p:cNvPr id="169" name="Google Shape;169;p21"/>
          <p:cNvSpPr txBox="1">
            <a:spLocks noGrp="1"/>
          </p:cNvSpPr>
          <p:nvPr>
            <p:ph type="title"/>
          </p:nvPr>
        </p:nvSpPr>
        <p:spPr>
          <a:xfrm>
            <a:off x="720000" y="703183"/>
            <a:ext cx="7704000" cy="58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100"/>
              <a:buNone/>
              <a:defRPr sz="35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dirty="0"/>
          </a:p>
        </p:txBody>
      </p:sp>
      <p:sp>
        <p:nvSpPr>
          <p:cNvPr id="2" name="Marcador de número de diapositiva 32">
            <a:extLst>
              <a:ext uri="{FF2B5EF4-FFF2-40B4-BE49-F238E27FC236}">
                <a16:creationId xmlns:a16="http://schemas.microsoft.com/office/drawing/2014/main" id="{A11EDC36-5F6C-7891-6A2B-41384387A3D2}"/>
              </a:ext>
            </a:extLst>
          </p:cNvPr>
          <p:cNvSpPr>
            <a:spLocks noGrp="1"/>
          </p:cNvSpPr>
          <p:nvPr>
            <p:ph type="sldNum" sz="quarter" idx="10"/>
          </p:nvPr>
        </p:nvSpPr>
        <p:spPr>
          <a:xfrm>
            <a:off x="6947058" y="4854675"/>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26421428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wo columns 2" preserve="1">
  <p:cSld name="Title and two columns 2">
    <p:spTree>
      <p:nvGrpSpPr>
        <p:cNvPr id="1" name="Shape 176"/>
        <p:cNvGrpSpPr/>
        <p:nvPr/>
      </p:nvGrpSpPr>
      <p:grpSpPr>
        <a:xfrm>
          <a:off x="0" y="0"/>
          <a:ext cx="0" cy="0"/>
          <a:chOff x="0" y="0"/>
          <a:chExt cx="0" cy="0"/>
        </a:xfrm>
      </p:grpSpPr>
      <p:pic>
        <p:nvPicPr>
          <p:cNvPr id="177" name="Google Shape;177;p22"/>
          <p:cNvPicPr preferRelativeResize="0"/>
          <p:nvPr/>
        </p:nvPicPr>
        <p:blipFill>
          <a:blip r:embed="rId2">
            <a:alphaModFix amt="12000"/>
          </a:blip>
          <a:stretch>
            <a:fillRect/>
          </a:stretch>
        </p:blipFill>
        <p:spPr>
          <a:xfrm>
            <a:off x="0" y="-9210"/>
            <a:ext cx="9144000" cy="5143500"/>
          </a:xfrm>
          <a:prstGeom prst="rect">
            <a:avLst/>
          </a:prstGeom>
          <a:noFill/>
          <a:ln>
            <a:noFill/>
          </a:ln>
        </p:spPr>
      </p:pic>
      <p:sp>
        <p:nvSpPr>
          <p:cNvPr id="178" name="Google Shape;178;p22"/>
          <p:cNvSpPr txBox="1">
            <a:spLocks noGrp="1"/>
          </p:cNvSpPr>
          <p:nvPr>
            <p:ph type="title"/>
          </p:nvPr>
        </p:nvSpPr>
        <p:spPr>
          <a:xfrm>
            <a:off x="720000" y="696921"/>
            <a:ext cx="7758665" cy="58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100"/>
              <a:buNone/>
              <a:defRPr sz="3500"/>
            </a:lvl1pPr>
            <a:lvl2pPr lvl="1" algn="ctr" rtl="0">
              <a:spcBef>
                <a:spcPts val="0"/>
              </a:spcBef>
              <a:spcAft>
                <a:spcPts val="0"/>
              </a:spcAft>
              <a:buSzPts val="3100"/>
              <a:buNone/>
              <a:defRPr sz="3100"/>
            </a:lvl2pPr>
            <a:lvl3pPr lvl="2" algn="ctr" rtl="0">
              <a:spcBef>
                <a:spcPts val="0"/>
              </a:spcBef>
              <a:spcAft>
                <a:spcPts val="0"/>
              </a:spcAft>
              <a:buSzPts val="3100"/>
              <a:buNone/>
              <a:defRPr sz="3100"/>
            </a:lvl3pPr>
            <a:lvl4pPr lvl="3" algn="ctr" rtl="0">
              <a:spcBef>
                <a:spcPts val="0"/>
              </a:spcBef>
              <a:spcAft>
                <a:spcPts val="0"/>
              </a:spcAft>
              <a:buSzPts val="3100"/>
              <a:buNone/>
              <a:defRPr sz="3100"/>
            </a:lvl4pPr>
            <a:lvl5pPr lvl="4" algn="ctr" rtl="0">
              <a:spcBef>
                <a:spcPts val="0"/>
              </a:spcBef>
              <a:spcAft>
                <a:spcPts val="0"/>
              </a:spcAft>
              <a:buSzPts val="3100"/>
              <a:buNone/>
              <a:defRPr sz="3100"/>
            </a:lvl5pPr>
            <a:lvl6pPr lvl="5" algn="ctr" rtl="0">
              <a:spcBef>
                <a:spcPts val="0"/>
              </a:spcBef>
              <a:spcAft>
                <a:spcPts val="0"/>
              </a:spcAft>
              <a:buSzPts val="3100"/>
              <a:buNone/>
              <a:defRPr sz="3100"/>
            </a:lvl6pPr>
            <a:lvl7pPr lvl="6" algn="ctr" rtl="0">
              <a:spcBef>
                <a:spcPts val="0"/>
              </a:spcBef>
              <a:spcAft>
                <a:spcPts val="0"/>
              </a:spcAft>
              <a:buSzPts val="3100"/>
              <a:buNone/>
              <a:defRPr sz="3100"/>
            </a:lvl7pPr>
            <a:lvl8pPr lvl="7" algn="ctr" rtl="0">
              <a:spcBef>
                <a:spcPts val="0"/>
              </a:spcBef>
              <a:spcAft>
                <a:spcPts val="0"/>
              </a:spcAft>
              <a:buSzPts val="3100"/>
              <a:buNone/>
              <a:defRPr sz="3100"/>
            </a:lvl8pPr>
            <a:lvl9pPr lvl="8" algn="ctr" rtl="0">
              <a:spcBef>
                <a:spcPts val="0"/>
              </a:spcBef>
              <a:spcAft>
                <a:spcPts val="0"/>
              </a:spcAft>
              <a:buSzPts val="3100"/>
              <a:buNone/>
              <a:defRPr sz="3100"/>
            </a:lvl9pPr>
          </a:lstStyle>
          <a:p>
            <a:endParaRPr dirty="0"/>
          </a:p>
        </p:txBody>
      </p:sp>
      <p:sp>
        <p:nvSpPr>
          <p:cNvPr id="179" name="Google Shape;179;p22"/>
          <p:cNvSpPr txBox="1">
            <a:spLocks noGrp="1"/>
          </p:cNvSpPr>
          <p:nvPr>
            <p:ph type="subTitle" idx="1"/>
          </p:nvPr>
        </p:nvSpPr>
        <p:spPr>
          <a:xfrm>
            <a:off x="720000" y="1401707"/>
            <a:ext cx="3852000" cy="344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Char char="●"/>
              <a:defRPr sz="1400"/>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dirty="0"/>
          </a:p>
        </p:txBody>
      </p:sp>
      <p:sp>
        <p:nvSpPr>
          <p:cNvPr id="186" name="Google Shape;186;p22"/>
          <p:cNvSpPr txBox="1">
            <a:spLocks noGrp="1"/>
          </p:cNvSpPr>
          <p:nvPr>
            <p:ph type="subTitle" idx="2"/>
          </p:nvPr>
        </p:nvSpPr>
        <p:spPr>
          <a:xfrm>
            <a:off x="4626665" y="1401707"/>
            <a:ext cx="3852000" cy="344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Char char="●"/>
              <a:defRPr sz="1400"/>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a:p>
        </p:txBody>
      </p:sp>
      <p:sp>
        <p:nvSpPr>
          <p:cNvPr id="2" name="Marcador de número de diapositiva 32">
            <a:extLst>
              <a:ext uri="{FF2B5EF4-FFF2-40B4-BE49-F238E27FC236}">
                <a16:creationId xmlns:a16="http://schemas.microsoft.com/office/drawing/2014/main" id="{E6B8D90A-F721-5BFA-9520-C81330115A3C}"/>
              </a:ext>
            </a:extLst>
          </p:cNvPr>
          <p:cNvSpPr>
            <a:spLocks noGrp="1"/>
          </p:cNvSpPr>
          <p:nvPr>
            <p:ph type="sldNum" sz="quarter" idx="4"/>
          </p:nvPr>
        </p:nvSpPr>
        <p:spPr>
          <a:xfrm>
            <a:off x="6965076" y="485965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spTree>
    <p:extLst>
      <p:ext uri="{BB962C8B-B14F-4D97-AF65-F5344CB8AC3E}">
        <p14:creationId xmlns:p14="http://schemas.microsoft.com/office/powerpoint/2010/main" val="2669531233"/>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ackground 2" preserve="1">
  <p:cSld name="Background 2">
    <p:spTree>
      <p:nvGrpSpPr>
        <p:cNvPr id="1" name="Shape 305"/>
        <p:cNvGrpSpPr/>
        <p:nvPr/>
      </p:nvGrpSpPr>
      <p:grpSpPr>
        <a:xfrm>
          <a:off x="0" y="0"/>
          <a:ext cx="0" cy="0"/>
          <a:chOff x="0" y="0"/>
          <a:chExt cx="0" cy="0"/>
        </a:xfrm>
      </p:grpSpPr>
      <p:sp>
        <p:nvSpPr>
          <p:cNvPr id="2" name="Marcador de número de diapositiva 32">
            <a:extLst>
              <a:ext uri="{FF2B5EF4-FFF2-40B4-BE49-F238E27FC236}">
                <a16:creationId xmlns:a16="http://schemas.microsoft.com/office/drawing/2014/main" id="{E3CF2F18-9AEF-9045-E247-CDBA355811BF}"/>
              </a:ext>
            </a:extLst>
          </p:cNvPr>
          <p:cNvSpPr>
            <a:spLocks noGrp="1"/>
          </p:cNvSpPr>
          <p:nvPr>
            <p:ph type="sldNum" sz="quarter" idx="4"/>
          </p:nvPr>
        </p:nvSpPr>
        <p:spPr>
          <a:xfrm>
            <a:off x="6965076" y="485965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585754B4-F252-4673-A93E-AFAD19F3B91A}" type="slidenum">
              <a:rPr lang="es-CO" smtClean="0"/>
              <a:t>‹Nº›</a:t>
            </a:fld>
            <a:endParaRPr lang="es-CO"/>
          </a:p>
        </p:txBody>
      </p:sp>
      <p:pic>
        <p:nvPicPr>
          <p:cNvPr id="3" name="Google Shape;9;p2">
            <a:extLst>
              <a:ext uri="{FF2B5EF4-FFF2-40B4-BE49-F238E27FC236}">
                <a16:creationId xmlns:a16="http://schemas.microsoft.com/office/drawing/2014/main" id="{AD9A05E1-271E-DF86-855C-3402A37CE6EE}"/>
              </a:ext>
            </a:extLst>
          </p:cNvPr>
          <p:cNvPicPr preferRelativeResize="0"/>
          <p:nvPr userDrawn="1"/>
        </p:nvPicPr>
        <p:blipFill>
          <a:blip r:embed="rId2">
            <a:alphaModFix amt="12000"/>
          </a:blip>
          <a:stretch>
            <a:fillRect/>
          </a:stretch>
        </p:blipFill>
        <p:spPr>
          <a:xfrm>
            <a:off x="-3" y="0"/>
            <a:ext cx="9144000" cy="5143500"/>
          </a:xfrm>
          <a:prstGeom prst="rect">
            <a:avLst/>
          </a:prstGeom>
          <a:noFill/>
          <a:ln>
            <a:noFill/>
          </a:ln>
        </p:spPr>
      </p:pic>
    </p:spTree>
    <p:extLst>
      <p:ext uri="{BB962C8B-B14F-4D97-AF65-F5344CB8AC3E}">
        <p14:creationId xmlns:p14="http://schemas.microsoft.com/office/powerpoint/2010/main" val="33220394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Diseño personalizado">
    <p:bg>
      <p:bgRef idx="1001">
        <a:schemeClr val="bg1"/>
      </p:bgRef>
    </p:bg>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0077D320-9EC5-A233-F3F1-072E9662FFBA}"/>
              </a:ext>
            </a:extLst>
          </p:cNvPr>
          <p:cNvSpPr>
            <a:spLocks noGrp="1"/>
          </p:cNvSpPr>
          <p:nvPr>
            <p:ph type="sldNum" sz="quarter" idx="10"/>
          </p:nvPr>
        </p:nvSpPr>
        <p:spPr/>
        <p:txBody>
          <a:bodyPr/>
          <a:lstStyle/>
          <a:p>
            <a:fld id="{2FE31968-4ACB-4FDC-A729-E0AFD0CA931C}" type="slidenum">
              <a:rPr lang="es-CO" smtClean="0"/>
              <a:t>‹Nº›</a:t>
            </a:fld>
            <a:endParaRPr lang="es-CO"/>
          </a:p>
        </p:txBody>
      </p:sp>
    </p:spTree>
    <p:extLst>
      <p:ext uri="{BB962C8B-B14F-4D97-AF65-F5344CB8AC3E}">
        <p14:creationId xmlns:p14="http://schemas.microsoft.com/office/powerpoint/2010/main" val="2152759372"/>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4.png"/><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microsoft.com/office/2007/relationships/hdphoto" Target="../media/hdphoto1.wdp"/><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97555" y="711622"/>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1pPr>
            <a:lvl2pPr lvl="1">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2pPr>
            <a:lvl3pPr lvl="2">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3pPr>
            <a:lvl4pPr lvl="3">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4pPr>
            <a:lvl5pPr lvl="4">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5pPr>
            <a:lvl6pPr lvl="5">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6pPr>
            <a:lvl7pPr lvl="6">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7pPr>
            <a:lvl8pPr lvl="7">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8pPr>
            <a:lvl9pPr lvl="8">
              <a:spcBef>
                <a:spcPts val="0"/>
              </a:spcBef>
              <a:spcAft>
                <a:spcPts val="0"/>
              </a:spcAft>
              <a:buClr>
                <a:schemeClr val="dk2"/>
              </a:buClr>
              <a:buSzPts val="2800"/>
              <a:buFont typeface="Libre Baskerville"/>
              <a:buNone/>
              <a:defRPr sz="2800" b="1">
                <a:solidFill>
                  <a:schemeClr val="dk2"/>
                </a:solidFill>
                <a:latin typeface="Libre Baskerville"/>
                <a:ea typeface="Libre Baskerville"/>
                <a:cs typeface="Libre Baskerville"/>
                <a:sym typeface="Libre Baskerville"/>
              </a:defRPr>
            </a:lvl9pPr>
          </a:lstStyle>
          <a:p>
            <a:endParaRPr dirty="0"/>
          </a:p>
        </p:txBody>
      </p:sp>
      <p:sp>
        <p:nvSpPr>
          <p:cNvPr id="7" name="Google Shape;7;p1"/>
          <p:cNvSpPr txBox="1">
            <a:spLocks noGrp="1"/>
          </p:cNvSpPr>
          <p:nvPr>
            <p:ph type="body" idx="1"/>
          </p:nvPr>
        </p:nvSpPr>
        <p:spPr>
          <a:xfrm>
            <a:off x="305585" y="1448419"/>
            <a:ext cx="8520600" cy="3184621"/>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Montserrat"/>
              <a:buChar char="●"/>
              <a:defRPr sz="1800">
                <a:solidFill>
                  <a:schemeClr val="dk1"/>
                </a:solidFill>
                <a:latin typeface="Montserrat"/>
                <a:ea typeface="Montserrat"/>
                <a:cs typeface="Montserrat"/>
                <a:sym typeface="Montserrat"/>
              </a:defRPr>
            </a:lvl1pPr>
            <a:lvl2pPr marL="914400" lvl="1"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2pPr>
            <a:lvl3pPr marL="1371600" lvl="2"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3pPr>
            <a:lvl4pPr marL="1828800" lvl="3"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4pPr>
            <a:lvl5pPr marL="2286000" lvl="4"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5pPr>
            <a:lvl6pPr marL="2743200" lvl="5"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6pPr>
            <a:lvl7pPr marL="3200400" lvl="6"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7pPr>
            <a:lvl8pPr marL="3657600" lvl="7"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8pPr>
            <a:lvl9pPr marL="4114800" lvl="8"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9pPr>
          </a:lstStyle>
          <a:p>
            <a:endParaRPr dirty="0"/>
          </a:p>
        </p:txBody>
      </p:sp>
      <p:pic>
        <p:nvPicPr>
          <p:cNvPr id="4" name="Imagen 3">
            <a:extLst>
              <a:ext uri="{FF2B5EF4-FFF2-40B4-BE49-F238E27FC236}">
                <a16:creationId xmlns:a16="http://schemas.microsoft.com/office/drawing/2014/main" id="{60FC9AC8-8B9B-C356-BE60-A5E249FA5D4A}"/>
              </a:ext>
            </a:extLst>
          </p:cNvPr>
          <p:cNvPicPr>
            <a:picLocks noChangeAspect="1"/>
          </p:cNvPicPr>
          <p:nvPr userDrawn="1"/>
        </p:nvPicPr>
        <p:blipFill rotWithShape="1">
          <a:blip r:embed="rId22">
            <a:duotone>
              <a:schemeClr val="accent3">
                <a:shade val="45000"/>
                <a:satMod val="135000"/>
              </a:schemeClr>
              <a:prstClr val="white"/>
            </a:duotone>
            <a:extLst>
              <a:ext uri="{BEBA8EAE-BF5A-486C-A8C5-ECC9F3942E4B}">
                <a14:imgProps xmlns:a14="http://schemas.microsoft.com/office/drawing/2010/main">
                  <a14:imgLayer r:embed="rId23">
                    <a14:imgEffect>
                      <a14:backgroundRemoval t="9896" b="89974" l="2344" r="97461">
                        <a14:foregroundMark x1="54297" y1="27474" x2="42578" y2="19531"/>
                        <a14:foregroundMark x1="42578" y1="19531" x2="54688" y2="27734"/>
                        <a14:foregroundMark x1="54688" y1="27734" x2="96875" y2="39714"/>
                        <a14:foregroundMark x1="94336" y1="55990" x2="86328" y2="65885"/>
                        <a14:foregroundMark x1="86328" y1="65885" x2="24609" y2="80469"/>
                        <a14:foregroundMark x1="24609" y1="80469" x2="25586" y2="67057"/>
                        <a14:foregroundMark x1="25586" y1="67057" x2="48047" y2="49089"/>
                        <a14:foregroundMark x1="48047" y1="49089" x2="43945" y2="37891"/>
                        <a14:foregroundMark x1="43945" y1="37891" x2="17578" y2="22396"/>
                        <a14:foregroundMark x1="17578" y1="22396" x2="2344" y2="32031"/>
                        <a14:foregroundMark x1="2344" y1="32031" x2="11914" y2="67448"/>
                        <a14:foregroundMark x1="11914" y1="67448" x2="37305" y2="45964"/>
                        <a14:foregroundMark x1="89453" y1="71484" x2="96094" y2="68490"/>
                        <a14:foregroundMark x1="88672" y1="72526" x2="97461" y2="68620"/>
                        <a14:foregroundMark x1="45508" y1="80339" x2="48438" y2="78125"/>
                      </a14:backgroundRemoval>
                    </a14:imgEffect>
                    <a14:imgEffect>
                      <a14:saturation sat="112000"/>
                    </a14:imgEffect>
                  </a14:imgLayer>
                </a14:imgProps>
              </a:ext>
            </a:extLst>
          </a:blip>
          <a:srcRect t="60775" r="7281" b="27471"/>
          <a:stretch/>
        </p:blipFill>
        <p:spPr>
          <a:xfrm>
            <a:off x="6443128" y="-6955"/>
            <a:ext cx="2700872" cy="572700"/>
          </a:xfrm>
          <a:prstGeom prst="rect">
            <a:avLst/>
          </a:prstGeom>
          <a:gradFill>
            <a:gsLst>
              <a:gs pos="19000">
                <a:srgbClr val="0E2A47">
                  <a:alpha val="59000"/>
                  <a:lumMod val="100000"/>
                </a:srgbClr>
              </a:gs>
              <a:gs pos="33000">
                <a:schemeClr val="accent2">
                  <a:lumMod val="10000"/>
                  <a:lumOff val="90000"/>
                </a:schemeClr>
              </a:gs>
              <a:gs pos="77000">
                <a:schemeClr val="accent2">
                  <a:lumMod val="25000"/>
                  <a:lumOff val="75000"/>
                </a:schemeClr>
              </a:gs>
              <a:gs pos="100000">
                <a:schemeClr val="accent3">
                  <a:lumMod val="60000"/>
                  <a:lumOff val="40000"/>
                </a:schemeClr>
              </a:gs>
            </a:gsLst>
            <a:lin ang="10800000" scaled="1"/>
          </a:gradFill>
          <a:ln>
            <a:noFill/>
          </a:ln>
          <a:effectLst>
            <a:softEdge rad="0"/>
          </a:effectLst>
        </p:spPr>
      </p:pic>
      <p:pic>
        <p:nvPicPr>
          <p:cNvPr id="9" name="Google Shape;28;p4">
            <a:extLst>
              <a:ext uri="{FF2B5EF4-FFF2-40B4-BE49-F238E27FC236}">
                <a16:creationId xmlns:a16="http://schemas.microsoft.com/office/drawing/2014/main" id="{C838CF9F-1988-524C-8E01-03AB6CF3D3E1}"/>
              </a:ext>
            </a:extLst>
          </p:cNvPr>
          <p:cNvPicPr preferRelativeResize="0"/>
          <p:nvPr userDrawn="1"/>
        </p:nvPicPr>
        <p:blipFill>
          <a:blip r:embed="rId24">
            <a:alphaModFix amt="70000"/>
          </a:blip>
          <a:stretch>
            <a:fillRect/>
          </a:stretch>
        </p:blipFill>
        <p:spPr>
          <a:xfrm>
            <a:off x="8420241" y="4668168"/>
            <a:ext cx="911641" cy="950664"/>
          </a:xfrm>
          <a:prstGeom prst="rect">
            <a:avLst/>
          </a:prstGeom>
          <a:noFill/>
          <a:ln>
            <a:noFill/>
          </a:ln>
        </p:spPr>
      </p:pic>
      <p:pic>
        <p:nvPicPr>
          <p:cNvPr id="10" name="Imagen 9">
            <a:extLst>
              <a:ext uri="{FF2B5EF4-FFF2-40B4-BE49-F238E27FC236}">
                <a16:creationId xmlns:a16="http://schemas.microsoft.com/office/drawing/2014/main" id="{E968E9F5-C031-8916-0772-8842EBF6AC4A}"/>
              </a:ext>
            </a:extLst>
          </p:cNvPr>
          <p:cNvPicPr>
            <a:picLocks noChangeAspect="1"/>
          </p:cNvPicPr>
          <p:nvPr userDrawn="1"/>
        </p:nvPicPr>
        <p:blipFill rotWithShape="1">
          <a:blip r:embed="rId25"/>
          <a:srcRect l="1" r="57412"/>
          <a:stretch/>
        </p:blipFill>
        <p:spPr>
          <a:xfrm>
            <a:off x="213505" y="11159"/>
            <a:ext cx="1161848" cy="556689"/>
          </a:xfrm>
          <a:prstGeom prst="rect">
            <a:avLst/>
          </a:prstGeom>
        </p:spPr>
      </p:pic>
      <p:sp>
        <p:nvSpPr>
          <p:cNvPr id="24" name="CuadroTexto 23">
            <a:extLst>
              <a:ext uri="{FF2B5EF4-FFF2-40B4-BE49-F238E27FC236}">
                <a16:creationId xmlns:a16="http://schemas.microsoft.com/office/drawing/2014/main" id="{1B677341-6345-4681-C896-F97AE06C9832}"/>
              </a:ext>
            </a:extLst>
          </p:cNvPr>
          <p:cNvSpPr txBox="1"/>
          <p:nvPr userDrawn="1"/>
        </p:nvSpPr>
        <p:spPr>
          <a:xfrm>
            <a:off x="8606436" y="4864819"/>
            <a:ext cx="269626" cy="276999"/>
          </a:xfrm>
          <a:prstGeom prst="rect">
            <a:avLst/>
          </a:prstGeom>
          <a:noFill/>
        </p:spPr>
        <p:txBody>
          <a:bodyPr wrap="none" rtlCol="0">
            <a:spAutoFit/>
          </a:bodyPr>
          <a:lstStyle/>
          <a:p>
            <a:r>
              <a:rPr lang="es-CO" sz="1200" dirty="0">
                <a:solidFill>
                  <a:schemeClr val="bg1"/>
                </a:solidFill>
              </a:rPr>
              <a:t>1</a:t>
            </a:r>
            <a:endParaRPr lang="es-ES" sz="1200" dirty="0">
              <a:solidFill>
                <a:schemeClr val="bg1"/>
              </a:solidFill>
            </a:endParaRPr>
          </a:p>
        </p:txBody>
      </p:sp>
      <p:sp>
        <p:nvSpPr>
          <p:cNvPr id="27" name="Rectángulo: esquinas redondeadas 26">
            <a:extLst>
              <a:ext uri="{FF2B5EF4-FFF2-40B4-BE49-F238E27FC236}">
                <a16:creationId xmlns:a16="http://schemas.microsoft.com/office/drawing/2014/main" id="{03C48C39-10AC-00E1-8439-5BCADFB10EA4}"/>
              </a:ext>
            </a:extLst>
          </p:cNvPr>
          <p:cNvSpPr/>
          <p:nvPr userDrawn="1"/>
        </p:nvSpPr>
        <p:spPr>
          <a:xfrm>
            <a:off x="2700873" y="-3427"/>
            <a:ext cx="6481958" cy="569172"/>
          </a:xfrm>
          <a:prstGeom prst="roundRect">
            <a:avLst/>
          </a:prstGeom>
          <a:gradFill flip="none" rotWithShape="1">
            <a:gsLst>
              <a:gs pos="19000">
                <a:srgbClr val="0E2A47">
                  <a:alpha val="59000"/>
                  <a:lumMod val="100000"/>
                </a:srgbClr>
              </a:gs>
              <a:gs pos="43000">
                <a:schemeClr val="accent2">
                  <a:lumMod val="10000"/>
                  <a:lumOff val="90000"/>
                </a:schemeClr>
              </a:gs>
              <a:gs pos="69000">
                <a:schemeClr val="accent2">
                  <a:lumMod val="25000"/>
                  <a:lumOff val="75000"/>
                </a:schemeClr>
              </a:gs>
              <a:gs pos="98230">
                <a:srgbClr val="0E2A47"/>
              </a:gs>
              <a:gs pos="84000">
                <a:schemeClr val="accent3">
                  <a:lumMod val="60000"/>
                  <a:lumOff val="4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s-ES" sz="1400" b="0" i="0" u="none" strike="noStrike" kern="0" cap="none" spc="0" normalizeH="0" baseline="0" noProof="0" dirty="0">
              <a:ln>
                <a:noFill/>
              </a:ln>
              <a:solidFill>
                <a:srgbClr val="FFFFFF"/>
              </a:solidFill>
              <a:effectLst/>
              <a:uLnTx/>
              <a:uFillTx/>
              <a:latin typeface="Arial"/>
              <a:ea typeface="+mn-ea"/>
              <a:cs typeface="+mn-cs"/>
              <a:sym typeface="Arial"/>
            </a:endParaRPr>
          </a:p>
        </p:txBody>
      </p:sp>
      <p:sp>
        <p:nvSpPr>
          <p:cNvPr id="34" name="Marcador de número de diapositiva 33">
            <a:extLst>
              <a:ext uri="{FF2B5EF4-FFF2-40B4-BE49-F238E27FC236}">
                <a16:creationId xmlns:a16="http://schemas.microsoft.com/office/drawing/2014/main" id="{882642BA-E753-0526-0DB1-979EB663AD8D}"/>
              </a:ext>
            </a:extLst>
          </p:cNvPr>
          <p:cNvSpPr>
            <a:spLocks noGrp="1"/>
          </p:cNvSpPr>
          <p:nvPr>
            <p:ph type="sldNum" sz="quarter" idx="4"/>
          </p:nvPr>
        </p:nvSpPr>
        <p:spPr>
          <a:xfrm>
            <a:off x="6964577" y="48688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2FE31968-4ACB-4FDC-A729-E0AFD0CA931C}" type="slidenum">
              <a:rPr lang="es-CO" smtClean="0"/>
              <a:t>‹Nº›</a:t>
            </a:fld>
            <a:endParaRPr lang="es-CO"/>
          </a:p>
        </p:txBody>
      </p:sp>
      <p:pic>
        <p:nvPicPr>
          <p:cNvPr id="5" name="Imagen 4" descr="Imagen que contiene señal&#10;&#10;Descripción generada automáticamente">
            <a:extLst>
              <a:ext uri="{FF2B5EF4-FFF2-40B4-BE49-F238E27FC236}">
                <a16:creationId xmlns:a16="http://schemas.microsoft.com/office/drawing/2014/main" id="{AA992F98-CF33-2388-CD15-8BE6A34588BE}"/>
              </a:ext>
            </a:extLst>
          </p:cNvPr>
          <p:cNvPicPr>
            <a:picLocks noChangeAspect="1"/>
          </p:cNvPicPr>
          <p:nvPr userDrawn="1"/>
        </p:nvPicPr>
        <p:blipFill>
          <a:blip r:embed="rId26"/>
          <a:stretch>
            <a:fillRect/>
          </a:stretch>
        </p:blipFill>
        <p:spPr>
          <a:xfrm>
            <a:off x="3375481" y="11159"/>
            <a:ext cx="356259" cy="540000"/>
          </a:xfrm>
          <a:prstGeom prst="rect">
            <a:avLst/>
          </a:prstGeom>
        </p:spPr>
      </p:pic>
      <p:sp>
        <p:nvSpPr>
          <p:cNvPr id="2" name="Rectángulo 1">
            <a:extLst>
              <a:ext uri="{FF2B5EF4-FFF2-40B4-BE49-F238E27FC236}">
                <a16:creationId xmlns:a16="http://schemas.microsoft.com/office/drawing/2014/main" id="{9C7EBD3B-61F3-6418-1C94-41562CE9B0D7}"/>
              </a:ext>
            </a:extLst>
          </p:cNvPr>
          <p:cNvSpPr/>
          <p:nvPr userDrawn="1"/>
        </p:nvSpPr>
        <p:spPr>
          <a:xfrm>
            <a:off x="3777571" y="98234"/>
            <a:ext cx="4572000" cy="369332"/>
          </a:xfrm>
          <a:prstGeom prst="rect">
            <a:avLst/>
          </a:prstGeom>
        </p:spPr>
        <p:txBody>
          <a:bodyPr>
            <a:spAutoFit/>
          </a:bodyPr>
          <a:lstStyle/>
          <a:p>
            <a:r>
              <a:rPr lang="en-US" sz="900" noProof="0" dirty="0">
                <a:solidFill>
                  <a:srgbClr val="0E2A47"/>
                </a:solidFill>
              </a:rPr>
              <a:t>Department of Civil and Environmental Engineering </a:t>
            </a:r>
          </a:p>
          <a:p>
            <a:r>
              <a:rPr lang="en-US" sz="900" noProof="0" dirty="0">
                <a:solidFill>
                  <a:srgbClr val="0E2A47"/>
                </a:solidFill>
              </a:rPr>
              <a:t>Water Supply and Sewers Systems Research Center</a:t>
            </a:r>
          </a:p>
        </p:txBody>
      </p:sp>
    </p:spTree>
    <p:extLst>
      <p:ext uri="{BB962C8B-B14F-4D97-AF65-F5344CB8AC3E}">
        <p14:creationId xmlns:p14="http://schemas.microsoft.com/office/powerpoint/2010/main" val="4011355625"/>
      </p:ext>
    </p:extLst>
  </p:cSld>
  <p:clrMap bg1="lt1" tx1="dk1" bg2="lt2" tx2="dk2" accent1="accent1" accent2="accent2" accent3="accent3" accent4="accent4" accent5="accent5" accent6="accent6" hlink="hlink" folHlink="folHlink"/>
  <p:sldLayoutIdLst>
    <p:sldLayoutId id="2147483716" r:id="rId1"/>
    <p:sldLayoutId id="2147483684" r:id="rId2"/>
    <p:sldLayoutId id="2147483685" r:id="rId3"/>
    <p:sldLayoutId id="2147483686" r:id="rId4"/>
    <p:sldLayoutId id="2147483688" r:id="rId5"/>
    <p:sldLayoutId id="2147483718" r:id="rId6"/>
    <p:sldLayoutId id="2147483719" r:id="rId7"/>
    <p:sldLayoutId id="2147483689" r:id="rId8"/>
    <p:sldLayoutId id="2147483691" r:id="rId9"/>
    <p:sldLayoutId id="2147483692" r:id="rId10"/>
    <p:sldLayoutId id="2147483693" r:id="rId11"/>
    <p:sldLayoutId id="2147483695" r:id="rId12"/>
    <p:sldLayoutId id="2147483696" r:id="rId13"/>
    <p:sldLayoutId id="2147483700" r:id="rId14"/>
    <p:sldLayoutId id="2147483701" r:id="rId15"/>
    <p:sldLayoutId id="2147483702" r:id="rId16"/>
    <p:sldLayoutId id="2147483703" r:id="rId17"/>
    <p:sldLayoutId id="2147483704" r:id="rId18"/>
    <p:sldLayoutId id="2147483714" r:id="rId19"/>
    <p:sldLayoutId id="2147483717" r:id="rId2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90.png"/><Relationship Id="rId4" Type="http://schemas.openxmlformats.org/officeDocument/2006/relationships/customXml" Target="../ink/ink1.xml"/></Relationships>
</file>

<file path=ppt/slides/_rels/slide16.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hyperlink" Target="https://doi.org/10.1016/j.watres.2024.122142" TargetMode="External"/><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hyperlink" Target="https://doi.org/10.1016/j.watres.2022.118972" TargetMode="External"/><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hyperlink" Target="https://doi.org/10.1016/j.watres.2024.122396" TargetMode="External"/><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hyperlink" Target="https://doi.org/10.1016/j.watres.2025.125079" TargetMode="External"/><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hyperlink" Target="https://doi.org/10.1061/JWRMD5.WRENG-7598" TargetMode="External"/><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hyperlink" Target="https://doi.org/10.1016/j.watres.2024.122142" TargetMode="External"/><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hyperlink" Target="https://doi.org/10.1016/j.watres.2025.125079" TargetMode="External"/><Relationship Id="rId5" Type="http://schemas.openxmlformats.org/officeDocument/2006/relationships/hyperlink" Target="https://doi.org/10.1016/j.watres.2024.122396" TargetMode="External"/><Relationship Id="rId4" Type="http://schemas.openxmlformats.org/officeDocument/2006/relationships/hyperlink" Target="https://doi.org/10.1016/j.watres.2022.118972"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s://doi.org/10.1061/JWRMD5.WRENG-7598" TargetMode="External"/><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5.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5.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5.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5.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0.xml"/><Relationship Id="rId1" Type="http://schemas.openxmlformats.org/officeDocument/2006/relationships/slideLayout" Target="../slideLayouts/slideLayout5.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3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1.xml"/><Relationship Id="rId1" Type="http://schemas.openxmlformats.org/officeDocument/2006/relationships/slideLayout" Target="../slideLayouts/slideLayout5.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3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2.xml"/><Relationship Id="rId1" Type="http://schemas.openxmlformats.org/officeDocument/2006/relationships/slideLayout" Target="../slideLayouts/slideLayout5.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646FF804-ED03-00B4-80BE-81E99A582D04}"/>
              </a:ext>
            </a:extLst>
          </p:cNvPr>
          <p:cNvSpPr>
            <a:spLocks noGrp="1"/>
          </p:cNvSpPr>
          <p:nvPr>
            <p:ph type="sldNum" sz="quarter" idx="4"/>
          </p:nvPr>
        </p:nvSpPr>
        <p:spPr/>
        <p:txBody>
          <a:bodyPr/>
          <a:lstStyle/>
          <a:p>
            <a:fld id="{585754B4-F252-4673-A93E-AFAD19F3B91A}" type="slidenum">
              <a:rPr lang="en-US" noProof="0" smtClean="0"/>
              <a:t>1</a:t>
            </a:fld>
            <a:endParaRPr lang="en-US" noProof="0" dirty="0"/>
          </a:p>
        </p:txBody>
      </p:sp>
      <p:sp>
        <p:nvSpPr>
          <p:cNvPr id="3" name="Título 2">
            <a:extLst>
              <a:ext uri="{FF2B5EF4-FFF2-40B4-BE49-F238E27FC236}">
                <a16:creationId xmlns:a16="http://schemas.microsoft.com/office/drawing/2014/main" id="{A97E69F7-14D0-B481-4806-A4A180ACC0E8}"/>
              </a:ext>
            </a:extLst>
          </p:cNvPr>
          <p:cNvSpPr>
            <a:spLocks noGrp="1"/>
          </p:cNvSpPr>
          <p:nvPr>
            <p:ph type="title"/>
          </p:nvPr>
        </p:nvSpPr>
        <p:spPr>
          <a:xfrm>
            <a:off x="635000" y="1079500"/>
            <a:ext cx="7874000" cy="1905000"/>
          </a:xfrm>
        </p:spPr>
        <p:txBody>
          <a:bodyPr/>
          <a:lstStyle/>
          <a:p>
            <a:r>
              <a:rPr lang="en-US" noProof="0" dirty="0"/>
              <a:t>Machine Learning Model for Hydraulic Failure Prediction in Stormwater Systems</a:t>
            </a:r>
          </a:p>
        </p:txBody>
      </p:sp>
      <p:sp>
        <p:nvSpPr>
          <p:cNvPr id="4" name="Subtítulo 3">
            <a:extLst>
              <a:ext uri="{FF2B5EF4-FFF2-40B4-BE49-F238E27FC236}">
                <a16:creationId xmlns:a16="http://schemas.microsoft.com/office/drawing/2014/main" id="{F2334C66-4D63-D716-251A-3E0420C2F0DE}"/>
              </a:ext>
            </a:extLst>
          </p:cNvPr>
          <p:cNvSpPr>
            <a:spLocks noGrp="1"/>
          </p:cNvSpPr>
          <p:nvPr>
            <p:ph type="subTitle" idx="1"/>
          </p:nvPr>
        </p:nvSpPr>
        <p:spPr/>
        <p:txBody>
          <a:bodyPr/>
          <a:lstStyle/>
          <a:p>
            <a:r>
              <a:rPr lang="en-US" noProof="0" dirty="0"/>
              <a:t>Luis Fernando Fajardo Bravo</a:t>
            </a:r>
          </a:p>
        </p:txBody>
      </p:sp>
      <p:sp>
        <p:nvSpPr>
          <p:cNvPr id="5" name="Marcador de texto 4">
            <a:extLst>
              <a:ext uri="{FF2B5EF4-FFF2-40B4-BE49-F238E27FC236}">
                <a16:creationId xmlns:a16="http://schemas.microsoft.com/office/drawing/2014/main" id="{F370B49F-1F4A-F2BB-8468-490BC5AB86CC}"/>
              </a:ext>
            </a:extLst>
          </p:cNvPr>
          <p:cNvSpPr>
            <a:spLocks noGrp="1"/>
          </p:cNvSpPr>
          <p:nvPr>
            <p:ph type="body" sz="quarter" idx="10"/>
          </p:nvPr>
        </p:nvSpPr>
        <p:spPr>
          <a:xfrm>
            <a:off x="3971418" y="4108392"/>
            <a:ext cx="1392079" cy="447813"/>
          </a:xfrm>
        </p:spPr>
        <p:txBody>
          <a:bodyPr/>
          <a:lstStyle/>
          <a:p>
            <a:r>
              <a:rPr lang="en-US" dirty="0"/>
              <a:t>15</a:t>
            </a:r>
            <a:r>
              <a:rPr lang="en-US" noProof="0" dirty="0"/>
              <a:t>/09/2026</a:t>
            </a:r>
          </a:p>
        </p:txBody>
      </p:sp>
    </p:spTree>
    <p:extLst>
      <p:ext uri="{BB962C8B-B14F-4D97-AF65-F5344CB8AC3E}">
        <p14:creationId xmlns:p14="http://schemas.microsoft.com/office/powerpoint/2010/main" val="2916275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39CAFC-5177-D67A-6614-34FBD698874E}"/>
              </a:ext>
            </a:extLst>
          </p:cNvPr>
          <p:cNvSpPr>
            <a:spLocks noGrp="1"/>
          </p:cNvSpPr>
          <p:nvPr>
            <p:ph type="ctrTitle"/>
          </p:nvPr>
        </p:nvSpPr>
        <p:spPr>
          <a:xfrm>
            <a:off x="579732" y="629031"/>
            <a:ext cx="8259468" cy="682937"/>
          </a:xfrm>
        </p:spPr>
        <p:txBody>
          <a:bodyPr/>
          <a:lstStyle/>
          <a:p>
            <a:pPr algn="ctr"/>
            <a:r>
              <a:rPr lang="es-CO" sz="3600" dirty="0"/>
              <a:t>Cronograma Tesis II</a:t>
            </a:r>
          </a:p>
        </p:txBody>
      </p:sp>
      <p:sp>
        <p:nvSpPr>
          <p:cNvPr id="4" name="Marcador de número de diapositiva 3">
            <a:extLst>
              <a:ext uri="{FF2B5EF4-FFF2-40B4-BE49-F238E27FC236}">
                <a16:creationId xmlns:a16="http://schemas.microsoft.com/office/drawing/2014/main" id="{BAA8C51F-8A78-1D8A-B04C-3F51073EB7EC}"/>
              </a:ext>
            </a:extLst>
          </p:cNvPr>
          <p:cNvSpPr>
            <a:spLocks noGrp="1"/>
          </p:cNvSpPr>
          <p:nvPr>
            <p:ph type="sldNum" sz="quarter" idx="4"/>
          </p:nvPr>
        </p:nvSpPr>
        <p:spPr/>
        <p:txBody>
          <a:bodyPr/>
          <a:lstStyle/>
          <a:p>
            <a:fld id="{585754B4-F252-4673-A93E-AFAD19F3B91A}" type="slidenum">
              <a:rPr lang="es-CO" smtClean="0"/>
              <a:t>2</a:t>
            </a:fld>
            <a:endParaRPr lang="es-CO"/>
          </a:p>
        </p:txBody>
      </p:sp>
      <p:sp>
        <p:nvSpPr>
          <p:cNvPr id="3" name="AutoShape 2" descr="Cronograma actualizado">
            <a:extLst>
              <a:ext uri="{FF2B5EF4-FFF2-40B4-BE49-F238E27FC236}">
                <a16:creationId xmlns:a16="http://schemas.microsoft.com/office/drawing/2014/main" id="{391512BD-75DB-46B7-9427-7D00345A21F8}"/>
              </a:ext>
            </a:extLst>
          </p:cNvPr>
          <p:cNvSpPr>
            <a:spLocks noChangeAspect="1" noChangeArrowheads="1"/>
          </p:cNvSpPr>
          <p:nvPr/>
        </p:nvSpPr>
        <p:spPr bwMode="auto">
          <a:xfrm>
            <a:off x="4419600" y="2419350"/>
            <a:ext cx="3358308" cy="335830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8" name="Imagen 7">
            <a:extLst>
              <a:ext uri="{FF2B5EF4-FFF2-40B4-BE49-F238E27FC236}">
                <a16:creationId xmlns:a16="http://schemas.microsoft.com/office/drawing/2014/main" id="{A7D4184A-46BC-4EFA-BF41-F2D33FE988AF}"/>
              </a:ext>
            </a:extLst>
          </p:cNvPr>
          <p:cNvPicPr>
            <a:picLocks noChangeAspect="1"/>
          </p:cNvPicPr>
          <p:nvPr/>
        </p:nvPicPr>
        <p:blipFill rotWithShape="1">
          <a:blip r:embed="rId2"/>
          <a:srcRect l="30741" t="11123" r="2222" b="9558"/>
          <a:stretch/>
        </p:blipFill>
        <p:spPr>
          <a:xfrm>
            <a:off x="948266" y="1172904"/>
            <a:ext cx="7247467" cy="3970596"/>
          </a:xfrm>
          <a:prstGeom prst="rect">
            <a:avLst/>
          </a:prstGeom>
        </p:spPr>
      </p:pic>
    </p:spTree>
    <p:extLst>
      <p:ext uri="{BB962C8B-B14F-4D97-AF65-F5344CB8AC3E}">
        <p14:creationId xmlns:p14="http://schemas.microsoft.com/office/powerpoint/2010/main" val="23847076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24FA5-8482-AF15-2C20-2ECA027AAF88}"/>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3CAB1E0C-009F-75F6-A7E1-8E163B3B0C9A}"/>
              </a:ext>
            </a:extLst>
          </p:cNvPr>
          <p:cNvSpPr>
            <a:spLocks noGrp="1"/>
          </p:cNvSpPr>
          <p:nvPr>
            <p:ph type="sldNum" sz="quarter" idx="4"/>
          </p:nvPr>
        </p:nvSpPr>
        <p:spPr/>
        <p:txBody>
          <a:bodyPr/>
          <a:lstStyle/>
          <a:p>
            <a:fld id="{585754B4-F252-4673-A93E-AFAD19F3B91A}" type="slidenum">
              <a:rPr lang="es-CO" smtClean="0"/>
              <a:t>3</a:t>
            </a:fld>
            <a:endParaRPr lang="es-CO"/>
          </a:p>
        </p:txBody>
      </p:sp>
      <p:pic>
        <p:nvPicPr>
          <p:cNvPr id="3" name="Imagen 2">
            <a:extLst>
              <a:ext uri="{FF2B5EF4-FFF2-40B4-BE49-F238E27FC236}">
                <a16:creationId xmlns:a16="http://schemas.microsoft.com/office/drawing/2014/main" id="{571CD7F5-D937-D25E-8F98-B9EE4D4689DC}"/>
              </a:ext>
            </a:extLst>
          </p:cNvPr>
          <p:cNvPicPr>
            <a:picLocks noChangeAspect="1"/>
          </p:cNvPicPr>
          <p:nvPr/>
        </p:nvPicPr>
        <p:blipFill>
          <a:blip r:embed="rId3"/>
          <a:srcRect t="4823" b="57003"/>
          <a:stretch>
            <a:fillRect/>
          </a:stretch>
        </p:blipFill>
        <p:spPr>
          <a:xfrm>
            <a:off x="498517" y="1375143"/>
            <a:ext cx="8146966" cy="2764465"/>
          </a:xfrm>
          <a:prstGeom prst="rect">
            <a:avLst/>
          </a:prstGeom>
        </p:spPr>
      </p:pic>
    </p:spTree>
    <p:extLst>
      <p:ext uri="{BB962C8B-B14F-4D97-AF65-F5344CB8AC3E}">
        <p14:creationId xmlns:p14="http://schemas.microsoft.com/office/powerpoint/2010/main" val="33420053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5315B-EC17-2E0E-77A8-7C956F9AD02C}"/>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CE387F3A-E029-914C-63E6-E3BA7A18477E}"/>
              </a:ext>
            </a:extLst>
          </p:cNvPr>
          <p:cNvSpPr>
            <a:spLocks noGrp="1"/>
          </p:cNvSpPr>
          <p:nvPr>
            <p:ph type="sldNum" sz="quarter" idx="4"/>
          </p:nvPr>
        </p:nvSpPr>
        <p:spPr/>
        <p:txBody>
          <a:bodyPr/>
          <a:lstStyle/>
          <a:p>
            <a:fld id="{585754B4-F252-4673-A93E-AFAD19F3B91A}" type="slidenum">
              <a:rPr lang="es-CO" smtClean="0"/>
              <a:t>4</a:t>
            </a:fld>
            <a:endParaRPr lang="es-CO"/>
          </a:p>
        </p:txBody>
      </p:sp>
      <p:pic>
        <p:nvPicPr>
          <p:cNvPr id="5" name="Imagen 4">
            <a:extLst>
              <a:ext uri="{FF2B5EF4-FFF2-40B4-BE49-F238E27FC236}">
                <a16:creationId xmlns:a16="http://schemas.microsoft.com/office/drawing/2014/main" id="{8AA93BC3-14B7-9383-36AF-D772AA33648F}"/>
              </a:ext>
            </a:extLst>
          </p:cNvPr>
          <p:cNvPicPr>
            <a:picLocks noChangeAspect="1"/>
          </p:cNvPicPr>
          <p:nvPr/>
        </p:nvPicPr>
        <p:blipFill>
          <a:blip r:embed="rId3"/>
          <a:srcRect t="42309"/>
          <a:stretch>
            <a:fillRect/>
          </a:stretch>
        </p:blipFill>
        <p:spPr>
          <a:xfrm>
            <a:off x="587753" y="886046"/>
            <a:ext cx="7968493" cy="4086360"/>
          </a:xfrm>
          <a:prstGeom prst="rect">
            <a:avLst/>
          </a:prstGeom>
        </p:spPr>
      </p:pic>
    </p:spTree>
    <p:extLst>
      <p:ext uri="{BB962C8B-B14F-4D97-AF65-F5344CB8AC3E}">
        <p14:creationId xmlns:p14="http://schemas.microsoft.com/office/powerpoint/2010/main" val="1590020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2E707178-35E0-9ABD-FDED-1310C8D1FD0B}"/>
              </a:ext>
            </a:extLst>
          </p:cNvPr>
          <p:cNvSpPr>
            <a:spLocks noGrp="1"/>
          </p:cNvSpPr>
          <p:nvPr>
            <p:ph type="sldNum" sz="quarter" idx="4"/>
          </p:nvPr>
        </p:nvSpPr>
        <p:spPr/>
        <p:txBody>
          <a:bodyPr/>
          <a:lstStyle/>
          <a:p>
            <a:fld id="{585754B4-F252-4673-A93E-AFAD19F3B91A}" type="slidenum">
              <a:rPr lang="es-CO" smtClean="0"/>
              <a:t>5</a:t>
            </a:fld>
            <a:endParaRPr lang="es-CO"/>
          </a:p>
        </p:txBody>
      </p:sp>
      <p:pic>
        <p:nvPicPr>
          <p:cNvPr id="6" name="Imagen 5">
            <a:extLst>
              <a:ext uri="{FF2B5EF4-FFF2-40B4-BE49-F238E27FC236}">
                <a16:creationId xmlns:a16="http://schemas.microsoft.com/office/drawing/2014/main" id="{EA65B0F5-20CF-5338-0942-2661BEFF455B}"/>
              </a:ext>
            </a:extLst>
          </p:cNvPr>
          <p:cNvPicPr>
            <a:picLocks noChangeAspect="1"/>
          </p:cNvPicPr>
          <p:nvPr/>
        </p:nvPicPr>
        <p:blipFill>
          <a:blip r:embed="rId2"/>
          <a:srcRect t="5791" b="47331"/>
          <a:stretch>
            <a:fillRect/>
          </a:stretch>
        </p:blipFill>
        <p:spPr>
          <a:xfrm>
            <a:off x="95497" y="1525227"/>
            <a:ext cx="4408714" cy="2411195"/>
          </a:xfrm>
          <a:prstGeom prst="rect">
            <a:avLst/>
          </a:prstGeom>
        </p:spPr>
      </p:pic>
      <p:pic>
        <p:nvPicPr>
          <p:cNvPr id="8" name="Imagen 7">
            <a:extLst>
              <a:ext uri="{FF2B5EF4-FFF2-40B4-BE49-F238E27FC236}">
                <a16:creationId xmlns:a16="http://schemas.microsoft.com/office/drawing/2014/main" id="{92E36C39-D4F6-88C7-C127-2DA81F3BA7D2}"/>
              </a:ext>
            </a:extLst>
          </p:cNvPr>
          <p:cNvPicPr>
            <a:picLocks noChangeAspect="1"/>
          </p:cNvPicPr>
          <p:nvPr/>
        </p:nvPicPr>
        <p:blipFill>
          <a:blip r:embed="rId2"/>
          <a:srcRect t="53121"/>
          <a:stretch>
            <a:fillRect/>
          </a:stretch>
        </p:blipFill>
        <p:spPr>
          <a:xfrm>
            <a:off x="4572000" y="1525227"/>
            <a:ext cx="4408714" cy="2411195"/>
          </a:xfrm>
          <a:prstGeom prst="rect">
            <a:avLst/>
          </a:prstGeom>
        </p:spPr>
      </p:pic>
    </p:spTree>
    <p:extLst>
      <p:ext uri="{BB962C8B-B14F-4D97-AF65-F5344CB8AC3E}">
        <p14:creationId xmlns:p14="http://schemas.microsoft.com/office/powerpoint/2010/main" val="25273054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2E707178-35E0-9ABD-FDED-1310C8D1FD0B}"/>
              </a:ext>
            </a:extLst>
          </p:cNvPr>
          <p:cNvSpPr>
            <a:spLocks noGrp="1"/>
          </p:cNvSpPr>
          <p:nvPr>
            <p:ph type="sldNum" sz="quarter" idx="4"/>
          </p:nvPr>
        </p:nvSpPr>
        <p:spPr/>
        <p:txBody>
          <a:bodyPr/>
          <a:lstStyle/>
          <a:p>
            <a:fld id="{585754B4-F252-4673-A93E-AFAD19F3B91A}" type="slidenum">
              <a:rPr lang="es-CO" smtClean="0"/>
              <a:t>6</a:t>
            </a:fld>
            <a:endParaRPr lang="es-CO"/>
          </a:p>
        </p:txBody>
      </p:sp>
      <p:pic>
        <p:nvPicPr>
          <p:cNvPr id="3" name="Imagen 2">
            <a:extLst>
              <a:ext uri="{FF2B5EF4-FFF2-40B4-BE49-F238E27FC236}">
                <a16:creationId xmlns:a16="http://schemas.microsoft.com/office/drawing/2014/main" id="{F77ED31B-0E71-4B15-A5DD-D678D0230B3E}"/>
              </a:ext>
            </a:extLst>
          </p:cNvPr>
          <p:cNvPicPr>
            <a:picLocks noChangeAspect="1"/>
          </p:cNvPicPr>
          <p:nvPr/>
        </p:nvPicPr>
        <p:blipFill rotWithShape="1">
          <a:blip r:embed="rId2"/>
          <a:srcRect t="6516"/>
          <a:stretch/>
        </p:blipFill>
        <p:spPr>
          <a:xfrm>
            <a:off x="0" y="1140178"/>
            <a:ext cx="9144000" cy="3077660"/>
          </a:xfrm>
          <a:prstGeom prst="rect">
            <a:avLst/>
          </a:prstGeom>
        </p:spPr>
      </p:pic>
    </p:spTree>
    <p:extLst>
      <p:ext uri="{BB962C8B-B14F-4D97-AF65-F5344CB8AC3E}">
        <p14:creationId xmlns:p14="http://schemas.microsoft.com/office/powerpoint/2010/main" val="20288951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626DB37-67F3-8520-E2D7-FBB1D39F3C65}"/>
              </a:ext>
            </a:extLst>
          </p:cNvPr>
          <p:cNvSpPr>
            <a:spLocks noGrp="1"/>
          </p:cNvSpPr>
          <p:nvPr>
            <p:ph type="sldNum" sz="quarter" idx="4"/>
          </p:nvPr>
        </p:nvSpPr>
        <p:spPr/>
        <p:txBody>
          <a:bodyPr/>
          <a:lstStyle/>
          <a:p>
            <a:fld id="{585754B4-F252-4673-A93E-AFAD19F3B91A}" type="slidenum">
              <a:rPr lang="es-CO" smtClean="0"/>
              <a:t>7</a:t>
            </a:fld>
            <a:endParaRPr lang="es-CO"/>
          </a:p>
        </p:txBody>
      </p:sp>
      <p:sp>
        <p:nvSpPr>
          <p:cNvPr id="11" name="Título 1">
            <a:extLst>
              <a:ext uri="{FF2B5EF4-FFF2-40B4-BE49-F238E27FC236}">
                <a16:creationId xmlns:a16="http://schemas.microsoft.com/office/drawing/2014/main" id="{CDCDC6EB-0825-9C8C-45AB-5F5ABC780E40}"/>
              </a:ext>
            </a:extLst>
          </p:cNvPr>
          <p:cNvSpPr>
            <a:spLocks noGrp="1"/>
          </p:cNvSpPr>
          <p:nvPr>
            <p:ph type="ctrTitle"/>
          </p:nvPr>
        </p:nvSpPr>
        <p:spPr>
          <a:xfrm>
            <a:off x="579732" y="629031"/>
            <a:ext cx="8259468" cy="682937"/>
          </a:xfrm>
        </p:spPr>
        <p:txBody>
          <a:bodyPr/>
          <a:lstStyle/>
          <a:p>
            <a:pPr algn="ctr"/>
            <a:r>
              <a:rPr lang="es-CO" sz="3600" dirty="0"/>
              <a:t>Hidrograma 1</a:t>
            </a:r>
          </a:p>
        </p:txBody>
      </p:sp>
      <p:pic>
        <p:nvPicPr>
          <p:cNvPr id="3" name="Imagen 2">
            <a:extLst>
              <a:ext uri="{FF2B5EF4-FFF2-40B4-BE49-F238E27FC236}">
                <a16:creationId xmlns:a16="http://schemas.microsoft.com/office/drawing/2014/main" id="{AB2179FF-67EB-4C0B-A271-9679AEDCCDB9}"/>
              </a:ext>
            </a:extLst>
          </p:cNvPr>
          <p:cNvPicPr>
            <a:picLocks noChangeAspect="1"/>
          </p:cNvPicPr>
          <p:nvPr/>
        </p:nvPicPr>
        <p:blipFill>
          <a:blip r:embed="rId2"/>
          <a:stretch>
            <a:fillRect/>
          </a:stretch>
        </p:blipFill>
        <p:spPr>
          <a:xfrm>
            <a:off x="4587624" y="1393341"/>
            <a:ext cx="4541693" cy="2838264"/>
          </a:xfrm>
          <a:prstGeom prst="rect">
            <a:avLst/>
          </a:prstGeom>
        </p:spPr>
      </p:pic>
      <p:pic>
        <p:nvPicPr>
          <p:cNvPr id="6" name="Imagen 5">
            <a:extLst>
              <a:ext uri="{FF2B5EF4-FFF2-40B4-BE49-F238E27FC236}">
                <a16:creationId xmlns:a16="http://schemas.microsoft.com/office/drawing/2014/main" id="{97322B59-3F9B-4B7A-AD0A-C2520D144A6E}"/>
              </a:ext>
            </a:extLst>
          </p:cNvPr>
          <p:cNvPicPr>
            <a:picLocks noChangeAspect="1"/>
          </p:cNvPicPr>
          <p:nvPr/>
        </p:nvPicPr>
        <p:blipFill>
          <a:blip r:embed="rId3"/>
          <a:stretch>
            <a:fillRect/>
          </a:stretch>
        </p:blipFill>
        <p:spPr>
          <a:xfrm>
            <a:off x="-85883" y="1393341"/>
            <a:ext cx="4541693" cy="2838264"/>
          </a:xfrm>
          <a:prstGeom prst="rect">
            <a:avLst/>
          </a:prstGeom>
        </p:spPr>
      </p:pic>
    </p:spTree>
    <p:extLst>
      <p:ext uri="{BB962C8B-B14F-4D97-AF65-F5344CB8AC3E}">
        <p14:creationId xmlns:p14="http://schemas.microsoft.com/office/powerpoint/2010/main" val="24480367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59D52-9E34-0926-C8C1-47AA7E4EB92F}"/>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BF823F5-67D7-B033-4B55-AA60FBF0B977}"/>
              </a:ext>
            </a:extLst>
          </p:cNvPr>
          <p:cNvSpPr>
            <a:spLocks noGrp="1"/>
          </p:cNvSpPr>
          <p:nvPr>
            <p:ph type="sldNum" sz="quarter" idx="4"/>
          </p:nvPr>
        </p:nvSpPr>
        <p:spPr/>
        <p:txBody>
          <a:bodyPr/>
          <a:lstStyle/>
          <a:p>
            <a:fld id="{585754B4-F252-4673-A93E-AFAD19F3B91A}" type="slidenum">
              <a:rPr lang="es-CO" smtClean="0"/>
              <a:t>8</a:t>
            </a:fld>
            <a:endParaRPr lang="es-CO"/>
          </a:p>
        </p:txBody>
      </p:sp>
      <p:sp>
        <p:nvSpPr>
          <p:cNvPr id="11" name="Título 1">
            <a:extLst>
              <a:ext uri="{FF2B5EF4-FFF2-40B4-BE49-F238E27FC236}">
                <a16:creationId xmlns:a16="http://schemas.microsoft.com/office/drawing/2014/main" id="{96B9EDD6-4D4B-372B-3595-7F663CA86EDA}"/>
              </a:ext>
            </a:extLst>
          </p:cNvPr>
          <p:cNvSpPr>
            <a:spLocks noGrp="1"/>
          </p:cNvSpPr>
          <p:nvPr>
            <p:ph type="ctrTitle"/>
          </p:nvPr>
        </p:nvSpPr>
        <p:spPr>
          <a:xfrm>
            <a:off x="579732" y="629031"/>
            <a:ext cx="8259468" cy="682937"/>
          </a:xfrm>
        </p:spPr>
        <p:txBody>
          <a:bodyPr/>
          <a:lstStyle/>
          <a:p>
            <a:pPr algn="ctr"/>
            <a:r>
              <a:rPr lang="es-CO" sz="3600" dirty="0"/>
              <a:t>Hidrograma 1</a:t>
            </a:r>
          </a:p>
        </p:txBody>
      </p:sp>
      <p:pic>
        <p:nvPicPr>
          <p:cNvPr id="5" name="Imagen 4">
            <a:extLst>
              <a:ext uri="{FF2B5EF4-FFF2-40B4-BE49-F238E27FC236}">
                <a16:creationId xmlns:a16="http://schemas.microsoft.com/office/drawing/2014/main" id="{4CBD982C-AC36-4772-9DED-E98FCBBEFF41}"/>
              </a:ext>
            </a:extLst>
          </p:cNvPr>
          <p:cNvPicPr>
            <a:picLocks noChangeAspect="1"/>
          </p:cNvPicPr>
          <p:nvPr/>
        </p:nvPicPr>
        <p:blipFill>
          <a:blip r:embed="rId2"/>
          <a:stretch>
            <a:fillRect/>
          </a:stretch>
        </p:blipFill>
        <p:spPr>
          <a:xfrm>
            <a:off x="3130955" y="1457216"/>
            <a:ext cx="3157021" cy="3266398"/>
          </a:xfrm>
          <a:prstGeom prst="rect">
            <a:avLst/>
          </a:prstGeom>
        </p:spPr>
      </p:pic>
    </p:spTree>
    <p:extLst>
      <p:ext uri="{BB962C8B-B14F-4D97-AF65-F5344CB8AC3E}">
        <p14:creationId xmlns:p14="http://schemas.microsoft.com/office/powerpoint/2010/main" val="1324550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CFDE7-4805-3429-7AB8-8450B869FF85}"/>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9AF2EBCF-B505-5B79-3BEF-C3568754B25C}"/>
              </a:ext>
            </a:extLst>
          </p:cNvPr>
          <p:cNvSpPr>
            <a:spLocks noGrp="1"/>
          </p:cNvSpPr>
          <p:nvPr>
            <p:ph type="sldNum" sz="quarter" idx="4"/>
          </p:nvPr>
        </p:nvSpPr>
        <p:spPr/>
        <p:txBody>
          <a:bodyPr/>
          <a:lstStyle/>
          <a:p>
            <a:fld id="{585754B4-F252-4673-A93E-AFAD19F3B91A}" type="slidenum">
              <a:rPr lang="es-CO" smtClean="0"/>
              <a:t>9</a:t>
            </a:fld>
            <a:endParaRPr lang="es-CO"/>
          </a:p>
        </p:txBody>
      </p:sp>
      <p:sp>
        <p:nvSpPr>
          <p:cNvPr id="11" name="Título 1">
            <a:extLst>
              <a:ext uri="{FF2B5EF4-FFF2-40B4-BE49-F238E27FC236}">
                <a16:creationId xmlns:a16="http://schemas.microsoft.com/office/drawing/2014/main" id="{09339CA4-DF15-7763-E093-853AF320FD65}"/>
              </a:ext>
            </a:extLst>
          </p:cNvPr>
          <p:cNvSpPr>
            <a:spLocks noGrp="1"/>
          </p:cNvSpPr>
          <p:nvPr>
            <p:ph type="ctrTitle"/>
          </p:nvPr>
        </p:nvSpPr>
        <p:spPr>
          <a:xfrm>
            <a:off x="579732" y="629031"/>
            <a:ext cx="8259468" cy="682937"/>
          </a:xfrm>
        </p:spPr>
        <p:txBody>
          <a:bodyPr/>
          <a:lstStyle/>
          <a:p>
            <a:pPr algn="ctr"/>
            <a:r>
              <a:rPr lang="es-CO" sz="3600" dirty="0"/>
              <a:t>Hidrograma 2</a:t>
            </a:r>
          </a:p>
        </p:txBody>
      </p:sp>
      <p:pic>
        <p:nvPicPr>
          <p:cNvPr id="3" name="Imagen 2">
            <a:extLst>
              <a:ext uri="{FF2B5EF4-FFF2-40B4-BE49-F238E27FC236}">
                <a16:creationId xmlns:a16="http://schemas.microsoft.com/office/drawing/2014/main" id="{142DFF09-AE1F-459C-ADE1-1A31CBCDC5ED}"/>
              </a:ext>
            </a:extLst>
          </p:cNvPr>
          <p:cNvPicPr>
            <a:picLocks noChangeAspect="1"/>
          </p:cNvPicPr>
          <p:nvPr/>
        </p:nvPicPr>
        <p:blipFill>
          <a:blip r:embed="rId2"/>
          <a:stretch>
            <a:fillRect/>
          </a:stretch>
        </p:blipFill>
        <p:spPr>
          <a:xfrm>
            <a:off x="265513" y="1498681"/>
            <a:ext cx="4306487" cy="2655630"/>
          </a:xfrm>
          <a:prstGeom prst="rect">
            <a:avLst/>
          </a:prstGeom>
        </p:spPr>
      </p:pic>
      <p:pic>
        <p:nvPicPr>
          <p:cNvPr id="7" name="Imagen 6">
            <a:extLst>
              <a:ext uri="{FF2B5EF4-FFF2-40B4-BE49-F238E27FC236}">
                <a16:creationId xmlns:a16="http://schemas.microsoft.com/office/drawing/2014/main" id="{D9529BE3-4746-4F1F-A4F7-5B5C00D0B122}"/>
              </a:ext>
            </a:extLst>
          </p:cNvPr>
          <p:cNvPicPr>
            <a:picLocks noChangeAspect="1"/>
          </p:cNvPicPr>
          <p:nvPr/>
        </p:nvPicPr>
        <p:blipFill>
          <a:blip r:embed="rId3"/>
          <a:stretch>
            <a:fillRect/>
          </a:stretch>
        </p:blipFill>
        <p:spPr>
          <a:xfrm>
            <a:off x="4799982" y="1498681"/>
            <a:ext cx="4226998" cy="2606612"/>
          </a:xfrm>
          <a:prstGeom prst="rect">
            <a:avLst/>
          </a:prstGeom>
        </p:spPr>
      </p:pic>
    </p:spTree>
    <p:extLst>
      <p:ext uri="{BB962C8B-B14F-4D97-AF65-F5344CB8AC3E}">
        <p14:creationId xmlns:p14="http://schemas.microsoft.com/office/powerpoint/2010/main" val="19523595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A76CB-76A9-EEB9-D917-4A2C0EEBF1D0}"/>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0F27D437-394F-8E4A-0B83-E4EDE5652BD6}"/>
              </a:ext>
            </a:extLst>
          </p:cNvPr>
          <p:cNvSpPr>
            <a:spLocks noGrp="1"/>
          </p:cNvSpPr>
          <p:nvPr>
            <p:ph type="sldNum" sz="quarter" idx="4"/>
          </p:nvPr>
        </p:nvSpPr>
        <p:spPr/>
        <p:txBody>
          <a:bodyPr/>
          <a:lstStyle/>
          <a:p>
            <a:fld id="{585754B4-F252-4673-A93E-AFAD19F3B91A}" type="slidenum">
              <a:rPr lang="es-CO" smtClean="0"/>
              <a:t>10</a:t>
            </a:fld>
            <a:endParaRPr lang="es-CO"/>
          </a:p>
        </p:txBody>
      </p:sp>
      <p:sp>
        <p:nvSpPr>
          <p:cNvPr id="11" name="Título 1">
            <a:extLst>
              <a:ext uri="{FF2B5EF4-FFF2-40B4-BE49-F238E27FC236}">
                <a16:creationId xmlns:a16="http://schemas.microsoft.com/office/drawing/2014/main" id="{4E7BB490-16C1-CBEF-4A70-93F0E7D40F3B}"/>
              </a:ext>
            </a:extLst>
          </p:cNvPr>
          <p:cNvSpPr>
            <a:spLocks noGrp="1"/>
          </p:cNvSpPr>
          <p:nvPr>
            <p:ph type="ctrTitle"/>
          </p:nvPr>
        </p:nvSpPr>
        <p:spPr>
          <a:xfrm>
            <a:off x="579732" y="629031"/>
            <a:ext cx="8259468" cy="682937"/>
          </a:xfrm>
        </p:spPr>
        <p:txBody>
          <a:bodyPr/>
          <a:lstStyle/>
          <a:p>
            <a:pPr algn="ctr"/>
            <a:r>
              <a:rPr lang="es-CO" sz="3600" dirty="0"/>
              <a:t>Hidrograma 2</a:t>
            </a:r>
          </a:p>
        </p:txBody>
      </p:sp>
      <p:pic>
        <p:nvPicPr>
          <p:cNvPr id="3" name="Imagen 2">
            <a:extLst>
              <a:ext uri="{FF2B5EF4-FFF2-40B4-BE49-F238E27FC236}">
                <a16:creationId xmlns:a16="http://schemas.microsoft.com/office/drawing/2014/main" id="{CA5BF9FC-2F24-4D51-BE15-55CEC2DA68B0}"/>
              </a:ext>
            </a:extLst>
          </p:cNvPr>
          <p:cNvPicPr>
            <a:picLocks noChangeAspect="1"/>
          </p:cNvPicPr>
          <p:nvPr/>
        </p:nvPicPr>
        <p:blipFill>
          <a:blip r:embed="rId2"/>
          <a:stretch>
            <a:fillRect/>
          </a:stretch>
        </p:blipFill>
        <p:spPr>
          <a:xfrm>
            <a:off x="2659149" y="1174648"/>
            <a:ext cx="3825701" cy="3831533"/>
          </a:xfrm>
          <a:prstGeom prst="rect">
            <a:avLst/>
          </a:prstGeom>
        </p:spPr>
      </p:pic>
    </p:spTree>
    <p:extLst>
      <p:ext uri="{BB962C8B-B14F-4D97-AF65-F5344CB8AC3E}">
        <p14:creationId xmlns:p14="http://schemas.microsoft.com/office/powerpoint/2010/main" val="26350487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8FB974-508E-4911-A51E-8A1258E6DCB0}"/>
              </a:ext>
            </a:extLst>
          </p:cNvPr>
          <p:cNvSpPr>
            <a:spLocks noGrp="1"/>
          </p:cNvSpPr>
          <p:nvPr>
            <p:ph type="ctrTitle"/>
          </p:nvPr>
        </p:nvSpPr>
        <p:spPr>
          <a:xfrm>
            <a:off x="753684" y="712063"/>
            <a:ext cx="6728028" cy="1948500"/>
          </a:xfrm>
        </p:spPr>
        <p:txBody>
          <a:bodyPr/>
          <a:lstStyle/>
          <a:p>
            <a:r>
              <a:rPr lang="es-CO" sz="2400" dirty="0"/>
              <a:t>Hidrogramas de validación</a:t>
            </a:r>
          </a:p>
        </p:txBody>
      </p:sp>
      <p:sp>
        <p:nvSpPr>
          <p:cNvPr id="4" name="Marcador de número de diapositiva 3">
            <a:extLst>
              <a:ext uri="{FF2B5EF4-FFF2-40B4-BE49-F238E27FC236}">
                <a16:creationId xmlns:a16="http://schemas.microsoft.com/office/drawing/2014/main" id="{D677A189-3140-48BF-983E-8EAC48737321}"/>
              </a:ext>
            </a:extLst>
          </p:cNvPr>
          <p:cNvSpPr>
            <a:spLocks noGrp="1"/>
          </p:cNvSpPr>
          <p:nvPr>
            <p:ph type="sldNum" sz="quarter" idx="4"/>
          </p:nvPr>
        </p:nvSpPr>
        <p:spPr/>
        <p:txBody>
          <a:bodyPr/>
          <a:lstStyle/>
          <a:p>
            <a:fld id="{585754B4-F252-4673-A93E-AFAD19F3B91A}" type="slidenum">
              <a:rPr lang="es-CO" smtClean="0"/>
              <a:t>11</a:t>
            </a:fld>
            <a:endParaRPr lang="es-CO"/>
          </a:p>
        </p:txBody>
      </p:sp>
      <p:pic>
        <p:nvPicPr>
          <p:cNvPr id="6" name="Imagen 5">
            <a:extLst>
              <a:ext uri="{FF2B5EF4-FFF2-40B4-BE49-F238E27FC236}">
                <a16:creationId xmlns:a16="http://schemas.microsoft.com/office/drawing/2014/main" id="{28B79CF2-DA30-4611-B391-F0715A55DA2E}"/>
              </a:ext>
            </a:extLst>
          </p:cNvPr>
          <p:cNvPicPr>
            <a:picLocks noChangeAspect="1"/>
          </p:cNvPicPr>
          <p:nvPr/>
        </p:nvPicPr>
        <p:blipFill rotWithShape="1">
          <a:blip r:embed="rId2"/>
          <a:srcRect t="6816"/>
          <a:stretch/>
        </p:blipFill>
        <p:spPr>
          <a:xfrm>
            <a:off x="169112" y="1185334"/>
            <a:ext cx="8805775" cy="3584770"/>
          </a:xfrm>
          <a:prstGeom prst="rect">
            <a:avLst/>
          </a:prstGeom>
        </p:spPr>
      </p:pic>
    </p:spTree>
    <p:extLst>
      <p:ext uri="{BB962C8B-B14F-4D97-AF65-F5344CB8AC3E}">
        <p14:creationId xmlns:p14="http://schemas.microsoft.com/office/powerpoint/2010/main" val="16286229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943497D6-9EFC-5C3C-3D97-5839F30B0410}"/>
              </a:ext>
            </a:extLst>
          </p:cNvPr>
          <p:cNvSpPr>
            <a:spLocks noGrp="1"/>
          </p:cNvSpPr>
          <p:nvPr>
            <p:ph type="sldNum" sz="quarter" idx="4"/>
          </p:nvPr>
        </p:nvSpPr>
        <p:spPr/>
        <p:txBody>
          <a:bodyPr/>
          <a:lstStyle/>
          <a:p>
            <a:fld id="{585754B4-F252-4673-A93E-AFAD19F3B91A}" type="slidenum">
              <a:rPr lang="es-CO" smtClean="0"/>
              <a:t>12</a:t>
            </a:fld>
            <a:endParaRPr lang="es-CO"/>
          </a:p>
        </p:txBody>
      </p:sp>
      <p:graphicFrame>
        <p:nvGraphicFramePr>
          <p:cNvPr id="7" name="Tabla 9">
            <a:extLst>
              <a:ext uri="{FF2B5EF4-FFF2-40B4-BE49-F238E27FC236}">
                <a16:creationId xmlns:a16="http://schemas.microsoft.com/office/drawing/2014/main" id="{AB3D8465-6913-E28D-A772-257D3B80A86F}"/>
              </a:ext>
            </a:extLst>
          </p:cNvPr>
          <p:cNvGraphicFramePr>
            <a:graphicFrameLocks noGrp="1"/>
          </p:cNvGraphicFramePr>
          <p:nvPr>
            <p:extLst>
              <p:ext uri="{D42A27DB-BD31-4B8C-83A1-F6EECF244321}">
                <p14:modId xmlns:p14="http://schemas.microsoft.com/office/powerpoint/2010/main" val="4119193712"/>
              </p:ext>
            </p:extLst>
          </p:nvPr>
        </p:nvGraphicFramePr>
        <p:xfrm>
          <a:off x="341208" y="1018309"/>
          <a:ext cx="8269391" cy="3539482"/>
        </p:xfrm>
        <a:graphic>
          <a:graphicData uri="http://schemas.openxmlformats.org/drawingml/2006/table">
            <a:tbl>
              <a:tblPr firstRow="1" bandRow="1">
                <a:tableStyleId>{284E427A-3D55-4303-BF80-6455036E1DE7}</a:tableStyleId>
              </a:tblPr>
              <a:tblGrid>
                <a:gridCol w="1813174">
                  <a:extLst>
                    <a:ext uri="{9D8B030D-6E8A-4147-A177-3AD203B41FA5}">
                      <a16:colId xmlns:a16="http://schemas.microsoft.com/office/drawing/2014/main" val="1918186888"/>
                    </a:ext>
                  </a:extLst>
                </a:gridCol>
                <a:gridCol w="4710545">
                  <a:extLst>
                    <a:ext uri="{9D8B030D-6E8A-4147-A177-3AD203B41FA5}">
                      <a16:colId xmlns:a16="http://schemas.microsoft.com/office/drawing/2014/main" val="3052564932"/>
                    </a:ext>
                  </a:extLst>
                </a:gridCol>
                <a:gridCol w="1745672">
                  <a:extLst>
                    <a:ext uri="{9D8B030D-6E8A-4147-A177-3AD203B41FA5}">
                      <a16:colId xmlns:a16="http://schemas.microsoft.com/office/drawing/2014/main" val="2071442164"/>
                    </a:ext>
                  </a:extLst>
                </a:gridCol>
              </a:tblGrid>
              <a:tr h="272407">
                <a:tc>
                  <a:txBody>
                    <a:bodyPr/>
                    <a:lstStyle/>
                    <a:p>
                      <a:r>
                        <a:rPr lang="es-CO" sz="1000" dirty="0">
                          <a:solidFill>
                            <a:srgbClr val="FFFFFF"/>
                          </a:solidFill>
                        </a:rPr>
                        <a:t>Observaciones</a:t>
                      </a:r>
                    </a:p>
                  </a:txBody>
                  <a:tcPr/>
                </a:tc>
                <a:tc>
                  <a:txBody>
                    <a:bodyPr/>
                    <a:lstStyle/>
                    <a:p>
                      <a:endParaRPr lang="es-CO" sz="1000" dirty="0">
                        <a:solidFill>
                          <a:srgbClr val="FFFFFF"/>
                        </a:solidFill>
                      </a:endParaRPr>
                    </a:p>
                  </a:txBody>
                  <a:tcPr/>
                </a:tc>
                <a:tc>
                  <a:txBody>
                    <a:bodyPr/>
                    <a:lstStyle/>
                    <a:p>
                      <a:endParaRPr lang="es-CO" sz="1000" dirty="0">
                        <a:solidFill>
                          <a:srgbClr val="FFFFFF"/>
                        </a:solidFill>
                      </a:endParaRPr>
                    </a:p>
                  </a:txBody>
                  <a:tcPr/>
                </a:tc>
                <a:extLst>
                  <a:ext uri="{0D108BD9-81ED-4DB2-BD59-A6C34878D82A}">
                    <a16:rowId xmlns:a16="http://schemas.microsoft.com/office/drawing/2014/main" val="3355390286"/>
                  </a:ext>
                </a:extLst>
              </a:tr>
              <a:tr h="370840">
                <a:tc>
                  <a:txBody>
                    <a:bodyPr/>
                    <a:lstStyle/>
                    <a:p>
                      <a:r>
                        <a:rPr lang="es-CO" sz="1000" dirty="0">
                          <a:solidFill>
                            <a:schemeClr val="bg1"/>
                          </a:solidFill>
                        </a:rPr>
                        <a:t>1</a:t>
                      </a:r>
                    </a:p>
                  </a:txBody>
                  <a:tcPr>
                    <a:solidFill>
                      <a:srgbClr val="FFFFB3"/>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chemeClr val="bg1"/>
                          </a:solidFill>
                          <a:latin typeface="+mn-lt"/>
                          <a:ea typeface="+mn-ea"/>
                          <a:cs typeface="+mn-cs"/>
                          <a:sym typeface="Arial"/>
                        </a:rPr>
                        <a:t>Ampliar considerablemente el conjunto de simulaciones: generar más información de entrenamiento antes de concluir que se necesita cambiar la arquitectura del modelo.</a:t>
                      </a:r>
                    </a:p>
                  </a:txBody>
                  <a:tcPr marL="9525" marR="9525" marT="9525" marB="0" anchor="ctr">
                    <a:solidFill>
                      <a:srgbClr val="FFFFB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chemeClr val="bg1"/>
                          </a:solidFill>
                        </a:rPr>
                        <a:t>Todos</a:t>
                      </a:r>
                    </a:p>
                  </a:txBody>
                  <a:tcPr>
                    <a:solidFill>
                      <a:srgbClr val="FFFFB3"/>
                    </a:solidFill>
                  </a:tcPr>
                </a:tc>
                <a:extLst>
                  <a:ext uri="{0D108BD9-81ED-4DB2-BD59-A6C34878D82A}">
                    <a16:rowId xmlns:a16="http://schemas.microsoft.com/office/drawing/2014/main" val="4026802065"/>
                  </a:ext>
                </a:extLst>
              </a:tr>
              <a:tr h="370840">
                <a:tc>
                  <a:txBody>
                    <a:bodyPr/>
                    <a:lstStyle/>
                    <a:p>
                      <a:r>
                        <a:rPr lang="es-CO" sz="1000" dirty="0">
                          <a:solidFill>
                            <a:schemeClr val="bg1"/>
                          </a:solidFill>
                        </a:rPr>
                        <a:t>2</a:t>
                      </a:r>
                    </a:p>
                  </a:txBody>
                  <a:tcPr>
                    <a:solidFill>
                      <a:srgbClr val="FFFFB3"/>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chemeClr val="bg1"/>
                          </a:solidFill>
                          <a:latin typeface="+mn-lt"/>
                          <a:ea typeface="+mn-ea"/>
                          <a:cs typeface="+mn-cs"/>
                          <a:sym typeface="Arial"/>
                        </a:rPr>
                        <a:t>Aumentar la diversidad de los escenarios de entrenamiento: incorporar eventos extremos, combinaciones poco frecuentes y condiciones fuera del rango actualmente considerado.</a:t>
                      </a:r>
                    </a:p>
                  </a:txBody>
                  <a:tcPr marL="9525" marR="9525" marT="9525" marB="0" anchor="ctr">
                    <a:solidFill>
                      <a:srgbClr val="FFFFB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chemeClr val="bg1"/>
                          </a:solidFill>
                        </a:rPr>
                        <a:t>Todos</a:t>
                      </a:r>
                    </a:p>
                  </a:txBody>
                  <a:tcPr>
                    <a:solidFill>
                      <a:srgbClr val="FFFFB3"/>
                    </a:solidFill>
                  </a:tcPr>
                </a:tc>
                <a:extLst>
                  <a:ext uri="{0D108BD9-81ED-4DB2-BD59-A6C34878D82A}">
                    <a16:rowId xmlns:a16="http://schemas.microsoft.com/office/drawing/2014/main" val="2271203562"/>
                  </a:ext>
                </a:extLst>
              </a:tr>
              <a:tr h="370840">
                <a:tc>
                  <a:txBody>
                    <a:bodyPr/>
                    <a:lstStyle/>
                    <a:p>
                      <a:r>
                        <a:rPr lang="es-CO" sz="1000" dirty="0">
                          <a:solidFill>
                            <a:schemeClr val="bg1"/>
                          </a:solidFill>
                        </a:rPr>
                        <a:t>3</a:t>
                      </a:r>
                    </a:p>
                  </a:txBody>
                  <a:tcPr>
                    <a:solidFill>
                      <a:srgbClr val="FFFFB3"/>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chemeClr val="bg1"/>
                          </a:solidFill>
                          <a:latin typeface="+mn-lt"/>
                          <a:ea typeface="+mn-ea"/>
                          <a:cs typeface="+mn-cs"/>
                          <a:sym typeface="Arial"/>
                        </a:rPr>
                        <a:t>Explicar claramente la clasificación binaria: describir el criterio utilizado para determinar si ocurre o no inundación en un nodo y cómo se asignan las clases.</a:t>
                      </a:r>
                    </a:p>
                  </a:txBody>
                  <a:tcPr marL="9525" marR="9525" marT="9525" marB="0" anchor="ctr">
                    <a:solidFill>
                      <a:srgbClr val="FFFFB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chemeClr val="bg1"/>
                          </a:solidFill>
                        </a:rPr>
                        <a:t>Raziyeh Farmani</a:t>
                      </a:r>
                    </a:p>
                  </a:txBody>
                  <a:tcPr>
                    <a:solidFill>
                      <a:srgbClr val="FFFFB3"/>
                    </a:solidFill>
                  </a:tcPr>
                </a:tc>
                <a:extLst>
                  <a:ext uri="{0D108BD9-81ED-4DB2-BD59-A6C34878D82A}">
                    <a16:rowId xmlns:a16="http://schemas.microsoft.com/office/drawing/2014/main" val="4215564493"/>
                  </a:ext>
                </a:extLst>
              </a:tr>
              <a:tr h="370840">
                <a:tc>
                  <a:txBody>
                    <a:bodyPr/>
                    <a:lstStyle/>
                    <a:p>
                      <a:r>
                        <a:rPr lang="es-CO" sz="1000" dirty="0">
                          <a:solidFill>
                            <a:srgbClr val="FFFFFF"/>
                          </a:solidFill>
                        </a:rPr>
                        <a:t>4</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Profundizar en la información que conduce a la clasificación: analizar qué variables y condiciones hidráulicas llevan al modelo a predecir inundación o no inundación.</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Raziyeh Farmani</a:t>
                      </a:r>
                    </a:p>
                  </a:txBody>
                  <a:tcPr>
                    <a:solidFill>
                      <a:srgbClr val="5E8CBE"/>
                    </a:solidFill>
                  </a:tcPr>
                </a:tc>
                <a:extLst>
                  <a:ext uri="{0D108BD9-81ED-4DB2-BD59-A6C34878D82A}">
                    <a16:rowId xmlns:a16="http://schemas.microsoft.com/office/drawing/2014/main" val="152292435"/>
                  </a:ext>
                </a:extLst>
              </a:tr>
              <a:tr h="370840">
                <a:tc>
                  <a:txBody>
                    <a:bodyPr/>
                    <a:lstStyle/>
                    <a:p>
                      <a:r>
                        <a:rPr lang="es-CO" sz="1000" dirty="0">
                          <a:solidFill>
                            <a:srgbClr val="FFFFFF"/>
                          </a:solidFill>
                        </a:rPr>
                        <a:t>5</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Aclarar la terminología de las variables hidráulicas: definir con precisión la diferencia entre incoming discharge, inflow y las variables relacionadas con la magnitud o el escalamiento del caudal.</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Raziyeh Farmani</a:t>
                      </a:r>
                    </a:p>
                  </a:txBody>
                  <a:tcPr>
                    <a:solidFill>
                      <a:srgbClr val="5E8CBE"/>
                    </a:solidFill>
                  </a:tcPr>
                </a:tc>
                <a:extLst>
                  <a:ext uri="{0D108BD9-81ED-4DB2-BD59-A6C34878D82A}">
                    <a16:rowId xmlns:a16="http://schemas.microsoft.com/office/drawing/2014/main" val="100110631"/>
                  </a:ext>
                </a:extLst>
              </a:tr>
              <a:tr h="370840">
                <a:tc>
                  <a:txBody>
                    <a:bodyPr/>
                    <a:lstStyle/>
                    <a:p>
                      <a:r>
                        <a:rPr lang="es-CO" sz="1000" dirty="0">
                          <a:solidFill>
                            <a:srgbClr val="FFFFFF"/>
                          </a:solidFill>
                        </a:rPr>
                        <a:t>6</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Asegurar una comparación justa entre modelos: indicar explícitamente que todos fueron entrenados y evaluados con los mismos datos, particiones, métricas y procedimientos de validación.</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Raziyeh Farmani</a:t>
                      </a:r>
                    </a:p>
                  </a:txBody>
                  <a:tcPr>
                    <a:solidFill>
                      <a:srgbClr val="5E8CBE"/>
                    </a:solidFill>
                  </a:tcPr>
                </a:tc>
                <a:extLst>
                  <a:ext uri="{0D108BD9-81ED-4DB2-BD59-A6C34878D82A}">
                    <a16:rowId xmlns:a16="http://schemas.microsoft.com/office/drawing/2014/main" val="1520481473"/>
                  </a:ext>
                </a:extLst>
              </a:tr>
              <a:tr h="370840">
                <a:tc>
                  <a:txBody>
                    <a:bodyPr/>
                    <a:lstStyle/>
                    <a:p>
                      <a:r>
                        <a:rPr lang="es-CO" sz="1000" dirty="0">
                          <a:solidFill>
                            <a:schemeClr val="bg1"/>
                          </a:solidFill>
                        </a:rPr>
                        <a:t>7</a:t>
                      </a:r>
                    </a:p>
                  </a:txBody>
                  <a:tcPr>
                    <a:solidFill>
                      <a:srgbClr val="FFFFB3"/>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chemeClr val="bg1"/>
                          </a:solidFill>
                          <a:latin typeface="+mn-lt"/>
                          <a:ea typeface="+mn-ea"/>
                          <a:cs typeface="+mn-cs"/>
                          <a:sym typeface="Arial"/>
                        </a:rPr>
                        <a:t>Incorporar información temporal, espacial y topológica: incluir descriptores de la evolución del evento, del estado hidráulico previo y de las relaciones entre nodos vecinos, aguas arriba y aguas abajo.</a:t>
                      </a:r>
                    </a:p>
                  </a:txBody>
                  <a:tcPr marL="9525" marR="9525" marT="9525" marB="0" anchor="ctr">
                    <a:solidFill>
                      <a:srgbClr val="FFFFB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chemeClr val="bg1"/>
                          </a:solidFill>
                        </a:rPr>
                        <a:t>Raziyeh Farmani, Alejandra Tabares</a:t>
                      </a:r>
                    </a:p>
                  </a:txBody>
                  <a:tcPr>
                    <a:solidFill>
                      <a:srgbClr val="FFFFB3"/>
                    </a:solidFill>
                  </a:tcPr>
                </a:tc>
                <a:extLst>
                  <a:ext uri="{0D108BD9-81ED-4DB2-BD59-A6C34878D82A}">
                    <a16:rowId xmlns:a16="http://schemas.microsoft.com/office/drawing/2014/main" val="2970870412"/>
                  </a:ext>
                </a:extLst>
              </a:tr>
            </a:tbl>
          </a:graphicData>
        </a:graphic>
      </p:graphicFrame>
    </p:spTree>
    <p:extLst>
      <p:ext uri="{BB962C8B-B14F-4D97-AF65-F5344CB8AC3E}">
        <p14:creationId xmlns:p14="http://schemas.microsoft.com/office/powerpoint/2010/main" val="1391417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4294EAF-EDC7-1E8C-E44E-837C2B6FC7BC}"/>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AFA138E4-B0F9-7A69-20CB-7E01BE5FC2ED}"/>
              </a:ext>
            </a:extLst>
          </p:cNvPr>
          <p:cNvSpPr>
            <a:spLocks noGrp="1"/>
          </p:cNvSpPr>
          <p:nvPr>
            <p:ph type="sldNum" sz="quarter" idx="4"/>
          </p:nvPr>
        </p:nvSpPr>
        <p:spPr/>
        <p:txBody>
          <a:bodyPr/>
          <a:lstStyle/>
          <a:p>
            <a:fld id="{585754B4-F252-4673-A93E-AFAD19F3B91A}" type="slidenum">
              <a:rPr lang="es-CO" smtClean="0"/>
              <a:t>13</a:t>
            </a:fld>
            <a:endParaRPr lang="es-CO"/>
          </a:p>
        </p:txBody>
      </p:sp>
      <p:graphicFrame>
        <p:nvGraphicFramePr>
          <p:cNvPr id="7" name="Tabla 9">
            <a:extLst>
              <a:ext uri="{FF2B5EF4-FFF2-40B4-BE49-F238E27FC236}">
                <a16:creationId xmlns:a16="http://schemas.microsoft.com/office/drawing/2014/main" id="{99180F23-7B54-B0E8-E28E-651F0632C479}"/>
              </a:ext>
            </a:extLst>
          </p:cNvPr>
          <p:cNvGraphicFramePr>
            <a:graphicFrameLocks noGrp="1"/>
          </p:cNvGraphicFramePr>
          <p:nvPr>
            <p:extLst>
              <p:ext uri="{D42A27DB-BD31-4B8C-83A1-F6EECF244321}">
                <p14:modId xmlns:p14="http://schemas.microsoft.com/office/powerpoint/2010/main" val="417949955"/>
              </p:ext>
            </p:extLst>
          </p:nvPr>
        </p:nvGraphicFramePr>
        <p:xfrm>
          <a:off x="341208" y="1018309"/>
          <a:ext cx="8269391" cy="4006207"/>
        </p:xfrm>
        <a:graphic>
          <a:graphicData uri="http://schemas.openxmlformats.org/drawingml/2006/table">
            <a:tbl>
              <a:tblPr firstRow="1" bandRow="1">
                <a:tableStyleId>{284E427A-3D55-4303-BF80-6455036E1DE7}</a:tableStyleId>
              </a:tblPr>
              <a:tblGrid>
                <a:gridCol w="1813174">
                  <a:extLst>
                    <a:ext uri="{9D8B030D-6E8A-4147-A177-3AD203B41FA5}">
                      <a16:colId xmlns:a16="http://schemas.microsoft.com/office/drawing/2014/main" val="1918186888"/>
                    </a:ext>
                  </a:extLst>
                </a:gridCol>
                <a:gridCol w="4710545">
                  <a:extLst>
                    <a:ext uri="{9D8B030D-6E8A-4147-A177-3AD203B41FA5}">
                      <a16:colId xmlns:a16="http://schemas.microsoft.com/office/drawing/2014/main" val="3052564932"/>
                    </a:ext>
                  </a:extLst>
                </a:gridCol>
                <a:gridCol w="1745672">
                  <a:extLst>
                    <a:ext uri="{9D8B030D-6E8A-4147-A177-3AD203B41FA5}">
                      <a16:colId xmlns:a16="http://schemas.microsoft.com/office/drawing/2014/main" val="2071442164"/>
                    </a:ext>
                  </a:extLst>
                </a:gridCol>
              </a:tblGrid>
              <a:tr h="272407">
                <a:tc>
                  <a:txBody>
                    <a:bodyPr/>
                    <a:lstStyle/>
                    <a:p>
                      <a:r>
                        <a:rPr lang="es-CO" sz="1000" dirty="0">
                          <a:solidFill>
                            <a:srgbClr val="FFFFFF"/>
                          </a:solidFill>
                        </a:rPr>
                        <a:t>Observaciones</a:t>
                      </a:r>
                    </a:p>
                  </a:txBody>
                  <a:tcPr/>
                </a:tc>
                <a:tc>
                  <a:txBody>
                    <a:bodyPr/>
                    <a:lstStyle/>
                    <a:p>
                      <a:endParaRPr lang="es-CO" sz="1000" dirty="0">
                        <a:solidFill>
                          <a:srgbClr val="FFFFFF"/>
                        </a:solidFill>
                      </a:endParaRPr>
                    </a:p>
                  </a:txBody>
                  <a:tcPr/>
                </a:tc>
                <a:tc>
                  <a:txBody>
                    <a:bodyPr/>
                    <a:lstStyle/>
                    <a:p>
                      <a:endParaRPr lang="es-CO" sz="1000" dirty="0">
                        <a:solidFill>
                          <a:srgbClr val="FFFFFF"/>
                        </a:solidFill>
                      </a:endParaRPr>
                    </a:p>
                  </a:txBody>
                  <a:tcPr/>
                </a:tc>
                <a:extLst>
                  <a:ext uri="{0D108BD9-81ED-4DB2-BD59-A6C34878D82A}">
                    <a16:rowId xmlns:a16="http://schemas.microsoft.com/office/drawing/2014/main" val="3355390286"/>
                  </a:ext>
                </a:extLst>
              </a:tr>
              <a:tr h="370840">
                <a:tc>
                  <a:txBody>
                    <a:bodyPr/>
                    <a:lstStyle/>
                    <a:p>
                      <a:r>
                        <a:rPr lang="es-CO" sz="1000" dirty="0">
                          <a:solidFill>
                            <a:schemeClr val="bg1"/>
                          </a:solidFill>
                        </a:rPr>
                        <a:t>8</a:t>
                      </a:r>
                    </a:p>
                  </a:txBody>
                  <a:tcPr>
                    <a:solidFill>
                      <a:srgbClr val="FFFFB3"/>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chemeClr val="bg1"/>
                          </a:solidFill>
                          <a:latin typeface="+mn-lt"/>
                          <a:ea typeface="+mn-ea"/>
                          <a:cs typeface="+mn-cs"/>
                          <a:sym typeface="Arial"/>
                        </a:rPr>
                        <a:t>Implementar una búsqueda sistemática de hiperparámetros: explicar claramente el procedimiento automatizado y utilizar optimización bayesiana, por ejemplo mediante Optuna.</a:t>
                      </a:r>
                    </a:p>
                  </a:txBody>
                  <a:tcPr marL="9525" marR="9525" marT="9525" marB="0" anchor="ctr">
                    <a:solidFill>
                      <a:srgbClr val="FFFFB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chemeClr val="bg1"/>
                          </a:solidFill>
                        </a:rPr>
                        <a:t>Alejandra Tabares, Raziyeh Farmani</a:t>
                      </a:r>
                    </a:p>
                  </a:txBody>
                  <a:tcPr>
                    <a:solidFill>
                      <a:srgbClr val="FFFFB3"/>
                    </a:solidFill>
                  </a:tcPr>
                </a:tc>
                <a:extLst>
                  <a:ext uri="{0D108BD9-81ED-4DB2-BD59-A6C34878D82A}">
                    <a16:rowId xmlns:a16="http://schemas.microsoft.com/office/drawing/2014/main" val="4026802065"/>
                  </a:ext>
                </a:extLst>
              </a:tr>
              <a:tr h="370840">
                <a:tc>
                  <a:txBody>
                    <a:bodyPr/>
                    <a:lstStyle/>
                    <a:p>
                      <a:r>
                        <a:rPr lang="es-CO" sz="1000" dirty="0">
                          <a:solidFill>
                            <a:schemeClr val="bg1"/>
                          </a:solidFill>
                        </a:rPr>
                        <a:t>9</a:t>
                      </a:r>
                    </a:p>
                  </a:txBody>
                  <a:tcPr>
                    <a:solidFill>
                      <a:srgbClr val="A4FF9F"/>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chemeClr val="bg1"/>
                          </a:solidFill>
                          <a:latin typeface="+mn-lt"/>
                          <a:ea typeface="+mn-ea"/>
                          <a:cs typeface="+mn-cs"/>
                          <a:sym typeface="Arial"/>
                        </a:rPr>
                        <a:t>Redefinir el objetivo principal de la investigación: precisar si el propósito es desarrollar un modelo sustituto para acelerar simulaciones hidráulicas, apoyar decisiones en tiempo real o combinar ambos alcances.</a:t>
                      </a:r>
                    </a:p>
                  </a:txBody>
                  <a:tcPr marL="9525" marR="9525" marT="9525" marB="0" anchor="ctr">
                    <a:solidFill>
                      <a:srgbClr val="A4FF9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chemeClr val="bg1"/>
                          </a:solidFill>
                        </a:rPr>
                        <a:t>Pedro Iglesias</a:t>
                      </a:r>
                    </a:p>
                  </a:txBody>
                  <a:tcPr>
                    <a:solidFill>
                      <a:srgbClr val="A4FF9F"/>
                    </a:solidFill>
                  </a:tcPr>
                </a:tc>
                <a:extLst>
                  <a:ext uri="{0D108BD9-81ED-4DB2-BD59-A6C34878D82A}">
                    <a16:rowId xmlns:a16="http://schemas.microsoft.com/office/drawing/2014/main" val="1759192205"/>
                  </a:ext>
                </a:extLst>
              </a:tr>
              <a:tr h="370840">
                <a:tc>
                  <a:txBody>
                    <a:bodyPr/>
                    <a:lstStyle/>
                    <a:p>
                      <a:r>
                        <a:rPr lang="es-CO" sz="1000" dirty="0">
                          <a:solidFill>
                            <a:srgbClr val="FFFFFF"/>
                          </a:solidFill>
                        </a:rPr>
                        <a:t>10</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Explicar con mayor claridad la arquitectura general del modelo: identificar las variables de entrada, las salidas predichas y la relación entre ambas.</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1560357366"/>
                  </a:ext>
                </a:extLst>
              </a:tr>
              <a:tr h="370840">
                <a:tc>
                  <a:txBody>
                    <a:bodyPr/>
                    <a:lstStyle/>
                    <a:p>
                      <a:r>
                        <a:rPr lang="es-CO" sz="1000" dirty="0">
                          <a:solidFill>
                            <a:srgbClr val="FFFFFF"/>
                          </a:solidFill>
                        </a:rPr>
                        <a:t>11</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Mejorar la interpretación de la importancia de variables: explicar cómo se calcula la importancia y cómo debe interpretarse desde una perspectiva hidráulica.</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1906638111"/>
                  </a:ext>
                </a:extLst>
              </a:tr>
              <a:tr h="370840">
                <a:tc>
                  <a:txBody>
                    <a:bodyPr/>
                    <a:lstStyle/>
                    <a:p>
                      <a:r>
                        <a:rPr lang="es-CO" sz="1000" dirty="0">
                          <a:solidFill>
                            <a:srgbClr val="FFFFFF"/>
                          </a:solidFill>
                        </a:rPr>
                        <a:t>12</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Evaluar la suficiencia y representatividad del dataset: justificar si el número y la diversidad de simulaciones son adecuados para entrenar los modelos y evaluar su capacidad de generalización.</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3189397800"/>
                  </a:ext>
                </a:extLst>
              </a:tr>
              <a:tr h="370840">
                <a:tc>
                  <a:txBody>
                    <a:bodyPr/>
                    <a:lstStyle/>
                    <a:p>
                      <a:r>
                        <a:rPr lang="es-CO" sz="1000" dirty="0">
                          <a:solidFill>
                            <a:srgbClr val="FFFFFF"/>
                          </a:solidFill>
                        </a:rPr>
                        <a:t>13</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Justificar con mayor profundidad la selección de algoritmos: explicar por qué se evaluaron modelos lineales, máquinas de vectores de soporte y XGBoost, incluyendo sus ventajas y limitaciones.</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2380875798"/>
                  </a:ext>
                </a:extLst>
              </a:tr>
              <a:tr h="370840">
                <a:tc>
                  <a:txBody>
                    <a:bodyPr/>
                    <a:lstStyle/>
                    <a:p>
                      <a:r>
                        <a:rPr lang="es-CO" sz="1000" dirty="0">
                          <a:solidFill>
                            <a:srgbClr val="FFFFFF"/>
                          </a:solidFill>
                        </a:rPr>
                        <a:t>14</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Analizar la influencia de los hiperparámetros principales: evaluar cómo parámetros como la profundidad máxima, el número de árboles, la tasa de aprendizaje y el submuestreo afectan el desempeño.</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303816403"/>
                  </a:ext>
                </a:extLst>
              </a:tr>
              <a:tr h="370840">
                <a:tc>
                  <a:txBody>
                    <a:bodyPr/>
                    <a:lstStyle/>
                    <a:p>
                      <a:r>
                        <a:rPr lang="es-CO" sz="1000" dirty="0">
                          <a:solidFill>
                            <a:srgbClr val="FFFFFF"/>
                          </a:solidFill>
                        </a:rPr>
                        <a:t>15</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Extender la validación a nuevos escenarios: evaluar la capacidad del modelo para extrapolar fuera del rango de entrenamiento e identificar las condiciones en las que sus predicciones dejan de ser confiables.</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2171465059"/>
                  </a:ext>
                </a:extLst>
              </a:tr>
            </a:tbl>
          </a:graphicData>
        </a:graphic>
      </p:graphicFrame>
    </p:spTree>
    <p:extLst>
      <p:ext uri="{BB962C8B-B14F-4D97-AF65-F5344CB8AC3E}">
        <p14:creationId xmlns:p14="http://schemas.microsoft.com/office/powerpoint/2010/main" val="11186417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F36966B-BBD8-9949-C49D-F6AA6FB942D7}"/>
            </a:ext>
          </a:extLst>
        </p:cNvPr>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15310A4D-EBE8-B1B7-336E-5751D0F0E21D}"/>
              </a:ext>
            </a:extLst>
          </p:cNvPr>
          <p:cNvSpPr>
            <a:spLocks noGrp="1"/>
          </p:cNvSpPr>
          <p:nvPr>
            <p:ph type="sldNum" sz="quarter" idx="4"/>
          </p:nvPr>
        </p:nvSpPr>
        <p:spPr/>
        <p:txBody>
          <a:bodyPr/>
          <a:lstStyle/>
          <a:p>
            <a:fld id="{585754B4-F252-4673-A93E-AFAD19F3B91A}" type="slidenum">
              <a:rPr lang="es-CO" smtClean="0"/>
              <a:t>14</a:t>
            </a:fld>
            <a:endParaRPr lang="es-CO"/>
          </a:p>
        </p:txBody>
      </p:sp>
      <p:graphicFrame>
        <p:nvGraphicFramePr>
          <p:cNvPr id="7" name="Tabla 9">
            <a:extLst>
              <a:ext uri="{FF2B5EF4-FFF2-40B4-BE49-F238E27FC236}">
                <a16:creationId xmlns:a16="http://schemas.microsoft.com/office/drawing/2014/main" id="{810318F4-2DEB-026B-FE1D-3ACA7ADECB88}"/>
              </a:ext>
            </a:extLst>
          </p:cNvPr>
          <p:cNvGraphicFramePr>
            <a:graphicFrameLocks noGrp="1"/>
          </p:cNvGraphicFramePr>
          <p:nvPr>
            <p:extLst>
              <p:ext uri="{D42A27DB-BD31-4B8C-83A1-F6EECF244321}">
                <p14:modId xmlns:p14="http://schemas.microsoft.com/office/powerpoint/2010/main" val="4123426406"/>
              </p:ext>
            </p:extLst>
          </p:nvPr>
        </p:nvGraphicFramePr>
        <p:xfrm>
          <a:off x="341208" y="1018309"/>
          <a:ext cx="8269391" cy="3225157"/>
        </p:xfrm>
        <a:graphic>
          <a:graphicData uri="http://schemas.openxmlformats.org/drawingml/2006/table">
            <a:tbl>
              <a:tblPr firstRow="1" bandRow="1">
                <a:tableStyleId>{284E427A-3D55-4303-BF80-6455036E1DE7}</a:tableStyleId>
              </a:tblPr>
              <a:tblGrid>
                <a:gridCol w="1813174">
                  <a:extLst>
                    <a:ext uri="{9D8B030D-6E8A-4147-A177-3AD203B41FA5}">
                      <a16:colId xmlns:a16="http://schemas.microsoft.com/office/drawing/2014/main" val="1918186888"/>
                    </a:ext>
                  </a:extLst>
                </a:gridCol>
                <a:gridCol w="4710545">
                  <a:extLst>
                    <a:ext uri="{9D8B030D-6E8A-4147-A177-3AD203B41FA5}">
                      <a16:colId xmlns:a16="http://schemas.microsoft.com/office/drawing/2014/main" val="3052564932"/>
                    </a:ext>
                  </a:extLst>
                </a:gridCol>
                <a:gridCol w="1745672">
                  <a:extLst>
                    <a:ext uri="{9D8B030D-6E8A-4147-A177-3AD203B41FA5}">
                      <a16:colId xmlns:a16="http://schemas.microsoft.com/office/drawing/2014/main" val="2071442164"/>
                    </a:ext>
                  </a:extLst>
                </a:gridCol>
              </a:tblGrid>
              <a:tr h="272407">
                <a:tc>
                  <a:txBody>
                    <a:bodyPr/>
                    <a:lstStyle/>
                    <a:p>
                      <a:r>
                        <a:rPr lang="es-CO" sz="1000" dirty="0">
                          <a:solidFill>
                            <a:srgbClr val="FFFFFF"/>
                          </a:solidFill>
                        </a:rPr>
                        <a:t>Observaciones</a:t>
                      </a:r>
                    </a:p>
                  </a:txBody>
                  <a:tcPr/>
                </a:tc>
                <a:tc>
                  <a:txBody>
                    <a:bodyPr/>
                    <a:lstStyle/>
                    <a:p>
                      <a:endParaRPr lang="es-CO" sz="1000" dirty="0">
                        <a:solidFill>
                          <a:srgbClr val="FFFFFF"/>
                        </a:solidFill>
                      </a:endParaRPr>
                    </a:p>
                  </a:txBody>
                  <a:tcPr/>
                </a:tc>
                <a:tc>
                  <a:txBody>
                    <a:bodyPr/>
                    <a:lstStyle/>
                    <a:p>
                      <a:endParaRPr lang="es-CO" sz="1000" dirty="0">
                        <a:solidFill>
                          <a:srgbClr val="FFFFFF"/>
                        </a:solidFill>
                      </a:endParaRPr>
                    </a:p>
                  </a:txBody>
                  <a:tcPr/>
                </a:tc>
                <a:extLst>
                  <a:ext uri="{0D108BD9-81ED-4DB2-BD59-A6C34878D82A}">
                    <a16:rowId xmlns:a16="http://schemas.microsoft.com/office/drawing/2014/main" val="3355390286"/>
                  </a:ext>
                </a:extLst>
              </a:tr>
              <a:tr h="370840">
                <a:tc>
                  <a:txBody>
                    <a:bodyPr/>
                    <a:lstStyle/>
                    <a:p>
                      <a:r>
                        <a:rPr lang="es-CO" sz="1000" dirty="0">
                          <a:solidFill>
                            <a:srgbClr val="FFFFFF"/>
                          </a:solidFill>
                        </a:rPr>
                        <a:t>16</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Profundizar en la discusión técnica de los resultados: interpretar el desempeño desde una perspectiva hidráulica, analizar las causas de los errores y discutir las limitaciones e implicaciones prácticas.</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2271203562"/>
                  </a:ext>
                </a:extLst>
              </a:tr>
              <a:tr h="370840">
                <a:tc>
                  <a:txBody>
                    <a:bodyPr/>
                    <a:lstStyle/>
                    <a:p>
                      <a:r>
                        <a:rPr lang="es-CO" sz="1000" dirty="0">
                          <a:solidFill>
                            <a:schemeClr val="bg1"/>
                          </a:solidFill>
                        </a:rPr>
                        <a:t>17</a:t>
                      </a:r>
                    </a:p>
                  </a:txBody>
                  <a:tcPr>
                    <a:solidFill>
                      <a:srgbClr val="FFFFB3"/>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chemeClr val="bg1"/>
                          </a:solidFill>
                          <a:latin typeface="+mn-lt"/>
                          <a:ea typeface="+mn-ea"/>
                          <a:cs typeface="+mn-cs"/>
                          <a:sym typeface="Arial"/>
                        </a:rPr>
                        <a:t>Fortalecer la revisión de literatura: ampliar y actualizar el estado del arte, precisar el vacío de investigación y explicar cómo el trabajo contribuye a abordarlo.</a:t>
                      </a:r>
                    </a:p>
                  </a:txBody>
                  <a:tcPr marL="9525" marR="9525" marT="9525" marB="0" anchor="ctr">
                    <a:solidFill>
                      <a:srgbClr val="FFFFB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chemeClr val="bg1"/>
                          </a:solidFill>
                        </a:rPr>
                        <a:t>Pedro Iglesias</a:t>
                      </a:r>
                    </a:p>
                  </a:txBody>
                  <a:tcPr>
                    <a:solidFill>
                      <a:srgbClr val="FFFFB3"/>
                    </a:solidFill>
                  </a:tcPr>
                </a:tc>
                <a:extLst>
                  <a:ext uri="{0D108BD9-81ED-4DB2-BD59-A6C34878D82A}">
                    <a16:rowId xmlns:a16="http://schemas.microsoft.com/office/drawing/2014/main" val="4215564493"/>
                  </a:ext>
                </a:extLst>
              </a:tr>
              <a:tr h="370840">
                <a:tc>
                  <a:txBody>
                    <a:bodyPr/>
                    <a:lstStyle/>
                    <a:p>
                      <a:r>
                        <a:rPr lang="es-CO" sz="1000" dirty="0">
                          <a:solidFill>
                            <a:srgbClr val="FFFFFF"/>
                          </a:solidFill>
                        </a:rPr>
                        <a:t>18</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Reforzar el rigor metodológico y la reproducibilidad: justificar las decisiones metodológicas, documentar los procedimientos y respaldarlos con literatura científica.</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Pedro Iglesias</a:t>
                      </a:r>
                    </a:p>
                  </a:txBody>
                  <a:tcPr>
                    <a:solidFill>
                      <a:srgbClr val="5E8CBE"/>
                    </a:solidFill>
                  </a:tcPr>
                </a:tc>
                <a:extLst>
                  <a:ext uri="{0D108BD9-81ED-4DB2-BD59-A6C34878D82A}">
                    <a16:rowId xmlns:a16="http://schemas.microsoft.com/office/drawing/2014/main" val="152292435"/>
                  </a:ext>
                </a:extLst>
              </a:tr>
              <a:tr h="370840">
                <a:tc>
                  <a:txBody>
                    <a:bodyPr/>
                    <a:lstStyle/>
                    <a:p>
                      <a:r>
                        <a:rPr lang="es-CO" sz="1000" dirty="0">
                          <a:solidFill>
                            <a:srgbClr val="FFFFFF"/>
                          </a:solidFill>
                        </a:rPr>
                        <a:t>19</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Explorar arquitecturas neuronales espaciotemporales: después de ampliar los datos y mejorar las variables, evaluar una combinación de RNN y CNN para representar la evolución temporal y las relaciones entre nodos.</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Alejandra Tabares</a:t>
                      </a:r>
                    </a:p>
                  </a:txBody>
                  <a:tcPr>
                    <a:solidFill>
                      <a:srgbClr val="5E8CBE"/>
                    </a:solidFill>
                  </a:tcPr>
                </a:tc>
                <a:extLst>
                  <a:ext uri="{0D108BD9-81ED-4DB2-BD59-A6C34878D82A}">
                    <a16:rowId xmlns:a16="http://schemas.microsoft.com/office/drawing/2014/main" val="100110631"/>
                  </a:ext>
                </a:extLst>
              </a:tr>
              <a:tr h="370840">
                <a:tc>
                  <a:txBody>
                    <a:bodyPr/>
                    <a:lstStyle/>
                    <a:p>
                      <a:r>
                        <a:rPr lang="es-CO" sz="1000" dirty="0">
                          <a:solidFill>
                            <a:srgbClr val="FFFFFF"/>
                          </a:solidFill>
                        </a:rPr>
                        <a:t>20</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Evaluar una red hidráulica sin calibrar como análisis complementario: analizar cómo cambia el desempeño del modelo y estudiar la incertidumbre asociada con las simulaciones.</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Alejandra Tabares</a:t>
                      </a:r>
                    </a:p>
                  </a:txBody>
                  <a:tcPr>
                    <a:solidFill>
                      <a:srgbClr val="5E8CBE"/>
                    </a:solidFill>
                  </a:tcPr>
                </a:tc>
                <a:extLst>
                  <a:ext uri="{0D108BD9-81ED-4DB2-BD59-A6C34878D82A}">
                    <a16:rowId xmlns:a16="http://schemas.microsoft.com/office/drawing/2014/main" val="1520481473"/>
                  </a:ext>
                </a:extLst>
              </a:tr>
              <a:tr h="370840">
                <a:tc>
                  <a:txBody>
                    <a:bodyPr/>
                    <a:lstStyle/>
                    <a:p>
                      <a:r>
                        <a:rPr lang="es-CO" sz="1000" dirty="0">
                          <a:solidFill>
                            <a:srgbClr val="FFFFFF"/>
                          </a:solidFill>
                        </a:rPr>
                        <a:t>21</a:t>
                      </a:r>
                    </a:p>
                  </a:txBody>
                  <a:tcPr>
                    <a:solidFill>
                      <a:srgbClr val="5E8CBE"/>
                    </a:solidFill>
                  </a:tcPr>
                </a:tc>
                <a:tc>
                  <a:txBody>
                    <a:bodyPr/>
                    <a:lstStyle/>
                    <a:p>
                      <a:pPr marR="0" algn="l" rtl="0" fontAlgn="ctr">
                        <a:lnSpc>
                          <a:spcPct val="100000"/>
                        </a:lnSpc>
                        <a:spcBef>
                          <a:spcPts val="0"/>
                        </a:spcBef>
                        <a:spcAft>
                          <a:spcPts val="0"/>
                        </a:spcAft>
                        <a:buClr>
                          <a:srgbClr val="000000"/>
                        </a:buClr>
                        <a:buFont typeface="Arial"/>
                        <a:buNone/>
                      </a:pPr>
                      <a:r>
                        <a:rPr lang="es-CO" sz="1000" b="0" i="0" u="none" strike="noStrike" cap="none" dirty="0">
                          <a:solidFill>
                            <a:srgbClr val="FFFFFF"/>
                          </a:solidFill>
                          <a:latin typeface="+mn-lt"/>
                          <a:ea typeface="+mn-ea"/>
                          <a:cs typeface="+mn-cs"/>
                          <a:sym typeface="Arial"/>
                        </a:rPr>
                        <a:t>Definir variables de estado para eventos con múltiples picos: incorporar información como el volumen almacenado antes de cada pulso para representar el almacenamiento residual de la red.</a:t>
                      </a:r>
                    </a:p>
                  </a:txBody>
                  <a:tcPr marL="9525" marR="9525" marT="9525" marB="0" anchor="ctr">
                    <a:solidFill>
                      <a:srgbClr val="5E8CBE"/>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solidFill>
                            <a:srgbClr val="FFFFFF"/>
                          </a:solidFill>
                        </a:rPr>
                        <a:t>Jaime Plazas</a:t>
                      </a:r>
                    </a:p>
                  </a:txBody>
                  <a:tcPr>
                    <a:solidFill>
                      <a:srgbClr val="5E8CBE"/>
                    </a:solidFill>
                  </a:tcPr>
                </a:tc>
                <a:extLst>
                  <a:ext uri="{0D108BD9-81ED-4DB2-BD59-A6C34878D82A}">
                    <a16:rowId xmlns:a16="http://schemas.microsoft.com/office/drawing/2014/main" val="2970870412"/>
                  </a:ext>
                </a:extLst>
              </a:tr>
            </a:tbl>
          </a:graphicData>
        </a:graphic>
      </p:graphicFrame>
    </p:spTree>
    <p:extLst>
      <p:ext uri="{BB962C8B-B14F-4D97-AF65-F5344CB8AC3E}">
        <p14:creationId xmlns:p14="http://schemas.microsoft.com/office/powerpoint/2010/main" val="34038658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C30F5E-BA68-202E-7B0A-48C9A641F754}"/>
              </a:ext>
            </a:extLst>
          </p:cNvPr>
          <p:cNvSpPr>
            <a:spLocks noGrp="1"/>
          </p:cNvSpPr>
          <p:nvPr>
            <p:ph type="ctrTitle"/>
          </p:nvPr>
        </p:nvSpPr>
        <p:spPr>
          <a:xfrm>
            <a:off x="511234" y="591410"/>
            <a:ext cx="3277985" cy="554763"/>
          </a:xfrm>
        </p:spPr>
        <p:txBody>
          <a:bodyPr/>
          <a:lstStyle/>
          <a:p>
            <a:r>
              <a:rPr lang="es-CO" sz="1600" dirty="0"/>
              <a:t>Flujo de manejo de datos y entrenamiento del modelo</a:t>
            </a:r>
          </a:p>
        </p:txBody>
      </p:sp>
      <p:sp>
        <p:nvSpPr>
          <p:cNvPr id="4" name="Marcador de número de diapositiva 3">
            <a:extLst>
              <a:ext uri="{FF2B5EF4-FFF2-40B4-BE49-F238E27FC236}">
                <a16:creationId xmlns:a16="http://schemas.microsoft.com/office/drawing/2014/main" id="{EF69496C-9079-71F3-0908-C0C85CA72F64}"/>
              </a:ext>
            </a:extLst>
          </p:cNvPr>
          <p:cNvSpPr>
            <a:spLocks noGrp="1"/>
          </p:cNvSpPr>
          <p:nvPr>
            <p:ph type="sldNum" sz="quarter" idx="4"/>
          </p:nvPr>
        </p:nvSpPr>
        <p:spPr/>
        <p:txBody>
          <a:bodyPr/>
          <a:lstStyle/>
          <a:p>
            <a:fld id="{585754B4-F252-4673-A93E-AFAD19F3B91A}" type="slidenum">
              <a:rPr lang="es-CO" smtClean="0"/>
              <a:t>15</a:t>
            </a:fld>
            <a:endParaRPr lang="es-CO"/>
          </a:p>
        </p:txBody>
      </p:sp>
      <p:pic>
        <p:nvPicPr>
          <p:cNvPr id="5" name="Imagen 4">
            <a:extLst>
              <a:ext uri="{FF2B5EF4-FFF2-40B4-BE49-F238E27FC236}">
                <a16:creationId xmlns:a16="http://schemas.microsoft.com/office/drawing/2014/main" id="{5A080E53-A15F-1798-2E61-46485B05DE72}"/>
              </a:ext>
            </a:extLst>
          </p:cNvPr>
          <p:cNvPicPr>
            <a:picLocks noChangeAspect="1"/>
          </p:cNvPicPr>
          <p:nvPr/>
        </p:nvPicPr>
        <p:blipFill>
          <a:blip r:embed="rId2"/>
          <a:srcRect l="4332" t="3160" r="9775" b="6049"/>
          <a:stretch>
            <a:fillRect/>
          </a:stretch>
        </p:blipFill>
        <p:spPr bwMode="auto">
          <a:xfrm>
            <a:off x="581891" y="1146173"/>
            <a:ext cx="2909454" cy="3917664"/>
          </a:xfrm>
          <a:prstGeom prst="rect">
            <a:avLst/>
          </a:prstGeom>
        </p:spPr>
      </p:pic>
      <p:sp>
        <p:nvSpPr>
          <p:cNvPr id="12" name="Título 1">
            <a:extLst>
              <a:ext uri="{FF2B5EF4-FFF2-40B4-BE49-F238E27FC236}">
                <a16:creationId xmlns:a16="http://schemas.microsoft.com/office/drawing/2014/main" id="{FE4015AE-274D-F04E-C156-503874D2BFD4}"/>
              </a:ext>
            </a:extLst>
          </p:cNvPr>
          <p:cNvSpPr txBox="1">
            <a:spLocks/>
          </p:cNvSpPr>
          <p:nvPr/>
        </p:nvSpPr>
        <p:spPr>
          <a:xfrm>
            <a:off x="5020889" y="646828"/>
            <a:ext cx="3277985" cy="55476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2"/>
              </a:buClr>
              <a:buSzPts val="5200"/>
              <a:buFont typeface="Libre Baskerville"/>
              <a:buNone/>
              <a:defRPr sz="4200" b="1" i="0" u="none" strike="noStrike" cap="none">
                <a:solidFill>
                  <a:schemeClr val="dk2"/>
                </a:solidFill>
                <a:latin typeface="Libre Baskerville"/>
                <a:ea typeface="Libre Baskerville"/>
                <a:cs typeface="Libre Baskerville"/>
                <a:sym typeface="Libre Baskerville"/>
              </a:defRPr>
            </a:lvl1pPr>
            <a:lvl2pPr marR="0" lvl="1"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2pPr>
            <a:lvl3pPr marR="0" lvl="2"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3pPr>
            <a:lvl4pPr marR="0" lvl="3"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4pPr>
            <a:lvl5pPr marR="0" lvl="4"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5pPr>
            <a:lvl6pPr marR="0" lvl="5"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6pPr>
            <a:lvl7pPr marR="0" lvl="6"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7pPr>
            <a:lvl8pPr marR="0" lvl="7"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8pPr>
            <a:lvl9pPr marR="0" lvl="8" algn="ctr" rtl="0">
              <a:lnSpc>
                <a:spcPct val="100000"/>
              </a:lnSpc>
              <a:spcBef>
                <a:spcPts val="0"/>
              </a:spcBef>
              <a:spcAft>
                <a:spcPts val="0"/>
              </a:spcAft>
              <a:buClr>
                <a:schemeClr val="dk2"/>
              </a:buClr>
              <a:buSzPts val="5200"/>
              <a:buFont typeface="Libre Baskerville"/>
              <a:buNone/>
              <a:defRPr sz="5200" b="1" i="0" u="none" strike="noStrike" cap="none">
                <a:solidFill>
                  <a:schemeClr val="dk2"/>
                </a:solidFill>
                <a:latin typeface="Libre Baskerville"/>
                <a:ea typeface="Libre Baskerville"/>
                <a:cs typeface="Libre Baskerville"/>
                <a:sym typeface="Libre Baskerville"/>
              </a:defRPr>
            </a:lvl9pPr>
          </a:lstStyle>
          <a:p>
            <a:r>
              <a:rPr lang="es-CO" sz="1600" dirty="0"/>
              <a:t>Flujo de validación del modelo</a:t>
            </a:r>
          </a:p>
        </p:txBody>
      </p:sp>
      <p:pic>
        <p:nvPicPr>
          <p:cNvPr id="13" name="Imagen 12">
            <a:extLst>
              <a:ext uri="{FF2B5EF4-FFF2-40B4-BE49-F238E27FC236}">
                <a16:creationId xmlns:a16="http://schemas.microsoft.com/office/drawing/2014/main" id="{798B8C84-083F-6C4E-9CAD-8BD78F63DA02}"/>
              </a:ext>
            </a:extLst>
          </p:cNvPr>
          <p:cNvPicPr>
            <a:picLocks noChangeAspect="1"/>
          </p:cNvPicPr>
          <p:nvPr/>
        </p:nvPicPr>
        <p:blipFill>
          <a:blip r:embed="rId3"/>
          <a:srcRect l="9957" t="3197" r="5357" b="5036"/>
          <a:stretch>
            <a:fillRect/>
          </a:stretch>
        </p:blipFill>
        <p:spPr bwMode="auto">
          <a:xfrm>
            <a:off x="4821382" y="1324696"/>
            <a:ext cx="3243813" cy="3233450"/>
          </a:xfrm>
          <a:prstGeom prst="rect">
            <a:avLst/>
          </a:prstGeom>
        </p:spPr>
      </p:pic>
      <mc:AlternateContent xmlns:mc="http://schemas.openxmlformats.org/markup-compatibility/2006" xmlns:p14="http://schemas.microsoft.com/office/powerpoint/2010/main">
        <mc:Choice Requires="p14">
          <p:contentPart p14:bwMode="auto" r:id="rId4">
            <p14:nvContentPartPr>
              <p14:cNvPr id="18" name="Entrada de lápiz 17">
                <a:extLst>
                  <a:ext uri="{FF2B5EF4-FFF2-40B4-BE49-F238E27FC236}">
                    <a16:creationId xmlns:a16="http://schemas.microsoft.com/office/drawing/2014/main" id="{5AB56417-6C2E-26EF-424B-C4227955EC5B}"/>
                  </a:ext>
                </a:extLst>
              </p14:cNvPr>
              <p14:cNvContentPartPr/>
              <p14:nvPr/>
            </p14:nvContentPartPr>
            <p14:xfrm>
              <a:off x="5333738" y="2105640"/>
              <a:ext cx="374400" cy="7200"/>
            </p14:xfrm>
          </p:contentPart>
        </mc:Choice>
        <mc:Fallback xmlns="">
          <p:pic>
            <p:nvPicPr>
              <p:cNvPr id="18" name="Entrada de lápiz 17">
                <a:extLst>
                  <a:ext uri="{FF2B5EF4-FFF2-40B4-BE49-F238E27FC236}">
                    <a16:creationId xmlns:a16="http://schemas.microsoft.com/office/drawing/2014/main" id="{5AB56417-6C2E-26EF-424B-C4227955EC5B}"/>
                  </a:ext>
                </a:extLst>
              </p:cNvPr>
              <p:cNvPicPr/>
              <p:nvPr/>
            </p:nvPicPr>
            <p:blipFill>
              <a:blip r:embed="rId5"/>
              <a:stretch>
                <a:fillRect/>
              </a:stretch>
            </p:blipFill>
            <p:spPr>
              <a:xfrm>
                <a:off x="5297738" y="2069640"/>
                <a:ext cx="446040" cy="78840"/>
              </a:xfrm>
              <a:prstGeom prst="rect">
                <a:avLst/>
              </a:prstGeom>
            </p:spPr>
          </p:pic>
        </mc:Fallback>
      </mc:AlternateContent>
    </p:spTree>
    <p:extLst>
      <p:ext uri="{BB962C8B-B14F-4D97-AF65-F5344CB8AC3E}">
        <p14:creationId xmlns:p14="http://schemas.microsoft.com/office/powerpoint/2010/main" val="30646275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0BF259-65CE-D3EB-286B-F1391FBE046F}"/>
              </a:ext>
            </a:extLst>
          </p:cNvPr>
          <p:cNvSpPr>
            <a:spLocks noGrp="1"/>
          </p:cNvSpPr>
          <p:nvPr>
            <p:ph type="ctrTitle"/>
          </p:nvPr>
        </p:nvSpPr>
        <p:spPr>
          <a:xfrm>
            <a:off x="535784" y="695900"/>
            <a:ext cx="8072432" cy="405600"/>
          </a:xfrm>
        </p:spPr>
        <p:txBody>
          <a:bodyPr/>
          <a:lstStyle/>
          <a:p>
            <a:r>
              <a:rPr lang="es-CO" sz="2000" dirty="0"/>
              <a:t>Ejemplo de base de datos – Nodo 75</a:t>
            </a:r>
          </a:p>
        </p:txBody>
      </p:sp>
      <p:sp>
        <p:nvSpPr>
          <p:cNvPr id="4" name="Marcador de número de diapositiva 3">
            <a:extLst>
              <a:ext uri="{FF2B5EF4-FFF2-40B4-BE49-F238E27FC236}">
                <a16:creationId xmlns:a16="http://schemas.microsoft.com/office/drawing/2014/main" id="{9F1B04AC-391E-C7FC-2E4F-9C47FB322689}"/>
              </a:ext>
            </a:extLst>
          </p:cNvPr>
          <p:cNvSpPr>
            <a:spLocks noGrp="1"/>
          </p:cNvSpPr>
          <p:nvPr>
            <p:ph type="sldNum" sz="quarter" idx="4"/>
          </p:nvPr>
        </p:nvSpPr>
        <p:spPr/>
        <p:txBody>
          <a:bodyPr/>
          <a:lstStyle/>
          <a:p>
            <a:fld id="{585754B4-F252-4673-A93E-AFAD19F3B91A}" type="slidenum">
              <a:rPr lang="es-CO" smtClean="0"/>
              <a:t>16</a:t>
            </a:fld>
            <a:endParaRPr lang="es-CO"/>
          </a:p>
        </p:txBody>
      </p:sp>
      <p:pic>
        <p:nvPicPr>
          <p:cNvPr id="7" name="Imagen 6">
            <a:extLst>
              <a:ext uri="{FF2B5EF4-FFF2-40B4-BE49-F238E27FC236}">
                <a16:creationId xmlns:a16="http://schemas.microsoft.com/office/drawing/2014/main" id="{6E68C9FC-8E88-4A1F-8146-1AA60470AF1F}"/>
              </a:ext>
            </a:extLst>
          </p:cNvPr>
          <p:cNvPicPr>
            <a:picLocks noChangeAspect="1"/>
          </p:cNvPicPr>
          <p:nvPr/>
        </p:nvPicPr>
        <p:blipFill>
          <a:blip r:embed="rId2"/>
          <a:stretch>
            <a:fillRect/>
          </a:stretch>
        </p:blipFill>
        <p:spPr>
          <a:xfrm>
            <a:off x="197427" y="1573366"/>
            <a:ext cx="8749145" cy="1456961"/>
          </a:xfrm>
          <a:prstGeom prst="rect">
            <a:avLst/>
          </a:prstGeom>
        </p:spPr>
      </p:pic>
      <p:sp>
        <p:nvSpPr>
          <p:cNvPr id="8" name="CuadroTexto 7">
            <a:extLst>
              <a:ext uri="{FF2B5EF4-FFF2-40B4-BE49-F238E27FC236}">
                <a16:creationId xmlns:a16="http://schemas.microsoft.com/office/drawing/2014/main" id="{5C0F9941-C470-694D-AE62-C375EA5DBADB}"/>
              </a:ext>
            </a:extLst>
          </p:cNvPr>
          <p:cNvSpPr txBox="1"/>
          <p:nvPr/>
        </p:nvSpPr>
        <p:spPr>
          <a:xfrm>
            <a:off x="443345" y="3463636"/>
            <a:ext cx="8503227" cy="523220"/>
          </a:xfrm>
          <a:prstGeom prst="rect">
            <a:avLst/>
          </a:prstGeom>
          <a:noFill/>
        </p:spPr>
        <p:txBody>
          <a:bodyPr wrap="square" rtlCol="0">
            <a:spAutoFit/>
          </a:bodyPr>
          <a:lstStyle/>
          <a:p>
            <a:pPr marL="342900" indent="-342900">
              <a:buClr>
                <a:schemeClr val="tx1"/>
              </a:buClr>
              <a:buFont typeface="Arial" panose="020B0604020202020204" pitchFamily="34" charset="0"/>
              <a:buChar char="•"/>
            </a:pPr>
            <a:r>
              <a:rPr lang="es-CO" dirty="0">
                <a:solidFill>
                  <a:schemeClr val="tx1"/>
                </a:solidFill>
              </a:rPr>
              <a:t>Verde: Identificadores y valores de respuesta, no van al modelo como entradas</a:t>
            </a:r>
          </a:p>
          <a:p>
            <a:pPr marL="342900" indent="-342900">
              <a:buClr>
                <a:schemeClr val="tx1"/>
              </a:buClr>
              <a:buFont typeface="Arial" panose="020B0604020202020204" pitchFamily="34" charset="0"/>
              <a:buChar char="•"/>
            </a:pPr>
            <a:r>
              <a:rPr lang="es-CO" dirty="0">
                <a:solidFill>
                  <a:schemeClr val="tx1"/>
                </a:solidFill>
              </a:rPr>
              <a:t>Morado: Variables de entrada o </a:t>
            </a:r>
            <a:r>
              <a:rPr lang="es-CO" dirty="0" err="1">
                <a:solidFill>
                  <a:schemeClr val="tx1"/>
                </a:solidFill>
              </a:rPr>
              <a:t>features</a:t>
            </a:r>
            <a:r>
              <a:rPr lang="es-CO" dirty="0">
                <a:solidFill>
                  <a:schemeClr val="tx1"/>
                </a:solidFill>
              </a:rPr>
              <a:t>, son los valores e información que usa el modelo para entrar</a:t>
            </a:r>
          </a:p>
        </p:txBody>
      </p:sp>
    </p:spTree>
    <p:extLst>
      <p:ext uri="{BB962C8B-B14F-4D97-AF65-F5344CB8AC3E}">
        <p14:creationId xmlns:p14="http://schemas.microsoft.com/office/powerpoint/2010/main" val="17991315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¿Vale la pena cambiar XGBoost?</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Objetivo: inundación y volumen total por nodo. La complejidad adicional necesita una ganancia demostrada.</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17</a:t>
            </a:r>
          </a:p>
        </p:txBody>
      </p:sp>
      <p:graphicFrame>
        <p:nvGraphicFramePr>
          <p:cNvPr id="8" name="Table 7"/>
          <p:cNvGraphicFramePr>
            <a:graphicFrameLocks noGrp="1"/>
          </p:cNvGraphicFramePr>
          <p:nvPr/>
        </p:nvGraphicFramePr>
        <p:xfrm>
          <a:off x="292608" y="1051560"/>
          <a:ext cx="8549640" cy="3319272"/>
        </p:xfrm>
        <a:graphic>
          <a:graphicData uri="http://schemas.openxmlformats.org/drawingml/2006/table">
            <a:tbl>
              <a:tblPr firstRow="1" bandRow="1">
                <a:tableStyleId>{5C22544A-7EE6-4342-B048-85BDC9FD1C3A}</a:tableStyleId>
              </a:tblPr>
              <a:tblGrid>
                <a:gridCol w="22402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420624">
                <a:tc>
                  <a:txBody>
                    <a:bodyPr/>
                    <a:lstStyle/>
                    <a:p>
                      <a:pPr>
                        <a:lnSpc>
                          <a:spcPct val="102000"/>
                        </a:lnSpc>
                        <a:spcBef>
                          <a:spcPts val="0"/>
                        </a:spcBef>
                        <a:spcAft>
                          <a:spcPts val="300"/>
                        </a:spcAft>
                      </a:pPr>
                      <a:r>
                        <a:rPr sz="1160" b="1">
                          <a:solidFill>
                            <a:srgbClr val="F7FAFE"/>
                          </a:solidFill>
                          <a:latin typeface="Montserrat"/>
                        </a:rPr>
                        <a:t>Ruta</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Esfuerzo orientativo*</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Decisión para la tesis</a:t>
                      </a:r>
                    </a:p>
                  </a:txBody>
                  <a:tcPr marT="64008" marB="64008">
                    <a:solidFill>
                      <a:srgbClr val="355A84"/>
                    </a:solidFill>
                  </a:tcPr>
                </a:tc>
                <a:extLst>
                  <a:ext uri="{0D108BD9-81ED-4DB2-BD59-A6C34878D82A}">
                    <a16:rowId xmlns:a16="http://schemas.microsoft.com/office/drawing/2014/main" val="10000"/>
                  </a:ext>
                </a:extLst>
              </a:tr>
              <a:tr h="724662">
                <a:tc>
                  <a:txBody>
                    <a:bodyPr/>
                    <a:lstStyle/>
                    <a:p>
                      <a:pPr>
                        <a:lnSpc>
                          <a:spcPct val="102000"/>
                        </a:lnSpc>
                        <a:spcBef>
                          <a:spcPts val="0"/>
                        </a:spcBef>
                        <a:spcAft>
                          <a:spcPts val="300"/>
                        </a:spcAft>
                      </a:pPr>
                      <a:r>
                        <a:rPr sz="1220" b="1">
                          <a:solidFill>
                            <a:srgbClr val="8BC5FA"/>
                          </a:solidFill>
                          <a:latin typeface="Montserrat"/>
                        </a:rPr>
                        <a:t>Mantener y fortalecer XGBoost</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Datos diversos + validación por familias</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PRIORIDAD 1. Es la referencia que ya funciona; probar dónde falla.</a:t>
                      </a:r>
                    </a:p>
                  </a:txBody>
                  <a:tcPr marT="64008" marB="64008">
                    <a:solidFill>
                      <a:srgbClr val="193A58"/>
                    </a:solidFill>
                  </a:tcPr>
                </a:tc>
                <a:extLst>
                  <a:ext uri="{0D108BD9-81ED-4DB2-BD59-A6C34878D82A}">
                    <a16:rowId xmlns:a16="http://schemas.microsoft.com/office/drawing/2014/main" val="10001"/>
                  </a:ext>
                </a:extLst>
              </a:tr>
              <a:tr h="724662">
                <a:tc>
                  <a:txBody>
                    <a:bodyPr/>
                    <a:lstStyle/>
                    <a:p>
                      <a:pPr>
                        <a:lnSpc>
                          <a:spcPct val="102000"/>
                        </a:lnSpc>
                        <a:spcBef>
                          <a:spcPts val="0"/>
                        </a:spcBef>
                        <a:spcAft>
                          <a:spcPts val="300"/>
                        </a:spcAft>
                      </a:pPr>
                      <a:r>
                        <a:rPr sz="1220" b="1">
                          <a:solidFill>
                            <a:srgbClr val="8BC5FA"/>
                          </a:solidFill>
                          <a:latin typeface="Montserrat"/>
                        </a:rPr>
                        <a:t>MLP tabular existente</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30–60 h · 1–2 semanas</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PRIORIDAD 2. Comparación neuronal controlada con las mismas 17 entradas.</a:t>
                      </a:r>
                    </a:p>
                  </a:txBody>
                  <a:tcPr marT="64008" marB="64008">
                    <a:solidFill>
                      <a:srgbClr val="234560"/>
                    </a:solidFill>
                  </a:tcPr>
                </a:tc>
                <a:extLst>
                  <a:ext uri="{0D108BD9-81ED-4DB2-BD59-A6C34878D82A}">
                    <a16:rowId xmlns:a16="http://schemas.microsoft.com/office/drawing/2014/main" val="10002"/>
                  </a:ext>
                </a:extLst>
              </a:tr>
              <a:tr h="724662">
                <a:tc>
                  <a:txBody>
                    <a:bodyPr/>
                    <a:lstStyle/>
                    <a:p>
                      <a:pPr>
                        <a:lnSpc>
                          <a:spcPct val="102000"/>
                        </a:lnSpc>
                        <a:spcBef>
                          <a:spcPts val="0"/>
                        </a:spcBef>
                        <a:spcAft>
                          <a:spcPts val="300"/>
                        </a:spcAft>
                      </a:pPr>
                      <a:r>
                        <a:rPr sz="1220" b="1">
                          <a:solidFill>
                            <a:srgbClr val="8BC5FA"/>
                          </a:solidFill>
                          <a:latin typeface="Montserrat"/>
                        </a:rPr>
                        <a:t>GNN / modelo temporal</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120–240 h · 4–8 semanas</a:t>
                      </a:r>
                    </a:p>
                  </a:txBody>
                  <a:tcPr marT="64008" marB="64008">
                    <a:solidFill>
                      <a:srgbClr val="193A58"/>
                    </a:solidFill>
                  </a:tcPr>
                </a:tc>
                <a:tc>
                  <a:txBody>
                    <a:bodyPr/>
                    <a:lstStyle/>
                    <a:p>
                      <a:pPr>
                        <a:lnSpc>
                          <a:spcPct val="102000"/>
                        </a:lnSpc>
                        <a:spcBef>
                          <a:spcPts val="0"/>
                        </a:spcBef>
                        <a:spcAft>
                          <a:spcPts val="300"/>
                        </a:spcAft>
                      </a:pPr>
                      <a:r>
                        <a:rPr sz="1260" b="0">
                          <a:solidFill>
                            <a:srgbClr val="F7FAFE"/>
                          </a:solidFill>
                          <a:latin typeface="Montserrat"/>
                        </a:rPr>
                        <a:t>CONDICIONAL. Solo si mejora extremos, topología o dinámica necesaria.</a:t>
                      </a:r>
                    </a:p>
                  </a:txBody>
                  <a:tcPr marT="64008" marB="64008">
                    <a:solidFill>
                      <a:srgbClr val="193A58"/>
                    </a:solidFill>
                  </a:tcPr>
                </a:tc>
                <a:extLst>
                  <a:ext uri="{0D108BD9-81ED-4DB2-BD59-A6C34878D82A}">
                    <a16:rowId xmlns:a16="http://schemas.microsoft.com/office/drawing/2014/main" val="10003"/>
                  </a:ext>
                </a:extLst>
              </a:tr>
              <a:tr h="724662">
                <a:tc>
                  <a:txBody>
                    <a:bodyPr/>
                    <a:lstStyle/>
                    <a:p>
                      <a:pPr>
                        <a:lnSpc>
                          <a:spcPct val="102000"/>
                        </a:lnSpc>
                        <a:spcBef>
                          <a:spcPts val="0"/>
                        </a:spcBef>
                        <a:spcAft>
                          <a:spcPts val="300"/>
                        </a:spcAft>
                      </a:pPr>
                      <a:r>
                        <a:rPr sz="1220" b="1">
                          <a:solidFill>
                            <a:srgbClr val="8BC5FA"/>
                          </a:solidFill>
                          <a:latin typeface="Montserrat"/>
                        </a:rPr>
                        <a:t>Transferencia entre redes</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180–300 h · 6–10 semanas</a:t>
                      </a:r>
                    </a:p>
                  </a:txBody>
                  <a:tcPr marT="64008" marB="64008">
                    <a:solidFill>
                      <a:srgbClr val="234560"/>
                    </a:solidFill>
                  </a:tcPr>
                </a:tc>
                <a:tc>
                  <a:txBody>
                    <a:bodyPr/>
                    <a:lstStyle/>
                    <a:p>
                      <a:pPr>
                        <a:lnSpc>
                          <a:spcPct val="102000"/>
                        </a:lnSpc>
                        <a:spcBef>
                          <a:spcPts val="0"/>
                        </a:spcBef>
                        <a:spcAft>
                          <a:spcPts val="300"/>
                        </a:spcAft>
                      </a:pPr>
                      <a:r>
                        <a:rPr sz="1260" b="0">
                          <a:solidFill>
                            <a:srgbClr val="F7FAFE"/>
                          </a:solidFill>
                          <a:latin typeface="Montserrat"/>
                        </a:rPr>
                        <a:t>SEGUNDA ETAPA. Requiere otras redes y prueba en el destino.</a:t>
                      </a:r>
                    </a:p>
                  </a:txBody>
                  <a:tcPr marT="64008" marB="64008">
                    <a:solidFill>
                      <a:srgbClr val="234560"/>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Qué tenemos y qué falta medir</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Base local inspeccionada: Chico Sur; una red, etiquetas de SWMM y escenarios sintéticos.</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18</a:t>
            </a:r>
          </a:p>
        </p:txBody>
      </p:sp>
      <p:graphicFrame>
        <p:nvGraphicFramePr>
          <p:cNvPr id="8" name="Table 7"/>
          <p:cNvGraphicFramePr>
            <a:graphicFrameLocks noGrp="1"/>
          </p:cNvGraphicFramePr>
          <p:nvPr/>
        </p:nvGraphicFramePr>
        <p:xfrm>
          <a:off x="292608" y="1051560"/>
          <a:ext cx="8549640" cy="3547869"/>
        </p:xfrm>
        <a:graphic>
          <a:graphicData uri="http://schemas.openxmlformats.org/drawingml/2006/table">
            <a:tbl>
              <a:tblPr firstRow="1" bandRow="1">
                <a:tableStyleId>{5C22544A-7EE6-4342-B048-85BDC9FD1C3A}</a:tableStyleId>
              </a:tblPr>
              <a:tblGrid>
                <a:gridCol w="1965960">
                  <a:extLst>
                    <a:ext uri="{9D8B030D-6E8A-4147-A177-3AD203B41FA5}">
                      <a16:colId xmlns:a16="http://schemas.microsoft.com/office/drawing/2014/main" val="20000"/>
                    </a:ext>
                  </a:extLst>
                </a:gridCol>
                <a:gridCol w="6583680">
                  <a:extLst>
                    <a:ext uri="{9D8B030D-6E8A-4147-A177-3AD203B41FA5}">
                      <a16:colId xmlns:a16="http://schemas.microsoft.com/office/drawing/2014/main" val="20001"/>
                    </a:ext>
                  </a:extLst>
                </a:gridCol>
              </a:tblGrid>
              <a:tr h="420624">
                <a:tc>
                  <a:txBody>
                    <a:bodyPr/>
                    <a:lstStyle/>
                    <a:p>
                      <a:pPr>
                        <a:lnSpc>
                          <a:spcPct val="102000"/>
                        </a:lnSpc>
                        <a:spcBef>
                          <a:spcPts val="0"/>
                        </a:spcBef>
                        <a:spcAft>
                          <a:spcPts val="300"/>
                        </a:spcAft>
                      </a:pPr>
                      <a:r>
                        <a:rPr sz="1160" b="1">
                          <a:solidFill>
                            <a:srgbClr val="F7FAFE"/>
                          </a:solidFill>
                          <a:latin typeface="Montserrat"/>
                        </a:rPr>
                        <a:t>Aspecto</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Situación / implicación</a:t>
                      </a:r>
                    </a:p>
                  </a:txBody>
                  <a:tcPr marT="64008" marB="64008">
                    <a:solidFill>
                      <a:srgbClr val="355A84"/>
                    </a:solidFill>
                  </a:tcPr>
                </a:tc>
                <a:extLst>
                  <a:ext uri="{0D108BD9-81ED-4DB2-BD59-A6C34878D82A}">
                    <a16:rowId xmlns:a16="http://schemas.microsoft.com/office/drawing/2014/main" val="10000"/>
                  </a:ext>
                </a:extLst>
              </a:tr>
              <a:tr h="625449">
                <a:tc>
                  <a:txBody>
                    <a:bodyPr/>
                    <a:lstStyle/>
                    <a:p>
                      <a:pPr>
                        <a:lnSpc>
                          <a:spcPct val="102000"/>
                        </a:lnSpc>
                        <a:spcBef>
                          <a:spcPts val="0"/>
                        </a:spcBef>
                        <a:spcAft>
                          <a:spcPts val="300"/>
                        </a:spcAft>
                      </a:pPr>
                      <a:r>
                        <a:rPr sz="1200" b="1">
                          <a:solidFill>
                            <a:srgbClr val="8BC5FA"/>
                          </a:solidFill>
                          <a:latin typeface="Montserrat"/>
                        </a:rPr>
                        <a:t>Datos actuales</a:t>
                      </a:r>
                    </a:p>
                  </a:txBody>
                  <a:tcPr marT="64008" marB="64008">
                    <a:solidFill>
                      <a:srgbClr val="193A58"/>
                    </a:solidFill>
                  </a:tcPr>
                </a:tc>
                <a:tc>
                  <a:txBody>
                    <a:bodyPr/>
                    <a:lstStyle/>
                    <a:p>
                      <a:pPr>
                        <a:lnSpc>
                          <a:spcPct val="102000"/>
                        </a:lnSpc>
                        <a:spcBef>
                          <a:spcPts val="0"/>
                        </a:spcBef>
                        <a:spcAft>
                          <a:spcPts val="300"/>
                        </a:spcAft>
                      </a:pPr>
                      <a:r>
                        <a:rPr sz="1240" b="0">
                          <a:solidFill>
                            <a:srgbClr val="F7FAFE"/>
                          </a:solidFill>
                          <a:latin typeface="Montserrat"/>
                        </a:rPr>
                        <a:t>160 nodos y 160 tuberías; sin subcuencas ni pluviómetros. Entradas por hidrogramas; 17 features tabulares.</a:t>
                      </a:r>
                    </a:p>
                  </a:txBody>
                  <a:tcPr marT="64008" marB="64008">
                    <a:solidFill>
                      <a:srgbClr val="193A58"/>
                    </a:solidFill>
                  </a:tcPr>
                </a:tc>
                <a:extLst>
                  <a:ext uri="{0D108BD9-81ED-4DB2-BD59-A6C34878D82A}">
                    <a16:rowId xmlns:a16="http://schemas.microsoft.com/office/drawing/2014/main" val="10001"/>
                  </a:ext>
                </a:extLst>
              </a:tr>
              <a:tr h="625449">
                <a:tc>
                  <a:txBody>
                    <a:bodyPr/>
                    <a:lstStyle/>
                    <a:p>
                      <a:pPr>
                        <a:lnSpc>
                          <a:spcPct val="102000"/>
                        </a:lnSpc>
                        <a:spcBef>
                          <a:spcPts val="0"/>
                        </a:spcBef>
                        <a:spcAft>
                          <a:spcPts val="300"/>
                        </a:spcAft>
                      </a:pPr>
                      <a:r>
                        <a:rPr sz="1200" b="1">
                          <a:solidFill>
                            <a:srgbClr val="8BC5FA"/>
                          </a:solidFill>
                          <a:latin typeface="Montserrat"/>
                        </a:rPr>
                        <a:t>Variables adicionales</a:t>
                      </a:r>
                    </a:p>
                  </a:txBody>
                  <a:tcPr marT="64008" marB="64008">
                    <a:solidFill>
                      <a:srgbClr val="234560"/>
                    </a:solidFill>
                  </a:tcPr>
                </a:tc>
                <a:tc>
                  <a:txBody>
                    <a:bodyPr/>
                    <a:lstStyle/>
                    <a:p>
                      <a:pPr>
                        <a:lnSpc>
                          <a:spcPct val="102000"/>
                        </a:lnSpc>
                        <a:spcBef>
                          <a:spcPts val="0"/>
                        </a:spcBef>
                        <a:spcAft>
                          <a:spcPts val="300"/>
                        </a:spcAft>
                      </a:pPr>
                      <a:r>
                        <a:rPr sz="1240" b="0">
                          <a:solidFill>
                            <a:srgbClr val="F7FAFE"/>
                          </a:solidFill>
                          <a:latin typeface="Montserrat"/>
                        </a:rPr>
                        <a:t>Geometría y conectividad: recuperar INP. Series de estados y caudales: preparar/exportar. Lluvia–escorrentía: nuevo alcance hidrológico.</a:t>
                      </a:r>
                    </a:p>
                  </a:txBody>
                  <a:tcPr marT="64008" marB="64008">
                    <a:solidFill>
                      <a:srgbClr val="234560"/>
                    </a:solidFill>
                  </a:tcPr>
                </a:tc>
                <a:extLst>
                  <a:ext uri="{0D108BD9-81ED-4DB2-BD59-A6C34878D82A}">
                    <a16:rowId xmlns:a16="http://schemas.microsoft.com/office/drawing/2014/main" val="10002"/>
                  </a:ext>
                </a:extLst>
              </a:tr>
              <a:tr h="625449">
                <a:tc>
                  <a:txBody>
                    <a:bodyPr/>
                    <a:lstStyle/>
                    <a:p>
                      <a:pPr>
                        <a:lnSpc>
                          <a:spcPct val="102000"/>
                        </a:lnSpc>
                        <a:spcBef>
                          <a:spcPts val="0"/>
                        </a:spcBef>
                        <a:spcAft>
                          <a:spcPts val="300"/>
                        </a:spcAft>
                      </a:pPr>
                      <a:r>
                        <a:rPr sz="1200" b="1">
                          <a:solidFill>
                            <a:srgbClr val="8BC5FA"/>
                          </a:solidFill>
                          <a:latin typeface="Montserrat"/>
                        </a:rPr>
                        <a:t>GPU disponible localmente</a:t>
                      </a:r>
                    </a:p>
                  </a:txBody>
                  <a:tcPr marT="64008" marB="64008">
                    <a:solidFill>
                      <a:srgbClr val="193A58"/>
                    </a:solidFill>
                  </a:tcPr>
                </a:tc>
                <a:tc>
                  <a:txBody>
                    <a:bodyPr/>
                    <a:lstStyle/>
                    <a:p>
                      <a:pPr>
                        <a:lnSpc>
                          <a:spcPct val="102000"/>
                        </a:lnSpc>
                        <a:spcBef>
                          <a:spcPts val="0"/>
                        </a:spcBef>
                        <a:spcAft>
                          <a:spcPts val="300"/>
                        </a:spcAft>
                      </a:pPr>
                      <a:r>
                        <a:rPr sz="1240" b="0">
                          <a:solidFill>
                            <a:srgbClr val="F7FAFE"/>
                          </a:solidFill>
                          <a:latin typeface="Montserrat"/>
                        </a:rPr>
                        <a:t>NVIDIA T400, 4 GB. Una GPU mayor usada en un paper no es un requisito mínimo demostrado. Ensayar memoria y tiempo primero.</a:t>
                      </a:r>
                    </a:p>
                  </a:txBody>
                  <a:tcPr marT="64008" marB="64008">
                    <a:solidFill>
                      <a:srgbClr val="193A58"/>
                    </a:solidFill>
                  </a:tcPr>
                </a:tc>
                <a:extLst>
                  <a:ext uri="{0D108BD9-81ED-4DB2-BD59-A6C34878D82A}">
                    <a16:rowId xmlns:a16="http://schemas.microsoft.com/office/drawing/2014/main" val="10003"/>
                  </a:ext>
                </a:extLst>
              </a:tr>
              <a:tr h="625449">
                <a:tc>
                  <a:txBody>
                    <a:bodyPr/>
                    <a:lstStyle/>
                    <a:p>
                      <a:pPr>
                        <a:lnSpc>
                          <a:spcPct val="102000"/>
                        </a:lnSpc>
                        <a:spcBef>
                          <a:spcPts val="0"/>
                        </a:spcBef>
                        <a:spcAft>
                          <a:spcPts val="300"/>
                        </a:spcAft>
                      </a:pPr>
                      <a:r>
                        <a:rPr sz="1200" b="1">
                          <a:solidFill>
                            <a:srgbClr val="8BC5FA"/>
                          </a:solidFill>
                          <a:latin typeface="Montserrat"/>
                        </a:rPr>
                        <a:t>Supuestos del costo</a:t>
                      </a:r>
                    </a:p>
                  </a:txBody>
                  <a:tcPr marT="64008" marB="64008">
                    <a:solidFill>
                      <a:srgbClr val="234560"/>
                    </a:solidFill>
                  </a:tcPr>
                </a:tc>
                <a:tc>
                  <a:txBody>
                    <a:bodyPr/>
                    <a:lstStyle/>
                    <a:p>
                      <a:pPr>
                        <a:lnSpc>
                          <a:spcPct val="102000"/>
                        </a:lnSpc>
                        <a:spcBef>
                          <a:spcPts val="0"/>
                        </a:spcBef>
                        <a:spcAft>
                          <a:spcPts val="300"/>
                        </a:spcAft>
                      </a:pPr>
                      <a:r>
                        <a:rPr sz="1240" b="0">
                          <a:solidFill>
                            <a:srgbClr val="F7FAFE"/>
                          </a:solidFill>
                          <a:latin typeface="Montserrat"/>
                        </a:rPr>
                        <a:t>Una persona con Python/SWMM; 30 h/semana. Incluye datos, adaptación y validación; excluye esperas, licencias y formación desde cero.</a:t>
                      </a:r>
                    </a:p>
                  </a:txBody>
                  <a:tcPr marT="64008" marB="64008">
                    <a:solidFill>
                      <a:srgbClr val="234560"/>
                    </a:solidFill>
                  </a:tcPr>
                </a:tc>
                <a:extLst>
                  <a:ext uri="{0D108BD9-81ED-4DB2-BD59-A6C34878D82A}">
                    <a16:rowId xmlns:a16="http://schemas.microsoft.com/office/drawing/2014/main" val="10004"/>
                  </a:ext>
                </a:extLst>
              </a:tr>
              <a:tr h="625449">
                <a:tc>
                  <a:txBody>
                    <a:bodyPr/>
                    <a:lstStyle/>
                    <a:p>
                      <a:pPr>
                        <a:lnSpc>
                          <a:spcPct val="102000"/>
                        </a:lnSpc>
                        <a:spcBef>
                          <a:spcPts val="0"/>
                        </a:spcBef>
                        <a:spcAft>
                          <a:spcPts val="300"/>
                        </a:spcAft>
                      </a:pPr>
                      <a:r>
                        <a:rPr sz="1200" b="1">
                          <a:solidFill>
                            <a:srgbClr val="8BC5FA"/>
                          </a:solidFill>
                          <a:latin typeface="Montserrat"/>
                        </a:rPr>
                        <a:t>Lo que no podemos prometer</a:t>
                      </a:r>
                    </a:p>
                  </a:txBody>
                  <a:tcPr marT="64008" marB="64008">
                    <a:solidFill>
                      <a:srgbClr val="193A58"/>
                    </a:solidFill>
                  </a:tcPr>
                </a:tc>
                <a:tc>
                  <a:txBody>
                    <a:bodyPr/>
                    <a:lstStyle/>
                    <a:p>
                      <a:pPr>
                        <a:lnSpc>
                          <a:spcPct val="102000"/>
                        </a:lnSpc>
                        <a:spcBef>
                          <a:spcPts val="0"/>
                        </a:spcBef>
                        <a:spcAft>
                          <a:spcPts val="300"/>
                        </a:spcAft>
                      </a:pPr>
                      <a:r>
                        <a:rPr sz="1240" b="0">
                          <a:solidFill>
                            <a:srgbClr val="F7FAFE"/>
                          </a:solidFill>
                          <a:latin typeface="Montserrat"/>
                        </a:rPr>
                        <a:t>Tiempos locales de simulación/entrenamiento aún sin benchmark. Las etiquetas sintéticas prueban emulación de SWMM, no exactitud frente a campo.</a:t>
                      </a:r>
                    </a:p>
                  </a:txBody>
                  <a:tcPr marT="64008" marB="64008">
                    <a:solidFill>
                      <a:srgbClr val="193A58"/>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P1 · Zhang et al. (2024)</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Extended English synthesis, faithful to the published abstract. It is not a verbatim reproduction; DOI is clickable below.</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19</a:t>
            </a:r>
          </a:p>
        </p:txBody>
      </p:sp>
      <p:sp>
        <p:nvSpPr>
          <p:cNvPr id="8" name="TextBox 7"/>
          <p:cNvSpPr txBox="1"/>
          <p:nvPr/>
        </p:nvSpPr>
        <p:spPr>
          <a:xfrm>
            <a:off x="384048" y="1024128"/>
            <a:ext cx="5166360" cy="219456"/>
          </a:xfrm>
          <a:prstGeom prst="rect">
            <a:avLst/>
          </a:prstGeom>
          <a:noFill/>
        </p:spPr>
        <p:txBody>
          <a:bodyPr wrap="square" lIns="0" tIns="0" rIns="0" bIns="0">
            <a:spAutoFit/>
          </a:bodyPr>
          <a:lstStyle/>
          <a:p>
            <a:pPr>
              <a:lnSpc>
                <a:spcPct val="106000"/>
              </a:lnSpc>
              <a:spcBef>
                <a:spcPts val="0"/>
              </a:spcBef>
              <a:spcAft>
                <a:spcPts val="300"/>
              </a:spcAft>
            </a:pPr>
            <a:r>
              <a:rPr sz="1050" b="1">
                <a:solidFill>
                  <a:srgbClr val="8BC5FA"/>
                </a:solidFill>
                <a:latin typeface="Montserrat"/>
              </a:rPr>
              <a:t>EXTENDED ENGLISH ABSTRACT / SYNTHESIS</a:t>
            </a:r>
          </a:p>
        </p:txBody>
      </p:sp>
      <p:sp>
        <p:nvSpPr>
          <p:cNvPr id="9" name="TextBox 8"/>
          <p:cNvSpPr txBox="1"/>
          <p:nvPr/>
        </p:nvSpPr>
        <p:spPr>
          <a:xfrm>
            <a:off x="384048" y="1307592"/>
            <a:ext cx="5138928" cy="2496312"/>
          </a:xfrm>
          <a:prstGeom prst="rect">
            <a:avLst/>
          </a:prstGeom>
          <a:noFill/>
        </p:spPr>
        <p:txBody>
          <a:bodyPr wrap="square" lIns="0" tIns="0" rIns="0" bIns="0">
            <a:spAutoFit/>
          </a:bodyPr>
          <a:lstStyle/>
          <a:p>
            <a:pPr>
              <a:lnSpc>
                <a:spcPct val="106000"/>
              </a:lnSpc>
              <a:spcBef>
                <a:spcPts val="0"/>
              </a:spcBef>
              <a:spcAft>
                <a:spcPts val="300"/>
              </a:spcAft>
            </a:pPr>
            <a:r>
              <a:rPr sz="1045" b="0">
                <a:solidFill>
                  <a:srgbClr val="F7FAFE"/>
                </a:solidFill>
                <a:latin typeface="Montserrat"/>
              </a:rPr>
              <a:t>Physics-based drainage simulators are often too slow for online prediction. This study develops a graph-neural surrogate for hydraulic routing in urban drainage networks, using recent hydraulic states as initial conditions and future runoff and control actions as boundary conditions. The model represents the network through node–pipe relationships and adds physics-guided mechanisms that constrain predictions through flow-balance and flooding-occurrence relationships. In a stormwater case study, the GNN surrogate was more accurate and more cost-effective than a fully connected neural network after the same training budget. The physical constraints reduced errors and improved interpretability. The authors present the approach as a fast, interpretable alternative for real-time hydraulic prediction relative to a physics-based simulator.</a:t>
            </a:r>
          </a:p>
        </p:txBody>
      </p:sp>
      <p:sp>
        <p:nvSpPr>
          <p:cNvPr id="10" name="TextBox 9"/>
          <p:cNvSpPr txBox="1"/>
          <p:nvPr/>
        </p:nvSpPr>
        <p:spPr>
          <a:xfrm>
            <a:off x="5760720" y="1024128"/>
            <a:ext cx="2834640" cy="384048"/>
          </a:xfrm>
          <a:prstGeom prst="rect">
            <a:avLst/>
          </a:prstGeom>
          <a:noFill/>
        </p:spPr>
        <p:txBody>
          <a:bodyPr wrap="square" lIns="0" tIns="0" rIns="0" bIns="0">
            <a:spAutoFit/>
          </a:bodyPr>
          <a:lstStyle/>
          <a:p>
            <a:pPr>
              <a:lnSpc>
                <a:spcPct val="106000"/>
              </a:lnSpc>
              <a:spcBef>
                <a:spcPts val="0"/>
              </a:spcBef>
              <a:spcAft>
                <a:spcPts val="300"/>
              </a:spcAft>
            </a:pPr>
            <a:r>
              <a:rPr sz="1019" b="1">
                <a:solidFill>
                  <a:srgbClr val="8BC5FA"/>
                </a:solidFill>
                <a:latin typeface="Montserrat"/>
              </a:rPr>
              <a:t>Water Research 263, 122142</a:t>
            </a:r>
          </a:p>
        </p:txBody>
      </p:sp>
      <p:sp>
        <p:nvSpPr>
          <p:cNvPr id="11" name="TextBox 10"/>
          <p:cNvSpPr txBox="1"/>
          <p:nvPr/>
        </p:nvSpPr>
        <p:spPr>
          <a:xfrm>
            <a:off x="5760720" y="1435608"/>
            <a:ext cx="2834640" cy="274320"/>
          </a:xfrm>
          <a:prstGeom prst="rect">
            <a:avLst/>
          </a:prstGeom>
          <a:noFill/>
        </p:spPr>
        <p:txBody>
          <a:bodyPr wrap="square" lIns="0" tIns="0" rIns="0" bIns="0">
            <a:spAutoFit/>
          </a:bodyPr>
          <a:lstStyle/>
          <a:p>
            <a:pPr>
              <a:lnSpc>
                <a:spcPct val="106000"/>
              </a:lnSpc>
              <a:spcBef>
                <a:spcPts val="0"/>
              </a:spcBef>
              <a:spcAft>
                <a:spcPts val="300"/>
              </a:spcAft>
            </a:pPr>
            <a:r>
              <a:rPr sz="1000" b="0">
                <a:solidFill>
                  <a:srgbClr val="B7CBE0"/>
                </a:solidFill>
                <a:latin typeface="Montserrat"/>
              </a:rPr>
              <a:t>CityU Hong Kong (registro institucional)</a:t>
            </a:r>
          </a:p>
        </p:txBody>
      </p:sp>
      <p:sp>
        <p:nvSpPr>
          <p:cNvPr id="12" name="TextBox 11"/>
          <p:cNvSpPr txBox="1"/>
          <p:nvPr/>
        </p:nvSpPr>
        <p:spPr>
          <a:xfrm>
            <a:off x="5760720" y="181051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Transfer / extrapolation</a:t>
            </a:r>
          </a:p>
        </p:txBody>
      </p:sp>
      <p:sp>
        <p:nvSpPr>
          <p:cNvPr id="13" name="TextBox 12"/>
          <p:cNvSpPr txBox="1"/>
          <p:nvPr/>
        </p:nvSpPr>
        <p:spPr>
          <a:xfrm>
            <a:off x="5760720" y="2039112"/>
            <a:ext cx="2816352" cy="74980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NO demostrada hacia otra red. Un caso de estudio; nuevas lluvias no equivalen a nueva topología.</a:t>
            </a:r>
          </a:p>
        </p:txBody>
      </p:sp>
      <p:sp>
        <p:nvSpPr>
          <p:cNvPr id="14" name="TextBox 13"/>
          <p:cNvSpPr txBox="1"/>
          <p:nvPr/>
        </p:nvSpPr>
        <p:spPr>
          <a:xfrm>
            <a:off x="5760720" y="286207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Value for this thesis</a:t>
            </a:r>
          </a:p>
        </p:txBody>
      </p:sp>
      <p:sp>
        <p:nvSpPr>
          <p:cNvPr id="15" name="TextBox 14"/>
          <p:cNvSpPr txBox="1"/>
          <p:nvPr/>
        </p:nvSpPr>
        <p:spPr>
          <a:xfrm>
            <a:off x="5760720" y="3090672"/>
            <a:ext cx="2816352" cy="65836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Alta cercanía hidráulica. Estudiar clasificación de inundación y balance; adoptar todo el modelo amplía el alcance temporal.</a:t>
            </a:r>
          </a:p>
        </p:txBody>
      </p:sp>
      <p:sp>
        <p:nvSpPr>
          <p:cNvPr id="16" name="TextBox 15"/>
          <p:cNvSpPr txBox="1"/>
          <p:nvPr/>
        </p:nvSpPr>
        <p:spPr>
          <a:xfrm>
            <a:off x="384048" y="4041648"/>
            <a:ext cx="6949440" cy="146304"/>
          </a:xfrm>
          <a:prstGeom prst="rect">
            <a:avLst/>
          </a:prstGeom>
          <a:noFill/>
        </p:spPr>
        <p:txBody>
          <a:bodyPr wrap="square" lIns="0" tIns="0" rIns="0" bIns="0">
            <a:spAutoFit/>
          </a:bodyPr>
          <a:lstStyle/>
          <a:p>
            <a:pPr>
              <a:lnSpc>
                <a:spcPct val="106000"/>
              </a:lnSpc>
              <a:spcBef>
                <a:spcPts val="0"/>
              </a:spcBef>
              <a:spcAft>
                <a:spcPts val="300"/>
              </a:spcAft>
            </a:pPr>
            <a:r>
              <a:rPr sz="819" b="0">
                <a:solidFill>
                  <a:srgbClr val="B7CBE0"/>
                </a:solidFill>
                <a:latin typeface="Montserrat"/>
                <a:hlinkClick r:id="rId3"/>
              </a:rPr>
              <a:t>DOI 10.1016/j.watres.2024.122142</a:t>
            </a:r>
          </a:p>
        </p:txBody>
      </p:sp>
      <p:sp>
        <p:nvSpPr>
          <p:cNvPr id="17" name="TextBox 16"/>
          <p:cNvSpPr txBox="1"/>
          <p:nvPr/>
        </p:nvSpPr>
        <p:spPr>
          <a:xfrm>
            <a:off x="384048" y="4325112"/>
            <a:ext cx="8183879" cy="310896"/>
          </a:xfrm>
          <a:prstGeom prst="rect">
            <a:avLst/>
          </a:prstGeom>
          <a:noFill/>
        </p:spPr>
        <p:txBody>
          <a:bodyPr wrap="square" lIns="0" tIns="0" rIns="0" bIns="0">
            <a:spAutoFit/>
          </a:bodyPr>
          <a:lstStyle/>
          <a:p>
            <a:pPr>
              <a:lnSpc>
                <a:spcPct val="106000"/>
              </a:lnSpc>
              <a:spcBef>
                <a:spcPts val="0"/>
              </a:spcBef>
              <a:spcAft>
                <a:spcPts val="300"/>
              </a:spcAft>
            </a:pPr>
            <a:r>
              <a:rPr sz="900" b="1">
                <a:solidFill>
                  <a:srgbClr val="F1CB83"/>
                </a:solidFill>
                <a:latin typeface="Montserrat"/>
              </a:rPr>
              <a:t>EST. 120–210 h / 4–7 sem. Datos 40–70 h; GNN y validación 80–140 h. Decisión: condicional.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P2 · Palmitessa et al. (2022)</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Extended English synthesis, faithful to the published abstract. It is not a verbatim reproduction; DOI is clickable below.</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20</a:t>
            </a:r>
          </a:p>
        </p:txBody>
      </p:sp>
      <p:sp>
        <p:nvSpPr>
          <p:cNvPr id="8" name="TextBox 7"/>
          <p:cNvSpPr txBox="1"/>
          <p:nvPr/>
        </p:nvSpPr>
        <p:spPr>
          <a:xfrm>
            <a:off x="384048" y="1024128"/>
            <a:ext cx="5166360" cy="219456"/>
          </a:xfrm>
          <a:prstGeom prst="rect">
            <a:avLst/>
          </a:prstGeom>
          <a:noFill/>
        </p:spPr>
        <p:txBody>
          <a:bodyPr wrap="square" lIns="0" tIns="0" rIns="0" bIns="0">
            <a:spAutoFit/>
          </a:bodyPr>
          <a:lstStyle/>
          <a:p>
            <a:pPr>
              <a:lnSpc>
                <a:spcPct val="106000"/>
              </a:lnSpc>
              <a:spcBef>
                <a:spcPts val="0"/>
              </a:spcBef>
              <a:spcAft>
                <a:spcPts val="300"/>
              </a:spcAft>
            </a:pPr>
            <a:r>
              <a:rPr sz="1050" b="1">
                <a:solidFill>
                  <a:srgbClr val="8BC5FA"/>
                </a:solidFill>
                <a:latin typeface="Montserrat"/>
              </a:rPr>
              <a:t>EXTENDED ENGLISH ABSTRACT / SYNTHESIS</a:t>
            </a:r>
          </a:p>
        </p:txBody>
      </p:sp>
      <p:sp>
        <p:nvSpPr>
          <p:cNvPr id="9" name="TextBox 8"/>
          <p:cNvSpPr txBox="1"/>
          <p:nvPr/>
        </p:nvSpPr>
        <p:spPr>
          <a:xfrm>
            <a:off x="384048" y="1307592"/>
            <a:ext cx="5138928" cy="2496312"/>
          </a:xfrm>
          <a:prstGeom prst="rect">
            <a:avLst/>
          </a:prstGeom>
          <a:noFill/>
        </p:spPr>
        <p:txBody>
          <a:bodyPr wrap="square" lIns="0" tIns="0" rIns="0" bIns="0">
            <a:spAutoFit/>
          </a:bodyPr>
          <a:lstStyle/>
          <a:p>
            <a:pPr>
              <a:lnSpc>
                <a:spcPct val="106000"/>
              </a:lnSpc>
              <a:spcBef>
                <a:spcPts val="0"/>
              </a:spcBef>
              <a:spcAft>
                <a:spcPts val="300"/>
              </a:spcAft>
            </a:pPr>
            <a:r>
              <a:rPr sz="1045" b="0">
                <a:solidFill>
                  <a:srgbClr val="F7FAFE"/>
                </a:solidFill>
                <a:latin typeface="Montserrat"/>
              </a:rPr>
              <a:t>This work demonstrates physics-guided machine learning as a fast surrogate for urban-drainage hydraulics. The neural surrogate is trained from a limited collection of high-fidelity hydrodynamic simulations and preserves distributed predictions of water levels, pipe flows, and surcharge flows across all nodes and links. It is formulated autoregressively, with runoff as a boundary input and physical constraints that retain plausible states. In the reported cases, surrogate runs are one to two orders of magnitude faster than the high-fidelity model while time-series agreement is around R² = 0.9; training takes approximately one hour. The authors identify interactive design, real-time use, and future extension to other water systems as application areas, while noting that transfer learning and GNNs remain future opportunities rather than demonstrated cross-network transfer.</a:t>
            </a:r>
          </a:p>
        </p:txBody>
      </p:sp>
      <p:sp>
        <p:nvSpPr>
          <p:cNvPr id="10" name="TextBox 9"/>
          <p:cNvSpPr txBox="1"/>
          <p:nvPr/>
        </p:nvSpPr>
        <p:spPr>
          <a:xfrm>
            <a:off x="5760720" y="1024128"/>
            <a:ext cx="2834640" cy="384048"/>
          </a:xfrm>
          <a:prstGeom prst="rect">
            <a:avLst/>
          </a:prstGeom>
          <a:noFill/>
        </p:spPr>
        <p:txBody>
          <a:bodyPr wrap="square" lIns="0" tIns="0" rIns="0" bIns="0">
            <a:spAutoFit/>
          </a:bodyPr>
          <a:lstStyle/>
          <a:p>
            <a:pPr>
              <a:lnSpc>
                <a:spcPct val="106000"/>
              </a:lnSpc>
              <a:spcBef>
                <a:spcPts val="0"/>
              </a:spcBef>
              <a:spcAft>
                <a:spcPts val="300"/>
              </a:spcAft>
            </a:pPr>
            <a:r>
              <a:rPr sz="1019" b="1">
                <a:solidFill>
                  <a:srgbClr val="8BC5FA"/>
                </a:solidFill>
                <a:latin typeface="Montserrat"/>
              </a:rPr>
              <a:t>Water Research 223, 118972</a:t>
            </a:r>
          </a:p>
        </p:txBody>
      </p:sp>
      <p:sp>
        <p:nvSpPr>
          <p:cNvPr id="11" name="TextBox 10"/>
          <p:cNvSpPr txBox="1"/>
          <p:nvPr/>
        </p:nvSpPr>
        <p:spPr>
          <a:xfrm>
            <a:off x="5760720" y="1435608"/>
            <a:ext cx="2834640" cy="274320"/>
          </a:xfrm>
          <a:prstGeom prst="rect">
            <a:avLst/>
          </a:prstGeom>
          <a:noFill/>
        </p:spPr>
        <p:txBody>
          <a:bodyPr wrap="square" lIns="0" tIns="0" rIns="0" bIns="0">
            <a:spAutoFit/>
          </a:bodyPr>
          <a:lstStyle/>
          <a:p>
            <a:pPr>
              <a:lnSpc>
                <a:spcPct val="106000"/>
              </a:lnSpc>
              <a:spcBef>
                <a:spcPts val="0"/>
              </a:spcBef>
              <a:spcAft>
                <a:spcPts val="300"/>
              </a:spcAft>
            </a:pPr>
            <a:r>
              <a:rPr sz="1000" b="0">
                <a:solidFill>
                  <a:srgbClr val="B7CBE0"/>
                </a:solidFill>
                <a:latin typeface="Montserrat"/>
              </a:rPr>
              <a:t>Technical University of Denmark</a:t>
            </a:r>
          </a:p>
        </p:txBody>
      </p:sp>
      <p:sp>
        <p:nvSpPr>
          <p:cNvPr id="12" name="TextBox 11"/>
          <p:cNvSpPr txBox="1"/>
          <p:nvPr/>
        </p:nvSpPr>
        <p:spPr>
          <a:xfrm>
            <a:off x="5760720" y="181051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Transfer / extrapolation</a:t>
            </a:r>
          </a:p>
        </p:txBody>
      </p:sp>
      <p:sp>
        <p:nvSpPr>
          <p:cNvPr id="13" name="TextBox 12"/>
          <p:cNvSpPr txBox="1"/>
          <p:nvPr/>
        </p:nvSpPr>
        <p:spPr>
          <a:xfrm>
            <a:off x="5760720" y="2039112"/>
            <a:ext cx="2816352" cy="74980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NO prueba transferencia de pesos. Dos sistemas evalúan la metodología; no demuestran un modelo universal sin reentrenar.</a:t>
            </a:r>
          </a:p>
        </p:txBody>
      </p:sp>
      <p:sp>
        <p:nvSpPr>
          <p:cNvPr id="14" name="TextBox 13"/>
          <p:cNvSpPr txBox="1"/>
          <p:nvPr/>
        </p:nvSpPr>
        <p:spPr>
          <a:xfrm>
            <a:off x="5760720" y="286207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Value for this thesis</a:t>
            </a:r>
          </a:p>
        </p:txBody>
      </p:sp>
      <p:sp>
        <p:nvSpPr>
          <p:cNvPr id="15" name="TextBox 14"/>
          <p:cNvSpPr txBox="1"/>
          <p:nvPr/>
        </p:nvSpPr>
        <p:spPr>
          <a:xfrm>
            <a:off x="5760720" y="3090672"/>
            <a:ext cx="2816352" cy="65836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Muy útil para volumen por nodo, extremos y restricciones físicas. Cambiar MIKE 1D por SWMM sería una adaptación.</a:t>
            </a:r>
          </a:p>
        </p:txBody>
      </p:sp>
      <p:sp>
        <p:nvSpPr>
          <p:cNvPr id="16" name="TextBox 15"/>
          <p:cNvSpPr txBox="1"/>
          <p:nvPr/>
        </p:nvSpPr>
        <p:spPr>
          <a:xfrm>
            <a:off x="384048" y="4041648"/>
            <a:ext cx="6949440" cy="146304"/>
          </a:xfrm>
          <a:prstGeom prst="rect">
            <a:avLst/>
          </a:prstGeom>
          <a:noFill/>
        </p:spPr>
        <p:txBody>
          <a:bodyPr wrap="square" lIns="0" tIns="0" rIns="0" bIns="0">
            <a:spAutoFit/>
          </a:bodyPr>
          <a:lstStyle/>
          <a:p>
            <a:pPr>
              <a:lnSpc>
                <a:spcPct val="106000"/>
              </a:lnSpc>
              <a:spcBef>
                <a:spcPts val="0"/>
              </a:spcBef>
              <a:spcAft>
                <a:spcPts val="300"/>
              </a:spcAft>
            </a:pPr>
            <a:r>
              <a:rPr sz="819" b="0">
                <a:solidFill>
                  <a:srgbClr val="B7CBE0"/>
                </a:solidFill>
                <a:latin typeface="Montserrat"/>
                <a:hlinkClick r:id="rId3"/>
              </a:rPr>
              <a:t>DOI 10.1016/j.watres.2022.118972</a:t>
            </a:r>
          </a:p>
        </p:txBody>
      </p:sp>
      <p:sp>
        <p:nvSpPr>
          <p:cNvPr id="17" name="TextBox 16"/>
          <p:cNvSpPr txBox="1"/>
          <p:nvPr/>
        </p:nvSpPr>
        <p:spPr>
          <a:xfrm>
            <a:off x="384048" y="4325112"/>
            <a:ext cx="8183879" cy="310896"/>
          </a:xfrm>
          <a:prstGeom prst="rect">
            <a:avLst/>
          </a:prstGeom>
          <a:noFill/>
        </p:spPr>
        <p:txBody>
          <a:bodyPr wrap="square" lIns="0" tIns="0" rIns="0" bIns="0">
            <a:spAutoFit/>
          </a:bodyPr>
          <a:lstStyle/>
          <a:p>
            <a:pPr>
              <a:lnSpc>
                <a:spcPct val="106000"/>
              </a:lnSpc>
              <a:spcBef>
                <a:spcPts val="0"/>
              </a:spcBef>
              <a:spcAft>
                <a:spcPts val="300"/>
              </a:spcAft>
            </a:pPr>
            <a:r>
              <a:rPr sz="900" b="1">
                <a:solidFill>
                  <a:srgbClr val="F1CB83"/>
                </a:solidFill>
                <a:latin typeface="Montserrat"/>
              </a:rPr>
              <a:t>EST. 120–180 h / 4–6 sem. Datos 30–60 h; adaptación/pruebas 90–120 h. Decisión: usar ideas, no replicar aún.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P3 · Garzón et al. (2024)</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Extended English synthesis, faithful to the published abstract. It is not a verbatim reproduction; DOI is clickable below.</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21</a:t>
            </a:r>
          </a:p>
        </p:txBody>
      </p:sp>
      <p:sp>
        <p:nvSpPr>
          <p:cNvPr id="8" name="TextBox 7"/>
          <p:cNvSpPr txBox="1"/>
          <p:nvPr/>
        </p:nvSpPr>
        <p:spPr>
          <a:xfrm>
            <a:off x="384048" y="1024128"/>
            <a:ext cx="5166360" cy="219456"/>
          </a:xfrm>
          <a:prstGeom prst="rect">
            <a:avLst/>
          </a:prstGeom>
          <a:noFill/>
        </p:spPr>
        <p:txBody>
          <a:bodyPr wrap="square" lIns="0" tIns="0" rIns="0" bIns="0">
            <a:spAutoFit/>
          </a:bodyPr>
          <a:lstStyle/>
          <a:p>
            <a:pPr>
              <a:lnSpc>
                <a:spcPct val="106000"/>
              </a:lnSpc>
              <a:spcBef>
                <a:spcPts val="0"/>
              </a:spcBef>
              <a:spcAft>
                <a:spcPts val="300"/>
              </a:spcAft>
            </a:pPr>
            <a:r>
              <a:rPr sz="1050" b="1">
                <a:solidFill>
                  <a:srgbClr val="8BC5FA"/>
                </a:solidFill>
                <a:latin typeface="Montserrat"/>
              </a:rPr>
              <a:t>EXTENDED ENGLISH ABSTRACT / SYNTHESIS</a:t>
            </a:r>
          </a:p>
        </p:txBody>
      </p:sp>
      <p:sp>
        <p:nvSpPr>
          <p:cNvPr id="9" name="TextBox 8"/>
          <p:cNvSpPr txBox="1"/>
          <p:nvPr/>
        </p:nvSpPr>
        <p:spPr>
          <a:xfrm>
            <a:off x="384048" y="1307592"/>
            <a:ext cx="5138928" cy="2496312"/>
          </a:xfrm>
          <a:prstGeom prst="rect">
            <a:avLst/>
          </a:prstGeom>
          <a:noFill/>
        </p:spPr>
        <p:txBody>
          <a:bodyPr wrap="square" lIns="0" tIns="0" rIns="0" bIns="0">
            <a:spAutoFit/>
          </a:bodyPr>
          <a:lstStyle/>
          <a:p>
            <a:pPr>
              <a:lnSpc>
                <a:spcPct val="106000"/>
              </a:lnSpc>
              <a:spcBef>
                <a:spcPts val="0"/>
              </a:spcBef>
              <a:spcAft>
                <a:spcPts val="300"/>
              </a:spcAft>
            </a:pPr>
            <a:r>
              <a:rPr sz="1045" b="0">
                <a:solidFill>
                  <a:srgbClr val="F7FAFE"/>
                </a:solidFill>
                <a:latin typeface="Montserrat"/>
              </a:rPr>
              <a:t>This paper proposes an autoregressive GNN metamodel of EPA SWMM to estimate hydraulic heads in stormwater networks. It addresses the data cost of conventional fully connected neural networks by incorporating temporal, physical, and graph-relational inductive biases. The model uses topology, pipe information, runoff histories, and recent states to predict future nodal heads, then feeds predictions back through time. The study reports that the GNN reaches high accuracy and speed-up using fewer examples than fully connected baselines. Its transfer test applies the model to an unseen section of the same drainage network and obtains accurate head predictions. The contribution is therefore important for data-efficient topology-aware modelling, but it does not establish zero-shot generalization to a different city or independently designed network, and its output is hydraulic head rather than event-total overflow volume.</a:t>
            </a:r>
          </a:p>
        </p:txBody>
      </p:sp>
      <p:sp>
        <p:nvSpPr>
          <p:cNvPr id="10" name="TextBox 9"/>
          <p:cNvSpPr txBox="1"/>
          <p:nvPr/>
        </p:nvSpPr>
        <p:spPr>
          <a:xfrm>
            <a:off x="5760720" y="1024128"/>
            <a:ext cx="2834640" cy="384048"/>
          </a:xfrm>
          <a:prstGeom prst="rect">
            <a:avLst/>
          </a:prstGeom>
          <a:noFill/>
        </p:spPr>
        <p:txBody>
          <a:bodyPr wrap="square" lIns="0" tIns="0" rIns="0" bIns="0">
            <a:spAutoFit/>
          </a:bodyPr>
          <a:lstStyle/>
          <a:p>
            <a:pPr>
              <a:lnSpc>
                <a:spcPct val="106000"/>
              </a:lnSpc>
              <a:spcBef>
                <a:spcPts val="0"/>
              </a:spcBef>
              <a:spcAft>
                <a:spcPts val="300"/>
              </a:spcAft>
            </a:pPr>
            <a:r>
              <a:rPr sz="1019" b="1">
                <a:solidFill>
                  <a:srgbClr val="8BC5FA"/>
                </a:solidFill>
                <a:latin typeface="Montserrat"/>
              </a:rPr>
              <a:t>Water Research 266, 122396</a:t>
            </a:r>
          </a:p>
        </p:txBody>
      </p:sp>
      <p:sp>
        <p:nvSpPr>
          <p:cNvPr id="11" name="TextBox 10"/>
          <p:cNvSpPr txBox="1"/>
          <p:nvPr/>
        </p:nvSpPr>
        <p:spPr>
          <a:xfrm>
            <a:off x="5760720" y="1435608"/>
            <a:ext cx="2834640" cy="274320"/>
          </a:xfrm>
          <a:prstGeom prst="rect">
            <a:avLst/>
          </a:prstGeom>
          <a:noFill/>
        </p:spPr>
        <p:txBody>
          <a:bodyPr wrap="square" lIns="0" tIns="0" rIns="0" bIns="0">
            <a:spAutoFit/>
          </a:bodyPr>
          <a:lstStyle/>
          <a:p>
            <a:pPr>
              <a:lnSpc>
                <a:spcPct val="106000"/>
              </a:lnSpc>
              <a:spcBef>
                <a:spcPts val="0"/>
              </a:spcBef>
              <a:spcAft>
                <a:spcPts val="300"/>
              </a:spcAft>
            </a:pPr>
            <a:r>
              <a:rPr sz="1000" b="0">
                <a:solidFill>
                  <a:srgbClr val="B7CBE0"/>
                </a:solidFill>
                <a:latin typeface="Montserrat"/>
              </a:rPr>
              <a:t>TU Delft</a:t>
            </a:r>
          </a:p>
        </p:txBody>
      </p:sp>
      <p:sp>
        <p:nvSpPr>
          <p:cNvPr id="12" name="TextBox 11"/>
          <p:cNvSpPr txBox="1"/>
          <p:nvPr/>
        </p:nvSpPr>
        <p:spPr>
          <a:xfrm>
            <a:off x="5760720" y="181051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Transfer / extrapolation</a:t>
            </a:r>
          </a:p>
        </p:txBody>
      </p:sp>
      <p:sp>
        <p:nvSpPr>
          <p:cNvPr id="13" name="TextBox 12"/>
          <p:cNvSpPr txBox="1"/>
          <p:nvPr/>
        </p:nvSpPr>
        <p:spPr>
          <a:xfrm>
            <a:off x="5760720" y="2039112"/>
            <a:ext cx="2816352" cy="74980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PARCIAL: zero-shot a una subred no vista del mismo sistema. No demuestra transferencia a otra ciudad o red independiente.</a:t>
            </a:r>
          </a:p>
        </p:txBody>
      </p:sp>
      <p:sp>
        <p:nvSpPr>
          <p:cNvPr id="14" name="TextBox 13"/>
          <p:cNvSpPr txBox="1"/>
          <p:nvPr/>
        </p:nvSpPr>
        <p:spPr>
          <a:xfrm>
            <a:off x="5760720" y="286207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Value for this thesis</a:t>
            </a:r>
          </a:p>
        </p:txBody>
      </p:sp>
      <p:sp>
        <p:nvSpPr>
          <p:cNvPr id="15" name="TextBox 14"/>
          <p:cNvSpPr txBox="1"/>
          <p:nvPr/>
        </p:nvSpPr>
        <p:spPr>
          <a:xfrm>
            <a:off x="5760720" y="3090672"/>
            <a:ext cx="2816352" cy="65836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Código y datos públicos. Buen punto de partida GNN; predecir niveles no resuelve por sí solo nuestro volumen desbordado.</a:t>
            </a:r>
          </a:p>
        </p:txBody>
      </p:sp>
      <p:sp>
        <p:nvSpPr>
          <p:cNvPr id="16" name="TextBox 15"/>
          <p:cNvSpPr txBox="1"/>
          <p:nvPr/>
        </p:nvSpPr>
        <p:spPr>
          <a:xfrm>
            <a:off x="384048" y="4041648"/>
            <a:ext cx="6949440" cy="146304"/>
          </a:xfrm>
          <a:prstGeom prst="rect">
            <a:avLst/>
          </a:prstGeom>
          <a:noFill/>
        </p:spPr>
        <p:txBody>
          <a:bodyPr wrap="square" lIns="0" tIns="0" rIns="0" bIns="0">
            <a:spAutoFit/>
          </a:bodyPr>
          <a:lstStyle/>
          <a:p>
            <a:pPr>
              <a:lnSpc>
                <a:spcPct val="106000"/>
              </a:lnSpc>
              <a:spcBef>
                <a:spcPts val="0"/>
              </a:spcBef>
              <a:spcAft>
                <a:spcPts val="300"/>
              </a:spcAft>
            </a:pPr>
            <a:r>
              <a:rPr sz="819" b="0">
                <a:solidFill>
                  <a:srgbClr val="B7CBE0"/>
                </a:solidFill>
                <a:latin typeface="Montserrat"/>
                <a:hlinkClick r:id="rId3"/>
              </a:rPr>
              <a:t>DOI 10.1016/j.watres.2024.122396</a:t>
            </a:r>
          </a:p>
        </p:txBody>
      </p:sp>
      <p:sp>
        <p:nvSpPr>
          <p:cNvPr id="17" name="TextBox 16"/>
          <p:cNvSpPr txBox="1"/>
          <p:nvPr/>
        </p:nvSpPr>
        <p:spPr>
          <a:xfrm>
            <a:off x="384048" y="4325112"/>
            <a:ext cx="8183879" cy="310896"/>
          </a:xfrm>
          <a:prstGeom prst="rect">
            <a:avLst/>
          </a:prstGeom>
          <a:noFill/>
        </p:spPr>
        <p:txBody>
          <a:bodyPr wrap="square" lIns="0" tIns="0" rIns="0" bIns="0">
            <a:spAutoFit/>
          </a:bodyPr>
          <a:lstStyle/>
          <a:p>
            <a:pPr>
              <a:lnSpc>
                <a:spcPct val="106000"/>
              </a:lnSpc>
              <a:spcBef>
                <a:spcPts val="0"/>
              </a:spcBef>
              <a:spcAft>
                <a:spcPts val="300"/>
              </a:spcAft>
            </a:pPr>
            <a:r>
              <a:rPr sz="900" b="1">
                <a:solidFill>
                  <a:srgbClr val="F1CB83"/>
                </a:solidFill>
                <a:latin typeface="Montserrat"/>
              </a:rPr>
              <a:t>EST. 120–240 h / 4–8 sem. Datos 30–60 h; GNN y salida volumen 90–180 h. Decisión: segunda etapa.</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P4 · Garzón et al. (2026)</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Extended English synthesis, faithful to the published abstract. It is not a verbatim reproduction; DOI is clickable below.</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22</a:t>
            </a:r>
          </a:p>
        </p:txBody>
      </p:sp>
      <p:sp>
        <p:nvSpPr>
          <p:cNvPr id="8" name="TextBox 7"/>
          <p:cNvSpPr txBox="1"/>
          <p:nvPr/>
        </p:nvSpPr>
        <p:spPr>
          <a:xfrm>
            <a:off x="384048" y="1024128"/>
            <a:ext cx="5166360" cy="219456"/>
          </a:xfrm>
          <a:prstGeom prst="rect">
            <a:avLst/>
          </a:prstGeom>
          <a:noFill/>
        </p:spPr>
        <p:txBody>
          <a:bodyPr wrap="square" lIns="0" tIns="0" rIns="0" bIns="0">
            <a:spAutoFit/>
          </a:bodyPr>
          <a:lstStyle/>
          <a:p>
            <a:pPr>
              <a:lnSpc>
                <a:spcPct val="106000"/>
              </a:lnSpc>
              <a:spcBef>
                <a:spcPts val="0"/>
              </a:spcBef>
              <a:spcAft>
                <a:spcPts val="300"/>
              </a:spcAft>
            </a:pPr>
            <a:r>
              <a:rPr sz="1050" b="1">
                <a:solidFill>
                  <a:srgbClr val="8BC5FA"/>
                </a:solidFill>
                <a:latin typeface="Montserrat"/>
              </a:rPr>
              <a:t>EXTENDED ENGLISH ABSTRACT / SYNTHESIS</a:t>
            </a:r>
          </a:p>
        </p:txBody>
      </p:sp>
      <p:sp>
        <p:nvSpPr>
          <p:cNvPr id="9" name="TextBox 8"/>
          <p:cNvSpPr txBox="1"/>
          <p:nvPr/>
        </p:nvSpPr>
        <p:spPr>
          <a:xfrm>
            <a:off x="384048" y="1307592"/>
            <a:ext cx="5138928" cy="2496312"/>
          </a:xfrm>
          <a:prstGeom prst="rect">
            <a:avLst/>
          </a:prstGeom>
          <a:noFill/>
        </p:spPr>
        <p:txBody>
          <a:bodyPr wrap="square" lIns="0" tIns="0" rIns="0" bIns="0">
            <a:spAutoFit/>
          </a:bodyPr>
          <a:lstStyle/>
          <a:p>
            <a:pPr>
              <a:lnSpc>
                <a:spcPct val="106000"/>
              </a:lnSpc>
              <a:spcBef>
                <a:spcPts val="0"/>
              </a:spcBef>
              <a:spcAft>
                <a:spcPts val="300"/>
              </a:spcAft>
            </a:pPr>
            <a:r>
              <a:rPr sz="1045" b="0">
                <a:solidFill>
                  <a:srgbClr val="F7FAFE"/>
                </a:solidFill>
                <a:latin typeface="Montserrat"/>
              </a:rPr>
              <a:t>This study systematically evaluates GNN components for urban-drainage metamodels: graph-layer type, processor depth, and multi-step prediction window. It also tests transfer across two hydraulically distinct Dutch drainage networks and across tasks, from hydraulic-head prediction to flow prediction. Moderate depth and ten-step windows achieved accurate heads and flows, while GPU-parallel simulations produced large speed-ups relative to SWMM. Crucially for this thesis, direct zero-shot transfer is not presented as sufficient: normalization and full fine-tuning on the target are required for cross-domain adaptation. Joint training across the two networks learns useful shared representations, but it is not proof of performance on a third unseen network. The paper gives a concrete protocol for comparing pretraining, zero-shot use, and fine-tuning instead of treating them as equivalent.</a:t>
            </a:r>
          </a:p>
        </p:txBody>
      </p:sp>
      <p:sp>
        <p:nvSpPr>
          <p:cNvPr id="10" name="TextBox 9"/>
          <p:cNvSpPr txBox="1"/>
          <p:nvPr/>
        </p:nvSpPr>
        <p:spPr>
          <a:xfrm>
            <a:off x="5760720" y="1024128"/>
            <a:ext cx="2834640" cy="384048"/>
          </a:xfrm>
          <a:prstGeom prst="rect">
            <a:avLst/>
          </a:prstGeom>
          <a:noFill/>
        </p:spPr>
        <p:txBody>
          <a:bodyPr wrap="square" lIns="0" tIns="0" rIns="0" bIns="0">
            <a:spAutoFit/>
          </a:bodyPr>
          <a:lstStyle/>
          <a:p>
            <a:pPr>
              <a:lnSpc>
                <a:spcPct val="106000"/>
              </a:lnSpc>
              <a:spcBef>
                <a:spcPts val="0"/>
              </a:spcBef>
              <a:spcAft>
                <a:spcPts val="300"/>
              </a:spcAft>
            </a:pPr>
            <a:r>
              <a:rPr sz="1019" b="1">
                <a:solidFill>
                  <a:srgbClr val="8BC5FA"/>
                </a:solidFill>
                <a:latin typeface="Montserrat"/>
              </a:rPr>
              <a:t>Water Research 290, 125079</a:t>
            </a:r>
          </a:p>
        </p:txBody>
      </p:sp>
      <p:sp>
        <p:nvSpPr>
          <p:cNvPr id="11" name="TextBox 10"/>
          <p:cNvSpPr txBox="1"/>
          <p:nvPr/>
        </p:nvSpPr>
        <p:spPr>
          <a:xfrm>
            <a:off x="5760720" y="1435608"/>
            <a:ext cx="2834640" cy="274320"/>
          </a:xfrm>
          <a:prstGeom prst="rect">
            <a:avLst/>
          </a:prstGeom>
          <a:noFill/>
        </p:spPr>
        <p:txBody>
          <a:bodyPr wrap="square" lIns="0" tIns="0" rIns="0" bIns="0">
            <a:spAutoFit/>
          </a:bodyPr>
          <a:lstStyle/>
          <a:p>
            <a:pPr>
              <a:lnSpc>
                <a:spcPct val="106000"/>
              </a:lnSpc>
              <a:spcBef>
                <a:spcPts val="0"/>
              </a:spcBef>
              <a:spcAft>
                <a:spcPts val="300"/>
              </a:spcAft>
            </a:pPr>
            <a:r>
              <a:rPr sz="1000" b="0">
                <a:solidFill>
                  <a:srgbClr val="B7CBE0"/>
                </a:solidFill>
                <a:latin typeface="Montserrat"/>
              </a:rPr>
              <a:t>TU Delft</a:t>
            </a:r>
          </a:p>
        </p:txBody>
      </p:sp>
      <p:sp>
        <p:nvSpPr>
          <p:cNvPr id="12" name="TextBox 11"/>
          <p:cNvSpPr txBox="1"/>
          <p:nvPr/>
        </p:nvSpPr>
        <p:spPr>
          <a:xfrm>
            <a:off x="5760720" y="181051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Transfer / extrapolation</a:t>
            </a:r>
          </a:p>
        </p:txBody>
      </p:sp>
      <p:sp>
        <p:nvSpPr>
          <p:cNvPr id="13" name="TextBox 12"/>
          <p:cNvSpPr txBox="1"/>
          <p:nvPr/>
        </p:nvSpPr>
        <p:spPr>
          <a:xfrm>
            <a:off x="5760720" y="2039112"/>
            <a:ext cx="2816352" cy="74980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SÍ, CON ADAPTACIÓN entre dos redes. Zero-shot fue pobre; fine-tuning recupera desempeño. Entrenamiento conjunto no prueba una tercera red desconocida.</a:t>
            </a:r>
          </a:p>
        </p:txBody>
      </p:sp>
      <p:sp>
        <p:nvSpPr>
          <p:cNvPr id="14" name="TextBox 13"/>
          <p:cNvSpPr txBox="1"/>
          <p:nvPr/>
        </p:nvSpPr>
        <p:spPr>
          <a:xfrm>
            <a:off x="5760720" y="286207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Value for this thesis</a:t>
            </a:r>
          </a:p>
        </p:txBody>
      </p:sp>
      <p:sp>
        <p:nvSpPr>
          <p:cNvPr id="15" name="TextBox 14"/>
          <p:cNvSpPr txBox="1"/>
          <p:nvPr/>
        </p:nvSpPr>
        <p:spPr>
          <a:xfrm>
            <a:off x="5760720" y="3090672"/>
            <a:ext cx="2816352" cy="65836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Referencia para una futura transferencia. Exige varias redes y adapta cargas/caudales, no directamente volumen de inundación.</a:t>
            </a:r>
          </a:p>
        </p:txBody>
      </p:sp>
      <p:sp>
        <p:nvSpPr>
          <p:cNvPr id="16" name="TextBox 15"/>
          <p:cNvSpPr txBox="1"/>
          <p:nvPr/>
        </p:nvSpPr>
        <p:spPr>
          <a:xfrm>
            <a:off x="384048" y="4041648"/>
            <a:ext cx="6949440" cy="146304"/>
          </a:xfrm>
          <a:prstGeom prst="rect">
            <a:avLst/>
          </a:prstGeom>
          <a:noFill/>
        </p:spPr>
        <p:txBody>
          <a:bodyPr wrap="square" lIns="0" tIns="0" rIns="0" bIns="0">
            <a:spAutoFit/>
          </a:bodyPr>
          <a:lstStyle/>
          <a:p>
            <a:pPr>
              <a:lnSpc>
                <a:spcPct val="106000"/>
              </a:lnSpc>
              <a:spcBef>
                <a:spcPts val="0"/>
              </a:spcBef>
              <a:spcAft>
                <a:spcPts val="300"/>
              </a:spcAft>
            </a:pPr>
            <a:r>
              <a:rPr sz="819" b="0">
                <a:solidFill>
                  <a:srgbClr val="B7CBE0"/>
                </a:solidFill>
                <a:latin typeface="Montserrat"/>
                <a:hlinkClick r:id="rId3"/>
              </a:rPr>
              <a:t>DOI 10.1016/j.watres.2025.125079</a:t>
            </a:r>
          </a:p>
        </p:txBody>
      </p:sp>
      <p:sp>
        <p:nvSpPr>
          <p:cNvPr id="17" name="TextBox 16"/>
          <p:cNvSpPr txBox="1"/>
          <p:nvPr/>
        </p:nvSpPr>
        <p:spPr>
          <a:xfrm>
            <a:off x="384048" y="4325112"/>
            <a:ext cx="8183879" cy="310896"/>
          </a:xfrm>
          <a:prstGeom prst="rect">
            <a:avLst/>
          </a:prstGeom>
          <a:noFill/>
        </p:spPr>
        <p:txBody>
          <a:bodyPr wrap="square" lIns="0" tIns="0" rIns="0" bIns="0">
            <a:spAutoFit/>
          </a:bodyPr>
          <a:lstStyle/>
          <a:p>
            <a:pPr>
              <a:lnSpc>
                <a:spcPct val="106000"/>
              </a:lnSpc>
              <a:spcBef>
                <a:spcPts val="0"/>
              </a:spcBef>
              <a:spcAft>
                <a:spcPts val="300"/>
              </a:spcAft>
            </a:pPr>
            <a:r>
              <a:rPr sz="900" b="1">
                <a:solidFill>
                  <a:srgbClr val="F1CB83"/>
                </a:solidFill>
                <a:latin typeface="Montserrat"/>
              </a:rPr>
              <a:t>EST. 180–300 h / 6–10 sem., sin conseguir redes. Datos 60–100 h; transferencia 120–200 h. Decisión: posponer.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P5 · Brazão et al. (2026)</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Extended English synthesis, faithful to the published abstract. It is not a verbatim reproduction; DOI is clickable below.</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23</a:t>
            </a:r>
          </a:p>
        </p:txBody>
      </p:sp>
      <p:sp>
        <p:nvSpPr>
          <p:cNvPr id="8" name="TextBox 7"/>
          <p:cNvSpPr txBox="1"/>
          <p:nvPr/>
        </p:nvSpPr>
        <p:spPr>
          <a:xfrm>
            <a:off x="384048" y="1024128"/>
            <a:ext cx="5166360" cy="219456"/>
          </a:xfrm>
          <a:prstGeom prst="rect">
            <a:avLst/>
          </a:prstGeom>
          <a:noFill/>
        </p:spPr>
        <p:txBody>
          <a:bodyPr wrap="square" lIns="0" tIns="0" rIns="0" bIns="0">
            <a:spAutoFit/>
          </a:bodyPr>
          <a:lstStyle/>
          <a:p>
            <a:pPr>
              <a:lnSpc>
                <a:spcPct val="106000"/>
              </a:lnSpc>
              <a:spcBef>
                <a:spcPts val="0"/>
              </a:spcBef>
              <a:spcAft>
                <a:spcPts val="300"/>
              </a:spcAft>
            </a:pPr>
            <a:r>
              <a:rPr sz="1050" b="1">
                <a:solidFill>
                  <a:srgbClr val="8BC5FA"/>
                </a:solidFill>
                <a:latin typeface="Montserrat"/>
              </a:rPr>
              <a:t>EXTENDED ENGLISH ABSTRACT / SYNTHESIS</a:t>
            </a:r>
          </a:p>
        </p:txBody>
      </p:sp>
      <p:sp>
        <p:nvSpPr>
          <p:cNvPr id="9" name="TextBox 8"/>
          <p:cNvSpPr txBox="1"/>
          <p:nvPr/>
        </p:nvSpPr>
        <p:spPr>
          <a:xfrm>
            <a:off x="384048" y="1307592"/>
            <a:ext cx="5138928" cy="2496312"/>
          </a:xfrm>
          <a:prstGeom prst="rect">
            <a:avLst/>
          </a:prstGeom>
          <a:noFill/>
        </p:spPr>
        <p:txBody>
          <a:bodyPr wrap="square" lIns="0" tIns="0" rIns="0" bIns="0">
            <a:spAutoFit/>
          </a:bodyPr>
          <a:lstStyle/>
          <a:p>
            <a:pPr>
              <a:lnSpc>
                <a:spcPct val="106000"/>
              </a:lnSpc>
              <a:spcBef>
                <a:spcPts val="0"/>
              </a:spcBef>
              <a:spcAft>
                <a:spcPts val="300"/>
              </a:spcAft>
            </a:pPr>
            <a:r>
              <a:rPr sz="1045" b="0">
                <a:solidFill>
                  <a:srgbClr val="F7FAFE"/>
                </a:solidFill>
                <a:latin typeface="Montserrat"/>
              </a:rPr>
              <a:t>This paper evaluates MLP surrogate models trained from SWMM simulations to estimate total flood volume and maximum outflow for decentralized detention-system design. The models include detention capacity, outlet dimensions, spatial distribution of storage units, and rainfall descriptors, addressing design variables omitted by earlier end-of-pipe studies. A real urban catchment is simulated under multiple detention and rainfall scenarios; the authors evaluate dataset size and network architecture before embedding the models in multiobjective optimization. Reported errors are below 4% MAPE for maximum outflow in all rainfall scenarios and below 15% MAPE for total flood volume in most scenarios. Moving from 20,000 to 50,000 samples gave only marginal gains, whereas deeper MLPs improved accuracy until overfitting appeared. The surrogate optimization reduced computational time by about 98.4% against equivalent SWMM optimization.</a:t>
            </a:r>
          </a:p>
        </p:txBody>
      </p:sp>
      <p:sp>
        <p:nvSpPr>
          <p:cNvPr id="10" name="TextBox 9"/>
          <p:cNvSpPr txBox="1"/>
          <p:nvPr/>
        </p:nvSpPr>
        <p:spPr>
          <a:xfrm>
            <a:off x="5760720" y="1024128"/>
            <a:ext cx="2834640" cy="384048"/>
          </a:xfrm>
          <a:prstGeom prst="rect">
            <a:avLst/>
          </a:prstGeom>
          <a:noFill/>
        </p:spPr>
        <p:txBody>
          <a:bodyPr wrap="square" lIns="0" tIns="0" rIns="0" bIns="0">
            <a:spAutoFit/>
          </a:bodyPr>
          <a:lstStyle/>
          <a:p>
            <a:pPr>
              <a:lnSpc>
                <a:spcPct val="106000"/>
              </a:lnSpc>
              <a:spcBef>
                <a:spcPts val="0"/>
              </a:spcBef>
              <a:spcAft>
                <a:spcPts val="300"/>
              </a:spcAft>
            </a:pPr>
            <a:r>
              <a:rPr sz="1019" b="1">
                <a:solidFill>
                  <a:srgbClr val="8BC5FA"/>
                </a:solidFill>
                <a:latin typeface="Montserrat"/>
              </a:rPr>
              <a:t>J. Water Resources Planning and Management (ASCE), 152(11)</a:t>
            </a:r>
          </a:p>
        </p:txBody>
      </p:sp>
      <p:sp>
        <p:nvSpPr>
          <p:cNvPr id="11" name="TextBox 10"/>
          <p:cNvSpPr txBox="1"/>
          <p:nvPr/>
        </p:nvSpPr>
        <p:spPr>
          <a:xfrm>
            <a:off x="5760720" y="1435608"/>
            <a:ext cx="2834640" cy="274320"/>
          </a:xfrm>
          <a:prstGeom prst="rect">
            <a:avLst/>
          </a:prstGeom>
          <a:noFill/>
        </p:spPr>
        <p:txBody>
          <a:bodyPr wrap="square" lIns="0" tIns="0" rIns="0" bIns="0">
            <a:spAutoFit/>
          </a:bodyPr>
          <a:lstStyle/>
          <a:p>
            <a:pPr>
              <a:lnSpc>
                <a:spcPct val="106000"/>
              </a:lnSpc>
              <a:spcBef>
                <a:spcPts val="0"/>
              </a:spcBef>
              <a:spcAft>
                <a:spcPts val="300"/>
              </a:spcAft>
            </a:pPr>
            <a:r>
              <a:rPr sz="1000" b="0">
                <a:solidFill>
                  <a:srgbClr val="B7CBE0"/>
                </a:solidFill>
                <a:latin typeface="Montserrat"/>
              </a:rPr>
              <a:t>U. Federal de Paraíba / U. de Brasília</a:t>
            </a:r>
          </a:p>
        </p:txBody>
      </p:sp>
      <p:sp>
        <p:nvSpPr>
          <p:cNvPr id="12" name="TextBox 11"/>
          <p:cNvSpPr txBox="1"/>
          <p:nvPr/>
        </p:nvSpPr>
        <p:spPr>
          <a:xfrm>
            <a:off x="5760720" y="181051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Transfer / extrapolation</a:t>
            </a:r>
          </a:p>
        </p:txBody>
      </p:sp>
      <p:sp>
        <p:nvSpPr>
          <p:cNvPr id="13" name="TextBox 12"/>
          <p:cNvSpPr txBox="1"/>
          <p:nvPr/>
        </p:nvSpPr>
        <p:spPr>
          <a:xfrm>
            <a:off x="5760720" y="2039112"/>
            <a:ext cx="2816352" cy="74980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NO documentada en el resumen disponible. Volumen total reportado; no confirmar salida por nodo ni transferencia sin texto completo.</a:t>
            </a:r>
          </a:p>
        </p:txBody>
      </p:sp>
      <p:sp>
        <p:nvSpPr>
          <p:cNvPr id="14" name="TextBox 13"/>
          <p:cNvSpPr txBox="1"/>
          <p:nvPr/>
        </p:nvSpPr>
        <p:spPr>
          <a:xfrm>
            <a:off x="5760720" y="2862072"/>
            <a:ext cx="2816352" cy="201168"/>
          </a:xfrm>
          <a:prstGeom prst="rect">
            <a:avLst/>
          </a:prstGeom>
          <a:noFill/>
        </p:spPr>
        <p:txBody>
          <a:bodyPr wrap="square" lIns="0" tIns="0" rIns="0" bIns="0">
            <a:spAutoFit/>
          </a:bodyPr>
          <a:lstStyle/>
          <a:p>
            <a:pPr>
              <a:lnSpc>
                <a:spcPct val="106000"/>
              </a:lnSpc>
              <a:spcBef>
                <a:spcPts val="0"/>
              </a:spcBef>
              <a:spcAft>
                <a:spcPts val="300"/>
              </a:spcAft>
            </a:pPr>
            <a:r>
              <a:rPr sz="1000" b="1">
                <a:solidFill>
                  <a:srgbClr val="8BC5FA"/>
                </a:solidFill>
                <a:latin typeface="Montserrat"/>
              </a:rPr>
              <a:t>Value for this thesis</a:t>
            </a:r>
          </a:p>
        </p:txBody>
      </p:sp>
      <p:sp>
        <p:nvSpPr>
          <p:cNvPr id="15" name="TextBox 14"/>
          <p:cNvSpPr txBox="1"/>
          <p:nvPr/>
        </p:nvSpPr>
        <p:spPr>
          <a:xfrm>
            <a:off x="5760720" y="3090672"/>
            <a:ext cx="2816352" cy="658368"/>
          </a:xfrm>
          <a:prstGeom prst="rect">
            <a:avLst/>
          </a:prstGeom>
          <a:noFill/>
        </p:spPr>
        <p:txBody>
          <a:bodyPr wrap="square" lIns="0" tIns="0" rIns="0" bIns="0">
            <a:spAutoFit/>
          </a:bodyPr>
          <a:lstStyle/>
          <a:p>
            <a:pPr>
              <a:lnSpc>
                <a:spcPct val="106000"/>
              </a:lnSpc>
              <a:spcBef>
                <a:spcPts val="0"/>
              </a:spcBef>
              <a:spcAft>
                <a:spcPts val="300"/>
              </a:spcAft>
            </a:pPr>
            <a:r>
              <a:rPr sz="955" b="0">
                <a:solidFill>
                  <a:srgbClr val="F7FAFE"/>
                </a:solidFill>
                <a:latin typeface="Montserrat"/>
              </a:rPr>
              <a:t>Apoya un comparador MLP económico. No acredita que MLP supere XGBoost en nuestras mismas entradas y particiones.</a:t>
            </a:r>
          </a:p>
        </p:txBody>
      </p:sp>
      <p:sp>
        <p:nvSpPr>
          <p:cNvPr id="16" name="TextBox 15"/>
          <p:cNvSpPr txBox="1"/>
          <p:nvPr/>
        </p:nvSpPr>
        <p:spPr>
          <a:xfrm>
            <a:off x="384048" y="4041648"/>
            <a:ext cx="6949440" cy="146304"/>
          </a:xfrm>
          <a:prstGeom prst="rect">
            <a:avLst/>
          </a:prstGeom>
          <a:noFill/>
        </p:spPr>
        <p:txBody>
          <a:bodyPr wrap="square" lIns="0" tIns="0" rIns="0" bIns="0">
            <a:spAutoFit/>
          </a:bodyPr>
          <a:lstStyle/>
          <a:p>
            <a:pPr>
              <a:lnSpc>
                <a:spcPct val="106000"/>
              </a:lnSpc>
              <a:spcBef>
                <a:spcPts val="0"/>
              </a:spcBef>
              <a:spcAft>
                <a:spcPts val="300"/>
              </a:spcAft>
            </a:pPr>
            <a:r>
              <a:rPr sz="819" b="0">
                <a:solidFill>
                  <a:srgbClr val="B7CBE0"/>
                </a:solidFill>
                <a:latin typeface="Montserrat"/>
                <a:hlinkClick r:id="rId3"/>
              </a:rPr>
              <a:t>DOI 10.1061/JWRMD5.WRENG-7598</a:t>
            </a:r>
          </a:p>
        </p:txBody>
      </p:sp>
      <p:sp>
        <p:nvSpPr>
          <p:cNvPr id="17" name="TextBox 16"/>
          <p:cNvSpPr txBox="1"/>
          <p:nvPr/>
        </p:nvSpPr>
        <p:spPr>
          <a:xfrm>
            <a:off x="384048" y="4325112"/>
            <a:ext cx="8183879" cy="310896"/>
          </a:xfrm>
          <a:prstGeom prst="rect">
            <a:avLst/>
          </a:prstGeom>
          <a:noFill/>
        </p:spPr>
        <p:txBody>
          <a:bodyPr wrap="square" lIns="0" tIns="0" rIns="0" bIns="0">
            <a:spAutoFit/>
          </a:bodyPr>
          <a:lstStyle/>
          <a:p>
            <a:pPr>
              <a:lnSpc>
                <a:spcPct val="106000"/>
              </a:lnSpc>
              <a:spcBef>
                <a:spcPts val="0"/>
              </a:spcBef>
              <a:spcAft>
                <a:spcPts val="300"/>
              </a:spcAft>
            </a:pPr>
            <a:r>
              <a:rPr sz="900" b="1">
                <a:solidFill>
                  <a:srgbClr val="F1CB83"/>
                </a:solidFill>
                <a:latin typeface="Montserrat"/>
              </a:rPr>
              <a:t>EST. 30–60 h / 1–2 sem. Datos 6–12 h; MLP y pruebas 24–48 h. Decisión: piloto prioritario.</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Datos, recursos y esfuerzo · P1–P2</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REPORTADO = evidencia consultada. ESTIMADO = planificación para nuestra tesis; no es un benchmark local ni una promesa de calendario.</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24</a:t>
            </a:r>
          </a:p>
        </p:txBody>
      </p:sp>
      <p:graphicFrame>
        <p:nvGraphicFramePr>
          <p:cNvPr id="8" name="Table 7"/>
          <p:cNvGraphicFramePr>
            <a:graphicFrameLocks noGrp="1"/>
          </p:cNvGraphicFramePr>
          <p:nvPr/>
        </p:nvGraphicFramePr>
        <p:xfrm>
          <a:off x="292608" y="1051560"/>
          <a:ext cx="8549640" cy="3401568"/>
        </p:xfrm>
        <a:graphic>
          <a:graphicData uri="http://schemas.openxmlformats.org/drawingml/2006/table">
            <a:tbl>
              <a:tblPr firstRow="1" bandRow="1">
                <a:tableStyleId>{5C22544A-7EE6-4342-B048-85BDC9FD1C3A}</a:tableStyleId>
              </a:tblPr>
              <a:tblGrid>
                <a:gridCol w="1207008">
                  <a:extLst>
                    <a:ext uri="{9D8B030D-6E8A-4147-A177-3AD203B41FA5}">
                      <a16:colId xmlns:a16="http://schemas.microsoft.com/office/drawing/2014/main" val="20000"/>
                    </a:ext>
                  </a:extLst>
                </a:gridCol>
                <a:gridCol w="2587752">
                  <a:extLst>
                    <a:ext uri="{9D8B030D-6E8A-4147-A177-3AD203B41FA5}">
                      <a16:colId xmlns:a16="http://schemas.microsoft.com/office/drawing/2014/main" val="20001"/>
                    </a:ext>
                  </a:extLst>
                </a:gridCol>
                <a:gridCol w="2395728">
                  <a:extLst>
                    <a:ext uri="{9D8B030D-6E8A-4147-A177-3AD203B41FA5}">
                      <a16:colId xmlns:a16="http://schemas.microsoft.com/office/drawing/2014/main" val="20002"/>
                    </a:ext>
                  </a:extLst>
                </a:gridCol>
                <a:gridCol w="2359152">
                  <a:extLst>
                    <a:ext uri="{9D8B030D-6E8A-4147-A177-3AD203B41FA5}">
                      <a16:colId xmlns:a16="http://schemas.microsoft.com/office/drawing/2014/main" val="20003"/>
                    </a:ext>
                  </a:extLst>
                </a:gridCol>
              </a:tblGrid>
              <a:tr h="420624">
                <a:tc>
                  <a:txBody>
                    <a:bodyPr/>
                    <a:lstStyle/>
                    <a:p>
                      <a:pPr>
                        <a:lnSpc>
                          <a:spcPct val="102000"/>
                        </a:lnSpc>
                        <a:spcBef>
                          <a:spcPts val="0"/>
                        </a:spcBef>
                        <a:spcAft>
                          <a:spcPts val="300"/>
                        </a:spcAft>
                      </a:pPr>
                      <a:r>
                        <a:rPr sz="990" b="1">
                          <a:solidFill>
                            <a:srgbClr val="F7FAFE"/>
                          </a:solidFill>
                          <a:latin typeface="Montserrat"/>
                        </a:rPr>
                        <a:t>Paper</a:t>
                      </a:r>
                    </a:p>
                  </a:txBody>
                  <a:tcPr marT="64008" marB="64008">
                    <a:solidFill>
                      <a:srgbClr val="355A84"/>
                    </a:solidFill>
                  </a:tcPr>
                </a:tc>
                <a:tc>
                  <a:txBody>
                    <a:bodyPr/>
                    <a:lstStyle/>
                    <a:p>
                      <a:pPr>
                        <a:lnSpc>
                          <a:spcPct val="102000"/>
                        </a:lnSpc>
                        <a:spcBef>
                          <a:spcPts val="0"/>
                        </a:spcBef>
                        <a:spcAft>
                          <a:spcPts val="300"/>
                        </a:spcAft>
                      </a:pPr>
                      <a:r>
                        <a:rPr sz="990" b="1">
                          <a:solidFill>
                            <a:srgbClr val="F7FAFE"/>
                          </a:solidFill>
                          <a:latin typeface="Montserrat"/>
                        </a:rPr>
                        <a:t>Variables / preparation missing</a:t>
                      </a:r>
                    </a:p>
                  </a:txBody>
                  <a:tcPr marT="64008" marB="64008">
                    <a:solidFill>
                      <a:srgbClr val="355A84"/>
                    </a:solidFill>
                  </a:tcPr>
                </a:tc>
                <a:tc>
                  <a:txBody>
                    <a:bodyPr/>
                    <a:lstStyle/>
                    <a:p>
                      <a:pPr>
                        <a:lnSpc>
                          <a:spcPct val="102000"/>
                        </a:lnSpc>
                        <a:spcBef>
                          <a:spcPts val="0"/>
                        </a:spcBef>
                        <a:spcAft>
                          <a:spcPts val="300"/>
                        </a:spcAft>
                      </a:pPr>
                      <a:r>
                        <a:rPr sz="990" b="1">
                          <a:solidFill>
                            <a:srgbClr val="F7FAFE"/>
                          </a:solidFill>
                          <a:latin typeface="Montserrat"/>
                        </a:rPr>
                        <a:t>Reported resources</a:t>
                      </a:r>
                    </a:p>
                  </a:txBody>
                  <a:tcPr marT="64008" marB="64008">
                    <a:solidFill>
                      <a:srgbClr val="355A84"/>
                    </a:solidFill>
                  </a:tcPr>
                </a:tc>
                <a:tc>
                  <a:txBody>
                    <a:bodyPr/>
                    <a:lstStyle/>
                    <a:p>
                      <a:pPr>
                        <a:lnSpc>
                          <a:spcPct val="102000"/>
                        </a:lnSpc>
                        <a:spcBef>
                          <a:spcPts val="0"/>
                        </a:spcBef>
                        <a:spcAft>
                          <a:spcPts val="300"/>
                        </a:spcAft>
                      </a:pPr>
                      <a:r>
                        <a:rPr sz="990" b="1">
                          <a:solidFill>
                            <a:srgbClr val="F7FAFE"/>
                          </a:solidFill>
                          <a:latin typeface="Montserrat"/>
                        </a:rPr>
                        <a:t>Adaptation cost and decision</a:t>
                      </a:r>
                    </a:p>
                  </a:txBody>
                  <a:tcPr marT="64008" marB="64008">
                    <a:solidFill>
                      <a:srgbClr val="355A84"/>
                    </a:solidFill>
                  </a:tcPr>
                </a:tc>
                <a:extLst>
                  <a:ext uri="{0D108BD9-81ED-4DB2-BD59-A6C34878D82A}">
                    <a16:rowId xmlns:a16="http://schemas.microsoft.com/office/drawing/2014/main" val="10000"/>
                  </a:ext>
                </a:extLst>
              </a:tr>
              <a:tr h="1490472">
                <a:tc>
                  <a:txBody>
                    <a:bodyPr/>
                    <a:lstStyle/>
                    <a:p>
                      <a:pPr>
                        <a:lnSpc>
                          <a:spcPct val="102000"/>
                        </a:lnSpc>
                        <a:spcBef>
                          <a:spcPts val="0"/>
                        </a:spcBef>
                        <a:spcAft>
                          <a:spcPts val="300"/>
                        </a:spcAft>
                      </a:pPr>
                      <a:r>
                        <a:rPr sz="985" b="1">
                          <a:solidFill>
                            <a:srgbClr val="8BC5FA"/>
                          </a:solidFill>
                          <a:latin typeface="Montserrat"/>
                        </a:rPr>
                        <a:t>P1 · Zhang et al. (2024)</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Falta preparar h(t), Q(t), inflow/outflow y flooding(t). Conectividad: recuperable del INP. Definir estados iniciales disponibles al inferir.</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REPORTADO*: RTX A5000 24 GB; GNN ≈2,14 h por entrenamiento (20.000 épocas). No es mínimo requerido ni tiempo local.</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EST. 120–210 h / 4–7 sem. Datos 40–70 h; GNN y validación 80–140 h. Decisión: condicional.</a:t>
                      </a:r>
                    </a:p>
                  </a:txBody>
                  <a:tcPr marT="64008" marB="64008">
                    <a:solidFill>
                      <a:srgbClr val="193A58"/>
                    </a:solidFill>
                  </a:tcPr>
                </a:tc>
                <a:extLst>
                  <a:ext uri="{0D108BD9-81ED-4DB2-BD59-A6C34878D82A}">
                    <a16:rowId xmlns:a16="http://schemas.microsoft.com/office/drawing/2014/main" val="10001"/>
                  </a:ext>
                </a:extLst>
              </a:tr>
              <a:tr h="1490472">
                <a:tc>
                  <a:txBody>
                    <a:bodyPr/>
                    <a:lstStyle/>
                    <a:p>
                      <a:pPr>
                        <a:lnSpc>
                          <a:spcPct val="102000"/>
                        </a:lnSpc>
                        <a:spcBef>
                          <a:spcPts val="0"/>
                        </a:spcBef>
                        <a:spcAft>
                          <a:spcPts val="300"/>
                        </a:spcAft>
                      </a:pPr>
                      <a:r>
                        <a:rPr sz="985" b="1">
                          <a:solidFill>
                            <a:srgbClr val="8BC5FA"/>
                          </a:solidFill>
                          <a:latin typeface="Montserrat"/>
                        </a:rPr>
                        <a:t>P2 · Palmitessa et al. (2022)</a:t>
                      </a:r>
                    </a:p>
                  </a:txBody>
                  <a:tcPr marT="64008" marB="64008">
                    <a:solidFill>
                      <a:srgbClr val="234560"/>
                    </a:solidFill>
                  </a:tcPr>
                </a:tc>
                <a:tc>
                  <a:txBody>
                    <a:bodyPr/>
                    <a:lstStyle/>
                    <a:p>
                      <a:pPr>
                        <a:lnSpc>
                          <a:spcPct val="102000"/>
                        </a:lnSpc>
                        <a:spcBef>
                          <a:spcPts val="0"/>
                        </a:spcBef>
                        <a:spcAft>
                          <a:spcPts val="300"/>
                        </a:spcAft>
                      </a:pPr>
                      <a:r>
                        <a:rPr sz="1025" b="0">
                          <a:solidFill>
                            <a:srgbClr val="F7FAFE"/>
                          </a:solidFill>
                          <a:latin typeface="Montserrat"/>
                        </a:rPr>
                        <a:t>Falta dataset temporal de niveles, caudales y desbordamientos. Geometría: INP. Reproducción exacta: acceso/licencia MIKE 1D; adaptación SWMM evita esa dependencia.</a:t>
                      </a:r>
                    </a:p>
                  </a:txBody>
                  <a:tcPr marT="64008" marB="64008">
                    <a:solidFill>
                      <a:srgbClr val="234560"/>
                    </a:solidFill>
                  </a:tcPr>
                </a:tc>
                <a:tc>
                  <a:txBody>
                    <a:bodyPr/>
                    <a:lstStyle/>
                    <a:p>
                      <a:pPr>
                        <a:lnSpc>
                          <a:spcPct val="102000"/>
                        </a:lnSpc>
                        <a:spcBef>
                          <a:spcPts val="0"/>
                        </a:spcBef>
                        <a:spcAft>
                          <a:spcPts val="300"/>
                        </a:spcAft>
                      </a:pPr>
                      <a:r>
                        <a:rPr sz="1025" b="0">
                          <a:solidFill>
                            <a:srgbClr val="F7FAFE"/>
                          </a:solidFill>
                          <a:latin typeface="Montserrat"/>
                        </a:rPr>
                        <a:t>REPORTADO: CPU i9, 32 GB RAM; 0,5–2 h de entrenamiento. GPU no mejoró la simulación autorregresiva en su implementación.</a:t>
                      </a:r>
                    </a:p>
                  </a:txBody>
                  <a:tcPr marT="64008" marB="64008">
                    <a:solidFill>
                      <a:srgbClr val="234560"/>
                    </a:solidFill>
                  </a:tcPr>
                </a:tc>
                <a:tc>
                  <a:txBody>
                    <a:bodyPr/>
                    <a:lstStyle/>
                    <a:p>
                      <a:pPr>
                        <a:lnSpc>
                          <a:spcPct val="102000"/>
                        </a:lnSpc>
                        <a:spcBef>
                          <a:spcPts val="0"/>
                        </a:spcBef>
                        <a:spcAft>
                          <a:spcPts val="300"/>
                        </a:spcAft>
                      </a:pPr>
                      <a:r>
                        <a:rPr sz="1025" b="0">
                          <a:solidFill>
                            <a:srgbClr val="F7FAFE"/>
                          </a:solidFill>
                          <a:latin typeface="Montserrat"/>
                        </a:rPr>
                        <a:t>EST. 120–180 h / 4–6 sem. Datos 30–60 h; adaptación/pruebas 90–120 h. Decisión: usar ideas, no replicar aún.</a:t>
                      </a:r>
                    </a:p>
                  </a:txBody>
                  <a:tcPr marT="64008" marB="64008">
                    <a:solidFill>
                      <a:srgbClr val="234560"/>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Datos, recursos y esfuerzo · P3–P4–P5</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REPORTADO = evidencia consultada. ESTIMADO = planificación para nuestra tesis; no es un benchmark local ni una promesa de calendario.</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25</a:t>
            </a:r>
          </a:p>
        </p:txBody>
      </p:sp>
      <p:graphicFrame>
        <p:nvGraphicFramePr>
          <p:cNvPr id="8" name="Table 7"/>
          <p:cNvGraphicFramePr>
            <a:graphicFrameLocks noGrp="1"/>
          </p:cNvGraphicFramePr>
          <p:nvPr/>
        </p:nvGraphicFramePr>
        <p:xfrm>
          <a:off x="292608" y="1051560"/>
          <a:ext cx="8549640" cy="3484245"/>
        </p:xfrm>
        <a:graphic>
          <a:graphicData uri="http://schemas.openxmlformats.org/drawingml/2006/table">
            <a:tbl>
              <a:tblPr firstRow="1" bandRow="1">
                <a:tableStyleId>{5C22544A-7EE6-4342-B048-85BDC9FD1C3A}</a:tableStyleId>
              </a:tblPr>
              <a:tblGrid>
                <a:gridCol w="1207008">
                  <a:extLst>
                    <a:ext uri="{9D8B030D-6E8A-4147-A177-3AD203B41FA5}">
                      <a16:colId xmlns:a16="http://schemas.microsoft.com/office/drawing/2014/main" val="20000"/>
                    </a:ext>
                  </a:extLst>
                </a:gridCol>
                <a:gridCol w="2587752">
                  <a:extLst>
                    <a:ext uri="{9D8B030D-6E8A-4147-A177-3AD203B41FA5}">
                      <a16:colId xmlns:a16="http://schemas.microsoft.com/office/drawing/2014/main" val="20001"/>
                    </a:ext>
                  </a:extLst>
                </a:gridCol>
                <a:gridCol w="2395728">
                  <a:extLst>
                    <a:ext uri="{9D8B030D-6E8A-4147-A177-3AD203B41FA5}">
                      <a16:colId xmlns:a16="http://schemas.microsoft.com/office/drawing/2014/main" val="20002"/>
                    </a:ext>
                  </a:extLst>
                </a:gridCol>
                <a:gridCol w="2359152">
                  <a:extLst>
                    <a:ext uri="{9D8B030D-6E8A-4147-A177-3AD203B41FA5}">
                      <a16:colId xmlns:a16="http://schemas.microsoft.com/office/drawing/2014/main" val="20003"/>
                    </a:ext>
                  </a:extLst>
                </a:gridCol>
              </a:tblGrid>
              <a:tr h="420624">
                <a:tc>
                  <a:txBody>
                    <a:bodyPr/>
                    <a:lstStyle/>
                    <a:p>
                      <a:pPr>
                        <a:lnSpc>
                          <a:spcPct val="102000"/>
                        </a:lnSpc>
                        <a:spcBef>
                          <a:spcPts val="0"/>
                        </a:spcBef>
                        <a:spcAft>
                          <a:spcPts val="300"/>
                        </a:spcAft>
                      </a:pPr>
                      <a:r>
                        <a:rPr sz="990" b="1">
                          <a:solidFill>
                            <a:srgbClr val="F7FAFE"/>
                          </a:solidFill>
                          <a:latin typeface="Montserrat"/>
                        </a:rPr>
                        <a:t>Paper</a:t>
                      </a:r>
                    </a:p>
                  </a:txBody>
                  <a:tcPr marT="64008" marB="64008">
                    <a:solidFill>
                      <a:srgbClr val="355A84"/>
                    </a:solidFill>
                  </a:tcPr>
                </a:tc>
                <a:tc>
                  <a:txBody>
                    <a:bodyPr/>
                    <a:lstStyle/>
                    <a:p>
                      <a:pPr>
                        <a:lnSpc>
                          <a:spcPct val="102000"/>
                        </a:lnSpc>
                        <a:spcBef>
                          <a:spcPts val="0"/>
                        </a:spcBef>
                        <a:spcAft>
                          <a:spcPts val="300"/>
                        </a:spcAft>
                      </a:pPr>
                      <a:r>
                        <a:rPr sz="990" b="1">
                          <a:solidFill>
                            <a:srgbClr val="F7FAFE"/>
                          </a:solidFill>
                          <a:latin typeface="Montserrat"/>
                        </a:rPr>
                        <a:t>Variables / preparation missing</a:t>
                      </a:r>
                    </a:p>
                  </a:txBody>
                  <a:tcPr marT="64008" marB="64008">
                    <a:solidFill>
                      <a:srgbClr val="355A84"/>
                    </a:solidFill>
                  </a:tcPr>
                </a:tc>
                <a:tc>
                  <a:txBody>
                    <a:bodyPr/>
                    <a:lstStyle/>
                    <a:p>
                      <a:pPr>
                        <a:lnSpc>
                          <a:spcPct val="102000"/>
                        </a:lnSpc>
                        <a:spcBef>
                          <a:spcPts val="0"/>
                        </a:spcBef>
                        <a:spcAft>
                          <a:spcPts val="300"/>
                        </a:spcAft>
                      </a:pPr>
                      <a:r>
                        <a:rPr sz="990" b="1">
                          <a:solidFill>
                            <a:srgbClr val="F7FAFE"/>
                          </a:solidFill>
                          <a:latin typeface="Montserrat"/>
                        </a:rPr>
                        <a:t>Reported resources</a:t>
                      </a:r>
                    </a:p>
                  </a:txBody>
                  <a:tcPr marT="64008" marB="64008">
                    <a:solidFill>
                      <a:srgbClr val="355A84"/>
                    </a:solidFill>
                  </a:tcPr>
                </a:tc>
                <a:tc>
                  <a:txBody>
                    <a:bodyPr/>
                    <a:lstStyle/>
                    <a:p>
                      <a:pPr>
                        <a:lnSpc>
                          <a:spcPct val="102000"/>
                        </a:lnSpc>
                        <a:spcBef>
                          <a:spcPts val="0"/>
                        </a:spcBef>
                        <a:spcAft>
                          <a:spcPts val="300"/>
                        </a:spcAft>
                      </a:pPr>
                      <a:r>
                        <a:rPr sz="990" b="1">
                          <a:solidFill>
                            <a:srgbClr val="F7FAFE"/>
                          </a:solidFill>
                          <a:latin typeface="Montserrat"/>
                        </a:rPr>
                        <a:t>Adaptation cost and decision</a:t>
                      </a:r>
                    </a:p>
                  </a:txBody>
                  <a:tcPr marT="64008" marB="64008">
                    <a:solidFill>
                      <a:srgbClr val="355A84"/>
                    </a:solidFill>
                  </a:tcPr>
                </a:tc>
                <a:extLst>
                  <a:ext uri="{0D108BD9-81ED-4DB2-BD59-A6C34878D82A}">
                    <a16:rowId xmlns:a16="http://schemas.microsoft.com/office/drawing/2014/main" val="10000"/>
                  </a:ext>
                </a:extLst>
              </a:tr>
              <a:tr h="993648">
                <a:tc>
                  <a:txBody>
                    <a:bodyPr/>
                    <a:lstStyle/>
                    <a:p>
                      <a:pPr>
                        <a:lnSpc>
                          <a:spcPct val="102000"/>
                        </a:lnSpc>
                        <a:spcBef>
                          <a:spcPts val="0"/>
                        </a:spcBef>
                        <a:spcAft>
                          <a:spcPts val="300"/>
                        </a:spcAft>
                      </a:pPr>
                      <a:r>
                        <a:rPr sz="985" b="1">
                          <a:solidFill>
                            <a:srgbClr val="8BC5FA"/>
                          </a:solidFill>
                          <a:latin typeface="Montserrat"/>
                        </a:rPr>
                        <a:t>P3 · Garzón et al. (2024)</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Conectividad, cotas y longitudes: recuperar INP. Preparar inflows y niveles temporales. Añadir etiqueta/salida de desbordamiento para nuestro objetivo.</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REPORTADO: DelftBlue, GPUs V100S 32 GB para experimentos/búsqueda. 100 épocas, AdamW. No declara ese tamaño como mínimo.</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EST. 120–240 h / 4–8 sem. Datos 30–60 h; GNN y salida volumen 90–180 h. Decisión: segunda etapa.</a:t>
                      </a:r>
                    </a:p>
                  </a:txBody>
                  <a:tcPr marT="64008" marB="64008">
                    <a:solidFill>
                      <a:srgbClr val="193A58"/>
                    </a:solidFill>
                  </a:tcPr>
                </a:tc>
                <a:extLst>
                  <a:ext uri="{0D108BD9-81ED-4DB2-BD59-A6C34878D82A}">
                    <a16:rowId xmlns:a16="http://schemas.microsoft.com/office/drawing/2014/main" val="10001"/>
                  </a:ext>
                </a:extLst>
              </a:tr>
              <a:tr h="993648">
                <a:tc>
                  <a:txBody>
                    <a:bodyPr/>
                    <a:lstStyle/>
                    <a:p>
                      <a:pPr>
                        <a:lnSpc>
                          <a:spcPct val="102000"/>
                        </a:lnSpc>
                        <a:spcBef>
                          <a:spcPts val="0"/>
                        </a:spcBef>
                        <a:spcAft>
                          <a:spcPts val="300"/>
                        </a:spcAft>
                      </a:pPr>
                      <a:r>
                        <a:rPr sz="985" b="1">
                          <a:solidFill>
                            <a:srgbClr val="8BC5FA"/>
                          </a:solidFill>
                          <a:latin typeface="Montserrat"/>
                        </a:rPr>
                        <a:t>P4 · Garzón et al. (2026)</a:t>
                      </a:r>
                    </a:p>
                  </a:txBody>
                  <a:tcPr marT="64008" marB="64008">
                    <a:solidFill>
                      <a:srgbClr val="234560"/>
                    </a:solidFill>
                  </a:tcPr>
                </a:tc>
                <a:tc>
                  <a:txBody>
                    <a:bodyPr/>
                    <a:lstStyle/>
                    <a:p>
                      <a:pPr>
                        <a:lnSpc>
                          <a:spcPct val="102000"/>
                        </a:lnSpc>
                        <a:spcBef>
                          <a:spcPts val="0"/>
                        </a:spcBef>
                        <a:spcAft>
                          <a:spcPts val="300"/>
                        </a:spcAft>
                      </a:pPr>
                      <a:r>
                        <a:rPr sz="1025" b="0">
                          <a:solidFill>
                            <a:srgbClr val="F7FAFE"/>
                          </a:solidFill>
                          <a:latin typeface="Montserrat"/>
                        </a:rPr>
                        <a:t>Otras redes y series de estados/caudales; revisar entrada de lluvia. INP actual sin subcuencas/pluviómetros. Revisar offsets, aristas paralelas y estructuras especiales.</a:t>
                      </a:r>
                    </a:p>
                  </a:txBody>
                  <a:tcPr marT="64008" marB="64008">
                    <a:solidFill>
                      <a:srgbClr val="234560"/>
                    </a:solidFill>
                  </a:tcPr>
                </a:tc>
                <a:tc>
                  <a:txBody>
                    <a:bodyPr/>
                    <a:lstStyle/>
                    <a:p>
                      <a:pPr>
                        <a:lnSpc>
                          <a:spcPct val="102000"/>
                        </a:lnSpc>
                        <a:spcBef>
                          <a:spcPts val="0"/>
                        </a:spcBef>
                        <a:spcAft>
                          <a:spcPts val="300"/>
                        </a:spcAft>
                      </a:pPr>
                      <a:r>
                        <a:rPr sz="1025" b="0">
                          <a:solidFill>
                            <a:srgbClr val="F7FAFE"/>
                          </a:solidFill>
                          <a:latin typeface="Montserrat"/>
                        </a:rPr>
                        <a:t>REPORTADO: experimentos GPU; rendimiento en A100 80 GB. Huber/AdamW, 25 épocas. El repositorio tiene restricciones de elementos hidráulicos.</a:t>
                      </a:r>
                    </a:p>
                  </a:txBody>
                  <a:tcPr marT="64008" marB="64008">
                    <a:solidFill>
                      <a:srgbClr val="234560"/>
                    </a:solidFill>
                  </a:tcPr>
                </a:tc>
                <a:tc>
                  <a:txBody>
                    <a:bodyPr/>
                    <a:lstStyle/>
                    <a:p>
                      <a:pPr>
                        <a:lnSpc>
                          <a:spcPct val="102000"/>
                        </a:lnSpc>
                        <a:spcBef>
                          <a:spcPts val="0"/>
                        </a:spcBef>
                        <a:spcAft>
                          <a:spcPts val="300"/>
                        </a:spcAft>
                      </a:pPr>
                      <a:r>
                        <a:rPr sz="1025" b="0">
                          <a:solidFill>
                            <a:srgbClr val="F7FAFE"/>
                          </a:solidFill>
                          <a:latin typeface="Montserrat"/>
                        </a:rPr>
                        <a:t>EST. 180–300 h / 6–10 sem., sin conseguir redes. Datos 60–100 h; transferencia 120–200 h. Decisión: posponer.</a:t>
                      </a:r>
                    </a:p>
                  </a:txBody>
                  <a:tcPr marT="64008" marB="64008">
                    <a:solidFill>
                      <a:srgbClr val="234560"/>
                    </a:solidFill>
                  </a:tcPr>
                </a:tc>
                <a:extLst>
                  <a:ext uri="{0D108BD9-81ED-4DB2-BD59-A6C34878D82A}">
                    <a16:rowId xmlns:a16="http://schemas.microsoft.com/office/drawing/2014/main" val="10002"/>
                  </a:ext>
                </a:extLst>
              </a:tr>
              <a:tr h="993648">
                <a:tc>
                  <a:txBody>
                    <a:bodyPr/>
                    <a:lstStyle/>
                    <a:p>
                      <a:pPr>
                        <a:lnSpc>
                          <a:spcPct val="102000"/>
                        </a:lnSpc>
                        <a:spcBef>
                          <a:spcPts val="0"/>
                        </a:spcBef>
                        <a:spcAft>
                          <a:spcPts val="300"/>
                        </a:spcAft>
                      </a:pPr>
                      <a:r>
                        <a:rPr sz="985" b="1">
                          <a:solidFill>
                            <a:srgbClr val="8BC5FA"/>
                          </a:solidFill>
                          <a:latin typeface="Montserrat"/>
                        </a:rPr>
                        <a:t>P5 · Brazão et al. (2026)</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Adaptación nodo–evento: reutilizar las 17 features. Replicar diseño de detención: capacidad, salidas, ubicación y lluvia; esos escenarios no están en nuestro INP.</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NO VERIFICADO: hardware/tiempo no accesibles en resumen. No hay base para exigir una GPU grande.</a:t>
                      </a:r>
                    </a:p>
                  </a:txBody>
                  <a:tcPr marT="64008" marB="64008">
                    <a:solidFill>
                      <a:srgbClr val="193A58"/>
                    </a:solidFill>
                  </a:tcPr>
                </a:tc>
                <a:tc>
                  <a:txBody>
                    <a:bodyPr/>
                    <a:lstStyle/>
                    <a:p>
                      <a:pPr>
                        <a:lnSpc>
                          <a:spcPct val="102000"/>
                        </a:lnSpc>
                        <a:spcBef>
                          <a:spcPts val="0"/>
                        </a:spcBef>
                        <a:spcAft>
                          <a:spcPts val="300"/>
                        </a:spcAft>
                      </a:pPr>
                      <a:r>
                        <a:rPr sz="1025" b="0">
                          <a:solidFill>
                            <a:srgbClr val="F7FAFE"/>
                          </a:solidFill>
                          <a:latin typeface="Montserrat"/>
                        </a:rPr>
                        <a:t>EST. 30–60 h / 1–2 sem. Datos 6–12 h; MLP y pruebas 24–48 h. Decisión: piloto prioritario.</a:t>
                      </a:r>
                    </a:p>
                  </a:txBody>
                  <a:tcPr marT="64008" marB="64008">
                    <a:solidFill>
                      <a:srgbClr val="193A58"/>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Criterio para invertir más tiempo</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Recomendación propia: cerrar primero un experimento pequeño y comparable; decidir con resultados reservados.</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26</a:t>
            </a:r>
          </a:p>
        </p:txBody>
      </p:sp>
      <p:graphicFrame>
        <p:nvGraphicFramePr>
          <p:cNvPr id="8" name="Table 7"/>
          <p:cNvGraphicFramePr>
            <a:graphicFrameLocks noGrp="1"/>
          </p:cNvGraphicFramePr>
          <p:nvPr/>
        </p:nvGraphicFramePr>
        <p:xfrm>
          <a:off x="292608" y="1051560"/>
          <a:ext cx="8549640" cy="347472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3520440">
                  <a:extLst>
                    <a:ext uri="{9D8B030D-6E8A-4147-A177-3AD203B41FA5}">
                      <a16:colId xmlns:a16="http://schemas.microsoft.com/office/drawing/2014/main" val="20002"/>
                    </a:ext>
                  </a:extLst>
                </a:gridCol>
              </a:tblGrid>
              <a:tr h="420624">
                <a:tc>
                  <a:txBody>
                    <a:bodyPr/>
                    <a:lstStyle/>
                    <a:p>
                      <a:pPr>
                        <a:lnSpc>
                          <a:spcPct val="102000"/>
                        </a:lnSpc>
                        <a:spcBef>
                          <a:spcPts val="0"/>
                        </a:spcBef>
                        <a:spcAft>
                          <a:spcPts val="300"/>
                        </a:spcAft>
                      </a:pPr>
                      <a:r>
                        <a:rPr sz="1160" b="1">
                          <a:solidFill>
                            <a:srgbClr val="F7FAFE"/>
                          </a:solidFill>
                          <a:latin typeface="Montserrat"/>
                        </a:rPr>
                        <a:t>Paso</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Qué se hace</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Condición para continuar</a:t>
                      </a:r>
                    </a:p>
                  </a:txBody>
                  <a:tcPr marT="64008" marB="64008">
                    <a:solidFill>
                      <a:srgbClr val="355A84"/>
                    </a:solidFill>
                  </a:tcPr>
                </a:tc>
                <a:extLst>
                  <a:ext uri="{0D108BD9-81ED-4DB2-BD59-A6C34878D82A}">
                    <a16:rowId xmlns:a16="http://schemas.microsoft.com/office/drawing/2014/main" val="10000"/>
                  </a:ext>
                </a:extLst>
              </a:tr>
              <a:tr h="763524">
                <a:tc>
                  <a:txBody>
                    <a:bodyPr/>
                    <a:lstStyle/>
                    <a:p>
                      <a:pPr>
                        <a:lnSpc>
                          <a:spcPct val="102000"/>
                        </a:lnSpc>
                        <a:spcBef>
                          <a:spcPts val="0"/>
                        </a:spcBef>
                        <a:spcAft>
                          <a:spcPts val="300"/>
                        </a:spcAft>
                      </a:pPr>
                      <a:r>
                        <a:rPr sz="1140" b="1">
                          <a:solidFill>
                            <a:srgbClr val="8BC5FA"/>
                          </a:solidFill>
                          <a:latin typeface="Montserrat"/>
                        </a:rPr>
                        <a:t>1 · Piloto MLP</a:t>
                      </a:r>
                    </a:p>
                    <a:p>
                      <a:pPr>
                        <a:lnSpc>
                          <a:spcPct val="102000"/>
                        </a:lnSpc>
                        <a:spcBef>
                          <a:spcPts val="0"/>
                        </a:spcBef>
                        <a:spcAft>
                          <a:spcPts val="300"/>
                        </a:spcAft>
                      </a:pPr>
                      <a:r>
                        <a:rPr sz="1140" b="0">
                          <a:solidFill>
                            <a:srgbClr val="8BC5FA"/>
                          </a:solidFill>
                          <a:latin typeface="Montserrat"/>
                        </a:rPr>
                        <a:t>30–60 h</a:t>
                      </a:r>
                    </a:p>
                  </a:txBody>
                  <a:tcPr marT="64008" marB="64008">
                    <a:solidFill>
                      <a:srgbClr val="193A58"/>
                    </a:solidFill>
                  </a:tcPr>
                </a:tc>
                <a:tc>
                  <a:txBody>
                    <a:bodyPr/>
                    <a:lstStyle/>
                    <a:p>
                      <a:pPr>
                        <a:lnSpc>
                          <a:spcPct val="102000"/>
                        </a:lnSpc>
                        <a:spcBef>
                          <a:spcPts val="0"/>
                        </a:spcBef>
                        <a:spcAft>
                          <a:spcPts val="300"/>
                        </a:spcAft>
                      </a:pPr>
                      <a:r>
                        <a:rPr sz="1180" b="0">
                          <a:solidFill>
                            <a:srgbClr val="F7FAFE"/>
                          </a:solidFill>
                          <a:latin typeface="Montserrat"/>
                        </a:rPr>
                        <a:t>Mismas entradas y eventos; ajuste interno y selección de época; varias semillas.</a:t>
                      </a:r>
                    </a:p>
                  </a:txBody>
                  <a:tcPr marT="64008" marB="64008">
                    <a:solidFill>
                      <a:srgbClr val="193A58"/>
                    </a:solidFill>
                  </a:tcPr>
                </a:tc>
                <a:tc>
                  <a:txBody>
                    <a:bodyPr/>
                    <a:lstStyle/>
                    <a:p>
                      <a:pPr>
                        <a:lnSpc>
                          <a:spcPct val="102000"/>
                        </a:lnSpc>
                        <a:spcBef>
                          <a:spcPts val="0"/>
                        </a:spcBef>
                        <a:spcAft>
                          <a:spcPts val="300"/>
                        </a:spcAft>
                      </a:pPr>
                      <a:r>
                        <a:rPr sz="1180" b="0">
                          <a:solidFill>
                            <a:srgbClr val="F7FAFE"/>
                          </a:solidFill>
                          <a:latin typeface="Montserrat"/>
                        </a:rPr>
                        <a:t>Mejora práctica predefinida en volumen, extremos o falsos negativos. No decidir por entrenamiento.</a:t>
                      </a:r>
                    </a:p>
                  </a:txBody>
                  <a:tcPr marT="64008" marB="64008">
                    <a:solidFill>
                      <a:srgbClr val="193A58"/>
                    </a:solidFill>
                  </a:tcPr>
                </a:tc>
                <a:extLst>
                  <a:ext uri="{0D108BD9-81ED-4DB2-BD59-A6C34878D82A}">
                    <a16:rowId xmlns:a16="http://schemas.microsoft.com/office/drawing/2014/main" val="10001"/>
                  </a:ext>
                </a:extLst>
              </a:tr>
              <a:tr h="763524">
                <a:tc>
                  <a:txBody>
                    <a:bodyPr/>
                    <a:lstStyle/>
                    <a:p>
                      <a:pPr>
                        <a:lnSpc>
                          <a:spcPct val="102000"/>
                        </a:lnSpc>
                        <a:spcBef>
                          <a:spcPts val="0"/>
                        </a:spcBef>
                        <a:spcAft>
                          <a:spcPts val="300"/>
                        </a:spcAft>
                      </a:pPr>
                      <a:r>
                        <a:rPr sz="1140" b="1">
                          <a:solidFill>
                            <a:srgbClr val="8BC5FA"/>
                          </a:solidFill>
                          <a:latin typeface="Montserrat"/>
                        </a:rPr>
                        <a:t>2 · Datos antes de arquitectura</a:t>
                      </a:r>
                    </a:p>
                  </a:txBody>
                  <a:tcPr marT="64008" marB="64008">
                    <a:solidFill>
                      <a:srgbClr val="234560"/>
                    </a:solidFill>
                  </a:tcPr>
                </a:tc>
                <a:tc>
                  <a:txBody>
                    <a:bodyPr/>
                    <a:lstStyle/>
                    <a:p>
                      <a:pPr>
                        <a:lnSpc>
                          <a:spcPct val="102000"/>
                        </a:lnSpc>
                        <a:spcBef>
                          <a:spcPts val="0"/>
                        </a:spcBef>
                        <a:spcAft>
                          <a:spcPts val="300"/>
                        </a:spcAft>
                      </a:pPr>
                      <a:r>
                        <a:rPr sz="1180" b="0">
                          <a:solidFill>
                            <a:srgbClr val="F7FAFE"/>
                          </a:solidFill>
                          <a:latin typeface="Montserrat"/>
                        </a:rPr>
                        <a:t>Reservar familias de hidrogramas, multipicos y extremos. Medir XGBoost y MLP.</a:t>
                      </a:r>
                    </a:p>
                  </a:txBody>
                  <a:tcPr marT="64008" marB="64008">
                    <a:solidFill>
                      <a:srgbClr val="234560"/>
                    </a:solidFill>
                  </a:tcPr>
                </a:tc>
                <a:tc>
                  <a:txBody>
                    <a:bodyPr/>
                    <a:lstStyle/>
                    <a:p>
                      <a:pPr>
                        <a:lnSpc>
                          <a:spcPct val="102000"/>
                        </a:lnSpc>
                        <a:spcBef>
                          <a:spcPts val="0"/>
                        </a:spcBef>
                        <a:spcAft>
                          <a:spcPts val="300"/>
                        </a:spcAft>
                      </a:pPr>
                      <a:r>
                        <a:rPr sz="1180" b="0">
                          <a:solidFill>
                            <a:srgbClr val="F7FAFE"/>
                          </a:solidFill>
                          <a:latin typeface="Montserrat"/>
                        </a:rPr>
                        <a:t>Si ambos fallan igual, revisar cobertura y descriptores; más capas no recuperan información ausente.</a:t>
                      </a:r>
                    </a:p>
                  </a:txBody>
                  <a:tcPr marT="64008" marB="64008">
                    <a:solidFill>
                      <a:srgbClr val="234560"/>
                    </a:solidFill>
                  </a:tcPr>
                </a:tc>
                <a:extLst>
                  <a:ext uri="{0D108BD9-81ED-4DB2-BD59-A6C34878D82A}">
                    <a16:rowId xmlns:a16="http://schemas.microsoft.com/office/drawing/2014/main" val="10002"/>
                  </a:ext>
                </a:extLst>
              </a:tr>
              <a:tr h="763524">
                <a:tc>
                  <a:txBody>
                    <a:bodyPr/>
                    <a:lstStyle/>
                    <a:p>
                      <a:pPr>
                        <a:lnSpc>
                          <a:spcPct val="102000"/>
                        </a:lnSpc>
                        <a:spcBef>
                          <a:spcPts val="0"/>
                        </a:spcBef>
                        <a:spcAft>
                          <a:spcPts val="300"/>
                        </a:spcAft>
                      </a:pPr>
                      <a:r>
                        <a:rPr sz="1140" b="1">
                          <a:solidFill>
                            <a:srgbClr val="8BC5FA"/>
                          </a:solidFill>
                          <a:latin typeface="Montserrat"/>
                        </a:rPr>
                        <a:t>3 · Piloto GNN</a:t>
                      </a:r>
                    </a:p>
                  </a:txBody>
                  <a:tcPr marT="64008" marB="64008">
                    <a:solidFill>
                      <a:srgbClr val="193A58"/>
                    </a:solidFill>
                  </a:tcPr>
                </a:tc>
                <a:tc>
                  <a:txBody>
                    <a:bodyPr/>
                    <a:lstStyle/>
                    <a:p>
                      <a:pPr>
                        <a:lnSpc>
                          <a:spcPct val="102000"/>
                        </a:lnSpc>
                        <a:spcBef>
                          <a:spcPts val="0"/>
                        </a:spcBef>
                        <a:spcAft>
                          <a:spcPts val="300"/>
                        </a:spcAft>
                      </a:pPr>
                      <a:r>
                        <a:rPr sz="1180" b="0">
                          <a:solidFill>
                            <a:srgbClr val="F7FAFE"/>
                          </a:solidFill>
                          <a:latin typeface="Montserrat"/>
                        </a:rPr>
                        <a:t>Probar una muestra, lotes pequeños y memoria pico antes de alquilar GPU.</a:t>
                      </a:r>
                    </a:p>
                  </a:txBody>
                  <a:tcPr marT="64008" marB="64008">
                    <a:solidFill>
                      <a:srgbClr val="193A58"/>
                    </a:solidFill>
                  </a:tcPr>
                </a:tc>
                <a:tc>
                  <a:txBody>
                    <a:bodyPr/>
                    <a:lstStyle/>
                    <a:p>
                      <a:pPr>
                        <a:lnSpc>
                          <a:spcPct val="102000"/>
                        </a:lnSpc>
                        <a:spcBef>
                          <a:spcPts val="0"/>
                        </a:spcBef>
                        <a:spcAft>
                          <a:spcPts val="300"/>
                        </a:spcAft>
                      </a:pPr>
                      <a:r>
                        <a:rPr sz="1180" b="0">
                          <a:solidFill>
                            <a:srgbClr val="F7FAFE"/>
                          </a:solidFill>
                          <a:latin typeface="Montserrat"/>
                        </a:rPr>
                        <a:t>Continuar si hay una hipótesis topológica clara y datos temporales/objetivos disponibles.</a:t>
                      </a:r>
                    </a:p>
                  </a:txBody>
                  <a:tcPr marT="64008" marB="64008">
                    <a:solidFill>
                      <a:srgbClr val="193A58"/>
                    </a:solidFill>
                  </a:tcPr>
                </a:tc>
                <a:extLst>
                  <a:ext uri="{0D108BD9-81ED-4DB2-BD59-A6C34878D82A}">
                    <a16:rowId xmlns:a16="http://schemas.microsoft.com/office/drawing/2014/main" val="10003"/>
                  </a:ext>
                </a:extLst>
              </a:tr>
              <a:tr h="763524">
                <a:tc>
                  <a:txBody>
                    <a:bodyPr/>
                    <a:lstStyle/>
                    <a:p>
                      <a:pPr>
                        <a:lnSpc>
                          <a:spcPct val="102000"/>
                        </a:lnSpc>
                        <a:spcBef>
                          <a:spcPts val="0"/>
                        </a:spcBef>
                        <a:spcAft>
                          <a:spcPts val="300"/>
                        </a:spcAft>
                      </a:pPr>
                      <a:r>
                        <a:rPr sz="1140" b="1">
                          <a:solidFill>
                            <a:srgbClr val="8BC5FA"/>
                          </a:solidFill>
                          <a:latin typeface="Montserrat"/>
                        </a:rPr>
                        <a:t>4 · Transferencia</a:t>
                      </a:r>
                    </a:p>
                  </a:txBody>
                  <a:tcPr marT="64008" marB="64008">
                    <a:solidFill>
                      <a:srgbClr val="234560"/>
                    </a:solidFill>
                  </a:tcPr>
                </a:tc>
                <a:tc>
                  <a:txBody>
                    <a:bodyPr/>
                    <a:lstStyle/>
                    <a:p>
                      <a:pPr>
                        <a:lnSpc>
                          <a:spcPct val="102000"/>
                        </a:lnSpc>
                        <a:spcBef>
                          <a:spcPts val="0"/>
                        </a:spcBef>
                        <a:spcAft>
                          <a:spcPts val="300"/>
                        </a:spcAft>
                      </a:pPr>
                      <a:r>
                        <a:rPr sz="1180" b="0">
                          <a:solidFill>
                            <a:srgbClr val="F7FAFE"/>
                          </a:solidFill>
                          <a:latin typeface="Montserrat"/>
                        </a:rPr>
                        <a:t>Comparar desde cero, zero-shot y fine-tuning con igual presupuesto de datos destino.</a:t>
                      </a:r>
                    </a:p>
                  </a:txBody>
                  <a:tcPr marT="64008" marB="64008">
                    <a:solidFill>
                      <a:srgbClr val="234560"/>
                    </a:solidFill>
                  </a:tcPr>
                </a:tc>
                <a:tc>
                  <a:txBody>
                    <a:bodyPr/>
                    <a:lstStyle/>
                    <a:p>
                      <a:pPr>
                        <a:lnSpc>
                          <a:spcPct val="102000"/>
                        </a:lnSpc>
                        <a:spcBef>
                          <a:spcPts val="0"/>
                        </a:spcBef>
                        <a:spcAft>
                          <a:spcPts val="300"/>
                        </a:spcAft>
                      </a:pPr>
                      <a:r>
                        <a:rPr sz="1180" b="0">
                          <a:solidFill>
                            <a:srgbClr val="F7FAFE"/>
                          </a:solidFill>
                          <a:latin typeface="Montserrat"/>
                        </a:rPr>
                        <a:t>Eventos destino reservados. No llamar “extrapolación” al entrenamiento conjunto en redes ya vistas.</a:t>
                      </a:r>
                    </a:p>
                  </a:txBody>
                  <a:tcPr marT="64008" marB="64008">
                    <a:solidFill>
                      <a:srgbClr val="234560"/>
                    </a:solidFill>
                  </a:tcPr>
                </a:tc>
                <a:extLst>
                  <a:ext uri="{0D108BD9-81ED-4DB2-BD59-A6C34878D82A}">
                    <a16:rowId xmlns:a16="http://schemas.microsoft.com/office/drawing/2014/main" val="10004"/>
                  </a:ext>
                </a:extLst>
              </a:tr>
            </a:tbl>
          </a:graphicData>
        </a:graphic>
      </p:graphicFrame>
      <p:sp>
        <p:nvSpPr>
          <p:cNvPr id="9" name="TextBox 8"/>
          <p:cNvSpPr txBox="1"/>
          <p:nvPr/>
        </p:nvSpPr>
        <p:spPr>
          <a:xfrm>
            <a:off x="365760" y="4608576"/>
            <a:ext cx="8229600" cy="182880"/>
          </a:xfrm>
          <a:prstGeom prst="rect">
            <a:avLst/>
          </a:prstGeom>
          <a:noFill/>
        </p:spPr>
        <p:txBody>
          <a:bodyPr wrap="square" lIns="0" tIns="0" rIns="0" bIns="0">
            <a:spAutoFit/>
          </a:bodyPr>
          <a:lstStyle/>
          <a:p>
            <a:pPr>
              <a:lnSpc>
                <a:spcPct val="106000"/>
              </a:lnSpc>
              <a:spcBef>
                <a:spcPts val="0"/>
              </a:spcBef>
              <a:spcAft>
                <a:spcPts val="300"/>
              </a:spcAft>
            </a:pPr>
            <a:r>
              <a:rPr sz="950" b="1">
                <a:solidFill>
                  <a:srgbClr val="F1CB83"/>
                </a:solidFill>
                <a:latin typeface="Montserrat"/>
              </a:rPr>
              <a:t>Ninguno de estos trabajos garantiza superar nuestro XGBoost con el mismo objetivo, datos y validación.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Presupuesto computacional: medir antes</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Separar horas-persona de desarrollo, horas-máquina de entrenamiento y tiempo para generar etiquetas.</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27</a:t>
            </a:r>
          </a:p>
        </p:txBody>
      </p:sp>
      <p:graphicFrame>
        <p:nvGraphicFramePr>
          <p:cNvPr id="8" name="Table 7"/>
          <p:cNvGraphicFramePr>
            <a:graphicFrameLocks noGrp="1"/>
          </p:cNvGraphicFramePr>
          <p:nvPr/>
        </p:nvGraphicFramePr>
        <p:xfrm>
          <a:off x="292608" y="1051560"/>
          <a:ext cx="8549640" cy="3547869"/>
        </p:xfrm>
        <a:graphic>
          <a:graphicData uri="http://schemas.openxmlformats.org/drawingml/2006/table">
            <a:tbl>
              <a:tblPr firstRow="1" bandRow="1">
                <a:tableStyleId>{5C22544A-7EE6-4342-B048-85BDC9FD1C3A}</a:tableStyleId>
              </a:tblPr>
              <a:tblGrid>
                <a:gridCol w="1965960">
                  <a:extLst>
                    <a:ext uri="{9D8B030D-6E8A-4147-A177-3AD203B41FA5}">
                      <a16:colId xmlns:a16="http://schemas.microsoft.com/office/drawing/2014/main" val="20000"/>
                    </a:ext>
                  </a:extLst>
                </a:gridCol>
                <a:gridCol w="6583680">
                  <a:extLst>
                    <a:ext uri="{9D8B030D-6E8A-4147-A177-3AD203B41FA5}">
                      <a16:colId xmlns:a16="http://schemas.microsoft.com/office/drawing/2014/main" val="20001"/>
                    </a:ext>
                  </a:extLst>
                </a:gridCol>
              </a:tblGrid>
              <a:tr h="420624">
                <a:tc>
                  <a:txBody>
                    <a:bodyPr/>
                    <a:lstStyle/>
                    <a:p>
                      <a:pPr>
                        <a:lnSpc>
                          <a:spcPct val="102000"/>
                        </a:lnSpc>
                        <a:spcBef>
                          <a:spcPts val="0"/>
                        </a:spcBef>
                        <a:spcAft>
                          <a:spcPts val="300"/>
                        </a:spcAft>
                      </a:pPr>
                      <a:r>
                        <a:rPr sz="1160" b="1">
                          <a:solidFill>
                            <a:srgbClr val="F7FAFE"/>
                          </a:solidFill>
                          <a:latin typeface="Montserrat"/>
                        </a:rPr>
                        <a:t>Costo</a:t>
                      </a:r>
                    </a:p>
                  </a:txBody>
                  <a:tcPr marT="64008" marB="64008">
                    <a:solidFill>
                      <a:srgbClr val="355A84"/>
                    </a:solidFill>
                  </a:tcPr>
                </a:tc>
                <a:tc>
                  <a:txBody>
                    <a:bodyPr/>
                    <a:lstStyle/>
                    <a:p>
                      <a:pPr>
                        <a:lnSpc>
                          <a:spcPct val="102000"/>
                        </a:lnSpc>
                        <a:spcBef>
                          <a:spcPts val="0"/>
                        </a:spcBef>
                        <a:spcAft>
                          <a:spcPts val="300"/>
                        </a:spcAft>
                      </a:pPr>
                      <a:r>
                        <a:rPr sz="1160" b="1">
                          <a:solidFill>
                            <a:srgbClr val="F7FAFE"/>
                          </a:solidFill>
                          <a:latin typeface="Montserrat"/>
                        </a:rPr>
                        <a:t>Cómo estimarlo para esta red</a:t>
                      </a:r>
                    </a:p>
                  </a:txBody>
                  <a:tcPr marT="64008" marB="64008">
                    <a:solidFill>
                      <a:srgbClr val="355A84"/>
                    </a:solidFill>
                  </a:tcPr>
                </a:tc>
                <a:extLst>
                  <a:ext uri="{0D108BD9-81ED-4DB2-BD59-A6C34878D82A}">
                    <a16:rowId xmlns:a16="http://schemas.microsoft.com/office/drawing/2014/main" val="10000"/>
                  </a:ext>
                </a:extLst>
              </a:tr>
              <a:tr h="625449">
                <a:tc>
                  <a:txBody>
                    <a:bodyPr/>
                    <a:lstStyle/>
                    <a:p>
                      <a:pPr>
                        <a:lnSpc>
                          <a:spcPct val="102000"/>
                        </a:lnSpc>
                        <a:spcBef>
                          <a:spcPts val="0"/>
                        </a:spcBef>
                        <a:spcAft>
                          <a:spcPts val="300"/>
                        </a:spcAft>
                      </a:pPr>
                      <a:r>
                        <a:rPr sz="1160" b="1">
                          <a:solidFill>
                            <a:srgbClr val="8BC5FA"/>
                          </a:solidFill>
                          <a:latin typeface="Montserrat"/>
                        </a:rPr>
                        <a:t>Simulaciones</a:t>
                      </a:r>
                    </a:p>
                  </a:txBody>
                  <a:tcPr marT="64008" marB="64008">
                    <a:solidFill>
                      <a:srgbClr val="193A58"/>
                    </a:solidFill>
                  </a:tcPr>
                </a:tc>
                <a:tc>
                  <a:txBody>
                    <a:bodyPr/>
                    <a:lstStyle/>
                    <a:p>
                      <a:pPr>
                        <a:lnSpc>
                          <a:spcPct val="102000"/>
                        </a:lnSpc>
                        <a:spcBef>
                          <a:spcPts val="0"/>
                        </a:spcBef>
                        <a:spcAft>
                          <a:spcPts val="300"/>
                        </a:spcAft>
                      </a:pPr>
                      <a:r>
                        <a:rPr sz="1200" b="0">
                          <a:solidFill>
                            <a:srgbClr val="F7FAFE"/>
                          </a:solidFill>
                          <a:latin typeface="Montserrat"/>
                        </a:rPr>
                        <a:t>Cronometrar 20 eventos representativos. Tiempo ≈ N × mediana por evento / paralelismo efectivo; revisar también extremos lentos.</a:t>
                      </a:r>
                    </a:p>
                  </a:txBody>
                  <a:tcPr marT="64008" marB="64008">
                    <a:solidFill>
                      <a:srgbClr val="193A58"/>
                    </a:solidFill>
                  </a:tcPr>
                </a:tc>
                <a:extLst>
                  <a:ext uri="{0D108BD9-81ED-4DB2-BD59-A6C34878D82A}">
                    <a16:rowId xmlns:a16="http://schemas.microsoft.com/office/drawing/2014/main" val="10001"/>
                  </a:ext>
                </a:extLst>
              </a:tr>
              <a:tr h="625449">
                <a:tc>
                  <a:txBody>
                    <a:bodyPr/>
                    <a:lstStyle/>
                    <a:p>
                      <a:pPr>
                        <a:lnSpc>
                          <a:spcPct val="102000"/>
                        </a:lnSpc>
                        <a:spcBef>
                          <a:spcPts val="0"/>
                        </a:spcBef>
                        <a:spcAft>
                          <a:spcPts val="300"/>
                        </a:spcAft>
                      </a:pPr>
                      <a:r>
                        <a:rPr sz="1160" b="1">
                          <a:solidFill>
                            <a:srgbClr val="8BC5FA"/>
                          </a:solidFill>
                          <a:latin typeface="Montserrat"/>
                        </a:rPr>
                        <a:t>Búsqueda de modelos</a:t>
                      </a:r>
                    </a:p>
                  </a:txBody>
                  <a:tcPr marT="64008" marB="64008">
                    <a:solidFill>
                      <a:srgbClr val="234560"/>
                    </a:solidFill>
                  </a:tcPr>
                </a:tc>
                <a:tc>
                  <a:txBody>
                    <a:bodyPr/>
                    <a:lstStyle/>
                    <a:p>
                      <a:pPr>
                        <a:lnSpc>
                          <a:spcPct val="102000"/>
                        </a:lnSpc>
                        <a:spcBef>
                          <a:spcPts val="0"/>
                        </a:spcBef>
                        <a:spcAft>
                          <a:spcPts val="300"/>
                        </a:spcAft>
                      </a:pPr>
                      <a:r>
                        <a:rPr sz="1200" b="0">
                          <a:solidFill>
                            <a:srgbClr val="F7FAFE"/>
                          </a:solidFill>
                          <a:latin typeface="Montserrat"/>
                        </a:rPr>
                        <a:t>Tiempo ≈ configuraciones × folds × semillas × duración de un ajuste. No confundir “un entrenamiento de 2 h” con toda la búsqueda.</a:t>
                      </a:r>
                    </a:p>
                  </a:txBody>
                  <a:tcPr marT="64008" marB="64008">
                    <a:solidFill>
                      <a:srgbClr val="234560"/>
                    </a:solidFill>
                  </a:tcPr>
                </a:tc>
                <a:extLst>
                  <a:ext uri="{0D108BD9-81ED-4DB2-BD59-A6C34878D82A}">
                    <a16:rowId xmlns:a16="http://schemas.microsoft.com/office/drawing/2014/main" val="10002"/>
                  </a:ext>
                </a:extLst>
              </a:tr>
              <a:tr h="625449">
                <a:tc>
                  <a:txBody>
                    <a:bodyPr/>
                    <a:lstStyle/>
                    <a:p>
                      <a:pPr>
                        <a:lnSpc>
                          <a:spcPct val="102000"/>
                        </a:lnSpc>
                        <a:spcBef>
                          <a:spcPts val="0"/>
                        </a:spcBef>
                        <a:spcAft>
                          <a:spcPts val="300"/>
                        </a:spcAft>
                      </a:pPr>
                      <a:r>
                        <a:rPr sz="1160" b="1">
                          <a:solidFill>
                            <a:srgbClr val="8BC5FA"/>
                          </a:solidFill>
                          <a:latin typeface="Montserrat"/>
                        </a:rPr>
                        <a:t>Datos temporales</a:t>
                      </a:r>
                    </a:p>
                  </a:txBody>
                  <a:tcPr marT="64008" marB="64008">
                    <a:solidFill>
                      <a:srgbClr val="193A58"/>
                    </a:solidFill>
                  </a:tcPr>
                </a:tc>
                <a:tc>
                  <a:txBody>
                    <a:bodyPr/>
                    <a:lstStyle/>
                    <a:p>
                      <a:pPr>
                        <a:lnSpc>
                          <a:spcPct val="102000"/>
                        </a:lnSpc>
                        <a:spcBef>
                          <a:spcPts val="0"/>
                        </a:spcBef>
                        <a:spcAft>
                          <a:spcPts val="300"/>
                        </a:spcAft>
                      </a:pPr>
                      <a:r>
                        <a:rPr sz="1200" b="0">
                          <a:solidFill>
                            <a:srgbClr val="F7FAFE"/>
                          </a:solidFill>
                          <a:latin typeface="Montserrat"/>
                        </a:rPr>
                        <a:t>Ejemplo propio: 1.000 eventos × 1.440 pasos × (160×3 + 160×2 variables) × 4 bytes ≈ 4,6 GB crudos; sin ventanas duplicadas ni cachés.</a:t>
                      </a:r>
                    </a:p>
                  </a:txBody>
                  <a:tcPr marT="64008" marB="64008">
                    <a:solidFill>
                      <a:srgbClr val="193A58"/>
                    </a:solidFill>
                  </a:tcPr>
                </a:tc>
                <a:extLst>
                  <a:ext uri="{0D108BD9-81ED-4DB2-BD59-A6C34878D82A}">
                    <a16:rowId xmlns:a16="http://schemas.microsoft.com/office/drawing/2014/main" val="10003"/>
                  </a:ext>
                </a:extLst>
              </a:tr>
              <a:tr h="625449">
                <a:tc>
                  <a:txBody>
                    <a:bodyPr/>
                    <a:lstStyle/>
                    <a:p>
                      <a:pPr>
                        <a:lnSpc>
                          <a:spcPct val="102000"/>
                        </a:lnSpc>
                        <a:spcBef>
                          <a:spcPts val="0"/>
                        </a:spcBef>
                        <a:spcAft>
                          <a:spcPts val="300"/>
                        </a:spcAft>
                      </a:pPr>
                      <a:r>
                        <a:rPr sz="1160" b="1">
                          <a:solidFill>
                            <a:srgbClr val="8BC5FA"/>
                          </a:solidFill>
                          <a:latin typeface="Montserrat"/>
                        </a:rPr>
                        <a:t>Memoria de GPU</a:t>
                      </a:r>
                    </a:p>
                  </a:txBody>
                  <a:tcPr marT="64008" marB="64008">
                    <a:solidFill>
                      <a:srgbClr val="234560"/>
                    </a:solidFill>
                  </a:tcPr>
                </a:tc>
                <a:tc>
                  <a:txBody>
                    <a:bodyPr/>
                    <a:lstStyle/>
                    <a:p>
                      <a:pPr>
                        <a:lnSpc>
                          <a:spcPct val="102000"/>
                        </a:lnSpc>
                        <a:spcBef>
                          <a:spcPts val="0"/>
                        </a:spcBef>
                        <a:spcAft>
                          <a:spcPts val="300"/>
                        </a:spcAft>
                      </a:pPr>
                      <a:r>
                        <a:rPr sz="1200" b="0">
                          <a:solidFill>
                            <a:srgbClr val="F7FAFE"/>
                          </a:solidFill>
                          <a:latin typeface="Montserrat"/>
                        </a:rPr>
                        <a:t>Depende de lotes, ventana, capas y gradientes; no del tamaño del CSV. T400 4 GB: piloto. Si no cabe, evaluar GPU 16–24 GB; no comprar por el paper.</a:t>
                      </a:r>
                    </a:p>
                  </a:txBody>
                  <a:tcPr marT="64008" marB="64008">
                    <a:solidFill>
                      <a:srgbClr val="234560"/>
                    </a:solidFill>
                  </a:tcPr>
                </a:tc>
                <a:extLst>
                  <a:ext uri="{0D108BD9-81ED-4DB2-BD59-A6C34878D82A}">
                    <a16:rowId xmlns:a16="http://schemas.microsoft.com/office/drawing/2014/main" val="10004"/>
                  </a:ext>
                </a:extLst>
              </a:tr>
              <a:tr h="625449">
                <a:tc>
                  <a:txBody>
                    <a:bodyPr/>
                    <a:lstStyle/>
                    <a:p>
                      <a:pPr>
                        <a:lnSpc>
                          <a:spcPct val="102000"/>
                        </a:lnSpc>
                        <a:spcBef>
                          <a:spcPts val="0"/>
                        </a:spcBef>
                        <a:spcAft>
                          <a:spcPts val="300"/>
                        </a:spcAft>
                      </a:pPr>
                      <a:r>
                        <a:rPr sz="1160" b="1">
                          <a:solidFill>
                            <a:srgbClr val="8BC5FA"/>
                          </a:solidFill>
                          <a:latin typeface="Montserrat"/>
                        </a:rPr>
                        <a:t>Decisión de alcance</a:t>
                      </a:r>
                    </a:p>
                  </a:txBody>
                  <a:tcPr marT="64008" marB="64008">
                    <a:solidFill>
                      <a:srgbClr val="193A58"/>
                    </a:solidFill>
                  </a:tcPr>
                </a:tc>
                <a:tc>
                  <a:txBody>
                    <a:bodyPr/>
                    <a:lstStyle/>
                    <a:p>
                      <a:pPr>
                        <a:lnSpc>
                          <a:spcPct val="102000"/>
                        </a:lnSpc>
                        <a:spcBef>
                          <a:spcPts val="0"/>
                        </a:spcBef>
                        <a:spcAft>
                          <a:spcPts val="300"/>
                        </a:spcAft>
                      </a:pPr>
                      <a:r>
                        <a:rPr sz="1200" b="0">
                          <a:solidFill>
                            <a:srgbClr val="F7FAFE"/>
                          </a:solidFill>
                          <a:latin typeface="Montserrat"/>
                        </a:rPr>
                        <a:t>Con objetivo por evento y XGBoost sólido: MLP primero. Para GNN/transferencia, reservar semanas adicionales solo tras demostrar una necesidad.</a:t>
                      </a:r>
                    </a:p>
                  </a:txBody>
                  <a:tcPr marT="64008" marB="64008">
                    <a:solidFill>
                      <a:srgbClr val="193A58"/>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Referencias y nivel de acceso · 1/2</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Títulos completos y DOI clicables. Las notas de las tablas contienen enlaces a textos y repositorios.</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28</a:t>
            </a:r>
          </a:p>
        </p:txBody>
      </p:sp>
      <p:sp>
        <p:nvSpPr>
          <p:cNvPr id="8" name="TextBox 7"/>
          <p:cNvSpPr txBox="1"/>
          <p:nvPr/>
        </p:nvSpPr>
        <p:spPr>
          <a:xfrm>
            <a:off x="384048" y="1051560"/>
            <a:ext cx="411480" cy="219456"/>
          </a:xfrm>
          <a:prstGeom prst="rect">
            <a:avLst/>
          </a:prstGeom>
          <a:noFill/>
        </p:spPr>
        <p:txBody>
          <a:bodyPr wrap="square" lIns="0" tIns="0" rIns="0" bIns="0">
            <a:spAutoFit/>
          </a:bodyPr>
          <a:lstStyle/>
          <a:p>
            <a:pPr>
              <a:lnSpc>
                <a:spcPct val="106000"/>
              </a:lnSpc>
              <a:spcBef>
                <a:spcPts val="0"/>
              </a:spcBef>
              <a:spcAft>
                <a:spcPts val="300"/>
              </a:spcAft>
            </a:pPr>
            <a:r>
              <a:rPr sz="1200" b="1">
                <a:solidFill>
                  <a:srgbClr val="8BC5FA"/>
                </a:solidFill>
                <a:latin typeface="Montserrat"/>
              </a:rPr>
              <a:t>P1</a:t>
            </a:r>
          </a:p>
        </p:txBody>
      </p:sp>
      <p:sp>
        <p:nvSpPr>
          <p:cNvPr id="9" name="TextBox 8"/>
          <p:cNvSpPr txBox="1"/>
          <p:nvPr/>
        </p:nvSpPr>
        <p:spPr>
          <a:xfrm>
            <a:off x="886968" y="1051560"/>
            <a:ext cx="7635240" cy="438912"/>
          </a:xfrm>
          <a:prstGeom prst="rect">
            <a:avLst/>
          </a:prstGeom>
          <a:noFill/>
        </p:spPr>
        <p:txBody>
          <a:bodyPr wrap="square" lIns="0" tIns="0" rIns="0" bIns="0">
            <a:spAutoFit/>
          </a:bodyPr>
          <a:lstStyle/>
          <a:p>
            <a:pPr>
              <a:lnSpc>
                <a:spcPct val="106000"/>
              </a:lnSpc>
              <a:spcBef>
                <a:spcPts val="0"/>
              </a:spcBef>
              <a:spcAft>
                <a:spcPts val="300"/>
              </a:spcAft>
            </a:pPr>
            <a:r>
              <a:rPr sz="1130" b="0">
                <a:solidFill>
                  <a:srgbClr val="F7FAFE"/>
                </a:solidFill>
                <a:latin typeface="Montserrat"/>
                <a:hlinkClick r:id="rId3"/>
              </a:rPr>
              <a:t>Zhang et al. (2024) · Graph neural network-based surrogate modelling for real-time hydraulic prediction of urban drainage networks</a:t>
            </a:r>
          </a:p>
        </p:txBody>
      </p:sp>
      <p:sp>
        <p:nvSpPr>
          <p:cNvPr id="10" name="TextBox 9"/>
          <p:cNvSpPr txBox="1"/>
          <p:nvPr/>
        </p:nvSpPr>
        <p:spPr>
          <a:xfrm>
            <a:off x="886968" y="1527048"/>
            <a:ext cx="7589520" cy="292608"/>
          </a:xfrm>
          <a:prstGeom prst="rect">
            <a:avLst/>
          </a:prstGeom>
          <a:noFill/>
        </p:spPr>
        <p:txBody>
          <a:bodyPr wrap="square" lIns="0" tIns="0" rIns="0" bIns="0">
            <a:spAutoFit/>
          </a:bodyPr>
          <a:lstStyle/>
          <a:p>
            <a:pPr>
              <a:lnSpc>
                <a:spcPct val="106000"/>
              </a:lnSpc>
              <a:spcBef>
                <a:spcPts val="0"/>
              </a:spcBef>
              <a:spcAft>
                <a:spcPts val="300"/>
              </a:spcAft>
            </a:pPr>
            <a:r>
              <a:rPr sz="950" b="0">
                <a:solidFill>
                  <a:srgbClr val="B7CBE0"/>
                </a:solidFill>
                <a:latin typeface="Montserrat"/>
                <a:hlinkClick r:id="rId3"/>
              </a:rPr>
              <a:t>Water Research 263, 122142 | DOI 10.1016/j.watres.2024.122142</a:t>
            </a:r>
          </a:p>
        </p:txBody>
      </p:sp>
      <p:sp>
        <p:nvSpPr>
          <p:cNvPr id="11" name="TextBox 10"/>
          <p:cNvSpPr txBox="1"/>
          <p:nvPr/>
        </p:nvSpPr>
        <p:spPr>
          <a:xfrm>
            <a:off x="384048" y="1911095"/>
            <a:ext cx="411480" cy="219456"/>
          </a:xfrm>
          <a:prstGeom prst="rect">
            <a:avLst/>
          </a:prstGeom>
          <a:noFill/>
        </p:spPr>
        <p:txBody>
          <a:bodyPr wrap="square" lIns="0" tIns="0" rIns="0" bIns="0">
            <a:spAutoFit/>
          </a:bodyPr>
          <a:lstStyle/>
          <a:p>
            <a:pPr>
              <a:lnSpc>
                <a:spcPct val="106000"/>
              </a:lnSpc>
              <a:spcBef>
                <a:spcPts val="0"/>
              </a:spcBef>
              <a:spcAft>
                <a:spcPts val="300"/>
              </a:spcAft>
            </a:pPr>
            <a:r>
              <a:rPr sz="1200" b="1">
                <a:solidFill>
                  <a:srgbClr val="8BC5FA"/>
                </a:solidFill>
                <a:latin typeface="Montserrat"/>
              </a:rPr>
              <a:t>P2</a:t>
            </a:r>
          </a:p>
        </p:txBody>
      </p:sp>
      <p:sp>
        <p:nvSpPr>
          <p:cNvPr id="12" name="TextBox 11"/>
          <p:cNvSpPr txBox="1"/>
          <p:nvPr/>
        </p:nvSpPr>
        <p:spPr>
          <a:xfrm>
            <a:off x="886968" y="1911095"/>
            <a:ext cx="7635240" cy="438912"/>
          </a:xfrm>
          <a:prstGeom prst="rect">
            <a:avLst/>
          </a:prstGeom>
          <a:noFill/>
        </p:spPr>
        <p:txBody>
          <a:bodyPr wrap="square" lIns="0" tIns="0" rIns="0" bIns="0">
            <a:spAutoFit/>
          </a:bodyPr>
          <a:lstStyle/>
          <a:p>
            <a:pPr>
              <a:lnSpc>
                <a:spcPct val="106000"/>
              </a:lnSpc>
              <a:spcBef>
                <a:spcPts val="0"/>
              </a:spcBef>
              <a:spcAft>
                <a:spcPts val="300"/>
              </a:spcAft>
            </a:pPr>
            <a:r>
              <a:rPr sz="1130" b="0">
                <a:solidFill>
                  <a:srgbClr val="F7FAFE"/>
                </a:solidFill>
                <a:latin typeface="Montserrat"/>
                <a:hlinkClick r:id="rId4"/>
              </a:rPr>
              <a:t>Palmitessa et al. (2022) · Accelerating hydrodynamic simulations of urban drainage systems with physics-guided machine learning</a:t>
            </a:r>
          </a:p>
        </p:txBody>
      </p:sp>
      <p:sp>
        <p:nvSpPr>
          <p:cNvPr id="13" name="TextBox 12"/>
          <p:cNvSpPr txBox="1"/>
          <p:nvPr/>
        </p:nvSpPr>
        <p:spPr>
          <a:xfrm>
            <a:off x="886968" y="2386584"/>
            <a:ext cx="7589520" cy="292608"/>
          </a:xfrm>
          <a:prstGeom prst="rect">
            <a:avLst/>
          </a:prstGeom>
          <a:noFill/>
        </p:spPr>
        <p:txBody>
          <a:bodyPr wrap="square" lIns="0" tIns="0" rIns="0" bIns="0">
            <a:spAutoFit/>
          </a:bodyPr>
          <a:lstStyle/>
          <a:p>
            <a:pPr>
              <a:lnSpc>
                <a:spcPct val="106000"/>
              </a:lnSpc>
              <a:spcBef>
                <a:spcPts val="0"/>
              </a:spcBef>
              <a:spcAft>
                <a:spcPts val="300"/>
              </a:spcAft>
            </a:pPr>
            <a:r>
              <a:rPr sz="950" b="0">
                <a:solidFill>
                  <a:srgbClr val="B7CBE0"/>
                </a:solidFill>
                <a:latin typeface="Montserrat"/>
                <a:hlinkClick r:id="rId4"/>
              </a:rPr>
              <a:t>Water Research 223, 118972 | DOI 10.1016/j.watres.2022.118972</a:t>
            </a:r>
          </a:p>
        </p:txBody>
      </p:sp>
      <p:sp>
        <p:nvSpPr>
          <p:cNvPr id="14" name="TextBox 13"/>
          <p:cNvSpPr txBox="1"/>
          <p:nvPr/>
        </p:nvSpPr>
        <p:spPr>
          <a:xfrm>
            <a:off x="384048" y="2770632"/>
            <a:ext cx="411480" cy="219456"/>
          </a:xfrm>
          <a:prstGeom prst="rect">
            <a:avLst/>
          </a:prstGeom>
          <a:noFill/>
        </p:spPr>
        <p:txBody>
          <a:bodyPr wrap="square" lIns="0" tIns="0" rIns="0" bIns="0">
            <a:spAutoFit/>
          </a:bodyPr>
          <a:lstStyle/>
          <a:p>
            <a:pPr>
              <a:lnSpc>
                <a:spcPct val="106000"/>
              </a:lnSpc>
              <a:spcBef>
                <a:spcPts val="0"/>
              </a:spcBef>
              <a:spcAft>
                <a:spcPts val="300"/>
              </a:spcAft>
            </a:pPr>
            <a:r>
              <a:rPr sz="1200" b="1">
                <a:solidFill>
                  <a:srgbClr val="8BC5FA"/>
                </a:solidFill>
                <a:latin typeface="Montserrat"/>
              </a:rPr>
              <a:t>P3</a:t>
            </a:r>
          </a:p>
        </p:txBody>
      </p:sp>
      <p:sp>
        <p:nvSpPr>
          <p:cNvPr id="15" name="TextBox 14"/>
          <p:cNvSpPr txBox="1"/>
          <p:nvPr/>
        </p:nvSpPr>
        <p:spPr>
          <a:xfrm>
            <a:off x="886968" y="2770632"/>
            <a:ext cx="7635240" cy="438912"/>
          </a:xfrm>
          <a:prstGeom prst="rect">
            <a:avLst/>
          </a:prstGeom>
          <a:noFill/>
        </p:spPr>
        <p:txBody>
          <a:bodyPr wrap="square" lIns="0" tIns="0" rIns="0" bIns="0">
            <a:spAutoFit/>
          </a:bodyPr>
          <a:lstStyle/>
          <a:p>
            <a:pPr>
              <a:lnSpc>
                <a:spcPct val="106000"/>
              </a:lnSpc>
              <a:spcBef>
                <a:spcPts val="0"/>
              </a:spcBef>
              <a:spcAft>
                <a:spcPts val="300"/>
              </a:spcAft>
            </a:pPr>
            <a:r>
              <a:rPr sz="1130" b="0">
                <a:solidFill>
                  <a:srgbClr val="F7FAFE"/>
                </a:solidFill>
                <a:latin typeface="Montserrat"/>
                <a:hlinkClick r:id="rId5"/>
              </a:rPr>
              <a:t>Garzón et al. (2024) · Transferable and data efficient metamodeling of storm water system nodal depths using auto-regressive graph neural networks</a:t>
            </a:r>
          </a:p>
        </p:txBody>
      </p:sp>
      <p:sp>
        <p:nvSpPr>
          <p:cNvPr id="16" name="TextBox 15"/>
          <p:cNvSpPr txBox="1"/>
          <p:nvPr/>
        </p:nvSpPr>
        <p:spPr>
          <a:xfrm>
            <a:off x="886968" y="3246120"/>
            <a:ext cx="7589520" cy="292608"/>
          </a:xfrm>
          <a:prstGeom prst="rect">
            <a:avLst/>
          </a:prstGeom>
          <a:noFill/>
        </p:spPr>
        <p:txBody>
          <a:bodyPr wrap="square" lIns="0" tIns="0" rIns="0" bIns="0">
            <a:spAutoFit/>
          </a:bodyPr>
          <a:lstStyle/>
          <a:p>
            <a:pPr>
              <a:lnSpc>
                <a:spcPct val="106000"/>
              </a:lnSpc>
              <a:spcBef>
                <a:spcPts val="0"/>
              </a:spcBef>
              <a:spcAft>
                <a:spcPts val="300"/>
              </a:spcAft>
            </a:pPr>
            <a:r>
              <a:rPr sz="950" b="0">
                <a:solidFill>
                  <a:srgbClr val="B7CBE0"/>
                </a:solidFill>
                <a:latin typeface="Montserrat"/>
                <a:hlinkClick r:id="rId5"/>
              </a:rPr>
              <a:t>Water Research 266, 122396 | DOI 10.1016/j.watres.2024.122396</a:t>
            </a:r>
          </a:p>
        </p:txBody>
      </p:sp>
      <p:sp>
        <p:nvSpPr>
          <p:cNvPr id="17" name="TextBox 16"/>
          <p:cNvSpPr txBox="1"/>
          <p:nvPr/>
        </p:nvSpPr>
        <p:spPr>
          <a:xfrm>
            <a:off x="384048" y="3630168"/>
            <a:ext cx="411480" cy="219456"/>
          </a:xfrm>
          <a:prstGeom prst="rect">
            <a:avLst/>
          </a:prstGeom>
          <a:noFill/>
        </p:spPr>
        <p:txBody>
          <a:bodyPr wrap="square" lIns="0" tIns="0" rIns="0" bIns="0">
            <a:spAutoFit/>
          </a:bodyPr>
          <a:lstStyle/>
          <a:p>
            <a:pPr>
              <a:lnSpc>
                <a:spcPct val="106000"/>
              </a:lnSpc>
              <a:spcBef>
                <a:spcPts val="0"/>
              </a:spcBef>
              <a:spcAft>
                <a:spcPts val="300"/>
              </a:spcAft>
            </a:pPr>
            <a:r>
              <a:rPr sz="1200" b="1">
                <a:solidFill>
                  <a:srgbClr val="8BC5FA"/>
                </a:solidFill>
                <a:latin typeface="Montserrat"/>
              </a:rPr>
              <a:t>P4</a:t>
            </a:r>
          </a:p>
        </p:txBody>
      </p:sp>
      <p:sp>
        <p:nvSpPr>
          <p:cNvPr id="18" name="TextBox 17"/>
          <p:cNvSpPr txBox="1"/>
          <p:nvPr/>
        </p:nvSpPr>
        <p:spPr>
          <a:xfrm>
            <a:off x="886968" y="3630168"/>
            <a:ext cx="7635240" cy="438912"/>
          </a:xfrm>
          <a:prstGeom prst="rect">
            <a:avLst/>
          </a:prstGeom>
          <a:noFill/>
        </p:spPr>
        <p:txBody>
          <a:bodyPr wrap="square" lIns="0" tIns="0" rIns="0" bIns="0">
            <a:spAutoFit/>
          </a:bodyPr>
          <a:lstStyle/>
          <a:p>
            <a:pPr>
              <a:lnSpc>
                <a:spcPct val="106000"/>
              </a:lnSpc>
              <a:spcBef>
                <a:spcPts val="0"/>
              </a:spcBef>
              <a:spcAft>
                <a:spcPts val="300"/>
              </a:spcAft>
            </a:pPr>
            <a:r>
              <a:rPr sz="1130" b="0">
                <a:solidFill>
                  <a:srgbClr val="F7FAFE"/>
                </a:solidFill>
                <a:latin typeface="Montserrat"/>
                <a:hlinkClick r:id="rId6"/>
              </a:rPr>
              <a:t>Garzón et al. (2026) · Evaluation of graph neural networks for urban drainage metamodeling: Key components and transferability analysis</a:t>
            </a:r>
          </a:p>
        </p:txBody>
      </p:sp>
      <p:sp>
        <p:nvSpPr>
          <p:cNvPr id="19" name="TextBox 18"/>
          <p:cNvSpPr txBox="1"/>
          <p:nvPr/>
        </p:nvSpPr>
        <p:spPr>
          <a:xfrm>
            <a:off x="886968" y="4105656"/>
            <a:ext cx="7589520" cy="292608"/>
          </a:xfrm>
          <a:prstGeom prst="rect">
            <a:avLst/>
          </a:prstGeom>
          <a:noFill/>
        </p:spPr>
        <p:txBody>
          <a:bodyPr wrap="square" lIns="0" tIns="0" rIns="0" bIns="0">
            <a:spAutoFit/>
          </a:bodyPr>
          <a:lstStyle/>
          <a:p>
            <a:pPr>
              <a:lnSpc>
                <a:spcPct val="106000"/>
              </a:lnSpc>
              <a:spcBef>
                <a:spcPts val="0"/>
              </a:spcBef>
              <a:spcAft>
                <a:spcPts val="300"/>
              </a:spcAft>
            </a:pPr>
            <a:r>
              <a:rPr sz="950" b="0">
                <a:solidFill>
                  <a:srgbClr val="B7CBE0"/>
                </a:solidFill>
                <a:latin typeface="Montserrat"/>
                <a:hlinkClick r:id="rId6"/>
              </a:rPr>
              <a:t>Water Research 290, 125079 | DOI 10.1016/j.watres.2025.125079</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339327" cy="393192"/>
          </a:xfrm>
          <a:prstGeom prst="rect">
            <a:avLst/>
          </a:prstGeom>
          <a:noFill/>
        </p:spPr>
        <p:txBody>
          <a:bodyPr wrap="square" lIns="0" tIns="0" rIns="0" bIns="0">
            <a:spAutoFit/>
          </a:bodyPr>
          <a:lstStyle/>
          <a:p>
            <a:pPr>
              <a:lnSpc>
                <a:spcPct val="106000"/>
              </a:lnSpc>
              <a:spcBef>
                <a:spcPts val="0"/>
              </a:spcBef>
              <a:spcAft>
                <a:spcPts val="300"/>
              </a:spcAft>
            </a:pPr>
            <a:r>
              <a:rPr sz="2200" b="1">
                <a:solidFill>
                  <a:srgbClr val="8BC5FA"/>
                </a:solidFill>
                <a:latin typeface="Libre Baskerville"/>
              </a:rPr>
              <a:t>Referencias y nivel de acceso · 2/2</a:t>
            </a:r>
          </a:p>
        </p:txBody>
      </p:sp>
      <p:sp>
        <p:nvSpPr>
          <p:cNvPr id="5" name="TextBox 4"/>
          <p:cNvSpPr txBox="1"/>
          <p:nvPr/>
        </p:nvSpPr>
        <p:spPr>
          <a:xfrm>
            <a:off x="429768" y="658368"/>
            <a:ext cx="8275320" cy="329184"/>
          </a:xfrm>
          <a:prstGeom prst="rect">
            <a:avLst/>
          </a:prstGeom>
          <a:noFill/>
        </p:spPr>
        <p:txBody>
          <a:bodyPr wrap="square" lIns="0" tIns="0" rIns="0" bIns="0">
            <a:spAutoFit/>
          </a:bodyPr>
          <a:lstStyle/>
          <a:p>
            <a:pPr>
              <a:lnSpc>
                <a:spcPct val="106000"/>
              </a:lnSpc>
              <a:spcBef>
                <a:spcPts val="0"/>
              </a:spcBef>
              <a:spcAft>
                <a:spcPts val="300"/>
              </a:spcAft>
            </a:pPr>
            <a:r>
              <a:rPr sz="1050" b="0">
                <a:solidFill>
                  <a:srgbClr val="B7CBE0"/>
                </a:solidFill>
                <a:latin typeface="Montserrat"/>
              </a:rPr>
              <a:t>Títulos completos y DOI clicables. Las notas de las tablas contienen enlaces a textos y repositorios.</a:t>
            </a:r>
          </a:p>
        </p:txBody>
      </p:sp>
      <p:sp>
        <p:nvSpPr>
          <p:cNvPr id="6" name="TextBox 5"/>
          <p:cNvSpPr txBox="1"/>
          <p:nvPr/>
        </p:nvSpPr>
        <p:spPr>
          <a:xfrm>
            <a:off x="310896" y="4892040"/>
            <a:ext cx="7863840" cy="137160"/>
          </a:xfrm>
          <a:prstGeom prst="rect">
            <a:avLst/>
          </a:prstGeom>
          <a:noFill/>
        </p:spPr>
        <p:txBody>
          <a:bodyPr wrap="square" lIns="0" tIns="0" rIns="0" bIns="0">
            <a:spAutoFit/>
          </a:bodyPr>
          <a:lstStyle/>
          <a:p>
            <a:pPr>
              <a:lnSpc>
                <a:spcPct val="106000"/>
              </a:lnSpc>
              <a:spcBef>
                <a:spcPts val="0"/>
              </a:spcBef>
              <a:spcAft>
                <a:spcPts val="300"/>
              </a:spcAft>
            </a:pPr>
            <a:r>
              <a:rPr sz="800" b="0">
                <a:solidFill>
                  <a:srgbClr val="B7CBE0"/>
                </a:solidFill>
                <a:latin typeface="Montserrat"/>
              </a:rPr>
              <a:t>MLSMFP  |  Revisión crítica de literatura  |  22 septiembre 2026</a:t>
            </a:r>
          </a:p>
        </p:txBody>
      </p:sp>
      <p:sp>
        <p:nvSpPr>
          <p:cNvPr id="7" name="TextBox 6"/>
          <p:cNvSpPr txBox="1"/>
          <p:nvPr/>
        </p:nvSpPr>
        <p:spPr>
          <a:xfrm>
            <a:off x="8321040" y="4818888"/>
            <a:ext cx="502920" cy="228600"/>
          </a:xfrm>
          <a:prstGeom prst="rect">
            <a:avLst/>
          </a:prstGeom>
          <a:noFill/>
        </p:spPr>
        <p:txBody>
          <a:bodyPr wrap="square" lIns="0" tIns="0" rIns="0" bIns="0">
            <a:spAutoFit/>
          </a:bodyPr>
          <a:lstStyle/>
          <a:p>
            <a:pPr>
              <a:lnSpc>
                <a:spcPct val="106000"/>
              </a:lnSpc>
              <a:spcBef>
                <a:spcPts val="0"/>
              </a:spcBef>
              <a:spcAft>
                <a:spcPts val="300"/>
              </a:spcAft>
            </a:pPr>
            <a:r>
              <a:rPr sz="1100" b="0">
                <a:solidFill>
                  <a:srgbClr val="8BC5FA"/>
                </a:solidFill>
                <a:latin typeface="Montserrat"/>
              </a:rPr>
              <a:t>29</a:t>
            </a:r>
          </a:p>
        </p:txBody>
      </p:sp>
      <p:sp>
        <p:nvSpPr>
          <p:cNvPr id="8" name="TextBox 7"/>
          <p:cNvSpPr txBox="1"/>
          <p:nvPr/>
        </p:nvSpPr>
        <p:spPr>
          <a:xfrm>
            <a:off x="384048" y="1051560"/>
            <a:ext cx="411480" cy="219456"/>
          </a:xfrm>
          <a:prstGeom prst="rect">
            <a:avLst/>
          </a:prstGeom>
          <a:noFill/>
        </p:spPr>
        <p:txBody>
          <a:bodyPr wrap="square" lIns="0" tIns="0" rIns="0" bIns="0">
            <a:spAutoFit/>
          </a:bodyPr>
          <a:lstStyle/>
          <a:p>
            <a:pPr>
              <a:lnSpc>
                <a:spcPct val="106000"/>
              </a:lnSpc>
              <a:spcBef>
                <a:spcPts val="0"/>
              </a:spcBef>
              <a:spcAft>
                <a:spcPts val="300"/>
              </a:spcAft>
            </a:pPr>
            <a:r>
              <a:rPr sz="1200" b="1">
                <a:solidFill>
                  <a:srgbClr val="8BC5FA"/>
                </a:solidFill>
                <a:latin typeface="Montserrat"/>
              </a:rPr>
              <a:t>P5</a:t>
            </a:r>
          </a:p>
        </p:txBody>
      </p:sp>
      <p:sp>
        <p:nvSpPr>
          <p:cNvPr id="9" name="TextBox 8"/>
          <p:cNvSpPr txBox="1"/>
          <p:nvPr/>
        </p:nvSpPr>
        <p:spPr>
          <a:xfrm>
            <a:off x="886968" y="1051560"/>
            <a:ext cx="7635240" cy="438912"/>
          </a:xfrm>
          <a:prstGeom prst="rect">
            <a:avLst/>
          </a:prstGeom>
          <a:noFill/>
        </p:spPr>
        <p:txBody>
          <a:bodyPr wrap="square" lIns="0" tIns="0" rIns="0" bIns="0">
            <a:spAutoFit/>
          </a:bodyPr>
          <a:lstStyle/>
          <a:p>
            <a:pPr>
              <a:lnSpc>
                <a:spcPct val="106000"/>
              </a:lnSpc>
              <a:spcBef>
                <a:spcPts val="0"/>
              </a:spcBef>
              <a:spcAft>
                <a:spcPts val="300"/>
              </a:spcAft>
            </a:pPr>
            <a:r>
              <a:rPr sz="1130" b="0">
                <a:solidFill>
                  <a:srgbClr val="F7FAFE"/>
                </a:solidFill>
                <a:latin typeface="Montserrat"/>
                <a:hlinkClick r:id="rId3"/>
              </a:rPr>
              <a:t>Brazão et al. (2026) · Evaluation of Artificial Neural Network Surrogate Models for Detention-Based Flood Control in Urban Areas</a:t>
            </a:r>
          </a:p>
        </p:txBody>
      </p:sp>
      <p:sp>
        <p:nvSpPr>
          <p:cNvPr id="10" name="TextBox 9"/>
          <p:cNvSpPr txBox="1"/>
          <p:nvPr/>
        </p:nvSpPr>
        <p:spPr>
          <a:xfrm>
            <a:off x="886968" y="1527048"/>
            <a:ext cx="7589520" cy="292608"/>
          </a:xfrm>
          <a:prstGeom prst="rect">
            <a:avLst/>
          </a:prstGeom>
          <a:noFill/>
        </p:spPr>
        <p:txBody>
          <a:bodyPr wrap="square" lIns="0" tIns="0" rIns="0" bIns="0">
            <a:spAutoFit/>
          </a:bodyPr>
          <a:lstStyle/>
          <a:p>
            <a:pPr>
              <a:lnSpc>
                <a:spcPct val="106000"/>
              </a:lnSpc>
              <a:spcBef>
                <a:spcPts val="0"/>
              </a:spcBef>
              <a:spcAft>
                <a:spcPts val="300"/>
              </a:spcAft>
            </a:pPr>
            <a:r>
              <a:rPr sz="950" b="0">
                <a:solidFill>
                  <a:srgbClr val="B7CBE0"/>
                </a:solidFill>
                <a:latin typeface="Montserrat"/>
                <a:hlinkClick r:id="rId3"/>
              </a:rPr>
              <a:t>J. Water Resources Planning and Management (ASCE), 152(11) | DOI 10.1061/JWRMD5.WRENG-7598</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229600" cy="393192"/>
          </a:xfrm>
          <a:prstGeom prst="rect">
            <a:avLst/>
          </a:prstGeom>
          <a:noFill/>
        </p:spPr>
        <p:txBody>
          <a:bodyPr wrap="square" lIns="0" tIns="0" rIns="0" bIns="0">
            <a:spAutoFit/>
          </a:bodyPr>
          <a:lstStyle/>
          <a:p>
            <a:pPr>
              <a:lnSpc>
                <a:spcPct val="100000"/>
              </a:lnSpc>
              <a:spcAft>
                <a:spcPts val="200"/>
              </a:spcAft>
            </a:pPr>
            <a:r>
              <a:rPr sz="2050" b="1">
                <a:solidFill>
                  <a:srgbClr val="8BC5FA"/>
                </a:solidFill>
                <a:latin typeface="Montserrat"/>
              </a:rPr>
              <a:t>Validación 1/5: Doble pico · 7 h 15 min</a:t>
            </a:r>
          </a:p>
        </p:txBody>
      </p:sp>
      <p:sp>
        <p:nvSpPr>
          <p:cNvPr id="5" name="TextBox 4"/>
          <p:cNvSpPr txBox="1"/>
          <p:nvPr/>
        </p:nvSpPr>
        <p:spPr>
          <a:xfrm>
            <a:off x="429768" y="658368"/>
            <a:ext cx="8229600" cy="146194"/>
          </a:xfrm>
          <a:prstGeom prst="rect">
            <a:avLst/>
          </a:prstGeom>
          <a:noFill/>
        </p:spPr>
        <p:txBody>
          <a:bodyPr wrap="square" lIns="0" tIns="0" rIns="0" bIns="0">
            <a:spAutoFit/>
          </a:bodyPr>
          <a:lstStyle/>
          <a:p>
            <a:pPr>
              <a:lnSpc>
                <a:spcPct val="100000"/>
              </a:lnSpc>
              <a:spcAft>
                <a:spcPts val="200"/>
              </a:spcAft>
            </a:pPr>
            <a:r>
              <a:rPr lang="es-CO" sz="950" b="0" dirty="0">
                <a:solidFill>
                  <a:srgbClr val="B7CBE0"/>
                </a:solidFill>
                <a:latin typeface="Montserrat"/>
              </a:rPr>
              <a:t>Forma usada en entrenamiento · factor de carga no visto: </a:t>
            </a:r>
            <a:r>
              <a:rPr sz="950" b="0" dirty="0">
                <a:solidFill>
                  <a:srgbClr val="B7CBE0"/>
                </a:solidFill>
                <a:latin typeface="Montserrat"/>
              </a:rPr>
              <a:t>2.50 · </a:t>
            </a:r>
            <a:r>
              <a:rPr sz="950" b="0" dirty="0" err="1">
                <a:solidFill>
                  <a:srgbClr val="B7CBE0"/>
                </a:solidFill>
                <a:latin typeface="Montserrat"/>
              </a:rPr>
              <a:t>volumen</a:t>
            </a:r>
            <a:r>
              <a:rPr sz="950" b="0" dirty="0">
                <a:solidFill>
                  <a:srgbClr val="B7CBE0"/>
                </a:solidFill>
                <a:latin typeface="Montserrat"/>
              </a:rPr>
              <a:t> </a:t>
            </a:r>
            <a:r>
              <a:rPr sz="950" b="0" dirty="0" err="1">
                <a:solidFill>
                  <a:srgbClr val="B7CBE0"/>
                </a:solidFill>
                <a:latin typeface="Montserrat"/>
              </a:rPr>
              <a:t>acumulado</a:t>
            </a:r>
            <a:r>
              <a:rPr sz="950" b="0" dirty="0">
                <a:solidFill>
                  <a:srgbClr val="B7CBE0"/>
                </a:solidFill>
                <a:latin typeface="Montserrat"/>
              </a:rPr>
              <a:t> por </a:t>
            </a:r>
            <a:r>
              <a:rPr sz="950" b="0" dirty="0" err="1">
                <a:solidFill>
                  <a:srgbClr val="B7CBE0"/>
                </a:solidFill>
                <a:latin typeface="Montserrat"/>
              </a:rPr>
              <a:t>nodo</a:t>
            </a:r>
            <a:r>
              <a:rPr sz="950" b="0" dirty="0">
                <a:solidFill>
                  <a:srgbClr val="B7CBE0"/>
                </a:solidFill>
                <a:latin typeface="Montserrat"/>
              </a:rPr>
              <a:t> y </a:t>
            </a:r>
            <a:r>
              <a:rPr sz="950" b="0" dirty="0" err="1">
                <a:solidFill>
                  <a:srgbClr val="B7CBE0"/>
                </a:solidFill>
                <a:latin typeface="Montserrat"/>
              </a:rPr>
              <a:t>evento</a:t>
            </a:r>
            <a:endParaRPr sz="950" b="0" dirty="0">
              <a:solidFill>
                <a:srgbClr val="B7CBE0"/>
              </a:solidFill>
              <a:latin typeface="Montserrat"/>
            </a:endParaRPr>
          </a:p>
        </p:txBody>
      </p:sp>
      <p:pic>
        <p:nvPicPr>
          <p:cNvPr id="6" name="Picture 5" descr="hydrograph_val_double_peak_7h15_f2.500.png"/>
          <p:cNvPicPr>
            <a:picLocks noChangeAspect="1"/>
          </p:cNvPicPr>
          <p:nvPr/>
        </p:nvPicPr>
        <p:blipFill>
          <a:blip r:embed="rId3"/>
          <a:stretch>
            <a:fillRect/>
          </a:stretch>
        </p:blipFill>
        <p:spPr>
          <a:xfrm>
            <a:off x="310896" y="1051560"/>
            <a:ext cx="3657600" cy="2031678"/>
          </a:xfrm>
          <a:prstGeom prst="rect">
            <a:avLst/>
          </a:prstGeom>
        </p:spPr>
      </p:pic>
      <p:sp>
        <p:nvSpPr>
          <p:cNvPr id="7" name="TextBox 6"/>
          <p:cNvSpPr txBox="1"/>
          <p:nvPr/>
        </p:nvSpPr>
        <p:spPr>
          <a:xfrm>
            <a:off x="4709160" y="1069848"/>
            <a:ext cx="1938528" cy="219456"/>
          </a:xfrm>
          <a:prstGeom prst="rect">
            <a:avLst/>
          </a:prstGeom>
          <a:noFill/>
        </p:spPr>
        <p:txBody>
          <a:bodyPr wrap="square" lIns="0" tIns="0" rIns="0" bIns="0">
            <a:spAutoFit/>
          </a:bodyPr>
          <a:lstStyle/>
          <a:p>
            <a:pPr>
              <a:lnSpc>
                <a:spcPct val="100000"/>
              </a:lnSpc>
              <a:spcAft>
                <a:spcPts val="200"/>
              </a:spcAft>
            </a:pPr>
            <a:r>
              <a:rPr sz="1080" b="1">
                <a:solidFill>
                  <a:srgbClr val="8BC5FA"/>
                </a:solidFill>
                <a:latin typeface="Montserrat"/>
              </a:rPr>
              <a:t>Forma del hidrograma</a:t>
            </a:r>
          </a:p>
        </p:txBody>
      </p:sp>
      <p:sp>
        <p:nvSpPr>
          <p:cNvPr id="8" name="TextBox 7"/>
          <p:cNvSpPr txBox="1"/>
          <p:nvPr/>
        </p:nvSpPr>
        <p:spPr>
          <a:xfrm>
            <a:off x="4709160" y="1353312"/>
            <a:ext cx="1938528" cy="658368"/>
          </a:xfrm>
          <a:prstGeom prst="rect">
            <a:avLst/>
          </a:prstGeom>
          <a:noFill/>
        </p:spPr>
        <p:txBody>
          <a:bodyPr wrap="square" lIns="0" tIns="0" rIns="0" bIns="0">
            <a:spAutoFit/>
          </a:bodyPr>
          <a:lstStyle/>
          <a:p>
            <a:pPr>
              <a:lnSpc>
                <a:spcPct val="100000"/>
              </a:lnSpc>
              <a:spcAft>
                <a:spcPts val="200"/>
              </a:spcAft>
            </a:pPr>
            <a:r>
              <a:rPr sz="975" b="0">
                <a:solidFill>
                  <a:srgbClr val="F7FAFE"/>
                </a:solidFill>
                <a:latin typeface="Montserrat"/>
              </a:rPr>
              <a:t>Doble pico · 7 h 15 min</a:t>
            </a:r>
          </a:p>
          <a:p>
            <a:pPr>
              <a:lnSpc>
                <a:spcPct val="100000"/>
              </a:lnSpc>
              <a:spcAft>
                <a:spcPts val="200"/>
              </a:spcAft>
            </a:pPr>
            <a:r>
              <a:rPr sz="975" b="0">
                <a:solidFill>
                  <a:srgbClr val="F7FAFE"/>
                </a:solidFill>
                <a:latin typeface="Montserrat"/>
              </a:rPr>
              <a:t>Dos pulsos de caudal en un mismo evento.</a:t>
            </a:r>
          </a:p>
        </p:txBody>
      </p:sp>
      <p:sp>
        <p:nvSpPr>
          <p:cNvPr id="9" name="TextBox 8"/>
          <p:cNvSpPr txBox="1"/>
          <p:nvPr/>
        </p:nvSpPr>
        <p:spPr>
          <a:xfrm>
            <a:off x="4709160" y="2103120"/>
            <a:ext cx="1938528" cy="201168"/>
          </a:xfrm>
          <a:prstGeom prst="rect">
            <a:avLst/>
          </a:prstGeom>
          <a:noFill/>
        </p:spPr>
        <p:txBody>
          <a:bodyPr wrap="square" lIns="0" tIns="0" rIns="0" bIns="0">
            <a:spAutoFit/>
          </a:bodyPr>
          <a:lstStyle/>
          <a:p>
            <a:pPr>
              <a:lnSpc>
                <a:spcPct val="100000"/>
              </a:lnSpc>
              <a:spcAft>
                <a:spcPts val="200"/>
              </a:spcAft>
            </a:pPr>
            <a:r>
              <a:rPr sz="1080" b="1">
                <a:solidFill>
                  <a:srgbClr val="8BC5FA"/>
                </a:solidFill>
                <a:latin typeface="Montserrat"/>
              </a:rPr>
              <a:t>Resultado agregado</a:t>
            </a:r>
          </a:p>
        </p:txBody>
      </p:sp>
      <p:sp>
        <p:nvSpPr>
          <p:cNvPr id="10" name="TextBox 9"/>
          <p:cNvSpPr txBox="1"/>
          <p:nvPr/>
        </p:nvSpPr>
        <p:spPr>
          <a:xfrm>
            <a:off x="4709160" y="2359152"/>
            <a:ext cx="1938528" cy="841248"/>
          </a:xfrm>
          <a:prstGeom prst="rect">
            <a:avLst/>
          </a:prstGeom>
          <a:noFill/>
        </p:spPr>
        <p:txBody>
          <a:bodyPr wrap="square" lIns="0" tIns="0" rIns="0" bIns="0">
            <a:spAutoFit/>
          </a:bodyPr>
          <a:lstStyle/>
          <a:p>
            <a:pPr>
              <a:lnSpc>
                <a:spcPct val="100000"/>
              </a:lnSpc>
              <a:spcAft>
                <a:spcPts val="200"/>
              </a:spcAft>
            </a:pPr>
            <a:r>
              <a:rPr sz="969" b="0">
                <a:solidFill>
                  <a:srgbClr val="F7FAFE"/>
                </a:solidFill>
                <a:latin typeface="Montserrat"/>
              </a:rPr>
              <a:t>SWMM: 11,853 m³</a:t>
            </a:r>
          </a:p>
          <a:p>
            <a:pPr>
              <a:lnSpc>
                <a:spcPct val="100000"/>
              </a:lnSpc>
              <a:spcAft>
                <a:spcPts val="200"/>
              </a:spcAft>
            </a:pPr>
            <a:r>
              <a:rPr sz="969" b="0">
                <a:solidFill>
                  <a:srgbClr val="F7FAFE"/>
                </a:solidFill>
                <a:latin typeface="Montserrat"/>
              </a:rPr>
              <a:t>XGBoost: 9,016 m³</a:t>
            </a:r>
          </a:p>
          <a:p>
            <a:pPr>
              <a:lnSpc>
                <a:spcPct val="100000"/>
              </a:lnSpc>
              <a:spcAft>
                <a:spcPts val="200"/>
              </a:spcAft>
            </a:pPr>
            <a:r>
              <a:rPr sz="969" b="0">
                <a:solidFill>
                  <a:srgbClr val="F7FAFE"/>
                </a:solidFill>
                <a:latin typeface="Montserrat"/>
              </a:rPr>
              <a:t>Error total: -23.9%</a:t>
            </a:r>
          </a:p>
          <a:p>
            <a:pPr>
              <a:lnSpc>
                <a:spcPct val="100000"/>
              </a:lnSpc>
              <a:spcAft>
                <a:spcPts val="200"/>
              </a:spcAft>
            </a:pPr>
            <a:r>
              <a:rPr sz="969" b="0">
                <a:solidFill>
                  <a:srgbClr val="F7FAFE"/>
                </a:solidFill>
                <a:latin typeface="Montserrat"/>
              </a:rPr>
              <a:t>Nodos inundados: 49</a:t>
            </a:r>
          </a:p>
        </p:txBody>
      </p:sp>
      <p:sp>
        <p:nvSpPr>
          <p:cNvPr id="11" name="TextBox 10"/>
          <p:cNvSpPr txBox="1"/>
          <p:nvPr/>
        </p:nvSpPr>
        <p:spPr>
          <a:xfrm>
            <a:off x="6876288" y="1069848"/>
            <a:ext cx="1828800" cy="201168"/>
          </a:xfrm>
          <a:prstGeom prst="rect">
            <a:avLst/>
          </a:prstGeom>
          <a:noFill/>
        </p:spPr>
        <p:txBody>
          <a:bodyPr wrap="square" lIns="0" tIns="0" rIns="0" bIns="0">
            <a:spAutoFit/>
          </a:bodyPr>
          <a:lstStyle/>
          <a:p>
            <a:pPr>
              <a:lnSpc>
                <a:spcPct val="100000"/>
              </a:lnSpc>
              <a:spcAft>
                <a:spcPts val="200"/>
              </a:spcAft>
            </a:pPr>
            <a:r>
              <a:rPr sz="1080" b="1">
                <a:solidFill>
                  <a:srgbClr val="8BC5FA"/>
                </a:solidFill>
                <a:latin typeface="Montserrat"/>
              </a:rPr>
              <a:t>Parity por nodo</a:t>
            </a:r>
          </a:p>
        </p:txBody>
      </p:sp>
      <p:pic>
        <p:nvPicPr>
          <p:cNvPr id="12" name="Picture 11" descr="parity_nodes_symlog_val_double_peak_7h15_f2.500.png"/>
          <p:cNvPicPr>
            <a:picLocks noChangeAspect="1"/>
          </p:cNvPicPr>
          <p:nvPr/>
        </p:nvPicPr>
        <p:blipFill>
          <a:blip r:embed="rId4"/>
          <a:stretch>
            <a:fillRect/>
          </a:stretch>
        </p:blipFill>
        <p:spPr>
          <a:xfrm>
            <a:off x="6638544" y="857024"/>
            <a:ext cx="2450592" cy="2492192"/>
          </a:xfrm>
          <a:prstGeom prst="rect">
            <a:avLst/>
          </a:prstGeom>
        </p:spPr>
      </p:pic>
      <p:sp>
        <p:nvSpPr>
          <p:cNvPr id="13" name="TextBox 12"/>
          <p:cNvSpPr txBox="1"/>
          <p:nvPr/>
        </p:nvSpPr>
        <p:spPr>
          <a:xfrm>
            <a:off x="6850288" y="3639312"/>
            <a:ext cx="1874519" cy="338328"/>
          </a:xfrm>
          <a:prstGeom prst="rect">
            <a:avLst/>
          </a:prstGeom>
          <a:noFill/>
        </p:spPr>
        <p:txBody>
          <a:bodyPr wrap="square" lIns="0" tIns="0" rIns="0" bIns="0">
            <a:spAutoFit/>
          </a:bodyPr>
          <a:lstStyle/>
          <a:p>
            <a:pPr>
              <a:lnSpc>
                <a:spcPct val="100000"/>
              </a:lnSpc>
              <a:spcAft>
                <a:spcPts val="200"/>
              </a:spcAft>
            </a:pPr>
            <a:r>
              <a:rPr sz="800" b="0" dirty="0">
                <a:solidFill>
                  <a:srgbClr val="B7CBE0"/>
                </a:solidFill>
                <a:latin typeface="Montserrat"/>
              </a:rPr>
              <a:t>MAE </a:t>
            </a:r>
            <a:r>
              <a:rPr sz="800" b="0" dirty="0" err="1">
                <a:solidFill>
                  <a:srgbClr val="B7CBE0"/>
                </a:solidFill>
                <a:latin typeface="Montserrat"/>
              </a:rPr>
              <a:t>inundados</a:t>
            </a:r>
            <a:r>
              <a:rPr sz="800" b="0" dirty="0">
                <a:solidFill>
                  <a:srgbClr val="B7CBE0"/>
                </a:solidFill>
                <a:latin typeface="Montserrat"/>
              </a:rPr>
              <a:t>: 62.20 m³</a:t>
            </a:r>
          </a:p>
          <a:p>
            <a:pPr>
              <a:lnSpc>
                <a:spcPct val="100000"/>
              </a:lnSpc>
              <a:spcAft>
                <a:spcPts val="200"/>
              </a:spcAft>
            </a:pPr>
            <a:r>
              <a:rPr sz="800" b="0" dirty="0">
                <a:solidFill>
                  <a:srgbClr val="B7CBE0"/>
                </a:solidFill>
                <a:latin typeface="Montserrat"/>
              </a:rPr>
              <a:t>RMSE </a:t>
            </a:r>
            <a:r>
              <a:rPr sz="800" b="0" dirty="0" err="1">
                <a:solidFill>
                  <a:srgbClr val="B7CBE0"/>
                </a:solidFill>
                <a:latin typeface="Montserrat"/>
              </a:rPr>
              <a:t>inundados</a:t>
            </a:r>
            <a:r>
              <a:rPr sz="800" b="0" dirty="0">
                <a:solidFill>
                  <a:srgbClr val="B7CBE0"/>
                </a:solidFill>
                <a:latin typeface="Montserrat"/>
              </a:rPr>
              <a:t>: 113.02 m³</a:t>
            </a:r>
          </a:p>
        </p:txBody>
      </p:sp>
      <p:sp>
        <p:nvSpPr>
          <p:cNvPr id="14" name="TextBox 13"/>
          <p:cNvSpPr txBox="1"/>
          <p:nvPr/>
        </p:nvSpPr>
        <p:spPr>
          <a:xfrm>
            <a:off x="329184" y="3136392"/>
            <a:ext cx="2450592" cy="146304"/>
          </a:xfrm>
          <a:prstGeom prst="rect">
            <a:avLst/>
          </a:prstGeom>
          <a:noFill/>
        </p:spPr>
        <p:txBody>
          <a:bodyPr wrap="square" lIns="0" tIns="0" rIns="0" bIns="0">
            <a:spAutoFit/>
          </a:bodyPr>
          <a:lstStyle/>
          <a:p>
            <a:pPr>
              <a:lnSpc>
                <a:spcPct val="100000"/>
              </a:lnSpc>
              <a:spcAft>
                <a:spcPts val="200"/>
              </a:spcAft>
            </a:pPr>
            <a:r>
              <a:rPr sz="860" b="1">
                <a:solidFill>
                  <a:srgbClr val="8BC5FA"/>
                </a:solidFill>
                <a:latin typeface="Montserrat"/>
              </a:rPr>
              <a:t>Mapa SWMM · referencia</a:t>
            </a:r>
          </a:p>
        </p:txBody>
      </p:sp>
      <p:pic>
        <p:nvPicPr>
          <p:cNvPr id="15" name="Picture 14" descr="flood_map_swmm_val_double_peak_7h15_f2.500.png"/>
          <p:cNvPicPr>
            <a:picLocks noChangeAspect="1"/>
          </p:cNvPicPr>
          <p:nvPr/>
        </p:nvPicPr>
        <p:blipFill>
          <a:blip r:embed="rId5"/>
          <a:stretch>
            <a:fillRect/>
          </a:stretch>
        </p:blipFill>
        <p:spPr>
          <a:xfrm>
            <a:off x="310896" y="3282696"/>
            <a:ext cx="2468880" cy="1522455"/>
          </a:xfrm>
          <a:prstGeom prst="rect">
            <a:avLst/>
          </a:prstGeom>
        </p:spPr>
      </p:pic>
      <p:sp>
        <p:nvSpPr>
          <p:cNvPr id="16" name="TextBox 15"/>
          <p:cNvSpPr txBox="1"/>
          <p:nvPr/>
        </p:nvSpPr>
        <p:spPr>
          <a:xfrm>
            <a:off x="2898648" y="3136392"/>
            <a:ext cx="2450592" cy="146304"/>
          </a:xfrm>
          <a:prstGeom prst="rect">
            <a:avLst/>
          </a:prstGeom>
          <a:noFill/>
        </p:spPr>
        <p:txBody>
          <a:bodyPr wrap="square" lIns="0" tIns="0" rIns="0" bIns="0">
            <a:spAutoFit/>
          </a:bodyPr>
          <a:lstStyle/>
          <a:p>
            <a:pPr>
              <a:lnSpc>
                <a:spcPct val="100000"/>
              </a:lnSpc>
              <a:spcAft>
                <a:spcPts val="200"/>
              </a:spcAft>
            </a:pPr>
            <a:r>
              <a:rPr sz="860" b="1">
                <a:solidFill>
                  <a:srgbClr val="8BC5FA"/>
                </a:solidFill>
                <a:latin typeface="Montserrat"/>
              </a:rPr>
              <a:t>Mapa XGBoost · predicción</a:t>
            </a:r>
          </a:p>
        </p:txBody>
      </p:sp>
      <p:pic>
        <p:nvPicPr>
          <p:cNvPr id="17" name="Picture 16" descr="flood_map_ml_val_double_peak_7h15_f2.500.png"/>
          <p:cNvPicPr>
            <a:picLocks noChangeAspect="1"/>
          </p:cNvPicPr>
          <p:nvPr/>
        </p:nvPicPr>
        <p:blipFill>
          <a:blip r:embed="rId6"/>
          <a:stretch>
            <a:fillRect/>
          </a:stretch>
        </p:blipFill>
        <p:spPr>
          <a:xfrm>
            <a:off x="2880360" y="3282696"/>
            <a:ext cx="2468880" cy="1522455"/>
          </a:xfrm>
          <a:prstGeom prst="rect">
            <a:avLst/>
          </a:prstGeom>
        </p:spPr>
      </p:pic>
      <p:sp>
        <p:nvSpPr>
          <p:cNvPr id="18" name="TextBox 17"/>
          <p:cNvSpPr txBox="1"/>
          <p:nvPr/>
        </p:nvSpPr>
        <p:spPr>
          <a:xfrm>
            <a:off x="5527548" y="4197977"/>
            <a:ext cx="2788920" cy="475488"/>
          </a:xfrm>
          <a:prstGeom prst="rect">
            <a:avLst/>
          </a:prstGeom>
          <a:noFill/>
        </p:spPr>
        <p:txBody>
          <a:bodyPr wrap="square" lIns="0" tIns="0" rIns="0" bIns="0">
            <a:spAutoFit/>
          </a:bodyPr>
          <a:lstStyle/>
          <a:p>
            <a:pPr>
              <a:lnSpc>
                <a:spcPct val="100000"/>
              </a:lnSpc>
              <a:spcAft>
                <a:spcPts val="200"/>
              </a:spcAft>
            </a:pPr>
            <a:r>
              <a:rPr sz="900" b="1" dirty="0" err="1">
                <a:solidFill>
                  <a:srgbClr val="F1CB83"/>
                </a:solidFill>
                <a:latin typeface="Montserrat"/>
              </a:rPr>
              <a:t>Clasificación</a:t>
            </a:r>
            <a:r>
              <a:rPr sz="900" b="1" dirty="0">
                <a:solidFill>
                  <a:srgbClr val="F1CB83"/>
                </a:solidFill>
                <a:latin typeface="Montserrat"/>
              </a:rPr>
              <a:t> nodal</a:t>
            </a:r>
          </a:p>
          <a:p>
            <a:pPr>
              <a:lnSpc>
                <a:spcPct val="100000"/>
              </a:lnSpc>
              <a:spcAft>
                <a:spcPts val="200"/>
              </a:spcAft>
            </a:pPr>
            <a:r>
              <a:rPr sz="900" b="1" dirty="0">
                <a:solidFill>
                  <a:srgbClr val="F1CB83"/>
                </a:solidFill>
                <a:latin typeface="Montserrat"/>
              </a:rPr>
              <a:t>TP=48 · TN=109 · FP=2 · FN=1</a:t>
            </a:r>
          </a:p>
        </p:txBody>
      </p:sp>
      <p:sp>
        <p:nvSpPr>
          <p:cNvPr id="19" name="TextBox 18"/>
          <p:cNvSpPr txBox="1"/>
          <p:nvPr/>
        </p:nvSpPr>
        <p:spPr>
          <a:xfrm>
            <a:off x="310896" y="4882896"/>
            <a:ext cx="7955279" cy="128016"/>
          </a:xfrm>
          <a:prstGeom prst="rect">
            <a:avLst/>
          </a:prstGeom>
          <a:noFill/>
        </p:spPr>
        <p:txBody>
          <a:bodyPr wrap="square" lIns="0" tIns="0" rIns="0" bIns="0">
            <a:spAutoFit/>
          </a:bodyPr>
          <a:lstStyle/>
          <a:p>
            <a:pPr>
              <a:lnSpc>
                <a:spcPct val="100000"/>
              </a:lnSpc>
              <a:spcAft>
                <a:spcPts val="200"/>
              </a:spcAft>
            </a:pPr>
            <a:r>
              <a:rPr sz="750" b="0">
                <a:solidFill>
                  <a:srgbClr val="B7CBE0"/>
                </a:solidFill>
                <a:latin typeface="Montserrat"/>
              </a:rPr>
              <a:t>MLSMFP  |  Validación SWMM vs XGBoost  |  val_double_peak_7h15_f2.500</a:t>
            </a:r>
          </a:p>
        </p:txBody>
      </p:sp>
      <p:sp>
        <p:nvSpPr>
          <p:cNvPr id="20" name="TextBox 19"/>
          <p:cNvSpPr txBox="1"/>
          <p:nvPr/>
        </p:nvSpPr>
        <p:spPr>
          <a:xfrm>
            <a:off x="8321040" y="4818888"/>
            <a:ext cx="502920" cy="201168"/>
          </a:xfrm>
          <a:prstGeom prst="rect">
            <a:avLst/>
          </a:prstGeom>
          <a:noFill/>
        </p:spPr>
        <p:txBody>
          <a:bodyPr wrap="square" lIns="0" tIns="0" rIns="0" bIns="0">
            <a:spAutoFit/>
          </a:bodyPr>
          <a:lstStyle/>
          <a:p>
            <a:pPr>
              <a:lnSpc>
                <a:spcPct val="100000"/>
              </a:lnSpc>
              <a:spcAft>
                <a:spcPts val="200"/>
              </a:spcAft>
            </a:pPr>
            <a:r>
              <a:rPr sz="1050" b="0">
                <a:solidFill>
                  <a:srgbClr val="8BC5FA"/>
                </a:solidFill>
                <a:latin typeface="Montserrat"/>
              </a:rPr>
              <a:t>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229600" cy="393192"/>
          </a:xfrm>
          <a:prstGeom prst="rect">
            <a:avLst/>
          </a:prstGeom>
          <a:noFill/>
        </p:spPr>
        <p:txBody>
          <a:bodyPr wrap="square" lIns="0" tIns="0" rIns="0" bIns="0">
            <a:spAutoFit/>
          </a:bodyPr>
          <a:lstStyle/>
          <a:p>
            <a:pPr>
              <a:lnSpc>
                <a:spcPct val="100000"/>
              </a:lnSpc>
              <a:spcAft>
                <a:spcPts val="200"/>
              </a:spcAft>
            </a:pPr>
            <a:r>
              <a:rPr sz="2050" b="1">
                <a:solidFill>
                  <a:srgbClr val="8BC5FA"/>
                </a:solidFill>
                <a:latin typeface="Montserrat"/>
              </a:rPr>
              <a:t>Validación 2/5: Flash temprano · 2 h 45 min</a:t>
            </a:r>
          </a:p>
        </p:txBody>
      </p:sp>
      <p:sp>
        <p:nvSpPr>
          <p:cNvPr id="5" name="TextBox 4"/>
          <p:cNvSpPr txBox="1"/>
          <p:nvPr/>
        </p:nvSpPr>
        <p:spPr>
          <a:xfrm>
            <a:off x="429768" y="658368"/>
            <a:ext cx="8229600" cy="146304"/>
          </a:xfrm>
          <a:prstGeom prst="rect">
            <a:avLst/>
          </a:prstGeom>
          <a:noFill/>
        </p:spPr>
        <p:txBody>
          <a:bodyPr wrap="square" lIns="0" tIns="0" rIns="0" bIns="0">
            <a:spAutoFit/>
          </a:bodyPr>
          <a:lstStyle/>
          <a:p>
            <a:pPr>
              <a:lnSpc>
                <a:spcPct val="100000"/>
              </a:lnSpc>
              <a:spcAft>
                <a:spcPts val="200"/>
              </a:spcAft>
            </a:pPr>
            <a:r>
              <a:rPr sz="950" b="0" dirty="0">
                <a:solidFill>
                  <a:srgbClr val="B7CBE0"/>
                </a:solidFill>
                <a:latin typeface="Montserrat"/>
              </a:rPr>
              <a:t>Forma </a:t>
            </a:r>
            <a:r>
              <a:rPr sz="950" b="0" dirty="0" err="1">
                <a:solidFill>
                  <a:srgbClr val="B7CBE0"/>
                </a:solidFill>
                <a:latin typeface="Montserrat"/>
              </a:rPr>
              <a:t>usada</a:t>
            </a:r>
            <a:r>
              <a:rPr sz="950" b="0" dirty="0">
                <a:solidFill>
                  <a:srgbClr val="B7CBE0"/>
                </a:solidFill>
                <a:latin typeface="Montserrat"/>
              </a:rPr>
              <a:t> </a:t>
            </a:r>
            <a:r>
              <a:rPr sz="950" b="0" dirty="0" err="1">
                <a:solidFill>
                  <a:srgbClr val="B7CBE0"/>
                </a:solidFill>
                <a:latin typeface="Montserrat"/>
              </a:rPr>
              <a:t>en</a:t>
            </a:r>
            <a:r>
              <a:rPr sz="950" b="0" dirty="0">
                <a:solidFill>
                  <a:srgbClr val="B7CBE0"/>
                </a:solidFill>
                <a:latin typeface="Montserrat"/>
              </a:rPr>
              <a:t> </a:t>
            </a:r>
            <a:r>
              <a:rPr sz="950" b="0" dirty="0" err="1">
                <a:solidFill>
                  <a:srgbClr val="B7CBE0"/>
                </a:solidFill>
                <a:latin typeface="Montserrat"/>
              </a:rPr>
              <a:t>entrenamiento</a:t>
            </a:r>
            <a:r>
              <a:rPr sz="950" b="0" dirty="0">
                <a:solidFill>
                  <a:srgbClr val="B7CBE0"/>
                </a:solidFill>
                <a:latin typeface="Montserrat"/>
              </a:rPr>
              <a:t> · factor de carga no visto: 3.10 · </a:t>
            </a:r>
            <a:r>
              <a:rPr sz="950" b="0" dirty="0" err="1">
                <a:solidFill>
                  <a:srgbClr val="B7CBE0"/>
                </a:solidFill>
                <a:latin typeface="Montserrat"/>
              </a:rPr>
              <a:t>volumen</a:t>
            </a:r>
            <a:r>
              <a:rPr sz="950" b="0" dirty="0">
                <a:solidFill>
                  <a:srgbClr val="B7CBE0"/>
                </a:solidFill>
                <a:latin typeface="Montserrat"/>
              </a:rPr>
              <a:t> </a:t>
            </a:r>
            <a:r>
              <a:rPr sz="950" b="0" dirty="0" err="1">
                <a:solidFill>
                  <a:srgbClr val="B7CBE0"/>
                </a:solidFill>
                <a:latin typeface="Montserrat"/>
              </a:rPr>
              <a:t>acumulado</a:t>
            </a:r>
            <a:r>
              <a:rPr sz="950" b="0" dirty="0">
                <a:solidFill>
                  <a:srgbClr val="B7CBE0"/>
                </a:solidFill>
                <a:latin typeface="Montserrat"/>
              </a:rPr>
              <a:t> por </a:t>
            </a:r>
            <a:r>
              <a:rPr sz="950" b="0" dirty="0" err="1">
                <a:solidFill>
                  <a:srgbClr val="B7CBE0"/>
                </a:solidFill>
                <a:latin typeface="Montserrat"/>
              </a:rPr>
              <a:t>nodo</a:t>
            </a:r>
            <a:r>
              <a:rPr sz="950" b="0" dirty="0">
                <a:solidFill>
                  <a:srgbClr val="B7CBE0"/>
                </a:solidFill>
                <a:latin typeface="Montserrat"/>
              </a:rPr>
              <a:t> y </a:t>
            </a:r>
            <a:r>
              <a:rPr sz="950" b="0" dirty="0" err="1">
                <a:solidFill>
                  <a:srgbClr val="B7CBE0"/>
                </a:solidFill>
                <a:latin typeface="Montserrat"/>
              </a:rPr>
              <a:t>evento</a:t>
            </a:r>
            <a:endParaRPr sz="950" b="0" dirty="0">
              <a:solidFill>
                <a:srgbClr val="B7CBE0"/>
              </a:solidFill>
              <a:latin typeface="Montserrat"/>
            </a:endParaRPr>
          </a:p>
        </p:txBody>
      </p:sp>
      <p:pic>
        <p:nvPicPr>
          <p:cNvPr id="6" name="Picture 5" descr="image.png"/>
          <p:cNvPicPr>
            <a:picLocks noChangeAspect="1"/>
          </p:cNvPicPr>
          <p:nvPr/>
        </p:nvPicPr>
        <p:blipFill>
          <a:blip r:embed="rId3"/>
          <a:stretch>
            <a:fillRect/>
          </a:stretch>
        </p:blipFill>
        <p:spPr>
          <a:xfrm>
            <a:off x="310896" y="1051560"/>
            <a:ext cx="3657600" cy="2031678"/>
          </a:xfrm>
          <a:prstGeom prst="rect">
            <a:avLst/>
          </a:prstGeom>
        </p:spPr>
      </p:pic>
      <p:sp>
        <p:nvSpPr>
          <p:cNvPr id="7" name="TextBox 6"/>
          <p:cNvSpPr txBox="1"/>
          <p:nvPr/>
        </p:nvSpPr>
        <p:spPr>
          <a:xfrm>
            <a:off x="4709160" y="1069848"/>
            <a:ext cx="1938528" cy="219456"/>
          </a:xfrm>
          <a:prstGeom prst="rect">
            <a:avLst/>
          </a:prstGeom>
          <a:noFill/>
        </p:spPr>
        <p:txBody>
          <a:bodyPr wrap="square" lIns="0" tIns="0" rIns="0" bIns="0">
            <a:spAutoFit/>
          </a:bodyPr>
          <a:lstStyle/>
          <a:p>
            <a:pPr>
              <a:lnSpc>
                <a:spcPct val="100000"/>
              </a:lnSpc>
              <a:spcAft>
                <a:spcPts val="200"/>
              </a:spcAft>
            </a:pPr>
            <a:r>
              <a:rPr sz="1080" b="1">
                <a:solidFill>
                  <a:srgbClr val="8BC5FA"/>
                </a:solidFill>
                <a:latin typeface="Montserrat"/>
              </a:rPr>
              <a:t>Forma del hidrograma</a:t>
            </a:r>
          </a:p>
        </p:txBody>
      </p:sp>
      <p:sp>
        <p:nvSpPr>
          <p:cNvPr id="8" name="TextBox 7"/>
          <p:cNvSpPr txBox="1"/>
          <p:nvPr/>
        </p:nvSpPr>
        <p:spPr>
          <a:xfrm>
            <a:off x="4709160" y="1353312"/>
            <a:ext cx="1938528" cy="658368"/>
          </a:xfrm>
          <a:prstGeom prst="rect">
            <a:avLst/>
          </a:prstGeom>
          <a:noFill/>
        </p:spPr>
        <p:txBody>
          <a:bodyPr wrap="square" lIns="0" tIns="0" rIns="0" bIns="0">
            <a:spAutoFit/>
          </a:bodyPr>
          <a:lstStyle/>
          <a:p>
            <a:pPr>
              <a:lnSpc>
                <a:spcPct val="100000"/>
              </a:lnSpc>
              <a:spcAft>
                <a:spcPts val="200"/>
              </a:spcAft>
            </a:pPr>
            <a:r>
              <a:rPr sz="975" b="0">
                <a:solidFill>
                  <a:srgbClr val="F7FAFE"/>
                </a:solidFill>
                <a:latin typeface="Montserrat"/>
              </a:rPr>
              <a:t>Flash temprano · 2 h 45 min</a:t>
            </a:r>
          </a:p>
          <a:p>
            <a:pPr>
              <a:lnSpc>
                <a:spcPct val="100000"/>
              </a:lnSpc>
              <a:spcAft>
                <a:spcPts val="200"/>
              </a:spcAft>
            </a:pPr>
            <a:r>
              <a:rPr sz="975" b="0">
                <a:solidFill>
                  <a:srgbClr val="F7FAFE"/>
                </a:solidFill>
                <a:latin typeface="Montserrat"/>
              </a:rPr>
              <a:t>Crecida rápida con pico concentrado al inicio.</a:t>
            </a:r>
          </a:p>
        </p:txBody>
      </p:sp>
      <p:sp>
        <p:nvSpPr>
          <p:cNvPr id="9" name="TextBox 8"/>
          <p:cNvSpPr txBox="1"/>
          <p:nvPr/>
        </p:nvSpPr>
        <p:spPr>
          <a:xfrm>
            <a:off x="4709160" y="2103120"/>
            <a:ext cx="1938528" cy="201168"/>
          </a:xfrm>
          <a:prstGeom prst="rect">
            <a:avLst/>
          </a:prstGeom>
          <a:noFill/>
        </p:spPr>
        <p:txBody>
          <a:bodyPr wrap="square" lIns="0" tIns="0" rIns="0" bIns="0">
            <a:spAutoFit/>
          </a:bodyPr>
          <a:lstStyle/>
          <a:p>
            <a:pPr>
              <a:lnSpc>
                <a:spcPct val="100000"/>
              </a:lnSpc>
              <a:spcAft>
                <a:spcPts val="200"/>
              </a:spcAft>
            </a:pPr>
            <a:r>
              <a:rPr sz="1080" b="1">
                <a:solidFill>
                  <a:srgbClr val="8BC5FA"/>
                </a:solidFill>
                <a:latin typeface="Montserrat"/>
              </a:rPr>
              <a:t>Resultado agregado</a:t>
            </a:r>
          </a:p>
        </p:txBody>
      </p:sp>
      <p:sp>
        <p:nvSpPr>
          <p:cNvPr id="10" name="TextBox 9"/>
          <p:cNvSpPr txBox="1"/>
          <p:nvPr/>
        </p:nvSpPr>
        <p:spPr>
          <a:xfrm>
            <a:off x="4709160" y="2359152"/>
            <a:ext cx="1938528" cy="841248"/>
          </a:xfrm>
          <a:prstGeom prst="rect">
            <a:avLst/>
          </a:prstGeom>
          <a:noFill/>
        </p:spPr>
        <p:txBody>
          <a:bodyPr wrap="square" lIns="0" tIns="0" rIns="0" bIns="0">
            <a:spAutoFit/>
          </a:bodyPr>
          <a:lstStyle/>
          <a:p>
            <a:pPr>
              <a:lnSpc>
                <a:spcPct val="100000"/>
              </a:lnSpc>
              <a:spcAft>
                <a:spcPts val="200"/>
              </a:spcAft>
            </a:pPr>
            <a:r>
              <a:rPr sz="969" b="0">
                <a:solidFill>
                  <a:srgbClr val="F7FAFE"/>
                </a:solidFill>
                <a:latin typeface="Montserrat"/>
              </a:rPr>
              <a:t>SWMM: 5,075 m³</a:t>
            </a:r>
          </a:p>
          <a:p>
            <a:pPr>
              <a:lnSpc>
                <a:spcPct val="100000"/>
              </a:lnSpc>
              <a:spcAft>
                <a:spcPts val="200"/>
              </a:spcAft>
            </a:pPr>
            <a:r>
              <a:rPr sz="969" b="0">
                <a:solidFill>
                  <a:srgbClr val="F7FAFE"/>
                </a:solidFill>
                <a:latin typeface="Montserrat"/>
              </a:rPr>
              <a:t>XGBoost: 5,099 m³</a:t>
            </a:r>
          </a:p>
          <a:p>
            <a:pPr>
              <a:lnSpc>
                <a:spcPct val="100000"/>
              </a:lnSpc>
              <a:spcAft>
                <a:spcPts val="200"/>
              </a:spcAft>
            </a:pPr>
            <a:r>
              <a:rPr sz="969" b="0">
                <a:solidFill>
                  <a:srgbClr val="F7FAFE"/>
                </a:solidFill>
                <a:latin typeface="Montserrat"/>
              </a:rPr>
              <a:t>Error total: +0.5%</a:t>
            </a:r>
          </a:p>
          <a:p>
            <a:pPr>
              <a:lnSpc>
                <a:spcPct val="100000"/>
              </a:lnSpc>
              <a:spcAft>
                <a:spcPts val="200"/>
              </a:spcAft>
            </a:pPr>
            <a:r>
              <a:rPr sz="969" b="0">
                <a:solidFill>
                  <a:srgbClr val="F7FAFE"/>
                </a:solidFill>
                <a:latin typeface="Montserrat"/>
              </a:rPr>
              <a:t>Nodos inundados: 61</a:t>
            </a:r>
          </a:p>
        </p:txBody>
      </p:sp>
      <p:sp>
        <p:nvSpPr>
          <p:cNvPr id="11" name="TextBox 10"/>
          <p:cNvSpPr txBox="1"/>
          <p:nvPr/>
        </p:nvSpPr>
        <p:spPr>
          <a:xfrm>
            <a:off x="6876288" y="1069848"/>
            <a:ext cx="1828800" cy="201168"/>
          </a:xfrm>
          <a:prstGeom prst="rect">
            <a:avLst/>
          </a:prstGeom>
          <a:noFill/>
        </p:spPr>
        <p:txBody>
          <a:bodyPr wrap="square" lIns="0" tIns="0" rIns="0" bIns="0">
            <a:spAutoFit/>
          </a:bodyPr>
          <a:lstStyle/>
          <a:p>
            <a:pPr>
              <a:lnSpc>
                <a:spcPct val="100000"/>
              </a:lnSpc>
              <a:spcAft>
                <a:spcPts val="200"/>
              </a:spcAft>
            </a:pPr>
            <a:r>
              <a:rPr sz="1080" b="1">
                <a:solidFill>
                  <a:srgbClr val="8BC5FA"/>
                </a:solidFill>
                <a:latin typeface="Montserrat"/>
              </a:rPr>
              <a:t>Parity por nodo</a:t>
            </a:r>
          </a:p>
        </p:txBody>
      </p:sp>
      <p:pic>
        <p:nvPicPr>
          <p:cNvPr id="12" name="Picture 11" descr="image.png"/>
          <p:cNvPicPr>
            <a:picLocks noChangeAspect="1"/>
          </p:cNvPicPr>
          <p:nvPr/>
        </p:nvPicPr>
        <p:blipFill>
          <a:blip r:embed="rId4"/>
          <a:stretch>
            <a:fillRect/>
          </a:stretch>
        </p:blipFill>
        <p:spPr>
          <a:xfrm>
            <a:off x="6638544" y="856792"/>
            <a:ext cx="2450592" cy="2492192"/>
          </a:xfrm>
          <a:prstGeom prst="rect">
            <a:avLst/>
          </a:prstGeom>
        </p:spPr>
      </p:pic>
      <p:sp>
        <p:nvSpPr>
          <p:cNvPr id="13" name="TextBox 12"/>
          <p:cNvSpPr txBox="1"/>
          <p:nvPr/>
        </p:nvSpPr>
        <p:spPr>
          <a:xfrm>
            <a:off x="6850684" y="3639312"/>
            <a:ext cx="1874519" cy="338328"/>
          </a:xfrm>
          <a:prstGeom prst="rect">
            <a:avLst/>
          </a:prstGeom>
          <a:noFill/>
        </p:spPr>
        <p:txBody>
          <a:bodyPr wrap="square" lIns="0" tIns="0" rIns="0" bIns="0">
            <a:spAutoFit/>
          </a:bodyPr>
          <a:lstStyle/>
          <a:p>
            <a:pPr>
              <a:lnSpc>
                <a:spcPct val="100000"/>
              </a:lnSpc>
              <a:spcAft>
                <a:spcPts val="200"/>
              </a:spcAft>
            </a:pPr>
            <a:r>
              <a:rPr sz="800" b="0">
                <a:solidFill>
                  <a:srgbClr val="B7CBE0"/>
                </a:solidFill>
                <a:latin typeface="Montserrat"/>
              </a:rPr>
              <a:t>MAE inundados: 8.98 m³</a:t>
            </a:r>
          </a:p>
          <a:p>
            <a:pPr>
              <a:lnSpc>
                <a:spcPct val="100000"/>
              </a:lnSpc>
              <a:spcAft>
                <a:spcPts val="200"/>
              </a:spcAft>
            </a:pPr>
            <a:r>
              <a:rPr sz="800" b="0">
                <a:solidFill>
                  <a:srgbClr val="B7CBE0"/>
                </a:solidFill>
                <a:latin typeface="Montserrat"/>
              </a:rPr>
              <a:t>RMSE inundados: 13.14 m³</a:t>
            </a:r>
          </a:p>
        </p:txBody>
      </p:sp>
      <p:sp>
        <p:nvSpPr>
          <p:cNvPr id="14" name="TextBox 13"/>
          <p:cNvSpPr txBox="1"/>
          <p:nvPr/>
        </p:nvSpPr>
        <p:spPr>
          <a:xfrm>
            <a:off x="329184" y="3136392"/>
            <a:ext cx="2450592" cy="146304"/>
          </a:xfrm>
          <a:prstGeom prst="rect">
            <a:avLst/>
          </a:prstGeom>
          <a:noFill/>
        </p:spPr>
        <p:txBody>
          <a:bodyPr wrap="square" lIns="0" tIns="0" rIns="0" bIns="0">
            <a:spAutoFit/>
          </a:bodyPr>
          <a:lstStyle/>
          <a:p>
            <a:pPr>
              <a:lnSpc>
                <a:spcPct val="100000"/>
              </a:lnSpc>
              <a:spcAft>
                <a:spcPts val="200"/>
              </a:spcAft>
            </a:pPr>
            <a:r>
              <a:rPr sz="860" b="1">
                <a:solidFill>
                  <a:srgbClr val="8BC5FA"/>
                </a:solidFill>
                <a:latin typeface="Montserrat"/>
              </a:rPr>
              <a:t>Mapa SWMM · referencia</a:t>
            </a:r>
          </a:p>
        </p:txBody>
      </p:sp>
      <p:pic>
        <p:nvPicPr>
          <p:cNvPr id="15" name="Picture 14" descr="image.png"/>
          <p:cNvPicPr>
            <a:picLocks noChangeAspect="1"/>
          </p:cNvPicPr>
          <p:nvPr/>
        </p:nvPicPr>
        <p:blipFill>
          <a:blip r:embed="rId5"/>
          <a:stretch>
            <a:fillRect/>
          </a:stretch>
        </p:blipFill>
        <p:spPr>
          <a:xfrm>
            <a:off x="310896" y="3282696"/>
            <a:ext cx="2468880" cy="1532673"/>
          </a:xfrm>
          <a:prstGeom prst="rect">
            <a:avLst/>
          </a:prstGeom>
        </p:spPr>
      </p:pic>
      <p:sp>
        <p:nvSpPr>
          <p:cNvPr id="16" name="TextBox 15"/>
          <p:cNvSpPr txBox="1"/>
          <p:nvPr/>
        </p:nvSpPr>
        <p:spPr>
          <a:xfrm>
            <a:off x="2898648" y="3136392"/>
            <a:ext cx="2450592" cy="146304"/>
          </a:xfrm>
          <a:prstGeom prst="rect">
            <a:avLst/>
          </a:prstGeom>
          <a:noFill/>
        </p:spPr>
        <p:txBody>
          <a:bodyPr wrap="square" lIns="0" tIns="0" rIns="0" bIns="0">
            <a:spAutoFit/>
          </a:bodyPr>
          <a:lstStyle/>
          <a:p>
            <a:pPr>
              <a:lnSpc>
                <a:spcPct val="100000"/>
              </a:lnSpc>
              <a:spcAft>
                <a:spcPts val="200"/>
              </a:spcAft>
            </a:pPr>
            <a:r>
              <a:rPr sz="860" b="1">
                <a:solidFill>
                  <a:srgbClr val="8BC5FA"/>
                </a:solidFill>
                <a:latin typeface="Montserrat"/>
              </a:rPr>
              <a:t>Mapa XGBoost · predicción</a:t>
            </a:r>
          </a:p>
        </p:txBody>
      </p:sp>
      <p:pic>
        <p:nvPicPr>
          <p:cNvPr id="17" name="Picture 16" descr="image.png"/>
          <p:cNvPicPr>
            <a:picLocks noChangeAspect="1"/>
          </p:cNvPicPr>
          <p:nvPr/>
        </p:nvPicPr>
        <p:blipFill>
          <a:blip r:embed="rId6"/>
          <a:stretch>
            <a:fillRect/>
          </a:stretch>
        </p:blipFill>
        <p:spPr>
          <a:xfrm>
            <a:off x="2880360" y="3282696"/>
            <a:ext cx="2468880" cy="1532673"/>
          </a:xfrm>
          <a:prstGeom prst="rect">
            <a:avLst/>
          </a:prstGeom>
        </p:spPr>
      </p:pic>
      <p:sp>
        <p:nvSpPr>
          <p:cNvPr id="18" name="TextBox 17"/>
          <p:cNvSpPr txBox="1"/>
          <p:nvPr/>
        </p:nvSpPr>
        <p:spPr>
          <a:xfrm>
            <a:off x="5527548" y="4198010"/>
            <a:ext cx="2788920" cy="475488"/>
          </a:xfrm>
          <a:prstGeom prst="rect">
            <a:avLst/>
          </a:prstGeom>
          <a:noFill/>
        </p:spPr>
        <p:txBody>
          <a:bodyPr wrap="square" lIns="0" tIns="0" rIns="0" bIns="0">
            <a:spAutoFit/>
          </a:bodyPr>
          <a:lstStyle/>
          <a:p>
            <a:pPr>
              <a:lnSpc>
                <a:spcPct val="100000"/>
              </a:lnSpc>
              <a:spcAft>
                <a:spcPts val="200"/>
              </a:spcAft>
            </a:pPr>
            <a:r>
              <a:rPr sz="900" b="1">
                <a:solidFill>
                  <a:srgbClr val="F1CB83"/>
                </a:solidFill>
                <a:latin typeface="Montserrat"/>
              </a:rPr>
              <a:t>Clasificación nodal</a:t>
            </a:r>
          </a:p>
          <a:p>
            <a:pPr>
              <a:lnSpc>
                <a:spcPct val="100000"/>
              </a:lnSpc>
              <a:spcAft>
                <a:spcPts val="200"/>
              </a:spcAft>
            </a:pPr>
            <a:r>
              <a:rPr sz="900" b="1">
                <a:solidFill>
                  <a:srgbClr val="F1CB83"/>
                </a:solidFill>
                <a:latin typeface="Montserrat"/>
              </a:rPr>
              <a:t>TP=61 · TN=97 · FP=2 · FN=0</a:t>
            </a:r>
          </a:p>
        </p:txBody>
      </p:sp>
      <p:sp>
        <p:nvSpPr>
          <p:cNvPr id="19" name="TextBox 18"/>
          <p:cNvSpPr txBox="1"/>
          <p:nvPr/>
        </p:nvSpPr>
        <p:spPr>
          <a:xfrm>
            <a:off x="310896" y="4882896"/>
            <a:ext cx="7955279" cy="128016"/>
          </a:xfrm>
          <a:prstGeom prst="rect">
            <a:avLst/>
          </a:prstGeom>
          <a:noFill/>
        </p:spPr>
        <p:txBody>
          <a:bodyPr wrap="square" lIns="0" tIns="0" rIns="0" bIns="0">
            <a:spAutoFit/>
          </a:bodyPr>
          <a:lstStyle/>
          <a:p>
            <a:pPr>
              <a:lnSpc>
                <a:spcPct val="100000"/>
              </a:lnSpc>
              <a:spcAft>
                <a:spcPts val="200"/>
              </a:spcAft>
            </a:pPr>
            <a:r>
              <a:rPr sz="750" b="0">
                <a:solidFill>
                  <a:srgbClr val="B7CBE0"/>
                </a:solidFill>
                <a:latin typeface="Montserrat"/>
              </a:rPr>
              <a:t>MLSMFP  |  SWMM vs XGBoost  |  val_early_flash_2h45_f3.100</a:t>
            </a:r>
          </a:p>
        </p:txBody>
      </p:sp>
      <p:sp>
        <p:nvSpPr>
          <p:cNvPr id="20" name="TextBox 19"/>
          <p:cNvSpPr txBox="1"/>
          <p:nvPr/>
        </p:nvSpPr>
        <p:spPr>
          <a:xfrm>
            <a:off x="8321040" y="4818888"/>
            <a:ext cx="502920" cy="201168"/>
          </a:xfrm>
          <a:prstGeom prst="rect">
            <a:avLst/>
          </a:prstGeom>
          <a:noFill/>
        </p:spPr>
        <p:txBody>
          <a:bodyPr wrap="square" lIns="0" tIns="0" rIns="0" bIns="0">
            <a:spAutoFit/>
          </a:bodyPr>
          <a:lstStyle/>
          <a:p>
            <a:pPr>
              <a:lnSpc>
                <a:spcPct val="100000"/>
              </a:lnSpc>
              <a:spcAft>
                <a:spcPts val="200"/>
              </a:spcAft>
            </a:pPr>
            <a:r>
              <a:rPr sz="1050" b="0">
                <a:solidFill>
                  <a:srgbClr val="8BC5FA"/>
                </a:solidFill>
                <a:latin typeface="Montserrat"/>
              </a:rPr>
              <a:t>31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229600" cy="393192"/>
          </a:xfrm>
          <a:prstGeom prst="rect">
            <a:avLst/>
          </a:prstGeom>
          <a:noFill/>
        </p:spPr>
        <p:txBody>
          <a:bodyPr wrap="square" lIns="0" tIns="0" rIns="0" bIns="0">
            <a:spAutoFit/>
          </a:bodyPr>
          <a:lstStyle/>
          <a:p>
            <a:pPr>
              <a:lnSpc>
                <a:spcPct val="100000"/>
              </a:lnSpc>
              <a:spcAft>
                <a:spcPts val="200"/>
              </a:spcAft>
            </a:pPr>
            <a:r>
              <a:rPr sz="2050" b="1">
                <a:solidFill>
                  <a:srgbClr val="8BC5FA"/>
                </a:solidFill>
                <a:latin typeface="Montserrat"/>
              </a:rPr>
              <a:t>Validación 3/5: Pico tardío largo · 11 h 45 min</a:t>
            </a:r>
          </a:p>
        </p:txBody>
      </p:sp>
      <p:sp>
        <p:nvSpPr>
          <p:cNvPr id="5" name="TextBox 4"/>
          <p:cNvSpPr txBox="1"/>
          <p:nvPr/>
        </p:nvSpPr>
        <p:spPr>
          <a:xfrm>
            <a:off x="429768" y="658368"/>
            <a:ext cx="8229600" cy="146304"/>
          </a:xfrm>
          <a:prstGeom prst="rect">
            <a:avLst/>
          </a:prstGeom>
          <a:noFill/>
        </p:spPr>
        <p:txBody>
          <a:bodyPr wrap="square" lIns="0" tIns="0" rIns="0" bIns="0">
            <a:spAutoFit/>
          </a:bodyPr>
          <a:lstStyle/>
          <a:p>
            <a:pPr>
              <a:lnSpc>
                <a:spcPct val="100000"/>
              </a:lnSpc>
              <a:spcAft>
                <a:spcPts val="200"/>
              </a:spcAft>
            </a:pPr>
            <a:r>
              <a:rPr sz="950" b="0">
                <a:solidFill>
                  <a:srgbClr val="B7CBE0"/>
                </a:solidFill>
                <a:latin typeface="Montserrat"/>
              </a:rPr>
              <a:t>Forma usada en entrenamiento · factor de carga no visto: 1.90 · volumen acumulado por nodo y evento</a:t>
            </a:r>
          </a:p>
        </p:txBody>
      </p:sp>
      <p:pic>
        <p:nvPicPr>
          <p:cNvPr id="6" name="Picture 5" descr="image.png"/>
          <p:cNvPicPr>
            <a:picLocks noChangeAspect="1"/>
          </p:cNvPicPr>
          <p:nvPr/>
        </p:nvPicPr>
        <p:blipFill>
          <a:blip r:embed="rId3"/>
          <a:stretch>
            <a:fillRect/>
          </a:stretch>
        </p:blipFill>
        <p:spPr>
          <a:xfrm>
            <a:off x="310896" y="1051560"/>
            <a:ext cx="3657600" cy="2033289"/>
          </a:xfrm>
          <a:prstGeom prst="rect">
            <a:avLst/>
          </a:prstGeom>
        </p:spPr>
      </p:pic>
      <p:sp>
        <p:nvSpPr>
          <p:cNvPr id="7" name="TextBox 6"/>
          <p:cNvSpPr txBox="1"/>
          <p:nvPr/>
        </p:nvSpPr>
        <p:spPr>
          <a:xfrm>
            <a:off x="4709160" y="1069848"/>
            <a:ext cx="1938528" cy="219456"/>
          </a:xfrm>
          <a:prstGeom prst="rect">
            <a:avLst/>
          </a:prstGeom>
          <a:noFill/>
        </p:spPr>
        <p:txBody>
          <a:bodyPr wrap="square" lIns="0" tIns="0" rIns="0" bIns="0">
            <a:spAutoFit/>
          </a:bodyPr>
          <a:lstStyle/>
          <a:p>
            <a:pPr>
              <a:lnSpc>
                <a:spcPct val="100000"/>
              </a:lnSpc>
              <a:spcAft>
                <a:spcPts val="200"/>
              </a:spcAft>
            </a:pPr>
            <a:r>
              <a:rPr sz="1080" b="1">
                <a:solidFill>
                  <a:srgbClr val="8BC5FA"/>
                </a:solidFill>
                <a:latin typeface="Montserrat"/>
              </a:rPr>
              <a:t>Forma del hidrograma</a:t>
            </a:r>
          </a:p>
        </p:txBody>
      </p:sp>
      <p:sp>
        <p:nvSpPr>
          <p:cNvPr id="8" name="TextBox 7"/>
          <p:cNvSpPr txBox="1"/>
          <p:nvPr/>
        </p:nvSpPr>
        <p:spPr>
          <a:xfrm>
            <a:off x="4709160" y="1353312"/>
            <a:ext cx="1938528" cy="658368"/>
          </a:xfrm>
          <a:prstGeom prst="rect">
            <a:avLst/>
          </a:prstGeom>
          <a:noFill/>
        </p:spPr>
        <p:txBody>
          <a:bodyPr wrap="square" lIns="0" tIns="0" rIns="0" bIns="0">
            <a:spAutoFit/>
          </a:bodyPr>
          <a:lstStyle/>
          <a:p>
            <a:pPr>
              <a:lnSpc>
                <a:spcPct val="100000"/>
              </a:lnSpc>
              <a:spcAft>
                <a:spcPts val="200"/>
              </a:spcAft>
            </a:pPr>
            <a:r>
              <a:rPr sz="975" b="0">
                <a:solidFill>
                  <a:srgbClr val="F7FAFE"/>
                </a:solidFill>
                <a:latin typeface="Montserrat"/>
              </a:rPr>
              <a:t>Pico tardío largo · 11 h 45 min</a:t>
            </a:r>
          </a:p>
          <a:p>
            <a:pPr>
              <a:lnSpc>
                <a:spcPct val="100000"/>
              </a:lnSpc>
              <a:spcAft>
                <a:spcPts val="200"/>
              </a:spcAft>
            </a:pPr>
            <a:r>
              <a:rPr sz="975" b="0">
                <a:solidFill>
                  <a:srgbClr val="F7FAFE"/>
                </a:solidFill>
                <a:latin typeface="Montserrat"/>
              </a:rPr>
              <a:t>Respuesta sostenida con máximo desplazado hacia el final.</a:t>
            </a:r>
          </a:p>
        </p:txBody>
      </p:sp>
      <p:sp>
        <p:nvSpPr>
          <p:cNvPr id="9" name="TextBox 8"/>
          <p:cNvSpPr txBox="1"/>
          <p:nvPr/>
        </p:nvSpPr>
        <p:spPr>
          <a:xfrm>
            <a:off x="4709160" y="2103120"/>
            <a:ext cx="1938528" cy="201168"/>
          </a:xfrm>
          <a:prstGeom prst="rect">
            <a:avLst/>
          </a:prstGeom>
          <a:noFill/>
        </p:spPr>
        <p:txBody>
          <a:bodyPr wrap="square" lIns="0" tIns="0" rIns="0" bIns="0">
            <a:spAutoFit/>
          </a:bodyPr>
          <a:lstStyle/>
          <a:p>
            <a:pPr>
              <a:lnSpc>
                <a:spcPct val="100000"/>
              </a:lnSpc>
              <a:spcAft>
                <a:spcPts val="200"/>
              </a:spcAft>
            </a:pPr>
            <a:r>
              <a:rPr sz="1080" b="1">
                <a:solidFill>
                  <a:srgbClr val="8BC5FA"/>
                </a:solidFill>
                <a:latin typeface="Montserrat"/>
              </a:rPr>
              <a:t>Resultado agregado</a:t>
            </a:r>
          </a:p>
        </p:txBody>
      </p:sp>
      <p:sp>
        <p:nvSpPr>
          <p:cNvPr id="10" name="TextBox 9"/>
          <p:cNvSpPr txBox="1"/>
          <p:nvPr/>
        </p:nvSpPr>
        <p:spPr>
          <a:xfrm>
            <a:off x="4709160" y="2359152"/>
            <a:ext cx="1938528" cy="841248"/>
          </a:xfrm>
          <a:prstGeom prst="rect">
            <a:avLst/>
          </a:prstGeom>
          <a:noFill/>
        </p:spPr>
        <p:txBody>
          <a:bodyPr wrap="square" lIns="0" tIns="0" rIns="0" bIns="0">
            <a:spAutoFit/>
          </a:bodyPr>
          <a:lstStyle/>
          <a:p>
            <a:pPr>
              <a:lnSpc>
                <a:spcPct val="100000"/>
              </a:lnSpc>
              <a:spcAft>
                <a:spcPts val="200"/>
              </a:spcAft>
            </a:pPr>
            <a:r>
              <a:rPr sz="969" b="0">
                <a:solidFill>
                  <a:srgbClr val="F7FAFE"/>
                </a:solidFill>
                <a:latin typeface="Montserrat"/>
              </a:rPr>
              <a:t>SWMM: 8,147 m³</a:t>
            </a:r>
          </a:p>
          <a:p>
            <a:pPr>
              <a:lnSpc>
                <a:spcPct val="100000"/>
              </a:lnSpc>
              <a:spcAft>
                <a:spcPts val="200"/>
              </a:spcAft>
            </a:pPr>
            <a:r>
              <a:rPr sz="969" b="0">
                <a:solidFill>
                  <a:srgbClr val="F7FAFE"/>
                </a:solidFill>
                <a:latin typeface="Montserrat"/>
              </a:rPr>
              <a:t>XGBoost: 8,290 m³</a:t>
            </a:r>
          </a:p>
          <a:p>
            <a:pPr>
              <a:lnSpc>
                <a:spcPct val="100000"/>
              </a:lnSpc>
              <a:spcAft>
                <a:spcPts val="200"/>
              </a:spcAft>
            </a:pPr>
            <a:r>
              <a:rPr sz="969" b="0">
                <a:solidFill>
                  <a:srgbClr val="F7FAFE"/>
                </a:solidFill>
                <a:latin typeface="Montserrat"/>
              </a:rPr>
              <a:t>Error total: +1.8%</a:t>
            </a:r>
          </a:p>
          <a:p>
            <a:pPr>
              <a:lnSpc>
                <a:spcPct val="100000"/>
              </a:lnSpc>
              <a:spcAft>
                <a:spcPts val="200"/>
              </a:spcAft>
            </a:pPr>
            <a:r>
              <a:rPr sz="969" b="0">
                <a:solidFill>
                  <a:srgbClr val="F7FAFE"/>
                </a:solidFill>
                <a:latin typeface="Montserrat"/>
              </a:rPr>
              <a:t>Nodos inundados: 37</a:t>
            </a:r>
          </a:p>
        </p:txBody>
      </p:sp>
      <p:sp>
        <p:nvSpPr>
          <p:cNvPr id="11" name="TextBox 10"/>
          <p:cNvSpPr txBox="1"/>
          <p:nvPr/>
        </p:nvSpPr>
        <p:spPr>
          <a:xfrm>
            <a:off x="6876288" y="1069848"/>
            <a:ext cx="1828800" cy="201168"/>
          </a:xfrm>
          <a:prstGeom prst="rect">
            <a:avLst/>
          </a:prstGeom>
          <a:noFill/>
        </p:spPr>
        <p:txBody>
          <a:bodyPr wrap="square" lIns="0" tIns="0" rIns="0" bIns="0">
            <a:spAutoFit/>
          </a:bodyPr>
          <a:lstStyle/>
          <a:p>
            <a:pPr>
              <a:lnSpc>
                <a:spcPct val="100000"/>
              </a:lnSpc>
              <a:spcAft>
                <a:spcPts val="200"/>
              </a:spcAft>
            </a:pPr>
            <a:r>
              <a:rPr sz="1080" b="1">
                <a:solidFill>
                  <a:srgbClr val="8BC5FA"/>
                </a:solidFill>
                <a:latin typeface="Montserrat"/>
              </a:rPr>
              <a:t>Parity por nodo</a:t>
            </a:r>
          </a:p>
        </p:txBody>
      </p:sp>
      <p:pic>
        <p:nvPicPr>
          <p:cNvPr id="12" name="Picture 11" descr="image.png"/>
          <p:cNvPicPr>
            <a:picLocks noChangeAspect="1"/>
          </p:cNvPicPr>
          <p:nvPr/>
        </p:nvPicPr>
        <p:blipFill>
          <a:blip r:embed="rId4"/>
          <a:stretch>
            <a:fillRect/>
          </a:stretch>
        </p:blipFill>
        <p:spPr>
          <a:xfrm>
            <a:off x="6638544" y="856792"/>
            <a:ext cx="2450592" cy="2492192"/>
          </a:xfrm>
          <a:prstGeom prst="rect">
            <a:avLst/>
          </a:prstGeom>
        </p:spPr>
      </p:pic>
      <p:sp>
        <p:nvSpPr>
          <p:cNvPr id="13" name="TextBox 12"/>
          <p:cNvSpPr txBox="1"/>
          <p:nvPr/>
        </p:nvSpPr>
        <p:spPr>
          <a:xfrm>
            <a:off x="6850684" y="3639312"/>
            <a:ext cx="1874519" cy="338328"/>
          </a:xfrm>
          <a:prstGeom prst="rect">
            <a:avLst/>
          </a:prstGeom>
          <a:noFill/>
        </p:spPr>
        <p:txBody>
          <a:bodyPr wrap="square" lIns="0" tIns="0" rIns="0" bIns="0">
            <a:spAutoFit/>
          </a:bodyPr>
          <a:lstStyle/>
          <a:p>
            <a:pPr>
              <a:lnSpc>
                <a:spcPct val="100000"/>
              </a:lnSpc>
              <a:spcAft>
                <a:spcPts val="200"/>
              </a:spcAft>
            </a:pPr>
            <a:r>
              <a:rPr sz="800" b="0">
                <a:solidFill>
                  <a:srgbClr val="B7CBE0"/>
                </a:solidFill>
                <a:latin typeface="Montserrat"/>
              </a:rPr>
              <a:t>MAE inundados: 40.61 m³</a:t>
            </a:r>
          </a:p>
          <a:p>
            <a:pPr>
              <a:lnSpc>
                <a:spcPct val="100000"/>
              </a:lnSpc>
              <a:spcAft>
                <a:spcPts val="200"/>
              </a:spcAft>
            </a:pPr>
            <a:r>
              <a:rPr sz="800" b="0">
                <a:solidFill>
                  <a:srgbClr val="B7CBE0"/>
                </a:solidFill>
                <a:latin typeface="Montserrat"/>
              </a:rPr>
              <a:t>RMSE inundados: 66.95 m³</a:t>
            </a:r>
          </a:p>
        </p:txBody>
      </p:sp>
      <p:sp>
        <p:nvSpPr>
          <p:cNvPr id="14" name="TextBox 13"/>
          <p:cNvSpPr txBox="1"/>
          <p:nvPr/>
        </p:nvSpPr>
        <p:spPr>
          <a:xfrm>
            <a:off x="329184" y="3136392"/>
            <a:ext cx="2450592" cy="146304"/>
          </a:xfrm>
          <a:prstGeom prst="rect">
            <a:avLst/>
          </a:prstGeom>
          <a:noFill/>
        </p:spPr>
        <p:txBody>
          <a:bodyPr wrap="square" lIns="0" tIns="0" rIns="0" bIns="0">
            <a:spAutoFit/>
          </a:bodyPr>
          <a:lstStyle/>
          <a:p>
            <a:pPr>
              <a:lnSpc>
                <a:spcPct val="100000"/>
              </a:lnSpc>
              <a:spcAft>
                <a:spcPts val="200"/>
              </a:spcAft>
            </a:pPr>
            <a:r>
              <a:rPr sz="860" b="1">
                <a:solidFill>
                  <a:srgbClr val="8BC5FA"/>
                </a:solidFill>
                <a:latin typeface="Montserrat"/>
              </a:rPr>
              <a:t>Mapa SWMM · referencia</a:t>
            </a:r>
          </a:p>
        </p:txBody>
      </p:sp>
      <p:pic>
        <p:nvPicPr>
          <p:cNvPr id="15" name="Picture 14" descr="image.png"/>
          <p:cNvPicPr>
            <a:picLocks noChangeAspect="1"/>
          </p:cNvPicPr>
          <p:nvPr/>
        </p:nvPicPr>
        <p:blipFill>
          <a:blip r:embed="rId5"/>
          <a:stretch>
            <a:fillRect/>
          </a:stretch>
        </p:blipFill>
        <p:spPr>
          <a:xfrm>
            <a:off x="310896" y="3282696"/>
            <a:ext cx="2468880" cy="1522455"/>
          </a:xfrm>
          <a:prstGeom prst="rect">
            <a:avLst/>
          </a:prstGeom>
        </p:spPr>
      </p:pic>
      <p:sp>
        <p:nvSpPr>
          <p:cNvPr id="16" name="TextBox 15"/>
          <p:cNvSpPr txBox="1"/>
          <p:nvPr/>
        </p:nvSpPr>
        <p:spPr>
          <a:xfrm>
            <a:off x="2898648" y="3136392"/>
            <a:ext cx="2450592" cy="146304"/>
          </a:xfrm>
          <a:prstGeom prst="rect">
            <a:avLst/>
          </a:prstGeom>
          <a:noFill/>
        </p:spPr>
        <p:txBody>
          <a:bodyPr wrap="square" lIns="0" tIns="0" rIns="0" bIns="0">
            <a:spAutoFit/>
          </a:bodyPr>
          <a:lstStyle/>
          <a:p>
            <a:pPr>
              <a:lnSpc>
                <a:spcPct val="100000"/>
              </a:lnSpc>
              <a:spcAft>
                <a:spcPts val="200"/>
              </a:spcAft>
            </a:pPr>
            <a:r>
              <a:rPr sz="860" b="1">
                <a:solidFill>
                  <a:srgbClr val="8BC5FA"/>
                </a:solidFill>
                <a:latin typeface="Montserrat"/>
              </a:rPr>
              <a:t>Mapa XGBoost · predicción</a:t>
            </a:r>
          </a:p>
        </p:txBody>
      </p:sp>
      <p:pic>
        <p:nvPicPr>
          <p:cNvPr id="17" name="Picture 16" descr="image.png"/>
          <p:cNvPicPr>
            <a:picLocks noChangeAspect="1"/>
          </p:cNvPicPr>
          <p:nvPr/>
        </p:nvPicPr>
        <p:blipFill>
          <a:blip r:embed="rId6"/>
          <a:stretch>
            <a:fillRect/>
          </a:stretch>
        </p:blipFill>
        <p:spPr>
          <a:xfrm>
            <a:off x="2880360" y="3282696"/>
            <a:ext cx="2468880" cy="1522455"/>
          </a:xfrm>
          <a:prstGeom prst="rect">
            <a:avLst/>
          </a:prstGeom>
        </p:spPr>
      </p:pic>
      <p:sp>
        <p:nvSpPr>
          <p:cNvPr id="18" name="TextBox 17"/>
          <p:cNvSpPr txBox="1"/>
          <p:nvPr/>
        </p:nvSpPr>
        <p:spPr>
          <a:xfrm>
            <a:off x="5527548" y="4198010"/>
            <a:ext cx="2788920" cy="475488"/>
          </a:xfrm>
          <a:prstGeom prst="rect">
            <a:avLst/>
          </a:prstGeom>
          <a:noFill/>
        </p:spPr>
        <p:txBody>
          <a:bodyPr wrap="square" lIns="0" tIns="0" rIns="0" bIns="0">
            <a:spAutoFit/>
          </a:bodyPr>
          <a:lstStyle/>
          <a:p>
            <a:pPr>
              <a:lnSpc>
                <a:spcPct val="100000"/>
              </a:lnSpc>
              <a:spcAft>
                <a:spcPts val="200"/>
              </a:spcAft>
            </a:pPr>
            <a:r>
              <a:rPr sz="900" b="1">
                <a:solidFill>
                  <a:srgbClr val="F1CB83"/>
                </a:solidFill>
                <a:latin typeface="Montserrat"/>
              </a:rPr>
              <a:t>Clasificación nodal</a:t>
            </a:r>
          </a:p>
          <a:p>
            <a:pPr>
              <a:lnSpc>
                <a:spcPct val="100000"/>
              </a:lnSpc>
              <a:spcAft>
                <a:spcPts val="200"/>
              </a:spcAft>
            </a:pPr>
            <a:r>
              <a:rPr sz="900" b="1">
                <a:solidFill>
                  <a:srgbClr val="F1CB83"/>
                </a:solidFill>
                <a:latin typeface="Montserrat"/>
              </a:rPr>
              <a:t>TP=37 · TN=121 · FP=2 · FN=0</a:t>
            </a:r>
          </a:p>
        </p:txBody>
      </p:sp>
      <p:sp>
        <p:nvSpPr>
          <p:cNvPr id="19" name="TextBox 18"/>
          <p:cNvSpPr txBox="1"/>
          <p:nvPr/>
        </p:nvSpPr>
        <p:spPr>
          <a:xfrm>
            <a:off x="310896" y="4882896"/>
            <a:ext cx="7955279" cy="128016"/>
          </a:xfrm>
          <a:prstGeom prst="rect">
            <a:avLst/>
          </a:prstGeom>
          <a:noFill/>
        </p:spPr>
        <p:txBody>
          <a:bodyPr wrap="square" lIns="0" tIns="0" rIns="0" bIns="0">
            <a:spAutoFit/>
          </a:bodyPr>
          <a:lstStyle/>
          <a:p>
            <a:pPr>
              <a:lnSpc>
                <a:spcPct val="100000"/>
              </a:lnSpc>
              <a:spcAft>
                <a:spcPts val="200"/>
              </a:spcAft>
            </a:pPr>
            <a:r>
              <a:rPr sz="750" b="0">
                <a:solidFill>
                  <a:srgbClr val="B7CBE0"/>
                </a:solidFill>
                <a:latin typeface="Montserrat"/>
              </a:rPr>
              <a:t>MLSMFP  |  SWMM vs XGBoost  |  val_long_late_11h75_f1.900</a:t>
            </a:r>
          </a:p>
        </p:txBody>
      </p:sp>
      <p:sp>
        <p:nvSpPr>
          <p:cNvPr id="20" name="TextBox 19"/>
          <p:cNvSpPr txBox="1"/>
          <p:nvPr/>
        </p:nvSpPr>
        <p:spPr>
          <a:xfrm>
            <a:off x="8321040" y="4818888"/>
            <a:ext cx="502920" cy="201168"/>
          </a:xfrm>
          <a:prstGeom prst="rect">
            <a:avLst/>
          </a:prstGeom>
          <a:noFill/>
        </p:spPr>
        <p:txBody>
          <a:bodyPr wrap="square" lIns="0" tIns="0" rIns="0" bIns="0">
            <a:spAutoFit/>
          </a:bodyPr>
          <a:lstStyle/>
          <a:p>
            <a:pPr>
              <a:lnSpc>
                <a:spcPct val="100000"/>
              </a:lnSpc>
              <a:spcAft>
                <a:spcPts val="200"/>
              </a:spcAft>
            </a:pPr>
            <a:r>
              <a:rPr sz="1050" b="0">
                <a:solidFill>
                  <a:srgbClr val="8BC5FA"/>
                </a:solidFill>
                <a:latin typeface="Montserrat"/>
              </a:rPr>
              <a:t>32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229600" cy="393192"/>
          </a:xfrm>
          <a:prstGeom prst="rect">
            <a:avLst/>
          </a:prstGeom>
          <a:noFill/>
        </p:spPr>
        <p:txBody>
          <a:bodyPr wrap="square" lIns="0" tIns="0" rIns="0" bIns="0">
            <a:spAutoFit/>
          </a:bodyPr>
          <a:lstStyle/>
          <a:p>
            <a:pPr>
              <a:lnSpc>
                <a:spcPct val="100000"/>
              </a:lnSpc>
              <a:spcAft>
                <a:spcPts val="200"/>
              </a:spcAft>
            </a:pPr>
            <a:r>
              <a:rPr sz="2050" b="1">
                <a:solidFill>
                  <a:srgbClr val="8BC5FA"/>
                </a:solidFill>
                <a:latin typeface="Montserrat"/>
              </a:rPr>
              <a:t>Validación 4/5: Triple pulso · 5 h 45 min</a:t>
            </a:r>
          </a:p>
        </p:txBody>
      </p:sp>
      <p:sp>
        <p:nvSpPr>
          <p:cNvPr id="5" name="TextBox 4"/>
          <p:cNvSpPr txBox="1"/>
          <p:nvPr/>
        </p:nvSpPr>
        <p:spPr>
          <a:xfrm>
            <a:off x="429768" y="658368"/>
            <a:ext cx="8229600" cy="146304"/>
          </a:xfrm>
          <a:prstGeom prst="rect">
            <a:avLst/>
          </a:prstGeom>
          <a:noFill/>
        </p:spPr>
        <p:txBody>
          <a:bodyPr wrap="square" lIns="0" tIns="0" rIns="0" bIns="0">
            <a:spAutoFit/>
          </a:bodyPr>
          <a:lstStyle/>
          <a:p>
            <a:pPr>
              <a:lnSpc>
                <a:spcPct val="100000"/>
              </a:lnSpc>
              <a:spcAft>
                <a:spcPts val="200"/>
              </a:spcAft>
            </a:pPr>
            <a:r>
              <a:rPr sz="950" b="0">
                <a:solidFill>
                  <a:srgbClr val="B7CBE0"/>
                </a:solidFill>
                <a:latin typeface="Montserrat"/>
              </a:rPr>
              <a:t>Forma usada en entrenamiento · factor de carga no visto: 3.70 · volumen acumulado por nodo y evento</a:t>
            </a:r>
          </a:p>
        </p:txBody>
      </p:sp>
      <p:pic>
        <p:nvPicPr>
          <p:cNvPr id="6" name="Picture 5" descr="image.png"/>
          <p:cNvPicPr>
            <a:picLocks noChangeAspect="1"/>
          </p:cNvPicPr>
          <p:nvPr/>
        </p:nvPicPr>
        <p:blipFill>
          <a:blip r:embed="rId3"/>
          <a:stretch>
            <a:fillRect/>
          </a:stretch>
        </p:blipFill>
        <p:spPr>
          <a:xfrm>
            <a:off x="310896" y="1051560"/>
            <a:ext cx="3657600" cy="2010963"/>
          </a:xfrm>
          <a:prstGeom prst="rect">
            <a:avLst/>
          </a:prstGeom>
        </p:spPr>
      </p:pic>
      <p:sp>
        <p:nvSpPr>
          <p:cNvPr id="7" name="TextBox 6"/>
          <p:cNvSpPr txBox="1"/>
          <p:nvPr/>
        </p:nvSpPr>
        <p:spPr>
          <a:xfrm>
            <a:off x="4709160" y="1069848"/>
            <a:ext cx="1938528" cy="219456"/>
          </a:xfrm>
          <a:prstGeom prst="rect">
            <a:avLst/>
          </a:prstGeom>
          <a:noFill/>
        </p:spPr>
        <p:txBody>
          <a:bodyPr wrap="square" lIns="0" tIns="0" rIns="0" bIns="0">
            <a:spAutoFit/>
          </a:bodyPr>
          <a:lstStyle/>
          <a:p>
            <a:pPr>
              <a:lnSpc>
                <a:spcPct val="100000"/>
              </a:lnSpc>
              <a:spcAft>
                <a:spcPts val="200"/>
              </a:spcAft>
            </a:pPr>
            <a:r>
              <a:rPr sz="1080" b="1">
                <a:solidFill>
                  <a:srgbClr val="8BC5FA"/>
                </a:solidFill>
                <a:latin typeface="Montserrat"/>
              </a:rPr>
              <a:t>Forma del hidrograma</a:t>
            </a:r>
          </a:p>
        </p:txBody>
      </p:sp>
      <p:sp>
        <p:nvSpPr>
          <p:cNvPr id="8" name="TextBox 7"/>
          <p:cNvSpPr txBox="1"/>
          <p:nvPr/>
        </p:nvSpPr>
        <p:spPr>
          <a:xfrm>
            <a:off x="4709160" y="1353312"/>
            <a:ext cx="1938528" cy="658368"/>
          </a:xfrm>
          <a:prstGeom prst="rect">
            <a:avLst/>
          </a:prstGeom>
          <a:noFill/>
        </p:spPr>
        <p:txBody>
          <a:bodyPr wrap="square" lIns="0" tIns="0" rIns="0" bIns="0">
            <a:spAutoFit/>
          </a:bodyPr>
          <a:lstStyle/>
          <a:p>
            <a:pPr>
              <a:lnSpc>
                <a:spcPct val="100000"/>
              </a:lnSpc>
              <a:spcAft>
                <a:spcPts val="200"/>
              </a:spcAft>
            </a:pPr>
            <a:r>
              <a:rPr sz="975" b="0">
                <a:solidFill>
                  <a:srgbClr val="F7FAFE"/>
                </a:solidFill>
                <a:latin typeface="Montserrat"/>
              </a:rPr>
              <a:t>Triple pulso · 5 h 45 min</a:t>
            </a:r>
          </a:p>
          <a:p>
            <a:pPr>
              <a:lnSpc>
                <a:spcPct val="100000"/>
              </a:lnSpc>
              <a:spcAft>
                <a:spcPts val="200"/>
              </a:spcAft>
            </a:pPr>
            <a:r>
              <a:rPr sz="975" b="0">
                <a:solidFill>
                  <a:srgbClr val="F7FAFE"/>
                </a:solidFill>
                <a:latin typeface="Montserrat"/>
              </a:rPr>
              <a:t>Tres pulsos que someten a la red a cargas repetidas.</a:t>
            </a:r>
          </a:p>
        </p:txBody>
      </p:sp>
      <p:sp>
        <p:nvSpPr>
          <p:cNvPr id="9" name="TextBox 8"/>
          <p:cNvSpPr txBox="1"/>
          <p:nvPr/>
        </p:nvSpPr>
        <p:spPr>
          <a:xfrm>
            <a:off x="4709160" y="2103120"/>
            <a:ext cx="1938528" cy="201168"/>
          </a:xfrm>
          <a:prstGeom prst="rect">
            <a:avLst/>
          </a:prstGeom>
          <a:noFill/>
        </p:spPr>
        <p:txBody>
          <a:bodyPr wrap="square" lIns="0" tIns="0" rIns="0" bIns="0">
            <a:spAutoFit/>
          </a:bodyPr>
          <a:lstStyle/>
          <a:p>
            <a:pPr>
              <a:lnSpc>
                <a:spcPct val="100000"/>
              </a:lnSpc>
              <a:spcAft>
                <a:spcPts val="200"/>
              </a:spcAft>
            </a:pPr>
            <a:r>
              <a:rPr sz="1080" b="1">
                <a:solidFill>
                  <a:srgbClr val="8BC5FA"/>
                </a:solidFill>
                <a:latin typeface="Montserrat"/>
              </a:rPr>
              <a:t>Resultado agregado</a:t>
            </a:r>
          </a:p>
        </p:txBody>
      </p:sp>
      <p:sp>
        <p:nvSpPr>
          <p:cNvPr id="10" name="TextBox 9"/>
          <p:cNvSpPr txBox="1"/>
          <p:nvPr/>
        </p:nvSpPr>
        <p:spPr>
          <a:xfrm>
            <a:off x="4709160" y="2359152"/>
            <a:ext cx="1938528" cy="841248"/>
          </a:xfrm>
          <a:prstGeom prst="rect">
            <a:avLst/>
          </a:prstGeom>
          <a:noFill/>
        </p:spPr>
        <p:txBody>
          <a:bodyPr wrap="square" lIns="0" tIns="0" rIns="0" bIns="0">
            <a:spAutoFit/>
          </a:bodyPr>
          <a:lstStyle/>
          <a:p>
            <a:pPr>
              <a:lnSpc>
                <a:spcPct val="100000"/>
              </a:lnSpc>
              <a:spcAft>
                <a:spcPts val="200"/>
              </a:spcAft>
            </a:pPr>
            <a:r>
              <a:rPr sz="969" b="0">
                <a:solidFill>
                  <a:srgbClr val="F7FAFE"/>
                </a:solidFill>
                <a:latin typeface="Montserrat"/>
              </a:rPr>
              <a:t>SWMM: 22,818 m³</a:t>
            </a:r>
          </a:p>
          <a:p>
            <a:pPr>
              <a:lnSpc>
                <a:spcPct val="100000"/>
              </a:lnSpc>
              <a:spcAft>
                <a:spcPts val="200"/>
              </a:spcAft>
            </a:pPr>
            <a:r>
              <a:rPr sz="969" b="0">
                <a:solidFill>
                  <a:srgbClr val="F7FAFE"/>
                </a:solidFill>
                <a:latin typeface="Montserrat"/>
              </a:rPr>
              <a:t>XGBoost: 22,937 m³</a:t>
            </a:r>
          </a:p>
          <a:p>
            <a:pPr>
              <a:lnSpc>
                <a:spcPct val="100000"/>
              </a:lnSpc>
              <a:spcAft>
                <a:spcPts val="200"/>
              </a:spcAft>
            </a:pPr>
            <a:r>
              <a:rPr sz="969" b="0">
                <a:solidFill>
                  <a:srgbClr val="F7FAFE"/>
                </a:solidFill>
                <a:latin typeface="Montserrat"/>
              </a:rPr>
              <a:t>Error total: +0.5%</a:t>
            </a:r>
          </a:p>
          <a:p>
            <a:pPr>
              <a:lnSpc>
                <a:spcPct val="100000"/>
              </a:lnSpc>
              <a:spcAft>
                <a:spcPts val="200"/>
              </a:spcAft>
            </a:pPr>
            <a:r>
              <a:rPr sz="969" b="0">
                <a:solidFill>
                  <a:srgbClr val="F7FAFE"/>
                </a:solidFill>
                <a:latin typeface="Montserrat"/>
              </a:rPr>
              <a:t>Nodos inundados: 74</a:t>
            </a:r>
          </a:p>
        </p:txBody>
      </p:sp>
      <p:sp>
        <p:nvSpPr>
          <p:cNvPr id="11" name="TextBox 10"/>
          <p:cNvSpPr txBox="1"/>
          <p:nvPr/>
        </p:nvSpPr>
        <p:spPr>
          <a:xfrm>
            <a:off x="6876288" y="1069848"/>
            <a:ext cx="1828800" cy="201168"/>
          </a:xfrm>
          <a:prstGeom prst="rect">
            <a:avLst/>
          </a:prstGeom>
          <a:noFill/>
        </p:spPr>
        <p:txBody>
          <a:bodyPr wrap="square" lIns="0" tIns="0" rIns="0" bIns="0">
            <a:spAutoFit/>
          </a:bodyPr>
          <a:lstStyle/>
          <a:p>
            <a:pPr>
              <a:lnSpc>
                <a:spcPct val="100000"/>
              </a:lnSpc>
              <a:spcAft>
                <a:spcPts val="200"/>
              </a:spcAft>
            </a:pPr>
            <a:r>
              <a:rPr sz="1080" b="1">
                <a:solidFill>
                  <a:srgbClr val="8BC5FA"/>
                </a:solidFill>
                <a:latin typeface="Montserrat"/>
              </a:rPr>
              <a:t>Parity por nodo</a:t>
            </a:r>
          </a:p>
        </p:txBody>
      </p:sp>
      <p:pic>
        <p:nvPicPr>
          <p:cNvPr id="12" name="Picture 11" descr="image.png"/>
          <p:cNvPicPr>
            <a:picLocks noChangeAspect="1"/>
          </p:cNvPicPr>
          <p:nvPr/>
        </p:nvPicPr>
        <p:blipFill>
          <a:blip r:embed="rId4"/>
          <a:stretch>
            <a:fillRect/>
          </a:stretch>
        </p:blipFill>
        <p:spPr>
          <a:xfrm>
            <a:off x="6638544" y="856792"/>
            <a:ext cx="2450592" cy="2492192"/>
          </a:xfrm>
          <a:prstGeom prst="rect">
            <a:avLst/>
          </a:prstGeom>
        </p:spPr>
      </p:pic>
      <p:sp>
        <p:nvSpPr>
          <p:cNvPr id="13" name="TextBox 12"/>
          <p:cNvSpPr txBox="1"/>
          <p:nvPr/>
        </p:nvSpPr>
        <p:spPr>
          <a:xfrm>
            <a:off x="6850684" y="3639312"/>
            <a:ext cx="1874519" cy="338328"/>
          </a:xfrm>
          <a:prstGeom prst="rect">
            <a:avLst/>
          </a:prstGeom>
          <a:noFill/>
        </p:spPr>
        <p:txBody>
          <a:bodyPr wrap="square" lIns="0" tIns="0" rIns="0" bIns="0">
            <a:spAutoFit/>
          </a:bodyPr>
          <a:lstStyle/>
          <a:p>
            <a:pPr>
              <a:lnSpc>
                <a:spcPct val="100000"/>
              </a:lnSpc>
              <a:spcAft>
                <a:spcPts val="200"/>
              </a:spcAft>
            </a:pPr>
            <a:r>
              <a:rPr sz="800" b="0">
                <a:solidFill>
                  <a:srgbClr val="B7CBE0"/>
                </a:solidFill>
                <a:latin typeface="Montserrat"/>
              </a:rPr>
              <a:t>MAE inundados: 35.02 m³</a:t>
            </a:r>
          </a:p>
          <a:p>
            <a:pPr>
              <a:lnSpc>
                <a:spcPct val="100000"/>
              </a:lnSpc>
              <a:spcAft>
                <a:spcPts val="200"/>
              </a:spcAft>
            </a:pPr>
            <a:r>
              <a:rPr sz="800" b="0">
                <a:solidFill>
                  <a:srgbClr val="B7CBE0"/>
                </a:solidFill>
                <a:latin typeface="Montserrat"/>
              </a:rPr>
              <a:t>RMSE inundados: 64.18 m³</a:t>
            </a:r>
          </a:p>
        </p:txBody>
      </p:sp>
      <p:sp>
        <p:nvSpPr>
          <p:cNvPr id="14" name="TextBox 13"/>
          <p:cNvSpPr txBox="1"/>
          <p:nvPr/>
        </p:nvSpPr>
        <p:spPr>
          <a:xfrm>
            <a:off x="329184" y="3136392"/>
            <a:ext cx="2450592" cy="146304"/>
          </a:xfrm>
          <a:prstGeom prst="rect">
            <a:avLst/>
          </a:prstGeom>
          <a:noFill/>
        </p:spPr>
        <p:txBody>
          <a:bodyPr wrap="square" lIns="0" tIns="0" rIns="0" bIns="0">
            <a:spAutoFit/>
          </a:bodyPr>
          <a:lstStyle/>
          <a:p>
            <a:pPr>
              <a:lnSpc>
                <a:spcPct val="100000"/>
              </a:lnSpc>
              <a:spcAft>
                <a:spcPts val="200"/>
              </a:spcAft>
            </a:pPr>
            <a:r>
              <a:rPr sz="860" b="1">
                <a:solidFill>
                  <a:srgbClr val="8BC5FA"/>
                </a:solidFill>
                <a:latin typeface="Montserrat"/>
              </a:rPr>
              <a:t>Mapa SWMM · referencia</a:t>
            </a:r>
          </a:p>
        </p:txBody>
      </p:sp>
      <p:pic>
        <p:nvPicPr>
          <p:cNvPr id="15" name="Picture 14" descr="image.png"/>
          <p:cNvPicPr>
            <a:picLocks noChangeAspect="1"/>
          </p:cNvPicPr>
          <p:nvPr/>
        </p:nvPicPr>
        <p:blipFill>
          <a:blip r:embed="rId5"/>
          <a:stretch>
            <a:fillRect/>
          </a:stretch>
        </p:blipFill>
        <p:spPr>
          <a:xfrm>
            <a:off x="310896" y="3282696"/>
            <a:ext cx="2468880" cy="1522455"/>
          </a:xfrm>
          <a:prstGeom prst="rect">
            <a:avLst/>
          </a:prstGeom>
        </p:spPr>
      </p:pic>
      <p:sp>
        <p:nvSpPr>
          <p:cNvPr id="16" name="TextBox 15"/>
          <p:cNvSpPr txBox="1"/>
          <p:nvPr/>
        </p:nvSpPr>
        <p:spPr>
          <a:xfrm>
            <a:off x="2898648" y="3136392"/>
            <a:ext cx="2450592" cy="146304"/>
          </a:xfrm>
          <a:prstGeom prst="rect">
            <a:avLst/>
          </a:prstGeom>
          <a:noFill/>
        </p:spPr>
        <p:txBody>
          <a:bodyPr wrap="square" lIns="0" tIns="0" rIns="0" bIns="0">
            <a:spAutoFit/>
          </a:bodyPr>
          <a:lstStyle/>
          <a:p>
            <a:pPr>
              <a:lnSpc>
                <a:spcPct val="100000"/>
              </a:lnSpc>
              <a:spcAft>
                <a:spcPts val="200"/>
              </a:spcAft>
            </a:pPr>
            <a:r>
              <a:rPr sz="860" b="1">
                <a:solidFill>
                  <a:srgbClr val="8BC5FA"/>
                </a:solidFill>
                <a:latin typeface="Montserrat"/>
              </a:rPr>
              <a:t>Mapa XGBoost · predicción</a:t>
            </a:r>
          </a:p>
        </p:txBody>
      </p:sp>
      <p:pic>
        <p:nvPicPr>
          <p:cNvPr id="17" name="Picture 16" descr="image.png"/>
          <p:cNvPicPr>
            <a:picLocks noChangeAspect="1"/>
          </p:cNvPicPr>
          <p:nvPr/>
        </p:nvPicPr>
        <p:blipFill>
          <a:blip r:embed="rId6"/>
          <a:stretch>
            <a:fillRect/>
          </a:stretch>
        </p:blipFill>
        <p:spPr>
          <a:xfrm>
            <a:off x="2880360" y="3282696"/>
            <a:ext cx="2468880" cy="1522455"/>
          </a:xfrm>
          <a:prstGeom prst="rect">
            <a:avLst/>
          </a:prstGeom>
        </p:spPr>
      </p:pic>
      <p:sp>
        <p:nvSpPr>
          <p:cNvPr id="18" name="TextBox 17"/>
          <p:cNvSpPr txBox="1"/>
          <p:nvPr/>
        </p:nvSpPr>
        <p:spPr>
          <a:xfrm>
            <a:off x="5527548" y="4198010"/>
            <a:ext cx="2788920" cy="475488"/>
          </a:xfrm>
          <a:prstGeom prst="rect">
            <a:avLst/>
          </a:prstGeom>
          <a:noFill/>
        </p:spPr>
        <p:txBody>
          <a:bodyPr wrap="square" lIns="0" tIns="0" rIns="0" bIns="0">
            <a:spAutoFit/>
          </a:bodyPr>
          <a:lstStyle/>
          <a:p>
            <a:pPr>
              <a:lnSpc>
                <a:spcPct val="100000"/>
              </a:lnSpc>
              <a:spcAft>
                <a:spcPts val="200"/>
              </a:spcAft>
            </a:pPr>
            <a:r>
              <a:rPr sz="900" b="1">
                <a:solidFill>
                  <a:srgbClr val="F1CB83"/>
                </a:solidFill>
                <a:latin typeface="Montserrat"/>
              </a:rPr>
              <a:t>Clasificación nodal</a:t>
            </a:r>
          </a:p>
          <a:p>
            <a:pPr>
              <a:lnSpc>
                <a:spcPct val="100000"/>
              </a:lnSpc>
              <a:spcAft>
                <a:spcPts val="200"/>
              </a:spcAft>
            </a:pPr>
            <a:r>
              <a:rPr sz="900" b="1">
                <a:solidFill>
                  <a:srgbClr val="F1CB83"/>
                </a:solidFill>
                <a:latin typeface="Montserrat"/>
              </a:rPr>
              <a:t>TP=74 · TN=83 · FP=3 · FN=0</a:t>
            </a:r>
          </a:p>
        </p:txBody>
      </p:sp>
      <p:sp>
        <p:nvSpPr>
          <p:cNvPr id="19" name="TextBox 18"/>
          <p:cNvSpPr txBox="1"/>
          <p:nvPr/>
        </p:nvSpPr>
        <p:spPr>
          <a:xfrm>
            <a:off x="310896" y="4882896"/>
            <a:ext cx="7955279" cy="128016"/>
          </a:xfrm>
          <a:prstGeom prst="rect">
            <a:avLst/>
          </a:prstGeom>
          <a:noFill/>
        </p:spPr>
        <p:txBody>
          <a:bodyPr wrap="square" lIns="0" tIns="0" rIns="0" bIns="0">
            <a:spAutoFit/>
          </a:bodyPr>
          <a:lstStyle/>
          <a:p>
            <a:pPr>
              <a:lnSpc>
                <a:spcPct val="100000"/>
              </a:lnSpc>
              <a:spcAft>
                <a:spcPts val="200"/>
              </a:spcAft>
            </a:pPr>
            <a:r>
              <a:rPr sz="750" b="0">
                <a:solidFill>
                  <a:srgbClr val="B7CBE0"/>
                </a:solidFill>
                <a:latin typeface="Montserrat"/>
              </a:rPr>
              <a:t>MLSMFP  |  SWMM vs XGBoost  |  val_triple_pulse_5h75_f3.700</a:t>
            </a:r>
          </a:p>
        </p:txBody>
      </p:sp>
      <p:sp>
        <p:nvSpPr>
          <p:cNvPr id="20" name="TextBox 19"/>
          <p:cNvSpPr txBox="1"/>
          <p:nvPr/>
        </p:nvSpPr>
        <p:spPr>
          <a:xfrm>
            <a:off x="8321040" y="4818888"/>
            <a:ext cx="502920" cy="201168"/>
          </a:xfrm>
          <a:prstGeom prst="rect">
            <a:avLst/>
          </a:prstGeom>
          <a:noFill/>
        </p:spPr>
        <p:txBody>
          <a:bodyPr wrap="square" lIns="0" tIns="0" rIns="0" bIns="0">
            <a:spAutoFit/>
          </a:bodyPr>
          <a:lstStyle/>
          <a:p>
            <a:pPr>
              <a:lnSpc>
                <a:spcPct val="100000"/>
              </a:lnSpc>
              <a:spcAft>
                <a:spcPts val="200"/>
              </a:spcAft>
            </a:pPr>
            <a:r>
              <a:rPr sz="1050" b="0">
                <a:solidFill>
                  <a:srgbClr val="8BC5FA"/>
                </a:solidFill>
                <a:latin typeface="Montserrat"/>
              </a:rPr>
              <a:t>33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229600" cy="393192"/>
          </a:xfrm>
          <a:prstGeom prst="rect">
            <a:avLst/>
          </a:prstGeom>
          <a:noFill/>
        </p:spPr>
        <p:txBody>
          <a:bodyPr wrap="square" lIns="0" tIns="0" rIns="0" bIns="0">
            <a:spAutoFit/>
          </a:bodyPr>
          <a:lstStyle/>
          <a:p>
            <a:pPr>
              <a:lnSpc>
                <a:spcPct val="100000"/>
              </a:lnSpc>
              <a:spcAft>
                <a:spcPts val="200"/>
              </a:spcAft>
            </a:pPr>
            <a:r>
              <a:rPr sz="2050" b="1">
                <a:solidFill>
                  <a:srgbClr val="8BC5FA"/>
                </a:solidFill>
                <a:latin typeface="Montserrat"/>
              </a:rPr>
              <a:t>Validación 5/5: Pico único · 4 h 30 min</a:t>
            </a:r>
          </a:p>
        </p:txBody>
      </p:sp>
      <p:sp>
        <p:nvSpPr>
          <p:cNvPr id="5" name="TextBox 4"/>
          <p:cNvSpPr txBox="1"/>
          <p:nvPr/>
        </p:nvSpPr>
        <p:spPr>
          <a:xfrm>
            <a:off x="429768" y="658368"/>
            <a:ext cx="8229600" cy="146304"/>
          </a:xfrm>
          <a:prstGeom prst="rect">
            <a:avLst/>
          </a:prstGeom>
          <a:noFill/>
        </p:spPr>
        <p:txBody>
          <a:bodyPr wrap="square" lIns="0" tIns="0" rIns="0" bIns="0">
            <a:spAutoFit/>
          </a:bodyPr>
          <a:lstStyle/>
          <a:p>
            <a:pPr>
              <a:lnSpc>
                <a:spcPct val="100000"/>
              </a:lnSpc>
              <a:spcAft>
                <a:spcPts val="200"/>
              </a:spcAft>
            </a:pPr>
            <a:r>
              <a:rPr sz="950" b="0">
                <a:solidFill>
                  <a:srgbClr val="B7CBE0"/>
                </a:solidFill>
                <a:latin typeface="Montserrat"/>
              </a:rPr>
              <a:t>Forma usada en entrenamiento · factor de carga no visto: 2.30 · volumen acumulado por nodo y evento</a:t>
            </a:r>
          </a:p>
        </p:txBody>
      </p:sp>
      <p:pic>
        <p:nvPicPr>
          <p:cNvPr id="6" name="Picture 5" descr="image.png"/>
          <p:cNvPicPr>
            <a:picLocks noChangeAspect="1"/>
          </p:cNvPicPr>
          <p:nvPr/>
        </p:nvPicPr>
        <p:blipFill>
          <a:blip r:embed="rId3"/>
          <a:stretch>
            <a:fillRect/>
          </a:stretch>
        </p:blipFill>
        <p:spPr>
          <a:xfrm>
            <a:off x="310896" y="1051560"/>
            <a:ext cx="3657600" cy="2031678"/>
          </a:xfrm>
          <a:prstGeom prst="rect">
            <a:avLst/>
          </a:prstGeom>
        </p:spPr>
      </p:pic>
      <p:sp>
        <p:nvSpPr>
          <p:cNvPr id="7" name="TextBox 6"/>
          <p:cNvSpPr txBox="1"/>
          <p:nvPr/>
        </p:nvSpPr>
        <p:spPr>
          <a:xfrm>
            <a:off x="4709160" y="1069848"/>
            <a:ext cx="1938528" cy="219456"/>
          </a:xfrm>
          <a:prstGeom prst="rect">
            <a:avLst/>
          </a:prstGeom>
          <a:noFill/>
        </p:spPr>
        <p:txBody>
          <a:bodyPr wrap="square" lIns="0" tIns="0" rIns="0" bIns="0">
            <a:spAutoFit/>
          </a:bodyPr>
          <a:lstStyle/>
          <a:p>
            <a:pPr>
              <a:lnSpc>
                <a:spcPct val="100000"/>
              </a:lnSpc>
              <a:spcAft>
                <a:spcPts val="200"/>
              </a:spcAft>
            </a:pPr>
            <a:r>
              <a:rPr sz="1080" b="1">
                <a:solidFill>
                  <a:srgbClr val="8BC5FA"/>
                </a:solidFill>
                <a:latin typeface="Montserrat"/>
              </a:rPr>
              <a:t>Forma del hidrograma</a:t>
            </a:r>
          </a:p>
        </p:txBody>
      </p:sp>
      <p:sp>
        <p:nvSpPr>
          <p:cNvPr id="8" name="TextBox 7"/>
          <p:cNvSpPr txBox="1"/>
          <p:nvPr/>
        </p:nvSpPr>
        <p:spPr>
          <a:xfrm>
            <a:off x="4709160" y="1353312"/>
            <a:ext cx="1938528" cy="658368"/>
          </a:xfrm>
          <a:prstGeom prst="rect">
            <a:avLst/>
          </a:prstGeom>
          <a:noFill/>
        </p:spPr>
        <p:txBody>
          <a:bodyPr wrap="square" lIns="0" tIns="0" rIns="0" bIns="0">
            <a:spAutoFit/>
          </a:bodyPr>
          <a:lstStyle/>
          <a:p>
            <a:pPr>
              <a:lnSpc>
                <a:spcPct val="100000"/>
              </a:lnSpc>
              <a:spcAft>
                <a:spcPts val="200"/>
              </a:spcAft>
            </a:pPr>
            <a:r>
              <a:rPr sz="975" b="0">
                <a:solidFill>
                  <a:srgbClr val="F7FAFE"/>
                </a:solidFill>
                <a:latin typeface="Montserrat"/>
              </a:rPr>
              <a:t>Pico único · 4 h 30 min</a:t>
            </a:r>
          </a:p>
          <a:p>
            <a:pPr>
              <a:lnSpc>
                <a:spcPct val="100000"/>
              </a:lnSpc>
              <a:spcAft>
                <a:spcPts val="200"/>
              </a:spcAft>
            </a:pPr>
            <a:r>
              <a:rPr sz="975" b="0">
                <a:solidFill>
                  <a:srgbClr val="F7FAFE"/>
                </a:solidFill>
                <a:latin typeface="Montserrat"/>
              </a:rPr>
              <a:t>Evento unimodal de duración intermedia.</a:t>
            </a:r>
          </a:p>
        </p:txBody>
      </p:sp>
      <p:sp>
        <p:nvSpPr>
          <p:cNvPr id="9" name="TextBox 8"/>
          <p:cNvSpPr txBox="1"/>
          <p:nvPr/>
        </p:nvSpPr>
        <p:spPr>
          <a:xfrm>
            <a:off x="4709160" y="2103120"/>
            <a:ext cx="1938528" cy="201168"/>
          </a:xfrm>
          <a:prstGeom prst="rect">
            <a:avLst/>
          </a:prstGeom>
          <a:noFill/>
        </p:spPr>
        <p:txBody>
          <a:bodyPr wrap="square" lIns="0" tIns="0" rIns="0" bIns="0">
            <a:spAutoFit/>
          </a:bodyPr>
          <a:lstStyle/>
          <a:p>
            <a:pPr>
              <a:lnSpc>
                <a:spcPct val="100000"/>
              </a:lnSpc>
              <a:spcAft>
                <a:spcPts val="200"/>
              </a:spcAft>
            </a:pPr>
            <a:r>
              <a:rPr sz="1080" b="1">
                <a:solidFill>
                  <a:srgbClr val="8BC5FA"/>
                </a:solidFill>
                <a:latin typeface="Montserrat"/>
              </a:rPr>
              <a:t>Resultado agregado</a:t>
            </a:r>
          </a:p>
        </p:txBody>
      </p:sp>
      <p:sp>
        <p:nvSpPr>
          <p:cNvPr id="10" name="TextBox 9"/>
          <p:cNvSpPr txBox="1"/>
          <p:nvPr/>
        </p:nvSpPr>
        <p:spPr>
          <a:xfrm>
            <a:off x="4709160" y="2359152"/>
            <a:ext cx="1938528" cy="841248"/>
          </a:xfrm>
          <a:prstGeom prst="rect">
            <a:avLst/>
          </a:prstGeom>
          <a:noFill/>
        </p:spPr>
        <p:txBody>
          <a:bodyPr wrap="square" lIns="0" tIns="0" rIns="0" bIns="0">
            <a:spAutoFit/>
          </a:bodyPr>
          <a:lstStyle/>
          <a:p>
            <a:pPr>
              <a:lnSpc>
                <a:spcPct val="100000"/>
              </a:lnSpc>
              <a:spcAft>
                <a:spcPts val="200"/>
              </a:spcAft>
            </a:pPr>
            <a:r>
              <a:rPr sz="969" b="0">
                <a:solidFill>
                  <a:srgbClr val="F7FAFE"/>
                </a:solidFill>
                <a:latin typeface="Montserrat"/>
              </a:rPr>
              <a:t>SWMM: 6,271 m³</a:t>
            </a:r>
          </a:p>
          <a:p>
            <a:pPr>
              <a:lnSpc>
                <a:spcPct val="100000"/>
              </a:lnSpc>
              <a:spcAft>
                <a:spcPts val="200"/>
              </a:spcAft>
            </a:pPr>
            <a:r>
              <a:rPr sz="969" b="0">
                <a:solidFill>
                  <a:srgbClr val="F7FAFE"/>
                </a:solidFill>
                <a:latin typeface="Montserrat"/>
              </a:rPr>
              <a:t>XGBoost: 4,546 m³</a:t>
            </a:r>
          </a:p>
          <a:p>
            <a:pPr>
              <a:lnSpc>
                <a:spcPct val="100000"/>
              </a:lnSpc>
              <a:spcAft>
                <a:spcPts val="200"/>
              </a:spcAft>
            </a:pPr>
            <a:r>
              <a:rPr sz="969" b="0">
                <a:solidFill>
                  <a:srgbClr val="F7FAFE"/>
                </a:solidFill>
                <a:latin typeface="Montserrat"/>
              </a:rPr>
              <a:t>Error total: -27.5%</a:t>
            </a:r>
          </a:p>
          <a:p>
            <a:pPr>
              <a:lnSpc>
                <a:spcPct val="100000"/>
              </a:lnSpc>
              <a:spcAft>
                <a:spcPts val="200"/>
              </a:spcAft>
            </a:pPr>
            <a:r>
              <a:rPr sz="969" b="0">
                <a:solidFill>
                  <a:srgbClr val="F7FAFE"/>
                </a:solidFill>
                <a:latin typeface="Montserrat"/>
              </a:rPr>
              <a:t>Nodos inundados: 45</a:t>
            </a:r>
          </a:p>
        </p:txBody>
      </p:sp>
      <p:sp>
        <p:nvSpPr>
          <p:cNvPr id="11" name="TextBox 10"/>
          <p:cNvSpPr txBox="1"/>
          <p:nvPr/>
        </p:nvSpPr>
        <p:spPr>
          <a:xfrm>
            <a:off x="6876288" y="1069848"/>
            <a:ext cx="1828800" cy="201168"/>
          </a:xfrm>
          <a:prstGeom prst="rect">
            <a:avLst/>
          </a:prstGeom>
          <a:noFill/>
        </p:spPr>
        <p:txBody>
          <a:bodyPr wrap="square" lIns="0" tIns="0" rIns="0" bIns="0">
            <a:spAutoFit/>
          </a:bodyPr>
          <a:lstStyle/>
          <a:p>
            <a:pPr>
              <a:lnSpc>
                <a:spcPct val="100000"/>
              </a:lnSpc>
              <a:spcAft>
                <a:spcPts val="200"/>
              </a:spcAft>
            </a:pPr>
            <a:r>
              <a:rPr sz="1080" b="1">
                <a:solidFill>
                  <a:srgbClr val="8BC5FA"/>
                </a:solidFill>
                <a:latin typeface="Montserrat"/>
              </a:rPr>
              <a:t>Parity por nodo</a:t>
            </a:r>
          </a:p>
        </p:txBody>
      </p:sp>
      <p:pic>
        <p:nvPicPr>
          <p:cNvPr id="12" name="Picture 11" descr="image.png"/>
          <p:cNvPicPr>
            <a:picLocks noChangeAspect="1"/>
          </p:cNvPicPr>
          <p:nvPr/>
        </p:nvPicPr>
        <p:blipFill>
          <a:blip r:embed="rId4"/>
          <a:stretch>
            <a:fillRect/>
          </a:stretch>
        </p:blipFill>
        <p:spPr>
          <a:xfrm>
            <a:off x="6638544" y="856792"/>
            <a:ext cx="2450592" cy="2443177"/>
          </a:xfrm>
          <a:prstGeom prst="rect">
            <a:avLst/>
          </a:prstGeom>
        </p:spPr>
      </p:pic>
      <p:sp>
        <p:nvSpPr>
          <p:cNvPr id="13" name="TextBox 12"/>
          <p:cNvSpPr txBox="1"/>
          <p:nvPr/>
        </p:nvSpPr>
        <p:spPr>
          <a:xfrm>
            <a:off x="6850684" y="3639312"/>
            <a:ext cx="1874519" cy="338328"/>
          </a:xfrm>
          <a:prstGeom prst="rect">
            <a:avLst/>
          </a:prstGeom>
          <a:noFill/>
        </p:spPr>
        <p:txBody>
          <a:bodyPr wrap="square" lIns="0" tIns="0" rIns="0" bIns="0">
            <a:spAutoFit/>
          </a:bodyPr>
          <a:lstStyle/>
          <a:p>
            <a:pPr>
              <a:lnSpc>
                <a:spcPct val="100000"/>
              </a:lnSpc>
              <a:spcAft>
                <a:spcPts val="200"/>
              </a:spcAft>
            </a:pPr>
            <a:r>
              <a:rPr sz="800" b="0">
                <a:solidFill>
                  <a:srgbClr val="B7CBE0"/>
                </a:solidFill>
                <a:latin typeface="Montserrat"/>
              </a:rPr>
              <a:t>MAE inundados: 38.81 m³</a:t>
            </a:r>
          </a:p>
          <a:p>
            <a:pPr>
              <a:lnSpc>
                <a:spcPct val="100000"/>
              </a:lnSpc>
              <a:spcAft>
                <a:spcPts val="200"/>
              </a:spcAft>
            </a:pPr>
            <a:r>
              <a:rPr sz="800" b="0">
                <a:solidFill>
                  <a:srgbClr val="B7CBE0"/>
                </a:solidFill>
                <a:latin typeface="Montserrat"/>
              </a:rPr>
              <a:t>RMSE inundados: 56.32 m³</a:t>
            </a:r>
          </a:p>
        </p:txBody>
      </p:sp>
      <p:sp>
        <p:nvSpPr>
          <p:cNvPr id="14" name="TextBox 13"/>
          <p:cNvSpPr txBox="1"/>
          <p:nvPr/>
        </p:nvSpPr>
        <p:spPr>
          <a:xfrm>
            <a:off x="329184" y="3136392"/>
            <a:ext cx="2450592" cy="146304"/>
          </a:xfrm>
          <a:prstGeom prst="rect">
            <a:avLst/>
          </a:prstGeom>
          <a:noFill/>
        </p:spPr>
        <p:txBody>
          <a:bodyPr wrap="square" lIns="0" tIns="0" rIns="0" bIns="0">
            <a:spAutoFit/>
          </a:bodyPr>
          <a:lstStyle/>
          <a:p>
            <a:pPr>
              <a:lnSpc>
                <a:spcPct val="100000"/>
              </a:lnSpc>
              <a:spcAft>
                <a:spcPts val="200"/>
              </a:spcAft>
            </a:pPr>
            <a:r>
              <a:rPr sz="860" b="1">
                <a:solidFill>
                  <a:srgbClr val="8BC5FA"/>
                </a:solidFill>
                <a:latin typeface="Montserrat"/>
              </a:rPr>
              <a:t>Mapa SWMM · referencia</a:t>
            </a:r>
          </a:p>
        </p:txBody>
      </p:sp>
      <p:pic>
        <p:nvPicPr>
          <p:cNvPr id="15" name="Picture 14" descr="image.png"/>
          <p:cNvPicPr>
            <a:picLocks noChangeAspect="1"/>
          </p:cNvPicPr>
          <p:nvPr/>
        </p:nvPicPr>
        <p:blipFill>
          <a:blip r:embed="rId5"/>
          <a:stretch>
            <a:fillRect/>
          </a:stretch>
        </p:blipFill>
        <p:spPr>
          <a:xfrm>
            <a:off x="310896" y="3282696"/>
            <a:ext cx="2468880" cy="1532673"/>
          </a:xfrm>
          <a:prstGeom prst="rect">
            <a:avLst/>
          </a:prstGeom>
        </p:spPr>
      </p:pic>
      <p:sp>
        <p:nvSpPr>
          <p:cNvPr id="16" name="TextBox 15"/>
          <p:cNvSpPr txBox="1"/>
          <p:nvPr/>
        </p:nvSpPr>
        <p:spPr>
          <a:xfrm>
            <a:off x="2898648" y="3136392"/>
            <a:ext cx="2450592" cy="146304"/>
          </a:xfrm>
          <a:prstGeom prst="rect">
            <a:avLst/>
          </a:prstGeom>
          <a:noFill/>
        </p:spPr>
        <p:txBody>
          <a:bodyPr wrap="square" lIns="0" tIns="0" rIns="0" bIns="0">
            <a:spAutoFit/>
          </a:bodyPr>
          <a:lstStyle/>
          <a:p>
            <a:pPr>
              <a:lnSpc>
                <a:spcPct val="100000"/>
              </a:lnSpc>
              <a:spcAft>
                <a:spcPts val="200"/>
              </a:spcAft>
            </a:pPr>
            <a:r>
              <a:rPr sz="860" b="1">
                <a:solidFill>
                  <a:srgbClr val="8BC5FA"/>
                </a:solidFill>
                <a:latin typeface="Montserrat"/>
              </a:rPr>
              <a:t>Mapa XGBoost · predicción</a:t>
            </a:r>
          </a:p>
        </p:txBody>
      </p:sp>
      <p:pic>
        <p:nvPicPr>
          <p:cNvPr id="17" name="Picture 16" descr="image.png"/>
          <p:cNvPicPr>
            <a:picLocks noChangeAspect="1"/>
          </p:cNvPicPr>
          <p:nvPr/>
        </p:nvPicPr>
        <p:blipFill>
          <a:blip r:embed="rId6"/>
          <a:stretch>
            <a:fillRect/>
          </a:stretch>
        </p:blipFill>
        <p:spPr>
          <a:xfrm>
            <a:off x="2880360" y="3282696"/>
            <a:ext cx="2468880" cy="1532673"/>
          </a:xfrm>
          <a:prstGeom prst="rect">
            <a:avLst/>
          </a:prstGeom>
        </p:spPr>
      </p:pic>
      <p:sp>
        <p:nvSpPr>
          <p:cNvPr id="18" name="TextBox 17"/>
          <p:cNvSpPr txBox="1"/>
          <p:nvPr/>
        </p:nvSpPr>
        <p:spPr>
          <a:xfrm>
            <a:off x="5527548" y="4198010"/>
            <a:ext cx="2788920" cy="475488"/>
          </a:xfrm>
          <a:prstGeom prst="rect">
            <a:avLst/>
          </a:prstGeom>
          <a:noFill/>
        </p:spPr>
        <p:txBody>
          <a:bodyPr wrap="square" lIns="0" tIns="0" rIns="0" bIns="0">
            <a:spAutoFit/>
          </a:bodyPr>
          <a:lstStyle/>
          <a:p>
            <a:pPr>
              <a:lnSpc>
                <a:spcPct val="100000"/>
              </a:lnSpc>
              <a:spcAft>
                <a:spcPts val="200"/>
              </a:spcAft>
            </a:pPr>
            <a:r>
              <a:rPr sz="900" b="1">
                <a:solidFill>
                  <a:srgbClr val="F1CB83"/>
                </a:solidFill>
                <a:latin typeface="Montserrat"/>
              </a:rPr>
              <a:t>Clasificación nodal</a:t>
            </a:r>
          </a:p>
          <a:p>
            <a:pPr>
              <a:lnSpc>
                <a:spcPct val="100000"/>
              </a:lnSpc>
              <a:spcAft>
                <a:spcPts val="200"/>
              </a:spcAft>
            </a:pPr>
            <a:r>
              <a:rPr sz="900" b="1">
                <a:solidFill>
                  <a:srgbClr val="F1CB83"/>
                </a:solidFill>
                <a:latin typeface="Montserrat"/>
              </a:rPr>
              <a:t>TP=44 · TN=114 · FP=1 · FN=1</a:t>
            </a:r>
          </a:p>
        </p:txBody>
      </p:sp>
      <p:sp>
        <p:nvSpPr>
          <p:cNvPr id="19" name="TextBox 18"/>
          <p:cNvSpPr txBox="1"/>
          <p:nvPr/>
        </p:nvSpPr>
        <p:spPr>
          <a:xfrm>
            <a:off x="310896" y="4882896"/>
            <a:ext cx="7955279" cy="128016"/>
          </a:xfrm>
          <a:prstGeom prst="rect">
            <a:avLst/>
          </a:prstGeom>
          <a:noFill/>
        </p:spPr>
        <p:txBody>
          <a:bodyPr wrap="square" lIns="0" tIns="0" rIns="0" bIns="0">
            <a:spAutoFit/>
          </a:bodyPr>
          <a:lstStyle/>
          <a:p>
            <a:pPr>
              <a:lnSpc>
                <a:spcPct val="100000"/>
              </a:lnSpc>
              <a:spcAft>
                <a:spcPts val="200"/>
              </a:spcAft>
            </a:pPr>
            <a:r>
              <a:rPr sz="750" b="0">
                <a:solidFill>
                  <a:srgbClr val="B7CBE0"/>
                </a:solidFill>
                <a:latin typeface="Montserrat"/>
              </a:rPr>
              <a:t>MLSMFP  |  SWMM vs XGBoost  |  val_single_peak_4h5_f2.300</a:t>
            </a:r>
          </a:p>
        </p:txBody>
      </p:sp>
      <p:sp>
        <p:nvSpPr>
          <p:cNvPr id="20" name="TextBox 19"/>
          <p:cNvSpPr txBox="1"/>
          <p:nvPr/>
        </p:nvSpPr>
        <p:spPr>
          <a:xfrm>
            <a:off x="8321040" y="4818888"/>
            <a:ext cx="502920" cy="201168"/>
          </a:xfrm>
          <a:prstGeom prst="rect">
            <a:avLst/>
          </a:prstGeom>
          <a:noFill/>
        </p:spPr>
        <p:txBody>
          <a:bodyPr wrap="square" lIns="0" tIns="0" rIns="0" bIns="0">
            <a:spAutoFit/>
          </a:bodyPr>
          <a:lstStyle/>
          <a:p>
            <a:pPr>
              <a:lnSpc>
                <a:spcPct val="100000"/>
              </a:lnSpc>
              <a:spcAft>
                <a:spcPts val="200"/>
              </a:spcAft>
            </a:pPr>
            <a:r>
              <a:rPr sz="1050" b="0">
                <a:solidFill>
                  <a:srgbClr val="8BC5FA"/>
                </a:solidFill>
                <a:latin typeface="Montserrat"/>
              </a:rPr>
              <a:t>34</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229600" cy="393192"/>
          </a:xfrm>
          <a:prstGeom prst="rect">
            <a:avLst/>
          </a:prstGeom>
          <a:noFill/>
        </p:spPr>
        <p:txBody>
          <a:bodyPr wrap="square" lIns="0" tIns="0" rIns="0" bIns="0">
            <a:spAutoFit/>
          </a:bodyPr>
          <a:lstStyle/>
          <a:p>
            <a:pPr>
              <a:lnSpc>
                <a:spcPct val="100000"/>
              </a:lnSpc>
              <a:spcAft>
                <a:spcPts val="200"/>
              </a:spcAft>
            </a:pPr>
            <a:r>
              <a:rPr sz="2050" b="1">
                <a:solidFill>
                  <a:srgbClr val="8BC5FA"/>
                </a:solidFill>
                <a:latin typeface="Montserrat"/>
              </a:rPr>
              <a:t>Extrapolación de forma 1/2: Pulso ultrarrápido · 20 min</a:t>
            </a:r>
          </a:p>
        </p:txBody>
      </p:sp>
      <p:sp>
        <p:nvSpPr>
          <p:cNvPr id="5" name="TextBox 4"/>
          <p:cNvSpPr txBox="1"/>
          <p:nvPr/>
        </p:nvSpPr>
        <p:spPr>
          <a:xfrm>
            <a:off x="429768" y="658368"/>
            <a:ext cx="8229600" cy="146304"/>
          </a:xfrm>
          <a:prstGeom prst="rect">
            <a:avLst/>
          </a:prstGeom>
          <a:noFill/>
        </p:spPr>
        <p:txBody>
          <a:bodyPr wrap="square" lIns="0" tIns="0" rIns="0" bIns="0">
            <a:spAutoFit/>
          </a:bodyPr>
          <a:lstStyle/>
          <a:p>
            <a:pPr>
              <a:lnSpc>
                <a:spcPct val="100000"/>
              </a:lnSpc>
              <a:spcAft>
                <a:spcPts val="200"/>
              </a:spcAft>
            </a:pPr>
            <a:r>
              <a:rPr sz="950" b="0">
                <a:solidFill>
                  <a:srgbClr val="B7CBE0"/>
                </a:solidFill>
                <a:latin typeface="Montserrat"/>
              </a:rPr>
              <a:t>Forma de hidrograma no vista en entrenamiento · factor de carga 3.70 · volumen acumulado por nodo y evento</a:t>
            </a:r>
          </a:p>
        </p:txBody>
      </p:sp>
      <p:pic>
        <p:nvPicPr>
          <p:cNvPr id="6" name="Picture 5" descr="hydrograph_val_extrap_ultrafast_20min_f3.700.png"/>
          <p:cNvPicPr>
            <a:picLocks noChangeAspect="1"/>
          </p:cNvPicPr>
          <p:nvPr/>
        </p:nvPicPr>
        <p:blipFill>
          <a:blip r:embed="rId3"/>
          <a:stretch>
            <a:fillRect/>
          </a:stretch>
        </p:blipFill>
        <p:spPr>
          <a:xfrm>
            <a:off x="310896" y="1051560"/>
            <a:ext cx="3657600" cy="2010963"/>
          </a:xfrm>
          <a:prstGeom prst="rect">
            <a:avLst/>
          </a:prstGeom>
        </p:spPr>
      </p:pic>
      <p:sp>
        <p:nvSpPr>
          <p:cNvPr id="7" name="TextBox 6"/>
          <p:cNvSpPr txBox="1"/>
          <p:nvPr/>
        </p:nvSpPr>
        <p:spPr>
          <a:xfrm>
            <a:off x="4709160" y="1069848"/>
            <a:ext cx="1938528" cy="219456"/>
          </a:xfrm>
          <a:prstGeom prst="rect">
            <a:avLst/>
          </a:prstGeom>
          <a:noFill/>
        </p:spPr>
        <p:txBody>
          <a:bodyPr wrap="square" lIns="0" tIns="0" rIns="0" bIns="0">
            <a:spAutoFit/>
          </a:bodyPr>
          <a:lstStyle/>
          <a:p>
            <a:pPr>
              <a:lnSpc>
                <a:spcPct val="100000"/>
              </a:lnSpc>
              <a:spcAft>
                <a:spcPts val="200"/>
              </a:spcAft>
            </a:pPr>
            <a:r>
              <a:rPr sz="1080" b="1">
                <a:solidFill>
                  <a:srgbClr val="8BC5FA"/>
                </a:solidFill>
                <a:latin typeface="Montserrat"/>
              </a:rPr>
              <a:t>Forma del hidrograma</a:t>
            </a:r>
          </a:p>
        </p:txBody>
      </p:sp>
      <p:sp>
        <p:nvSpPr>
          <p:cNvPr id="8" name="TextBox 7"/>
          <p:cNvSpPr txBox="1"/>
          <p:nvPr/>
        </p:nvSpPr>
        <p:spPr>
          <a:xfrm>
            <a:off x="4709160" y="1353312"/>
            <a:ext cx="1938528" cy="658368"/>
          </a:xfrm>
          <a:prstGeom prst="rect">
            <a:avLst/>
          </a:prstGeom>
          <a:noFill/>
        </p:spPr>
        <p:txBody>
          <a:bodyPr wrap="square" lIns="0" tIns="0" rIns="0" bIns="0">
            <a:spAutoFit/>
          </a:bodyPr>
          <a:lstStyle/>
          <a:p>
            <a:pPr>
              <a:lnSpc>
                <a:spcPct val="100000"/>
              </a:lnSpc>
              <a:spcAft>
                <a:spcPts val="200"/>
              </a:spcAft>
            </a:pPr>
            <a:r>
              <a:rPr sz="975" b="0">
                <a:solidFill>
                  <a:srgbClr val="F7FAFE"/>
                </a:solidFill>
                <a:latin typeface="Montserrat"/>
              </a:rPr>
              <a:t>Pulso ultrarrápido · 20 min</a:t>
            </a:r>
          </a:p>
          <a:p>
            <a:pPr>
              <a:lnSpc>
                <a:spcPct val="100000"/>
              </a:lnSpc>
              <a:spcAft>
                <a:spcPts val="200"/>
              </a:spcAft>
            </a:pPr>
            <a:r>
              <a:rPr sz="975" b="0">
                <a:solidFill>
                  <a:srgbClr val="F7FAFE"/>
                </a:solidFill>
                <a:latin typeface="Montserrat"/>
              </a:rPr>
              <a:t>Forma nueva no vista en entrenamiento; duración extremadamente corta.</a:t>
            </a:r>
          </a:p>
        </p:txBody>
      </p:sp>
      <p:sp>
        <p:nvSpPr>
          <p:cNvPr id="9" name="TextBox 8"/>
          <p:cNvSpPr txBox="1"/>
          <p:nvPr/>
        </p:nvSpPr>
        <p:spPr>
          <a:xfrm>
            <a:off x="4709160" y="2103120"/>
            <a:ext cx="1938528" cy="201168"/>
          </a:xfrm>
          <a:prstGeom prst="rect">
            <a:avLst/>
          </a:prstGeom>
          <a:noFill/>
        </p:spPr>
        <p:txBody>
          <a:bodyPr wrap="square" lIns="0" tIns="0" rIns="0" bIns="0">
            <a:spAutoFit/>
          </a:bodyPr>
          <a:lstStyle/>
          <a:p>
            <a:pPr>
              <a:lnSpc>
                <a:spcPct val="100000"/>
              </a:lnSpc>
              <a:spcAft>
                <a:spcPts val="200"/>
              </a:spcAft>
            </a:pPr>
            <a:r>
              <a:rPr sz="1080" b="1">
                <a:solidFill>
                  <a:srgbClr val="8BC5FA"/>
                </a:solidFill>
                <a:latin typeface="Montserrat"/>
              </a:rPr>
              <a:t>Resultado agregado</a:t>
            </a:r>
          </a:p>
        </p:txBody>
      </p:sp>
      <p:sp>
        <p:nvSpPr>
          <p:cNvPr id="10" name="TextBox 9"/>
          <p:cNvSpPr txBox="1"/>
          <p:nvPr/>
        </p:nvSpPr>
        <p:spPr>
          <a:xfrm>
            <a:off x="4709160" y="2359152"/>
            <a:ext cx="1938528" cy="841248"/>
          </a:xfrm>
          <a:prstGeom prst="rect">
            <a:avLst/>
          </a:prstGeom>
          <a:noFill/>
        </p:spPr>
        <p:txBody>
          <a:bodyPr wrap="square" lIns="0" tIns="0" rIns="0" bIns="0">
            <a:spAutoFit/>
          </a:bodyPr>
          <a:lstStyle/>
          <a:p>
            <a:pPr>
              <a:lnSpc>
                <a:spcPct val="100000"/>
              </a:lnSpc>
              <a:spcAft>
                <a:spcPts val="200"/>
              </a:spcAft>
            </a:pPr>
            <a:r>
              <a:rPr sz="969" b="0">
                <a:solidFill>
                  <a:srgbClr val="F7FAFE"/>
                </a:solidFill>
                <a:latin typeface="Montserrat"/>
              </a:rPr>
              <a:t>SWMM: 829 m³</a:t>
            </a:r>
          </a:p>
          <a:p>
            <a:pPr>
              <a:lnSpc>
                <a:spcPct val="100000"/>
              </a:lnSpc>
              <a:spcAft>
                <a:spcPts val="200"/>
              </a:spcAft>
            </a:pPr>
            <a:r>
              <a:rPr sz="969" b="0">
                <a:solidFill>
                  <a:srgbClr val="F7FAFE"/>
                </a:solidFill>
                <a:latin typeface="Montserrat"/>
              </a:rPr>
              <a:t>XGBoost: 623 m³</a:t>
            </a:r>
          </a:p>
          <a:p>
            <a:pPr>
              <a:lnSpc>
                <a:spcPct val="100000"/>
              </a:lnSpc>
              <a:spcAft>
                <a:spcPts val="200"/>
              </a:spcAft>
            </a:pPr>
            <a:r>
              <a:rPr sz="969" b="0">
                <a:solidFill>
                  <a:srgbClr val="F7FAFE"/>
                </a:solidFill>
                <a:latin typeface="Montserrat"/>
              </a:rPr>
              <a:t>Error total: -24.9%</a:t>
            </a:r>
          </a:p>
          <a:p>
            <a:pPr>
              <a:lnSpc>
                <a:spcPct val="100000"/>
              </a:lnSpc>
              <a:spcAft>
                <a:spcPts val="200"/>
              </a:spcAft>
            </a:pPr>
            <a:r>
              <a:rPr sz="969" b="0">
                <a:solidFill>
                  <a:srgbClr val="F7FAFE"/>
                </a:solidFill>
                <a:latin typeface="Montserrat"/>
              </a:rPr>
              <a:t>Nodos inundados: 64</a:t>
            </a:r>
          </a:p>
        </p:txBody>
      </p:sp>
      <p:sp>
        <p:nvSpPr>
          <p:cNvPr id="11" name="TextBox 10"/>
          <p:cNvSpPr txBox="1"/>
          <p:nvPr/>
        </p:nvSpPr>
        <p:spPr>
          <a:xfrm>
            <a:off x="6876288" y="1069848"/>
            <a:ext cx="1828800" cy="201168"/>
          </a:xfrm>
          <a:prstGeom prst="rect">
            <a:avLst/>
          </a:prstGeom>
          <a:noFill/>
        </p:spPr>
        <p:txBody>
          <a:bodyPr wrap="square" lIns="0" tIns="0" rIns="0" bIns="0">
            <a:spAutoFit/>
          </a:bodyPr>
          <a:lstStyle/>
          <a:p>
            <a:pPr>
              <a:lnSpc>
                <a:spcPct val="100000"/>
              </a:lnSpc>
              <a:spcAft>
                <a:spcPts val="200"/>
              </a:spcAft>
            </a:pPr>
            <a:r>
              <a:rPr sz="1080" b="1">
                <a:solidFill>
                  <a:srgbClr val="8BC5FA"/>
                </a:solidFill>
                <a:latin typeface="Montserrat"/>
              </a:rPr>
              <a:t>Parity por nodo</a:t>
            </a:r>
          </a:p>
        </p:txBody>
      </p:sp>
      <p:pic>
        <p:nvPicPr>
          <p:cNvPr id="12" name="Picture 11" descr="parity_nodes_symlog_val_extrap_ultrafast_20min_f3.700.png"/>
          <p:cNvPicPr>
            <a:picLocks noChangeAspect="1"/>
          </p:cNvPicPr>
          <p:nvPr/>
        </p:nvPicPr>
        <p:blipFill>
          <a:blip r:embed="rId4"/>
          <a:stretch>
            <a:fillRect/>
          </a:stretch>
        </p:blipFill>
        <p:spPr>
          <a:xfrm>
            <a:off x="6638544" y="856792"/>
            <a:ext cx="2450592" cy="2492192"/>
          </a:xfrm>
          <a:prstGeom prst="rect">
            <a:avLst/>
          </a:prstGeom>
        </p:spPr>
      </p:pic>
      <p:sp>
        <p:nvSpPr>
          <p:cNvPr id="13" name="TextBox 12"/>
          <p:cNvSpPr txBox="1"/>
          <p:nvPr/>
        </p:nvSpPr>
        <p:spPr>
          <a:xfrm>
            <a:off x="6850684" y="3639312"/>
            <a:ext cx="1874519" cy="338328"/>
          </a:xfrm>
          <a:prstGeom prst="rect">
            <a:avLst/>
          </a:prstGeom>
          <a:noFill/>
        </p:spPr>
        <p:txBody>
          <a:bodyPr wrap="square" lIns="0" tIns="0" rIns="0" bIns="0">
            <a:spAutoFit/>
          </a:bodyPr>
          <a:lstStyle/>
          <a:p>
            <a:pPr>
              <a:lnSpc>
                <a:spcPct val="100000"/>
              </a:lnSpc>
              <a:spcAft>
                <a:spcPts val="200"/>
              </a:spcAft>
            </a:pPr>
            <a:r>
              <a:rPr sz="800" b="0">
                <a:solidFill>
                  <a:srgbClr val="B7CBE0"/>
                </a:solidFill>
                <a:latin typeface="Montserrat"/>
              </a:rPr>
              <a:t>MAE inundados: 3.56 m³</a:t>
            </a:r>
          </a:p>
          <a:p>
            <a:pPr>
              <a:lnSpc>
                <a:spcPct val="100000"/>
              </a:lnSpc>
              <a:spcAft>
                <a:spcPts val="200"/>
              </a:spcAft>
            </a:pPr>
            <a:r>
              <a:rPr sz="800" b="0">
                <a:solidFill>
                  <a:srgbClr val="B7CBE0"/>
                </a:solidFill>
                <a:latin typeface="Montserrat"/>
              </a:rPr>
              <a:t>RMSE inundados: 5.69 m³</a:t>
            </a:r>
          </a:p>
        </p:txBody>
      </p:sp>
      <p:sp>
        <p:nvSpPr>
          <p:cNvPr id="14" name="TextBox 13"/>
          <p:cNvSpPr txBox="1"/>
          <p:nvPr/>
        </p:nvSpPr>
        <p:spPr>
          <a:xfrm>
            <a:off x="329184" y="3136392"/>
            <a:ext cx="2450592" cy="146304"/>
          </a:xfrm>
          <a:prstGeom prst="rect">
            <a:avLst/>
          </a:prstGeom>
          <a:noFill/>
        </p:spPr>
        <p:txBody>
          <a:bodyPr wrap="square" lIns="0" tIns="0" rIns="0" bIns="0">
            <a:spAutoFit/>
          </a:bodyPr>
          <a:lstStyle/>
          <a:p>
            <a:pPr>
              <a:lnSpc>
                <a:spcPct val="100000"/>
              </a:lnSpc>
              <a:spcAft>
                <a:spcPts val="200"/>
              </a:spcAft>
            </a:pPr>
            <a:r>
              <a:rPr sz="860" b="1">
                <a:solidFill>
                  <a:srgbClr val="8BC5FA"/>
                </a:solidFill>
                <a:latin typeface="Montserrat"/>
              </a:rPr>
              <a:t>Mapa SWMM · referencia</a:t>
            </a:r>
          </a:p>
        </p:txBody>
      </p:sp>
      <p:pic>
        <p:nvPicPr>
          <p:cNvPr id="15" name="Picture 14" descr="flood_map_swmm_val_extrap_ultrafast_20min_f3.700.png"/>
          <p:cNvPicPr>
            <a:picLocks noChangeAspect="1"/>
          </p:cNvPicPr>
          <p:nvPr/>
        </p:nvPicPr>
        <p:blipFill>
          <a:blip r:embed="rId5"/>
          <a:stretch>
            <a:fillRect/>
          </a:stretch>
        </p:blipFill>
        <p:spPr>
          <a:xfrm>
            <a:off x="310896" y="3282696"/>
            <a:ext cx="2468880" cy="1542890"/>
          </a:xfrm>
          <a:prstGeom prst="rect">
            <a:avLst/>
          </a:prstGeom>
        </p:spPr>
      </p:pic>
      <p:sp>
        <p:nvSpPr>
          <p:cNvPr id="16" name="TextBox 15"/>
          <p:cNvSpPr txBox="1"/>
          <p:nvPr/>
        </p:nvSpPr>
        <p:spPr>
          <a:xfrm>
            <a:off x="2898648" y="3136392"/>
            <a:ext cx="2450592" cy="146304"/>
          </a:xfrm>
          <a:prstGeom prst="rect">
            <a:avLst/>
          </a:prstGeom>
          <a:noFill/>
        </p:spPr>
        <p:txBody>
          <a:bodyPr wrap="square" lIns="0" tIns="0" rIns="0" bIns="0">
            <a:spAutoFit/>
          </a:bodyPr>
          <a:lstStyle/>
          <a:p>
            <a:pPr>
              <a:lnSpc>
                <a:spcPct val="100000"/>
              </a:lnSpc>
              <a:spcAft>
                <a:spcPts val="200"/>
              </a:spcAft>
            </a:pPr>
            <a:r>
              <a:rPr sz="860" b="1">
                <a:solidFill>
                  <a:srgbClr val="8BC5FA"/>
                </a:solidFill>
                <a:latin typeface="Montserrat"/>
              </a:rPr>
              <a:t>Mapa XGBoost · predicción</a:t>
            </a:r>
          </a:p>
        </p:txBody>
      </p:sp>
      <p:pic>
        <p:nvPicPr>
          <p:cNvPr id="17" name="Picture 16" descr="flood_map_ml_val_extrap_ultrafast_20min_f3.700.png"/>
          <p:cNvPicPr>
            <a:picLocks noChangeAspect="1"/>
          </p:cNvPicPr>
          <p:nvPr/>
        </p:nvPicPr>
        <p:blipFill>
          <a:blip r:embed="rId6"/>
          <a:stretch>
            <a:fillRect/>
          </a:stretch>
        </p:blipFill>
        <p:spPr>
          <a:xfrm>
            <a:off x="2880360" y="3282696"/>
            <a:ext cx="2468880" cy="1542890"/>
          </a:xfrm>
          <a:prstGeom prst="rect">
            <a:avLst/>
          </a:prstGeom>
        </p:spPr>
      </p:pic>
      <p:sp>
        <p:nvSpPr>
          <p:cNvPr id="18" name="TextBox 17"/>
          <p:cNvSpPr txBox="1"/>
          <p:nvPr/>
        </p:nvSpPr>
        <p:spPr>
          <a:xfrm>
            <a:off x="5527548" y="4198010"/>
            <a:ext cx="2788920" cy="475488"/>
          </a:xfrm>
          <a:prstGeom prst="rect">
            <a:avLst/>
          </a:prstGeom>
          <a:noFill/>
        </p:spPr>
        <p:txBody>
          <a:bodyPr wrap="square" lIns="0" tIns="0" rIns="0" bIns="0">
            <a:spAutoFit/>
          </a:bodyPr>
          <a:lstStyle/>
          <a:p>
            <a:pPr>
              <a:lnSpc>
                <a:spcPct val="100000"/>
              </a:lnSpc>
              <a:spcAft>
                <a:spcPts val="200"/>
              </a:spcAft>
            </a:pPr>
            <a:r>
              <a:rPr sz="900" b="1">
                <a:solidFill>
                  <a:srgbClr val="F1CB83"/>
                </a:solidFill>
                <a:latin typeface="Montserrat"/>
              </a:rPr>
              <a:t>Clasificación nodal</a:t>
            </a:r>
          </a:p>
          <a:p>
            <a:pPr>
              <a:lnSpc>
                <a:spcPct val="100000"/>
              </a:lnSpc>
              <a:spcAft>
                <a:spcPts val="200"/>
              </a:spcAft>
            </a:pPr>
            <a:r>
              <a:rPr sz="900" b="1">
                <a:solidFill>
                  <a:srgbClr val="F1CB83"/>
                </a:solidFill>
                <a:latin typeface="Montserrat"/>
              </a:rPr>
              <a:t>TP=64 · TN=88 · FP=8 · FN=0</a:t>
            </a:r>
          </a:p>
        </p:txBody>
      </p:sp>
      <p:sp>
        <p:nvSpPr>
          <p:cNvPr id="19" name="TextBox 18"/>
          <p:cNvSpPr txBox="1"/>
          <p:nvPr/>
        </p:nvSpPr>
        <p:spPr>
          <a:xfrm>
            <a:off x="310896" y="4882896"/>
            <a:ext cx="7955279" cy="128016"/>
          </a:xfrm>
          <a:prstGeom prst="rect">
            <a:avLst/>
          </a:prstGeom>
          <a:noFill/>
        </p:spPr>
        <p:txBody>
          <a:bodyPr wrap="square" lIns="0" tIns="0" rIns="0" bIns="0">
            <a:spAutoFit/>
          </a:bodyPr>
          <a:lstStyle/>
          <a:p>
            <a:pPr>
              <a:lnSpc>
                <a:spcPct val="100000"/>
              </a:lnSpc>
              <a:spcAft>
                <a:spcPts val="200"/>
              </a:spcAft>
            </a:pPr>
            <a:r>
              <a:rPr sz="750" b="0">
                <a:solidFill>
                  <a:srgbClr val="B7CBE0"/>
                </a:solidFill>
                <a:latin typeface="Montserrat"/>
              </a:rPr>
              <a:t>MLSMFP  |  SWMM vs XGBoost  |  val_extrap_ultrafast_20min_f3.700</a:t>
            </a:r>
          </a:p>
        </p:txBody>
      </p:sp>
      <p:sp>
        <p:nvSpPr>
          <p:cNvPr id="20" name="TextBox 19"/>
          <p:cNvSpPr txBox="1"/>
          <p:nvPr/>
        </p:nvSpPr>
        <p:spPr>
          <a:xfrm>
            <a:off x="8321040" y="4818888"/>
            <a:ext cx="502920" cy="201168"/>
          </a:xfrm>
          <a:prstGeom prst="rect">
            <a:avLst/>
          </a:prstGeom>
          <a:noFill/>
        </p:spPr>
        <p:txBody>
          <a:bodyPr wrap="square" lIns="0" tIns="0" rIns="0" bIns="0">
            <a:spAutoFit/>
          </a:bodyPr>
          <a:lstStyle/>
          <a:p>
            <a:pPr>
              <a:lnSpc>
                <a:spcPct val="100000"/>
              </a:lnSpc>
              <a:spcAft>
                <a:spcPts val="200"/>
              </a:spcAft>
            </a:pPr>
            <a:r>
              <a:rPr sz="1050" b="0">
                <a:solidFill>
                  <a:srgbClr val="8BC5FA"/>
                </a:solidFill>
                <a:latin typeface="Montserrat"/>
              </a:rPr>
              <a:t>35</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E2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10312"/>
            <a:ext cx="50292" cy="411480"/>
          </a:xfrm>
          <a:prstGeom prst="rect">
            <a:avLst/>
          </a:prstGeom>
          <a:solidFill>
            <a:srgbClr val="8BC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29768" y="192024"/>
            <a:ext cx="8229600" cy="393192"/>
          </a:xfrm>
          <a:prstGeom prst="rect">
            <a:avLst/>
          </a:prstGeom>
          <a:noFill/>
        </p:spPr>
        <p:txBody>
          <a:bodyPr wrap="square" lIns="0" tIns="0" rIns="0" bIns="0">
            <a:spAutoFit/>
          </a:bodyPr>
          <a:lstStyle/>
          <a:p>
            <a:pPr>
              <a:lnSpc>
                <a:spcPct val="100000"/>
              </a:lnSpc>
              <a:spcAft>
                <a:spcPts val="200"/>
              </a:spcAft>
            </a:pPr>
            <a:r>
              <a:rPr sz="2050" b="1">
                <a:solidFill>
                  <a:srgbClr val="8BC5FA"/>
                </a:solidFill>
                <a:latin typeface="Montserrat"/>
              </a:rPr>
              <a:t>Extrapolación de forma 2/2: Maratón · 20 h</a:t>
            </a:r>
          </a:p>
        </p:txBody>
      </p:sp>
      <p:sp>
        <p:nvSpPr>
          <p:cNvPr id="5" name="TextBox 4"/>
          <p:cNvSpPr txBox="1"/>
          <p:nvPr/>
        </p:nvSpPr>
        <p:spPr>
          <a:xfrm>
            <a:off x="429768" y="658368"/>
            <a:ext cx="8229600" cy="146304"/>
          </a:xfrm>
          <a:prstGeom prst="rect">
            <a:avLst/>
          </a:prstGeom>
          <a:noFill/>
        </p:spPr>
        <p:txBody>
          <a:bodyPr wrap="square" lIns="0" tIns="0" rIns="0" bIns="0">
            <a:spAutoFit/>
          </a:bodyPr>
          <a:lstStyle/>
          <a:p>
            <a:pPr>
              <a:lnSpc>
                <a:spcPct val="100000"/>
              </a:lnSpc>
              <a:spcAft>
                <a:spcPts val="200"/>
              </a:spcAft>
            </a:pPr>
            <a:r>
              <a:rPr sz="950" b="0">
                <a:solidFill>
                  <a:srgbClr val="B7CBE0"/>
                </a:solidFill>
                <a:latin typeface="Montserrat"/>
              </a:rPr>
              <a:t>Forma de hidrograma no vista en entrenamiento · factor de carga 2.50 · volumen acumulado por nodo y evento</a:t>
            </a:r>
          </a:p>
        </p:txBody>
      </p:sp>
      <p:pic>
        <p:nvPicPr>
          <p:cNvPr id="6" name="Picture 5" descr="hydrograph_val_extrap_marathon_20h_f2.500.png"/>
          <p:cNvPicPr>
            <a:picLocks noChangeAspect="1"/>
          </p:cNvPicPr>
          <p:nvPr/>
        </p:nvPicPr>
        <p:blipFill>
          <a:blip r:embed="rId3"/>
          <a:stretch>
            <a:fillRect/>
          </a:stretch>
        </p:blipFill>
        <p:spPr>
          <a:xfrm>
            <a:off x="310896" y="1051560"/>
            <a:ext cx="3657600" cy="2031678"/>
          </a:xfrm>
          <a:prstGeom prst="rect">
            <a:avLst/>
          </a:prstGeom>
        </p:spPr>
      </p:pic>
      <p:sp>
        <p:nvSpPr>
          <p:cNvPr id="7" name="TextBox 6"/>
          <p:cNvSpPr txBox="1"/>
          <p:nvPr/>
        </p:nvSpPr>
        <p:spPr>
          <a:xfrm>
            <a:off x="4709160" y="1069848"/>
            <a:ext cx="1938528" cy="219456"/>
          </a:xfrm>
          <a:prstGeom prst="rect">
            <a:avLst/>
          </a:prstGeom>
          <a:noFill/>
        </p:spPr>
        <p:txBody>
          <a:bodyPr wrap="square" lIns="0" tIns="0" rIns="0" bIns="0">
            <a:spAutoFit/>
          </a:bodyPr>
          <a:lstStyle/>
          <a:p>
            <a:pPr>
              <a:lnSpc>
                <a:spcPct val="100000"/>
              </a:lnSpc>
              <a:spcAft>
                <a:spcPts val="200"/>
              </a:spcAft>
            </a:pPr>
            <a:r>
              <a:rPr sz="1080" b="1">
                <a:solidFill>
                  <a:srgbClr val="8BC5FA"/>
                </a:solidFill>
                <a:latin typeface="Montserrat"/>
              </a:rPr>
              <a:t>Forma del hidrograma</a:t>
            </a:r>
          </a:p>
        </p:txBody>
      </p:sp>
      <p:sp>
        <p:nvSpPr>
          <p:cNvPr id="8" name="TextBox 7"/>
          <p:cNvSpPr txBox="1"/>
          <p:nvPr/>
        </p:nvSpPr>
        <p:spPr>
          <a:xfrm>
            <a:off x="4709160" y="1353312"/>
            <a:ext cx="1938528" cy="658368"/>
          </a:xfrm>
          <a:prstGeom prst="rect">
            <a:avLst/>
          </a:prstGeom>
          <a:noFill/>
        </p:spPr>
        <p:txBody>
          <a:bodyPr wrap="square" lIns="0" tIns="0" rIns="0" bIns="0">
            <a:spAutoFit/>
          </a:bodyPr>
          <a:lstStyle/>
          <a:p>
            <a:pPr>
              <a:lnSpc>
                <a:spcPct val="100000"/>
              </a:lnSpc>
              <a:spcAft>
                <a:spcPts val="200"/>
              </a:spcAft>
            </a:pPr>
            <a:r>
              <a:rPr sz="975" b="0">
                <a:solidFill>
                  <a:srgbClr val="F7FAFE"/>
                </a:solidFill>
                <a:latin typeface="Montserrat"/>
              </a:rPr>
              <a:t>Maratón · 20 h</a:t>
            </a:r>
          </a:p>
          <a:p>
            <a:pPr>
              <a:lnSpc>
                <a:spcPct val="100000"/>
              </a:lnSpc>
              <a:spcAft>
                <a:spcPts val="200"/>
              </a:spcAft>
            </a:pPr>
            <a:r>
              <a:rPr sz="975" b="0">
                <a:solidFill>
                  <a:srgbClr val="F7FAFE"/>
                </a:solidFill>
                <a:latin typeface="Montserrat"/>
              </a:rPr>
              <a:t>Forma nueva no vista en entrenamiento; duración extremadamente larga.</a:t>
            </a:r>
          </a:p>
        </p:txBody>
      </p:sp>
      <p:sp>
        <p:nvSpPr>
          <p:cNvPr id="9" name="TextBox 8"/>
          <p:cNvSpPr txBox="1"/>
          <p:nvPr/>
        </p:nvSpPr>
        <p:spPr>
          <a:xfrm>
            <a:off x="4709160" y="2103120"/>
            <a:ext cx="1938528" cy="201168"/>
          </a:xfrm>
          <a:prstGeom prst="rect">
            <a:avLst/>
          </a:prstGeom>
          <a:noFill/>
        </p:spPr>
        <p:txBody>
          <a:bodyPr wrap="square" lIns="0" tIns="0" rIns="0" bIns="0">
            <a:spAutoFit/>
          </a:bodyPr>
          <a:lstStyle/>
          <a:p>
            <a:pPr>
              <a:lnSpc>
                <a:spcPct val="100000"/>
              </a:lnSpc>
              <a:spcAft>
                <a:spcPts val="200"/>
              </a:spcAft>
            </a:pPr>
            <a:r>
              <a:rPr sz="1080" b="1">
                <a:solidFill>
                  <a:srgbClr val="8BC5FA"/>
                </a:solidFill>
                <a:latin typeface="Montserrat"/>
              </a:rPr>
              <a:t>Resultado agregado</a:t>
            </a:r>
          </a:p>
        </p:txBody>
      </p:sp>
      <p:sp>
        <p:nvSpPr>
          <p:cNvPr id="10" name="TextBox 9"/>
          <p:cNvSpPr txBox="1"/>
          <p:nvPr/>
        </p:nvSpPr>
        <p:spPr>
          <a:xfrm>
            <a:off x="4709160" y="2359152"/>
            <a:ext cx="1938528" cy="841248"/>
          </a:xfrm>
          <a:prstGeom prst="rect">
            <a:avLst/>
          </a:prstGeom>
          <a:noFill/>
        </p:spPr>
        <p:txBody>
          <a:bodyPr wrap="square" lIns="0" tIns="0" rIns="0" bIns="0">
            <a:spAutoFit/>
          </a:bodyPr>
          <a:lstStyle/>
          <a:p>
            <a:pPr>
              <a:lnSpc>
                <a:spcPct val="100000"/>
              </a:lnSpc>
              <a:spcAft>
                <a:spcPts val="200"/>
              </a:spcAft>
            </a:pPr>
            <a:r>
              <a:rPr sz="969" b="0">
                <a:solidFill>
                  <a:srgbClr val="F7FAFE"/>
                </a:solidFill>
                <a:latin typeface="Montserrat"/>
              </a:rPr>
              <a:t>SWMM: 28,227 m³</a:t>
            </a:r>
          </a:p>
          <a:p>
            <a:pPr>
              <a:lnSpc>
                <a:spcPct val="100000"/>
              </a:lnSpc>
              <a:spcAft>
                <a:spcPts val="200"/>
              </a:spcAft>
            </a:pPr>
            <a:r>
              <a:rPr sz="969" b="0">
                <a:solidFill>
                  <a:srgbClr val="F7FAFE"/>
                </a:solidFill>
                <a:latin typeface="Montserrat"/>
              </a:rPr>
              <a:t>XGBoost: 23,801 m³</a:t>
            </a:r>
          </a:p>
          <a:p>
            <a:pPr>
              <a:lnSpc>
                <a:spcPct val="100000"/>
              </a:lnSpc>
              <a:spcAft>
                <a:spcPts val="200"/>
              </a:spcAft>
            </a:pPr>
            <a:r>
              <a:rPr sz="969" b="0">
                <a:solidFill>
                  <a:srgbClr val="F7FAFE"/>
                </a:solidFill>
                <a:latin typeface="Montserrat"/>
              </a:rPr>
              <a:t>Error total: -15.7%</a:t>
            </a:r>
          </a:p>
          <a:p>
            <a:pPr>
              <a:lnSpc>
                <a:spcPct val="100000"/>
              </a:lnSpc>
              <a:spcAft>
                <a:spcPts val="200"/>
              </a:spcAft>
            </a:pPr>
            <a:r>
              <a:rPr sz="969" b="0">
                <a:solidFill>
                  <a:srgbClr val="F7FAFE"/>
                </a:solidFill>
                <a:latin typeface="Montserrat"/>
              </a:rPr>
              <a:t>Nodos inundados: 49</a:t>
            </a:r>
          </a:p>
        </p:txBody>
      </p:sp>
      <p:sp>
        <p:nvSpPr>
          <p:cNvPr id="11" name="TextBox 10"/>
          <p:cNvSpPr txBox="1"/>
          <p:nvPr/>
        </p:nvSpPr>
        <p:spPr>
          <a:xfrm>
            <a:off x="6876288" y="1069848"/>
            <a:ext cx="1828800" cy="201168"/>
          </a:xfrm>
          <a:prstGeom prst="rect">
            <a:avLst/>
          </a:prstGeom>
          <a:noFill/>
        </p:spPr>
        <p:txBody>
          <a:bodyPr wrap="square" lIns="0" tIns="0" rIns="0" bIns="0">
            <a:spAutoFit/>
          </a:bodyPr>
          <a:lstStyle/>
          <a:p>
            <a:pPr>
              <a:lnSpc>
                <a:spcPct val="100000"/>
              </a:lnSpc>
              <a:spcAft>
                <a:spcPts val="200"/>
              </a:spcAft>
            </a:pPr>
            <a:r>
              <a:rPr sz="1080" b="1">
                <a:solidFill>
                  <a:srgbClr val="8BC5FA"/>
                </a:solidFill>
                <a:latin typeface="Montserrat"/>
              </a:rPr>
              <a:t>Parity por nodo</a:t>
            </a:r>
          </a:p>
        </p:txBody>
      </p:sp>
      <p:pic>
        <p:nvPicPr>
          <p:cNvPr id="12" name="Picture 11" descr="parity_nodes_symlog_val_extrap_marathon_20h_f2.500.png"/>
          <p:cNvPicPr>
            <a:picLocks noChangeAspect="1"/>
          </p:cNvPicPr>
          <p:nvPr/>
        </p:nvPicPr>
        <p:blipFill>
          <a:blip r:embed="rId4"/>
          <a:stretch>
            <a:fillRect/>
          </a:stretch>
        </p:blipFill>
        <p:spPr>
          <a:xfrm>
            <a:off x="6638544" y="856792"/>
            <a:ext cx="2450592" cy="2492192"/>
          </a:xfrm>
          <a:prstGeom prst="rect">
            <a:avLst/>
          </a:prstGeom>
        </p:spPr>
      </p:pic>
      <p:sp>
        <p:nvSpPr>
          <p:cNvPr id="13" name="TextBox 12"/>
          <p:cNvSpPr txBox="1"/>
          <p:nvPr/>
        </p:nvSpPr>
        <p:spPr>
          <a:xfrm>
            <a:off x="6850684" y="3639312"/>
            <a:ext cx="1874519" cy="338328"/>
          </a:xfrm>
          <a:prstGeom prst="rect">
            <a:avLst/>
          </a:prstGeom>
          <a:noFill/>
        </p:spPr>
        <p:txBody>
          <a:bodyPr wrap="square" lIns="0" tIns="0" rIns="0" bIns="0">
            <a:spAutoFit/>
          </a:bodyPr>
          <a:lstStyle/>
          <a:p>
            <a:pPr>
              <a:lnSpc>
                <a:spcPct val="100000"/>
              </a:lnSpc>
              <a:spcAft>
                <a:spcPts val="200"/>
              </a:spcAft>
            </a:pPr>
            <a:r>
              <a:rPr sz="800" b="0">
                <a:solidFill>
                  <a:srgbClr val="B7CBE0"/>
                </a:solidFill>
                <a:latin typeface="Montserrat"/>
              </a:rPr>
              <a:t>MAE inundados: 104.34 m³</a:t>
            </a:r>
          </a:p>
          <a:p>
            <a:pPr>
              <a:lnSpc>
                <a:spcPct val="100000"/>
              </a:lnSpc>
              <a:spcAft>
                <a:spcPts val="200"/>
              </a:spcAft>
            </a:pPr>
            <a:r>
              <a:rPr sz="800" b="0">
                <a:solidFill>
                  <a:srgbClr val="B7CBE0"/>
                </a:solidFill>
                <a:latin typeface="Montserrat"/>
              </a:rPr>
              <a:t>RMSE inundados: 184.25 m³</a:t>
            </a:r>
          </a:p>
        </p:txBody>
      </p:sp>
      <p:sp>
        <p:nvSpPr>
          <p:cNvPr id="14" name="TextBox 13"/>
          <p:cNvSpPr txBox="1"/>
          <p:nvPr/>
        </p:nvSpPr>
        <p:spPr>
          <a:xfrm>
            <a:off x="329184" y="3136392"/>
            <a:ext cx="2450592" cy="146304"/>
          </a:xfrm>
          <a:prstGeom prst="rect">
            <a:avLst/>
          </a:prstGeom>
          <a:noFill/>
        </p:spPr>
        <p:txBody>
          <a:bodyPr wrap="square" lIns="0" tIns="0" rIns="0" bIns="0">
            <a:spAutoFit/>
          </a:bodyPr>
          <a:lstStyle/>
          <a:p>
            <a:pPr>
              <a:lnSpc>
                <a:spcPct val="100000"/>
              </a:lnSpc>
              <a:spcAft>
                <a:spcPts val="200"/>
              </a:spcAft>
            </a:pPr>
            <a:r>
              <a:rPr sz="860" b="1">
                <a:solidFill>
                  <a:srgbClr val="8BC5FA"/>
                </a:solidFill>
                <a:latin typeface="Montserrat"/>
              </a:rPr>
              <a:t>Mapa SWMM · referencia</a:t>
            </a:r>
          </a:p>
        </p:txBody>
      </p:sp>
      <p:pic>
        <p:nvPicPr>
          <p:cNvPr id="15" name="Picture 14" descr="flood_map_swmm_val_extrap_marathon_20h_f2.500.png"/>
          <p:cNvPicPr>
            <a:picLocks noChangeAspect="1"/>
          </p:cNvPicPr>
          <p:nvPr/>
        </p:nvPicPr>
        <p:blipFill>
          <a:blip r:embed="rId5"/>
          <a:stretch>
            <a:fillRect/>
          </a:stretch>
        </p:blipFill>
        <p:spPr>
          <a:xfrm>
            <a:off x="310896" y="3282696"/>
            <a:ext cx="2468880" cy="1522455"/>
          </a:xfrm>
          <a:prstGeom prst="rect">
            <a:avLst/>
          </a:prstGeom>
        </p:spPr>
      </p:pic>
      <p:sp>
        <p:nvSpPr>
          <p:cNvPr id="16" name="TextBox 15"/>
          <p:cNvSpPr txBox="1"/>
          <p:nvPr/>
        </p:nvSpPr>
        <p:spPr>
          <a:xfrm>
            <a:off x="2898648" y="3136392"/>
            <a:ext cx="2450592" cy="146304"/>
          </a:xfrm>
          <a:prstGeom prst="rect">
            <a:avLst/>
          </a:prstGeom>
          <a:noFill/>
        </p:spPr>
        <p:txBody>
          <a:bodyPr wrap="square" lIns="0" tIns="0" rIns="0" bIns="0">
            <a:spAutoFit/>
          </a:bodyPr>
          <a:lstStyle/>
          <a:p>
            <a:pPr>
              <a:lnSpc>
                <a:spcPct val="100000"/>
              </a:lnSpc>
              <a:spcAft>
                <a:spcPts val="200"/>
              </a:spcAft>
            </a:pPr>
            <a:r>
              <a:rPr sz="860" b="1">
                <a:solidFill>
                  <a:srgbClr val="8BC5FA"/>
                </a:solidFill>
                <a:latin typeface="Montserrat"/>
              </a:rPr>
              <a:t>Mapa XGBoost · predicción</a:t>
            </a:r>
          </a:p>
        </p:txBody>
      </p:sp>
      <p:pic>
        <p:nvPicPr>
          <p:cNvPr id="17" name="Picture 16" descr="flood_map_ml_val_extrap_marathon_20h_f2.500.png"/>
          <p:cNvPicPr>
            <a:picLocks noChangeAspect="1"/>
          </p:cNvPicPr>
          <p:nvPr/>
        </p:nvPicPr>
        <p:blipFill>
          <a:blip r:embed="rId6"/>
          <a:stretch>
            <a:fillRect/>
          </a:stretch>
        </p:blipFill>
        <p:spPr>
          <a:xfrm>
            <a:off x="2880360" y="3282696"/>
            <a:ext cx="2468880" cy="1522455"/>
          </a:xfrm>
          <a:prstGeom prst="rect">
            <a:avLst/>
          </a:prstGeom>
        </p:spPr>
      </p:pic>
      <p:sp>
        <p:nvSpPr>
          <p:cNvPr id="18" name="TextBox 17"/>
          <p:cNvSpPr txBox="1"/>
          <p:nvPr/>
        </p:nvSpPr>
        <p:spPr>
          <a:xfrm>
            <a:off x="5527548" y="4198010"/>
            <a:ext cx="2788920" cy="475488"/>
          </a:xfrm>
          <a:prstGeom prst="rect">
            <a:avLst/>
          </a:prstGeom>
          <a:noFill/>
        </p:spPr>
        <p:txBody>
          <a:bodyPr wrap="square" lIns="0" tIns="0" rIns="0" bIns="0">
            <a:spAutoFit/>
          </a:bodyPr>
          <a:lstStyle/>
          <a:p>
            <a:pPr>
              <a:lnSpc>
                <a:spcPct val="100000"/>
              </a:lnSpc>
              <a:spcAft>
                <a:spcPts val="200"/>
              </a:spcAft>
            </a:pPr>
            <a:r>
              <a:rPr sz="900" b="1">
                <a:solidFill>
                  <a:srgbClr val="F1CB83"/>
                </a:solidFill>
                <a:latin typeface="Montserrat"/>
              </a:rPr>
              <a:t>Clasificación nodal</a:t>
            </a:r>
          </a:p>
          <a:p>
            <a:pPr>
              <a:lnSpc>
                <a:spcPct val="100000"/>
              </a:lnSpc>
              <a:spcAft>
                <a:spcPts val="200"/>
              </a:spcAft>
            </a:pPr>
            <a:r>
              <a:rPr sz="900" b="1">
                <a:solidFill>
                  <a:srgbClr val="F1CB83"/>
                </a:solidFill>
                <a:latin typeface="Montserrat"/>
              </a:rPr>
              <a:t>TP=48 · TN=109 · FP=2 · FN=1</a:t>
            </a:r>
          </a:p>
        </p:txBody>
      </p:sp>
      <p:sp>
        <p:nvSpPr>
          <p:cNvPr id="19" name="TextBox 18"/>
          <p:cNvSpPr txBox="1"/>
          <p:nvPr/>
        </p:nvSpPr>
        <p:spPr>
          <a:xfrm>
            <a:off x="310896" y="4882896"/>
            <a:ext cx="7955279" cy="128016"/>
          </a:xfrm>
          <a:prstGeom prst="rect">
            <a:avLst/>
          </a:prstGeom>
          <a:noFill/>
        </p:spPr>
        <p:txBody>
          <a:bodyPr wrap="square" lIns="0" tIns="0" rIns="0" bIns="0">
            <a:spAutoFit/>
          </a:bodyPr>
          <a:lstStyle/>
          <a:p>
            <a:pPr>
              <a:lnSpc>
                <a:spcPct val="100000"/>
              </a:lnSpc>
              <a:spcAft>
                <a:spcPts val="200"/>
              </a:spcAft>
            </a:pPr>
            <a:r>
              <a:rPr sz="750" b="0">
                <a:solidFill>
                  <a:srgbClr val="B7CBE0"/>
                </a:solidFill>
                <a:latin typeface="Montserrat"/>
              </a:rPr>
              <a:t>MLSMFP  |  SWMM vs XGBoost  |  val_extrap_marathon_20h_f2.500</a:t>
            </a:r>
          </a:p>
        </p:txBody>
      </p:sp>
      <p:sp>
        <p:nvSpPr>
          <p:cNvPr id="20" name="TextBox 19"/>
          <p:cNvSpPr txBox="1"/>
          <p:nvPr/>
        </p:nvSpPr>
        <p:spPr>
          <a:xfrm>
            <a:off x="8321040" y="4818888"/>
            <a:ext cx="502920" cy="201168"/>
          </a:xfrm>
          <a:prstGeom prst="rect">
            <a:avLst/>
          </a:prstGeom>
          <a:noFill/>
        </p:spPr>
        <p:txBody>
          <a:bodyPr wrap="square" lIns="0" tIns="0" rIns="0" bIns="0">
            <a:spAutoFit/>
          </a:bodyPr>
          <a:lstStyle/>
          <a:p>
            <a:pPr>
              <a:lnSpc>
                <a:spcPct val="100000"/>
              </a:lnSpc>
              <a:spcAft>
                <a:spcPts val="200"/>
              </a:spcAft>
            </a:pPr>
            <a:r>
              <a:rPr sz="1050" b="0">
                <a:solidFill>
                  <a:srgbClr val="8BC5FA"/>
                </a:solidFill>
                <a:latin typeface="Montserrat"/>
              </a:rPr>
              <a:t>36</a:t>
            </a:r>
          </a:p>
        </p:txBody>
      </p:sp>
    </p:spTree>
  </p:cSld>
  <p:clrMapOvr>
    <a:masterClrMapping/>
  </p:clrMapOvr>
</p:sld>
</file>

<file path=ppt/theme/theme1.xml><?xml version="1.0" encoding="utf-8"?>
<a:theme xmlns:a="http://schemas.openxmlformats.org/drawingml/2006/main" name="diap">
  <a:themeElements>
    <a:clrScheme name="Simple Light">
      <a:dk1>
        <a:srgbClr val="FFFFFF"/>
      </a:dk1>
      <a:lt1>
        <a:srgbClr val="0C2C45"/>
      </a:lt1>
      <a:dk2>
        <a:srgbClr val="8BC5FA"/>
      </a:dk2>
      <a:lt2>
        <a:srgbClr val="243C59"/>
      </a:lt2>
      <a:accent1>
        <a:srgbClr val="5083C2"/>
      </a:accent1>
      <a:accent2>
        <a:srgbClr val="355A84"/>
      </a:accent2>
      <a:accent3>
        <a:srgbClr val="FFFFFF"/>
      </a:accent3>
      <a:accent4>
        <a:srgbClr val="FFFFFF"/>
      </a:accent4>
      <a:accent5>
        <a:srgbClr val="FFFFFF"/>
      </a:accent5>
      <a:accent6>
        <a:srgbClr val="FFFFFF"/>
      </a:accent6>
      <a:hlink>
        <a:srgbClr val="FFFFFF"/>
      </a:hlink>
      <a:folHlink>
        <a:srgbClr val="0097A7"/>
      </a:folHlink>
    </a:clrScheme>
    <a:fontScheme name="CIACUA">
      <a:majorFont>
        <a:latin typeface="Libre Baskerville"/>
        <a:ea typeface=""/>
        <a:cs typeface=""/>
      </a:majorFont>
      <a:minorFont>
        <a:latin typeface="Montserra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CIACUA">
      <a:majorFont>
        <a:latin typeface="Libre Baskerville"/>
        <a:ea typeface=""/>
        <a:cs typeface=""/>
      </a:majorFont>
      <a:minorFont>
        <a:latin typeface="Montserra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IACUA">
      <a:majorFont>
        <a:latin typeface="Libre Baskerville"/>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5B3C633-C8C3-46EC-A779-D84379177807}">
  <we:reference id="wa200010725" version="1.0.0.1" store="es-MX" storeType="OMEX"/>
  <we:alternateReferences>
    <we:reference id="WA200010725" version="1.0.0.1" store="" storeType="OMEX"/>
  </we:alternateReferences>
  <we:properties>
    <we:property name="claude.fileId" value="&quot;0e8703bd-6d4e-4448-859d-ea000cb375b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10170</TotalTime>
  <Words>5777</Words>
  <Application>Microsoft Office PowerPoint</Application>
  <PresentationFormat>Presentación en pantalla (16:9)</PresentationFormat>
  <Paragraphs>511</Paragraphs>
  <Slides>36</Slides>
  <Notes>22</Notes>
  <HiddenSlides>5</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36</vt:i4>
      </vt:variant>
    </vt:vector>
  </HeadingPairs>
  <TitlesOfParts>
    <vt:vector size="41" baseType="lpstr">
      <vt:lpstr>Montserrat</vt:lpstr>
      <vt:lpstr>Zen Antique</vt:lpstr>
      <vt:lpstr>Arial</vt:lpstr>
      <vt:lpstr>Libre Baskerville</vt:lpstr>
      <vt:lpstr>diap</vt:lpstr>
      <vt:lpstr>Machine Learning Model for Hydraulic Failure Prediction in Stormwater Systems</vt:lpstr>
      <vt:lpstr>Cronograma Tesis II</vt:lpstr>
      <vt:lpstr>Presentación de PowerPoint</vt:lpstr>
      <vt:lpstr>Presentación de PowerPoint</vt:lpstr>
      <vt:lpstr>Presentación de PowerPoint</vt:lpstr>
      <vt:lpstr>Presentación de PowerPoint</vt:lpstr>
      <vt:lpstr>Hidrograma 1</vt:lpstr>
      <vt:lpstr>Hidrograma 1</vt:lpstr>
      <vt:lpstr>Hidrograma 2</vt:lpstr>
      <vt:lpstr>Hidrograma 2</vt:lpstr>
      <vt:lpstr>Hidrogramas de validación</vt:lpstr>
      <vt:lpstr>Presentación de PowerPoint</vt:lpstr>
      <vt:lpstr>Presentación de PowerPoint</vt:lpstr>
      <vt:lpstr>Presentación de PowerPoint</vt:lpstr>
      <vt:lpstr>Flujo de manejo de datos y entrenamiento del modelo</vt:lpstr>
      <vt:lpstr>Ejemplo de base de datos – Nodo 75</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Nitrogen Narcosis Caused by Diving Case Report</dc:title>
  <dc:creator>Maria Alejandra Gonzalez Molina</dc:creator>
  <cp:lastModifiedBy>Luis Fernando Fajardo Bravo</cp:lastModifiedBy>
  <cp:revision>77</cp:revision>
  <cp:lastPrinted>2026-07-30T02:50:58Z</cp:lastPrinted>
  <dcterms:modified xsi:type="dcterms:W3CDTF">2026-09-22T15:43:09Z</dcterms:modified>
</cp:coreProperties>
</file>