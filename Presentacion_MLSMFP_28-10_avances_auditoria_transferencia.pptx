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6"/>
  </p:notesMasterIdLst>
  <p:handoutMasterIdLst>
    <p:handoutMasterId r:id="rId57"/>
  </p:handoutMasterIdLst>
  <p:sldIdLst>
    <p:sldId id="470" r:id="rId45"/>
    <p:sldId id="471" r:id="rId16"/>
    <p:sldId id="472" r:id="rId17"/>
    <p:sldId id="473" r:id="rId18"/>
    <p:sldId id="474" r:id="rId19"/>
    <p:sldId id="475" r:id="rId20"/>
    <p:sldId id="476" r:id="rId21"/>
    <p:sldId id="477" r:id="rId22"/>
    <p:sldId id="478" r:id="rId23"/>
  </p:sldIdLst>
  <p:sldSz cx="9144000" cy="5143500" type="screen16x9"/>
  <p:notesSz cx="6858000" cy="9144000"/>
  <p:embeddedFontLst>
    <p:embeddedFont>
      <p:font typeface="Libre Baskerville" panose="020B0604020202020204" charset="0"/>
      <p:regular r:id="rId58"/>
      <p:bold r:id="rId59"/>
      <p:italic r:id="rId60"/>
    </p:embeddedFont>
    <p:embeddedFont>
      <p:font typeface="Montserrat" panose="000005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A4FF9F"/>
    <a:srgbClr val="5E8CBE"/>
    <a:srgbClr val="867AB8"/>
    <a:srgbClr val="FF7C80"/>
    <a:srgbClr val="8BC5FA"/>
    <a:srgbClr val="31547B"/>
    <a:srgbClr val="355A84"/>
    <a:srgbClr val="93A6C1"/>
    <a:srgbClr val="508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DF707-0B7A-4722-825E-A8C82910448D}">
  <a:tblStyle styleId="{B70DF707-0B7A-4722-825E-A8C82910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94400" autoAdjust="0"/>
  </p:normalViewPr>
  <p:slideViewPr>
    <p:cSldViewPr snapToGrid="0">
      <p:cViewPr varScale="1">
        <p:scale>
          <a:sx n="141" d="100"/>
          <a:sy n="141" d="100"/>
        </p:scale>
        <p:origin x="852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45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font" Target="fonts/font7.fntdata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1D31A96-AA36-E222-75CD-942A5EB99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89931-5FA1-104C-E402-96DD3FE88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6F0B-887D-48C5-BC7E-1B58F2397D46}" type="datetimeFigureOut">
              <a:rPr lang="es-CO" smtClean="0"/>
              <a:t>20/10/2026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DE2FF6-00C1-28C4-B854-E31A77EF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43366-C97E-5D30-6A61-70599CFB0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D6B6-0D79-4A52-B148-990ABCFC1E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11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61550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Portada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35F034-20D9-B4C5-8358-9688592E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05" y="987873"/>
            <a:ext cx="6588199" cy="375821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89B234E-DA3E-ADB7-C645-D2663C91D17A}"/>
              </a:ext>
            </a:extLst>
          </p:cNvPr>
          <p:cNvCxnSpPr/>
          <p:nvPr userDrawn="1"/>
        </p:nvCxnSpPr>
        <p:spPr>
          <a:xfrm>
            <a:off x="224175" y="3099830"/>
            <a:ext cx="86956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46BD2D74-0A2E-C2B6-BEBB-A7A73007E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8445" y="3513265"/>
            <a:ext cx="4507107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BC81BF4-67AC-BF92-3B23-337A171E5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0747" y="4108392"/>
            <a:ext cx="1122501" cy="447813"/>
          </a:xfrm>
        </p:spPr>
        <p:txBody>
          <a:bodyPr/>
          <a:lstStyle>
            <a:lvl1pPr marL="114300" indent="0">
              <a:buNone/>
              <a:defRPr sz="1400"/>
            </a:lvl1pPr>
          </a:lstStyle>
          <a:p>
            <a:pPr lvl="0"/>
            <a:r>
              <a:rPr lang="es-ES" dirty="0" err="1"/>
              <a:t>to</a:t>
            </a:r>
            <a:r>
              <a:rPr lang="es-ES" dirty="0"/>
              <a:t>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1350" y="1423263"/>
            <a:ext cx="5405100" cy="194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1350" y="3314625"/>
            <a:ext cx="5405100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2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41350" y="2549500"/>
            <a:ext cx="6861300" cy="10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58700" y="1353788"/>
            <a:ext cx="162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331150" y="3627713"/>
            <a:ext cx="44817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D7D205FF-0CD9-CE2F-E2C1-83481A2B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39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21092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6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1AF50676-8359-BE63-DD6F-3F783BB6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B7538562-B18C-A308-8992-A2937502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15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91583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5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;p4">
            <a:extLst>
              <a:ext uri="{FF2B5EF4-FFF2-40B4-BE49-F238E27FC236}">
                <a16:creationId xmlns:a16="http://schemas.microsoft.com/office/drawing/2014/main" id="{4C5B8F73-FC8B-9241-7678-C4DDCD3019A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07BA6-F4A9-9808-ED15-76AEE7C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300"/>
            </a:lvl1pPr>
          </a:lstStyle>
          <a:p>
            <a:r>
              <a:rPr lang="es-ES" dirty="0"/>
              <a:t>Haga clic para modificar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75B560-8E7C-D540-20BE-B237247E6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0C5ADD-74DF-90D3-03A8-63663869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7555" y="1391915"/>
            <a:ext cx="6187177" cy="421861"/>
          </a:xfrm>
        </p:spPr>
        <p:txBody>
          <a:bodyPr/>
          <a:lstStyle>
            <a:lvl1pPr marL="114300" indent="0" algn="l">
              <a:buNone/>
              <a:defRPr lang="es-CO" sz="2400" b="1" i="0" u="none" strike="noStrike" cap="none" dirty="0">
                <a:solidFill>
                  <a:srgbClr val="FFFFB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0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090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562925" y="2238025"/>
            <a:ext cx="4864800" cy="19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562925" y="970775"/>
            <a:ext cx="4864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F9367B2C-BBE5-04C5-44F7-3356491E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4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11350" y="1580150"/>
            <a:ext cx="515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711350" y="2340250"/>
            <a:ext cx="51510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74F13D-0CE4-3400-4DA2-4B2131FFD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5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560250" y="3291125"/>
            <a:ext cx="4626600" cy="11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8B88258-C5B6-1041-8893-E62BA8F14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8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670700" y="1580875"/>
            <a:ext cx="58026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670700" y="3114124"/>
            <a:ext cx="58026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8AC9DA0D-3DCA-DFC3-BE58-DCA1A789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572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34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75784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 hasCustomPrompt="1"/>
          </p:nvPr>
        </p:nvSpPr>
        <p:spPr>
          <a:xfrm>
            <a:off x="767145" y="1806480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444845" y="197170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664695" y="2391672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5342395" y="255769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 hasCustomPrompt="1"/>
          </p:nvPr>
        </p:nvSpPr>
        <p:spPr>
          <a:xfrm>
            <a:off x="767145" y="2976864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444845" y="3143681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4664695" y="3562056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5342395" y="3729672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767145" y="4147248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1444845" y="4315663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444875" y="1646950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444875" y="2841512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6"/>
          </p:nvPr>
        </p:nvSpPr>
        <p:spPr>
          <a:xfrm>
            <a:off x="1444875" y="4036075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5342400" y="3438794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8"/>
          </p:nvPr>
        </p:nvSpPr>
        <p:spPr>
          <a:xfrm>
            <a:off x="5342400" y="2244231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6A022A7-5EAA-EFCC-2C64-7193F2986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460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2290050" y="3989413"/>
            <a:ext cx="45639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458150" y="2816863"/>
            <a:ext cx="6227700" cy="122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E81FD6E-2FFF-28AE-374E-DDC20EFB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4084" y="486870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443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Title and 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973797" y="3011475"/>
            <a:ext cx="439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73809" y="1270425"/>
            <a:ext cx="4398300" cy="17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2"/>
          </p:nvPr>
        </p:nvSpPr>
        <p:spPr>
          <a:xfrm>
            <a:off x="5327150" y="1080200"/>
            <a:ext cx="2983200" cy="298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011B3A5-BA18-77C0-B197-5934FE569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159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371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subTitle" idx="1"/>
          </p:nvPr>
        </p:nvSpPr>
        <p:spPr>
          <a:xfrm>
            <a:off x="1889400" y="3812150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1889550" y="3306875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C836EED-38EE-4930-F765-436660262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514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58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315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720000" y="66710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719413" y="1383062"/>
            <a:ext cx="53475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5E61C1E-9234-A230-B547-BF54ADA7F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4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99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41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1366805" y="1856906"/>
            <a:ext cx="30267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2"/>
          </p:nvPr>
        </p:nvSpPr>
        <p:spPr>
          <a:xfrm>
            <a:off x="4706911" y="1895947"/>
            <a:ext cx="30231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1366805" y="2360869"/>
            <a:ext cx="3026700" cy="22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4"/>
          </p:nvPr>
        </p:nvSpPr>
        <p:spPr>
          <a:xfrm>
            <a:off x="4706911" y="2362069"/>
            <a:ext cx="3023100" cy="22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720000" y="70318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11EDC36-5F6C-7891-6A2B-41384387A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7058" y="485467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142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921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20000" y="696921"/>
            <a:ext cx="7758665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1"/>
          </p:nvPr>
        </p:nvSpPr>
        <p:spPr>
          <a:xfrm>
            <a:off x="720000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2"/>
          </p:nvPr>
        </p:nvSpPr>
        <p:spPr>
          <a:xfrm>
            <a:off x="4626665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6B8D90A-F721-5BFA-9520-C8133011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953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CF2F18-9AEF-9045-E247-CDBA3558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pic>
        <p:nvPicPr>
          <p:cNvPr id="3" name="Google Shape;9;p2">
            <a:extLst>
              <a:ext uri="{FF2B5EF4-FFF2-40B4-BE49-F238E27FC236}">
                <a16:creationId xmlns:a16="http://schemas.microsoft.com/office/drawing/2014/main" id="{AD9A05E1-271E-DF86-855C-3402A37CE6E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0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77D320-9EC5-A233-F3F1-072E9662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75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Relationship Id="rId23" Type="http://schemas.microsoft.com/office/2007/relationships/hdphoto" Target="../media/hdphoto1.wdp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555" y="711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5585" y="1448419"/>
            <a:ext cx="8520600" cy="318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FC9AC8-8B9B-C356-BE60-A5E249FA5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896" b="89974" l="2344" r="97461">
                        <a14:foregroundMark x1="54297" y1="27474" x2="42578" y2="19531"/>
                        <a14:foregroundMark x1="42578" y1="19531" x2="54688" y2="27734"/>
                        <a14:foregroundMark x1="54688" y1="27734" x2="96875" y2="39714"/>
                        <a14:foregroundMark x1="94336" y1="55990" x2="86328" y2="65885"/>
                        <a14:foregroundMark x1="86328" y1="65885" x2="24609" y2="80469"/>
                        <a14:foregroundMark x1="24609" y1="80469" x2="25586" y2="67057"/>
                        <a14:foregroundMark x1="25586" y1="67057" x2="48047" y2="49089"/>
                        <a14:foregroundMark x1="48047" y1="49089" x2="43945" y2="37891"/>
                        <a14:foregroundMark x1="43945" y1="37891" x2="17578" y2="22396"/>
                        <a14:foregroundMark x1="17578" y1="22396" x2="2344" y2="32031"/>
                        <a14:foregroundMark x1="2344" y1="32031" x2="11914" y2="67448"/>
                        <a14:foregroundMark x1="11914" y1="67448" x2="37305" y2="45964"/>
                        <a14:foregroundMark x1="89453" y1="71484" x2="96094" y2="68490"/>
                        <a14:foregroundMark x1="88672" y1="72526" x2="97461" y2="68620"/>
                        <a14:foregroundMark x1="45508" y1="80339" x2="48438" y2="78125"/>
                      </a14:backgroundRemoval>
                    </a14:imgEffect>
                    <a14:imgEffect>
                      <a14:saturation sat="112000"/>
                    </a14:imgEffect>
                  </a14:imgLayer>
                </a14:imgProps>
              </a:ext>
            </a:extLst>
          </a:blip>
          <a:srcRect t="60775" r="7281" b="27471"/>
          <a:stretch/>
        </p:blipFill>
        <p:spPr>
          <a:xfrm>
            <a:off x="6443128" y="-6955"/>
            <a:ext cx="2700872" cy="572700"/>
          </a:xfrm>
          <a:prstGeom prst="rect">
            <a:avLst/>
          </a:prstGeom>
          <a:gradFill>
            <a:gsLst>
              <a:gs pos="19000">
                <a:srgbClr val="0E2A47">
                  <a:alpha val="59000"/>
                  <a:lumMod val="100000"/>
                </a:srgbClr>
              </a:gs>
              <a:gs pos="33000">
                <a:schemeClr val="accent2">
                  <a:lumMod val="10000"/>
                  <a:lumOff val="90000"/>
                </a:schemeClr>
              </a:gs>
              <a:gs pos="77000">
                <a:schemeClr val="accent2">
                  <a:lumMod val="25000"/>
                  <a:lumOff val="7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</p:pic>
      <p:pic>
        <p:nvPicPr>
          <p:cNvPr id="9" name="Google Shape;28;p4">
            <a:extLst>
              <a:ext uri="{FF2B5EF4-FFF2-40B4-BE49-F238E27FC236}">
                <a16:creationId xmlns:a16="http://schemas.microsoft.com/office/drawing/2014/main" id="{C838CF9F-1988-524C-8E01-03AB6CF3D3E1}"/>
              </a:ext>
            </a:extLst>
          </p:cNvPr>
          <p:cNvPicPr preferRelativeResize="0"/>
          <p:nvPr userDrawn="1"/>
        </p:nvPicPr>
        <p:blipFill>
          <a:blip r:embed="rId24">
            <a:alphaModFix amt="70000"/>
          </a:blip>
          <a:stretch>
            <a:fillRect/>
          </a:stretch>
        </p:blipFill>
        <p:spPr>
          <a:xfrm>
            <a:off x="8420241" y="4668168"/>
            <a:ext cx="911641" cy="95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68E9F5-C031-8916-0772-8842EBF6A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" r="57412"/>
          <a:stretch/>
        </p:blipFill>
        <p:spPr>
          <a:xfrm>
            <a:off x="213505" y="11159"/>
            <a:ext cx="1161848" cy="55668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B677341-6345-4681-C896-F97AE06C9832}"/>
              </a:ext>
            </a:extLst>
          </p:cNvPr>
          <p:cNvSpPr txBox="1"/>
          <p:nvPr userDrawn="1"/>
        </p:nvSpPr>
        <p:spPr>
          <a:xfrm>
            <a:off x="8606436" y="48648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1</a:t>
            </a: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3C48C39-10AC-00E1-8439-5BCADFB10EA4}"/>
              </a:ext>
            </a:extLst>
          </p:cNvPr>
          <p:cNvSpPr/>
          <p:nvPr userDrawn="1"/>
        </p:nvSpPr>
        <p:spPr>
          <a:xfrm>
            <a:off x="2700873" y="-3427"/>
            <a:ext cx="6481958" cy="569172"/>
          </a:xfrm>
          <a:prstGeom prst="roundRect">
            <a:avLst/>
          </a:prstGeom>
          <a:gradFill flip="none" rotWithShape="1">
            <a:gsLst>
              <a:gs pos="19000">
                <a:srgbClr val="0E2A47">
                  <a:alpha val="59000"/>
                  <a:lumMod val="100000"/>
                </a:srgbClr>
              </a:gs>
              <a:gs pos="43000">
                <a:schemeClr val="accent2">
                  <a:lumMod val="10000"/>
                  <a:lumOff val="90000"/>
                </a:schemeClr>
              </a:gs>
              <a:gs pos="69000">
                <a:schemeClr val="accent2">
                  <a:lumMod val="25000"/>
                  <a:lumOff val="75000"/>
                </a:schemeClr>
              </a:gs>
              <a:gs pos="98230">
                <a:srgbClr val="0E2A47"/>
              </a:gs>
              <a:gs pos="84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882642BA-E753-0526-0DB1-979EB663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457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 descr="Imagen que contiene señal&#10;&#10;Descripción generada automáticamente">
            <a:extLst>
              <a:ext uri="{FF2B5EF4-FFF2-40B4-BE49-F238E27FC236}">
                <a16:creationId xmlns:a16="http://schemas.microsoft.com/office/drawing/2014/main" id="{AA992F98-CF33-2388-CD15-8BE6A34588BE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375481" y="11159"/>
            <a:ext cx="356259" cy="540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7EBD3B-61F3-6418-1C94-41562CE9B0D7}"/>
              </a:ext>
            </a:extLst>
          </p:cNvPr>
          <p:cNvSpPr/>
          <p:nvPr userDrawn="1"/>
        </p:nvSpPr>
        <p:spPr>
          <a:xfrm>
            <a:off x="3777571" y="982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noProof="0" dirty="0">
                <a:solidFill>
                  <a:srgbClr val="0E2A47"/>
                </a:solidFill>
              </a:rPr>
              <a:t>Department of Civil and Environmental Engineering </a:t>
            </a:r>
          </a:p>
          <a:p>
            <a:r>
              <a:rPr lang="en-US" sz="900" noProof="0" dirty="0">
                <a:solidFill>
                  <a:srgbClr val="0E2A47"/>
                </a:solidFill>
              </a:rPr>
              <a:t>Water Supply and Sewers Systems Research Center</a:t>
            </a:r>
          </a:p>
        </p:txBody>
      </p:sp>
    </p:spTree>
    <p:extLst>
      <p:ext uri="{BB962C8B-B14F-4D97-AF65-F5344CB8AC3E}">
        <p14:creationId xmlns:p14="http://schemas.microsoft.com/office/powerpoint/2010/main" val="40113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4" r:id="rId2"/>
    <p:sldLayoutId id="2147483685" r:id="rId3"/>
    <p:sldLayoutId id="2147483686" r:id="rId4"/>
    <p:sldLayoutId id="2147483688" r:id="rId5"/>
    <p:sldLayoutId id="2147483718" r:id="rId6"/>
    <p:sldLayoutId id="2147483719" r:id="rId7"/>
    <p:sldLayoutId id="2147483689" r:id="rId8"/>
    <p:sldLayoutId id="2147483691" r:id="rId9"/>
    <p:sldLayoutId id="2147483692" r:id="rId10"/>
    <p:sldLayoutId id="2147483693" r:id="rId11"/>
    <p:sldLayoutId id="2147483695" r:id="rId12"/>
    <p:sldLayoutId id="2147483696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14" r:id="rId19"/>
    <p:sldLayoutId id="214748371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Libre Baskerville"/>
              </a:rPr>
              <a:t>Audit closure and reproducible A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5F656E"/>
                </a:solidFill>
                <a:latin typeface="Montserrat"/>
              </a:rPr>
              <a:t>The main dataset is now rebuilt from source artifacts with explicit QA and provenance.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0">
                <a:solidFill>
                  <a:srgbClr val="5F656E"/>
                </a:solidFill>
                <a:latin typeface="Montserrat"/>
              </a:rPr>
              <a:t>MLSMFP | Progress: audit, tuning and network-transfer validation | 2026-10-28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F656E"/>
                </a:solidFill>
                <a:latin typeface="Montserrat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15568"/>
            <a:ext cx="2029968" cy="1344168"/>
          </a:xfrm>
          <a:prstGeom prst="roundRect">
            <a:avLst>
              <a:gd name="adj" fmla="val 8000"/>
            </a:avLst>
          </a:prstGeom>
          <a:solidFill>
            <a:srgbClr val="E2EBF5"/>
          </a:solidFill>
          <a:ln w="10160">
            <a:solidFill>
              <a:srgbClr val="E2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79576"/>
            <a:ext cx="1810512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366092"/>
                </a:solidFill>
                <a:latin typeface="Montserrat"/>
              </a:rPr>
              <a:t>FROZEN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435607"/>
            <a:ext cx="18105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F3755"/>
                </a:solidFill>
                <a:latin typeface="Montserrat"/>
              </a:rPr>
              <a:t>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883664"/>
            <a:ext cx="1810512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SWMM runs in network A; original records preserved.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1115568"/>
            <a:ext cx="2029968" cy="1344168"/>
          </a:xfrm>
          <a:prstGeom prst="roundRect">
            <a:avLst>
              <a:gd name="adj" fmla="val 8000"/>
            </a:avLst>
          </a:prstGeom>
          <a:solidFill>
            <a:srgbClr val="E4EFE7"/>
          </a:solidFill>
          <a:ln w="10160">
            <a:solidFill>
              <a:srgbClr val="E4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1179576"/>
            <a:ext cx="1810512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4F815F"/>
                </a:solidFill>
                <a:latin typeface="Montserrat"/>
              </a:rPr>
              <a:t>QA ELIGIBLE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1435607"/>
            <a:ext cx="18105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F3755"/>
                </a:solidFill>
                <a:latin typeface="Montserrat"/>
              </a:rPr>
              <a:t>866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1883664"/>
            <a:ext cx="1810512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Runs admitted after continuity, drainage and coverage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45736" y="1115568"/>
            <a:ext cx="2029968" cy="1344168"/>
          </a:xfrm>
          <a:prstGeom prst="roundRect">
            <a:avLst>
              <a:gd name="adj" fmla="val 8000"/>
            </a:avLst>
          </a:prstGeom>
          <a:solidFill>
            <a:srgbClr val="E2EBF5"/>
          </a:solidFill>
          <a:ln w="10160">
            <a:solidFill>
              <a:srgbClr val="E2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1179576"/>
            <a:ext cx="1810512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366092"/>
                </a:solidFill>
                <a:latin typeface="Montserrat"/>
              </a:rPr>
              <a:t>TRAINING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1435607"/>
            <a:ext cx="18105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F3755"/>
                </a:solidFill>
                <a:latin typeface="Montserrat"/>
              </a:rPr>
              <a:t>138,560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883664"/>
            <a:ext cx="1810512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Exact feature/target rows; 160 nodes and 21 inputs.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58584" y="1115568"/>
            <a:ext cx="2029968" cy="1344168"/>
          </a:xfrm>
          <a:prstGeom prst="roundRect">
            <a:avLst>
              <a:gd name="adj" fmla="val 8000"/>
            </a:avLst>
          </a:prstGeom>
          <a:solidFill>
            <a:srgbClr val="FBEEDE"/>
          </a:solidFill>
          <a:ln w="10160">
            <a:solidFill>
              <a:srgbClr val="FB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1179576"/>
            <a:ext cx="1810512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DE7E2B"/>
                </a:solidFill>
                <a:latin typeface="Montserrat"/>
              </a:rPr>
              <a:t>SHAPE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435607"/>
            <a:ext cx="18105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F3755"/>
                </a:solidFill>
                <a:latin typeface="Montserrat"/>
              </a:rPr>
              <a:t>36 /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1883664"/>
            <a:ext cx="1810512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Four groups have no eligible A run; no targets were filled manually.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2788920"/>
            <a:ext cx="8668512" cy="12801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016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916936"/>
            <a:ext cx="219456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3755"/>
                </a:solidFill>
                <a:latin typeface="Montserrat"/>
              </a:rPr>
              <a:t>134 runs excluded by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898648"/>
            <a:ext cx="5852160" cy="7680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D3034"/>
                </a:solidFill>
                <a:latin typeface="Montserrat"/>
              </a:rPr>
              <a:t>100 drainage-not-drained · 35 continuity &gt; 5% · 1 run appears in both groups. The 5% continuity threshold and configured drainage tolerances remain provisional.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4233672"/>
            <a:ext cx="84124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0">
                <a:solidFill>
                  <a:srgbClr val="5F656E"/>
                </a:solidFill>
                <a:latin typeface="Montserrat"/>
              </a:rPr>
              <a:t>Class balance: 41,497 flooded rows (29.9%) · 97,063 not flooded · flood threshold 1 m³.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Libre Baskerville"/>
              </a:rPr>
              <a:t>Model selection keeps the external network sealed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5F656E"/>
                </a:solidFill>
                <a:latin typeface="Montserrat"/>
              </a:rPr>
              <a:t>A is used for training and tuning; B remains a one-network external transfer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0">
                <a:solidFill>
                  <a:srgbClr val="5F656E"/>
                </a:solidFill>
                <a:latin typeface="Montserrat"/>
              </a:rPr>
              <a:t>MLSMFP | Progress: audit, tuning and network-transfer validation | 2026-10-28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F656E"/>
                </a:solidFill>
                <a:latin typeface="Montserrat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207008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E2EBF5"/>
          </a:solidFill>
          <a:ln w="10160">
            <a:solidFill>
              <a:srgbClr val="E2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71016"/>
            <a:ext cx="192938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366092"/>
                </a:solidFill>
                <a:latin typeface="Montserrat"/>
              </a:rPr>
              <a:t>TRAINING NETWORK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192938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3755"/>
                </a:solidFill>
                <a:latin typeface="Montserrat"/>
              </a:rPr>
              <a:t>Chico 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929384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866 QA-eligible runs; frozen preparation ID 813323e3ef75b752.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207008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E4EFE7"/>
          </a:solidFill>
          <a:ln w="10160">
            <a:solidFill>
              <a:srgbClr val="E4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271016"/>
            <a:ext cx="192938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4F815F"/>
                </a:solidFill>
                <a:latin typeface="Montserrat"/>
              </a:rPr>
              <a:t>INNER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527048"/>
            <a:ext cx="192938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3755"/>
                </a:solidFill>
                <a:latin typeface="Montserrat"/>
              </a:rPr>
              <a:t>GroupKFold(5)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1975104"/>
            <a:ext cx="1929384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Groups are hydrograph shape IDs; optimize macro_network_rmse on A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1207008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FBEEDE"/>
          </a:solidFill>
          <a:ln w="10160">
            <a:solidFill>
              <a:srgbClr val="FB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271016"/>
            <a:ext cx="192938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DE7E2B"/>
                </a:solidFill>
                <a:latin typeface="Montserrat"/>
              </a:rPr>
              <a:t>FROZEN TEST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1527048"/>
            <a:ext cx="192938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3755"/>
                </a:solidFill>
                <a:latin typeface="Montserrat"/>
              </a:rPr>
              <a:t>Chico Norte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1975104"/>
            <a:ext cx="1929384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No B labels enter Optuna, candidate fitting, or the selection rule.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1207008"/>
            <a:ext cx="1417320" cy="1325880"/>
          </a:xfrm>
          <a:prstGeom prst="roundRect">
            <a:avLst>
              <a:gd name="adj" fmla="val 8000"/>
            </a:avLst>
          </a:prstGeom>
          <a:solidFill>
            <a:srgbClr val="F8E6E4"/>
          </a:solidFill>
          <a:ln w="10160">
            <a:solidFill>
              <a:srgbClr val="F8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3" y="1271016"/>
            <a:ext cx="119786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B04A45"/>
                </a:solidFill>
                <a:latin typeface="Montserrat"/>
              </a:rPr>
              <a:t>CLAIM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3" y="1527048"/>
            <a:ext cx="119786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F3755"/>
                </a:solidFill>
                <a:latin typeface="Montserrat"/>
              </a:rPr>
              <a:t>1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3" y="1975104"/>
            <a:ext cx="1197864" cy="5029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This tests transfer to B; it cannot establish population-wide generalization.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52928"/>
            <a:ext cx="8430768" cy="1225296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016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990088"/>
            <a:ext cx="8028431" cy="3383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3755"/>
                </a:solidFill>
                <a:latin typeface="Montserrat"/>
              </a:rPr>
              <a:t>Leakage controls now verify source manifests, run-level artifacts, keys and feature rows.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410712"/>
            <a:ext cx="7955279" cy="4663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D3034"/>
                </a:solidFill>
                <a:latin typeface="Montserrat"/>
              </a:rPr>
              <a:t>B predictions must be sealed and replay-verified before exact RPT hashes are opened for scoring. B labels remain out of SQLite and out of tuning.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224528"/>
            <a:ext cx="83667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56E"/>
                </a:solidFill>
                <a:latin typeface="Montserrat"/>
              </a:rPr>
              <a:t>Interpretation: grouped internal selection by hydrograph shape; external evaluation by a single held-out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Libre Baskerville"/>
              </a:rPr>
              <a:t>XGBoost search completed: best inner RMSE 73.78 m³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5F656E"/>
                </a:solidFill>
                <a:latin typeface="Montserrat"/>
              </a:rPr>
              <a:t>50 Optuna trials · GroupKFold(5) by shape · seed 42 · A-only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0">
                <a:solidFill>
                  <a:srgbClr val="5F656E"/>
                </a:solidFill>
                <a:latin typeface="Montserrat"/>
              </a:rPr>
              <a:t>MLSMFP | Progress: audit, tuning and network-transfer validation | 2026-10-28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F656E"/>
                </a:solidFill>
                <a:latin typeface="Montserrat"/>
              </a:rPr>
              <a:t>47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005840"/>
            <a:ext cx="5623560" cy="26759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4768" y="11338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2EBF5"/>
          </a:solidFill>
          <a:ln w="10160">
            <a:solidFill>
              <a:srgbClr val="E2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197864"/>
            <a:ext cx="247802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366092"/>
                </a:solidFill>
                <a:latin typeface="Montserrat"/>
              </a:rPr>
              <a:t>BEST OPTUNA 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453895"/>
            <a:ext cx="247802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F3755"/>
                </a:solidFill>
                <a:latin typeface="Montserrat"/>
              </a:rPr>
              <a:t>#13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1901952"/>
            <a:ext cx="2478024" cy="2560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Zero-based Optuna trial ID; score is the inner CV objective.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41401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4EFE7"/>
          </a:solidFill>
          <a:ln w="10160">
            <a:solidFill>
              <a:srgbClr val="E4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478024"/>
            <a:ext cx="247802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4F815F"/>
                </a:solidFill>
                <a:latin typeface="Montserrat"/>
              </a:rP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734056"/>
            <a:ext cx="247802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F3755"/>
                </a:solidFill>
                <a:latin typeface="Montserrat"/>
              </a:rPr>
              <a:t>73.782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3182112"/>
            <a:ext cx="2478024" cy="2560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macro_network_rmse; with one training network this equals A's RMSE.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703320"/>
            <a:ext cx="2697480" cy="694944"/>
          </a:xfrm>
          <a:prstGeom prst="roundRect">
            <a:avLst>
              <a:gd name="adj" fmla="val 8000"/>
            </a:avLst>
          </a:prstGeom>
          <a:solidFill>
            <a:srgbClr val="FBEEDE"/>
          </a:solidFill>
          <a:ln w="10160">
            <a:solidFill>
              <a:srgbClr val="FB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776472"/>
            <a:ext cx="2395728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>
                <a:solidFill>
                  <a:srgbClr val="2D3034"/>
                </a:solidFill>
                <a:latin typeface="Montserrat"/>
              </a:rPr>
              <a:t>Candidate fitted on A. This is not the transfer score on 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389120"/>
            <a:ext cx="5449824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80" b="0">
                <a:solidFill>
                  <a:srgbClr val="5F656E"/>
                </a:solidFill>
                <a:latin typeface="Montserrat"/>
              </a:rPr>
              <a:t>The plot shows trial values and the best score seen so far; the inner score is a model-selection estimate.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Libre Baskerville"/>
              </a:rPr>
              <a:t>Two finalist families; MLP search remains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5F656E"/>
                </a:solidFill>
                <a:latin typeface="Montserrat"/>
              </a:rPr>
              <a:t>The selection protocol and final ensemble rule were fixed before the B test is opened.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0">
                <a:solidFill>
                  <a:srgbClr val="5F656E"/>
                </a:solidFill>
                <a:latin typeface="Montserrat"/>
              </a:rPr>
              <a:t>MLSMFP | Progress: audit, tuning and network-transfer validation | 2026-10-28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F656E"/>
                </a:solidFill>
                <a:latin typeface="Montserrat"/>
              </a:rPr>
              <a:t>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15568"/>
            <a:ext cx="4041648" cy="2578608"/>
          </a:xfrm>
          <a:prstGeom prst="roundRect">
            <a:avLst>
              <a:gd name="adj" fmla="val 8000"/>
            </a:avLst>
          </a:prstGeom>
          <a:solidFill>
            <a:srgbClr val="E2EBF5"/>
          </a:solidFill>
          <a:ln w="10160">
            <a:solidFill>
              <a:srgbClr val="E2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261872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366092"/>
                </a:solidFill>
                <a:latin typeface="Montserrat"/>
              </a:rPr>
              <a:t>XGBOOST · SEARCH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682496"/>
            <a:ext cx="361188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Montserrat"/>
              </a:rPr>
              <a:t>50 / 50 trials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313432"/>
            <a:ext cx="3602736" cy="10424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D3034"/>
                </a:solidFill>
                <a:latin typeface="Montserrat"/>
              </a:rPr>
              <a:t>A-only grouped CV selected the candidate. Classifier and regressor artifacts were fitted and their provenance reload was verified.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15568"/>
            <a:ext cx="4041648" cy="2578608"/>
          </a:xfrm>
          <a:prstGeom prst="roundRect">
            <a:avLst>
              <a:gd name="adj" fmla="val 8000"/>
            </a:avLst>
          </a:prstGeom>
          <a:solidFill>
            <a:srgbClr val="FBEEDE"/>
          </a:solidFill>
          <a:ln w="10160">
            <a:solidFill>
              <a:srgbClr val="FB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261872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E7E2B"/>
                </a:solidFill>
                <a:latin typeface="Montserrat"/>
              </a:rPr>
              <a:t>MLP · SEARCH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682496"/>
            <a:ext cx="361188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Montserrat"/>
              </a:rPr>
              <a:t>50 trials planned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2313432"/>
            <a:ext cx="3602736" cy="10424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D3034"/>
                </a:solidFill>
                <a:latin typeface="Montserrat"/>
              </a:rPr>
              <a:t>Same A-only GroupKFold(5), objective and 200 epochs per fold. Final model and five-seed ensemble are not yet fitted.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959352"/>
            <a:ext cx="8183879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40" b="0">
                <a:solidFill>
                  <a:srgbClr val="5F656E"/>
                </a:solidFill>
                <a:latin typeface="Montserrat"/>
              </a:rPr>
              <a:t>Approved final MLP rule: train five deterministic seeds (42–46); average flood probabilities and conditional volumes in m³, then apply the 0.5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Libre Baskerville"/>
              </a:rPr>
              <a:t>Network B rerun is producing the frozen external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5F656E"/>
                </a:solidFill>
                <a:latin typeface="Montserrat"/>
              </a:rPr>
              <a:t>Progress counts are operational only; no prediction or performance claim is made from B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0">
                <a:solidFill>
                  <a:srgbClr val="5F656E"/>
                </a:solidFill>
                <a:latin typeface="Montserrat"/>
              </a:rPr>
              <a:t>MLSMFP | Progress: audit, tuning and network-transfer validation | 2026-10-28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F656E"/>
                </a:solidFill>
                <a:latin typeface="Montserrat"/>
              </a:rP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70432"/>
            <a:ext cx="2514600" cy="1280160"/>
          </a:xfrm>
          <a:prstGeom prst="roundRect">
            <a:avLst>
              <a:gd name="adj" fmla="val 8000"/>
            </a:avLst>
          </a:prstGeom>
          <a:solidFill>
            <a:srgbClr val="E2EBF5"/>
          </a:solidFill>
          <a:ln w="10160">
            <a:solidFill>
              <a:srgbClr val="E2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34440"/>
            <a:ext cx="229514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366092"/>
                </a:solidFill>
                <a:latin typeface="Montserrat"/>
              </a:rPr>
              <a:t>EXPECTED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90472"/>
            <a:ext cx="229514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Montserrat"/>
              </a:rPr>
              <a:t>975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295144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39 hydrograph forms × 25 flow factors.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170432"/>
            <a:ext cx="2514600" cy="1280160"/>
          </a:xfrm>
          <a:prstGeom prst="roundRect">
            <a:avLst>
              <a:gd name="adj" fmla="val 8000"/>
            </a:avLst>
          </a:prstGeom>
          <a:solidFill>
            <a:srgbClr val="E4EFE7"/>
          </a:solidFill>
          <a:ln w="10160">
            <a:solidFill>
              <a:srgbClr val="E4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234440"/>
            <a:ext cx="229514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4F815F"/>
                </a:solidFill>
                <a:latin typeface="Montserrat"/>
              </a:rPr>
              <a:t>COMPLETED QA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490472"/>
            <a:ext cx="229514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Montserrat"/>
              </a:rPr>
              <a:t>321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938528"/>
            <a:ext cx="2295144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Hydraulic outputs passed staging to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170432"/>
            <a:ext cx="2514600" cy="1280160"/>
          </a:xfrm>
          <a:prstGeom prst="roundRect">
            <a:avLst>
              <a:gd name="adj" fmla="val 8000"/>
            </a:avLst>
          </a:prstGeom>
          <a:solidFill>
            <a:srgbClr val="F8E6E4"/>
          </a:solidFill>
          <a:ln w="10160">
            <a:solidFill>
              <a:srgbClr val="F8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234440"/>
            <a:ext cx="2295144" cy="23774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B04A45"/>
                </a:solidFill>
                <a:latin typeface="Montserrat"/>
              </a:rPr>
              <a:t>QA EXCLUDED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490472"/>
            <a:ext cx="2295144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Montserrat"/>
              </a:rPr>
              <a:t>114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1938528"/>
            <a:ext cx="2295144" cy="4571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5F656E"/>
                </a:solidFill>
                <a:latin typeface="Montserrat"/>
              </a:rPr>
              <a:t>Excluded and reported; reasons can overlap.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2880360"/>
            <a:ext cx="8211312" cy="365760"/>
          </a:xfrm>
          <a:prstGeom prst="rect">
            <a:avLst/>
          </a:prstGeom>
          <a:solidFill>
            <a:srgbClr val="F2F4F6"/>
          </a:solidFill>
          <a:ln w="1016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" y="2880360"/>
            <a:ext cx="3663508" cy="365760"/>
          </a:xfrm>
          <a:prstGeom prst="rect">
            <a:avLst/>
          </a:prstGeom>
          <a:solidFill>
            <a:srgbClr val="366092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319272"/>
            <a:ext cx="822960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3755"/>
                </a:solidFill>
                <a:latin typeface="Montserrat"/>
              </a:rPr>
              <a:t>435 / 975 scenarios adjudicated · 540 still 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3776472"/>
            <a:ext cx="8211312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>
                <a:solidFill>
                  <a:srgbClr val="5F656E"/>
                </a:solidFill>
                <a:latin typeface="Montserrat"/>
              </a:rPr>
              <a:t>Current exclusion reasons (not mutually exclusive): continuity limit exceeded: 42 · drainage not drained: 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4251960"/>
            <a:ext cx="821131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1">
                <a:solidFill>
                  <a:srgbClr val="B04A45"/>
                </a:solidFill>
                <a:latin typeface="Montserrat"/>
              </a:rPr>
              <a:t>The 5% continuity ceiling is provisional; failed runs do not enter eligible training or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Libre Baskerville"/>
              </a:rPr>
              <a:t>New parity plots and flood maps come after the sealed B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5F656E"/>
                </a:solidFill>
                <a:latin typeface="Montserrat"/>
              </a:rPr>
              <a:t>Historical figures exist, but they belong to a prior benchmark and are not reused as current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0">
                <a:solidFill>
                  <a:srgbClr val="5F656E"/>
                </a:solidFill>
                <a:latin typeface="Montserrat"/>
              </a:rPr>
              <a:t>MLSMFP | Progress: audit, tuning and network-transfer validation | 2026-10-28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F656E"/>
                </a:solidFill>
                <a:latin typeface="Montserrat"/>
              </a:rP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99032"/>
            <a:ext cx="1901952" cy="1618488"/>
          </a:xfrm>
          <a:prstGeom prst="roundRect">
            <a:avLst>
              <a:gd name="adj" fmla="val 8000"/>
            </a:avLst>
          </a:prstGeom>
          <a:solidFill>
            <a:srgbClr val="FBEEDE"/>
          </a:solidFill>
          <a:ln w="10160">
            <a:solidFill>
              <a:srgbClr val="FB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99616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DE7E2B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99616"/>
            <a:ext cx="13258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>
                <a:solidFill>
                  <a:srgbClr val="1F3755"/>
                </a:solidFill>
                <a:latin typeface="Montserrat"/>
              </a:rPr>
              <a:t>Finish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162763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Complete A-only search and fit the approved five-seed ensemble.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399032"/>
            <a:ext cx="1901952" cy="1618488"/>
          </a:xfrm>
          <a:prstGeom prst="roundRect">
            <a:avLst>
              <a:gd name="adj" fmla="val 8000"/>
            </a:avLst>
          </a:prstGeom>
          <a:solidFill>
            <a:srgbClr val="E2EBF5"/>
          </a:solidFill>
          <a:ln w="10160">
            <a:solidFill>
              <a:srgbClr val="E2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499616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66092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499616"/>
            <a:ext cx="13258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>
                <a:solidFill>
                  <a:srgbClr val="1F3755"/>
                </a:solidFill>
                <a:latin typeface="Montserrat"/>
              </a:rPr>
              <a:t>Seal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938528"/>
            <a:ext cx="162763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Freeze candidate IDs, feature keys and prediction hashes before B labels.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0016" y="1399032"/>
            <a:ext cx="1901952" cy="1618488"/>
          </a:xfrm>
          <a:prstGeom prst="roundRect">
            <a:avLst>
              <a:gd name="adj" fmla="val 8000"/>
            </a:avLst>
          </a:prstGeom>
          <a:solidFill>
            <a:srgbClr val="E4EFE7"/>
          </a:solidFill>
          <a:ln w="10160">
            <a:solidFill>
              <a:srgbClr val="E4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499616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4F815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1499616"/>
            <a:ext cx="13258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>
                <a:solidFill>
                  <a:srgbClr val="1F3755"/>
                </a:solidFill>
                <a:latin typeface="Montserrat"/>
              </a:rPr>
              <a:t>Score B 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938528"/>
            <a:ext cx="162763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Verify replay, exact RPT links and QA; then compute transfer metrics.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1399032"/>
            <a:ext cx="1901952" cy="1618488"/>
          </a:xfrm>
          <a:prstGeom prst="roundRect">
            <a:avLst>
              <a:gd name="adj" fmla="val 8000"/>
            </a:avLst>
          </a:prstGeom>
          <a:solidFill>
            <a:srgbClr val="E2EBF5"/>
          </a:solidFill>
          <a:ln w="10160">
            <a:solidFill>
              <a:srgbClr val="E2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1499616"/>
            <a:ext cx="347472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66092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1499616"/>
            <a:ext cx="13258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1">
                <a:solidFill>
                  <a:srgbClr val="1F3755"/>
                </a:solidFill>
                <a:latin typeface="Montserrat"/>
              </a:rPr>
              <a:t>Generate visuals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1938528"/>
            <a:ext cx="1627632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Node/scenario parity plots and spatial flood maps from verified predictions.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346704"/>
            <a:ext cx="8183879" cy="60350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3755"/>
                </a:solidFill>
                <a:latin typeface="Montserrat"/>
              </a:rPr>
              <a:t>Why wait: the existing maps/parity use earlier tuned models and an earlier evaluation protocol. Reusing them here would mix versions and overstate the new transfer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96512"/>
            <a:ext cx="79735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F656E"/>
                </a:solidFill>
                <a:latin typeface="Montserrat"/>
              </a:rPr>
              <a:t>Current valid model-selection visual: the 50-trial XGBoost inner-CV trace on slide 47.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Libre Baskerville"/>
              </a:rPr>
              <a:t>What the current evidence can support—and 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5F656E"/>
                </a:solidFill>
                <a:latin typeface="Montserrat"/>
              </a:rPr>
              <a:t>The project has moved from an unaudited training table to a traceable, label-gated transfer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0">
                <a:solidFill>
                  <a:srgbClr val="5F656E"/>
                </a:solidFill>
                <a:latin typeface="Montserrat"/>
              </a:rPr>
              <a:t>MLSMFP | Progress: audit, tuning and network-transfer validation | 2026-10-28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F656E"/>
                </a:solidFill>
                <a:latin typeface="Montserrat"/>
              </a:rP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143000"/>
            <a:ext cx="4014215" cy="2404872"/>
          </a:xfrm>
          <a:prstGeom prst="roundRect">
            <a:avLst>
              <a:gd name="adj" fmla="val 8000"/>
            </a:avLst>
          </a:prstGeom>
          <a:solidFill>
            <a:srgbClr val="E4EFE7"/>
          </a:solidFill>
          <a:ln w="10160">
            <a:solidFill>
              <a:srgbClr val="E4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F815F"/>
                </a:solidFill>
                <a:latin typeface="Montserrat"/>
              </a:rPr>
              <a:t>Evidence now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7393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0">
                <a:solidFill>
                  <a:srgbClr val="2D3034"/>
                </a:solidFill>
                <a:latin typeface="Montserrat"/>
              </a:rPr>
              <a:t>• A rebuilt and QA-filtered source dataset with manifests and hashes.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0">
                <a:solidFill>
                  <a:srgbClr val="2D3034"/>
                </a:solidFill>
                <a:latin typeface="Montserrat"/>
              </a:rPr>
              <a:t>• XGBoost selection across 50 grouped trials; candidate provenance verified.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52927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0">
                <a:solidFill>
                  <a:srgbClr val="2D3034"/>
                </a:solidFill>
                <a:latin typeface="Montserrat"/>
              </a:rPr>
              <a:t>• An external network B rerun with run-level artifact links and explicit exclusions.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143000"/>
            <a:ext cx="4014215" cy="2404872"/>
          </a:xfrm>
          <a:prstGeom prst="roundRect">
            <a:avLst>
              <a:gd name="adj" fmla="val 8000"/>
            </a:avLst>
          </a:prstGeom>
          <a:solidFill>
            <a:srgbClr val="FBEEDE"/>
          </a:solidFill>
          <a:ln w="10160">
            <a:solidFill>
              <a:srgbClr val="FB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DE7E2B"/>
                </a:solidFill>
                <a:latin typeface="Montserrat"/>
              </a:rPr>
              <a:t>Evidence still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177393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0">
                <a:solidFill>
                  <a:srgbClr val="2D3034"/>
                </a:solidFill>
                <a:latin typeface="Montserrat"/>
              </a:rPr>
              <a:t>• Finish MLP tuning and fit the final five-seed ensemble.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313432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0">
                <a:solidFill>
                  <a:srgbClr val="2D3034"/>
                </a:solidFill>
                <a:latin typeface="Montserrat"/>
              </a:rPr>
              <a:t>• Seal predictions, then compute B metrics and regenerate maps/parity.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852927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0">
                <a:solidFill>
                  <a:srgbClr val="2D3034"/>
                </a:solidFill>
                <a:latin typeface="Montserrat"/>
              </a:rPr>
              <a:t>• Test another independent network before making broader generalization claims.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767328"/>
            <a:ext cx="82296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40" b="1">
                <a:solidFill>
                  <a:srgbClr val="B04A45"/>
                </a:solidFill>
                <a:latin typeface="Montserrat"/>
              </a:rPr>
              <a:t>Hydraulic caveat: continuity ≤ 5%, drainage extensions and numerical tolerances are applied provisionally and still need engineering justification.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279392"/>
            <a:ext cx="8229600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F656E"/>
                </a:solidFill>
                <a:latin typeface="Montserrat"/>
              </a:rPr>
              <a:t>Transfer scope: synthetic node inflow hydrographs and one held-out network; rainfall–runoff remains outside scope.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F3755"/>
                </a:solidFill>
                <a:latin typeface="Libre Baskerville"/>
              </a:rPr>
              <a:t>Reproducibility anchors and frozen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>
                <a:solidFill>
                  <a:srgbClr val="5F656E"/>
                </a:solidFill>
                <a:latin typeface="Montserrat"/>
              </a:rPr>
              <a:t>Each result is tied to a preparation, protocol and candidate artifact rather than a mutable database snapshot.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760" b="0">
                <a:solidFill>
                  <a:srgbClr val="5F656E"/>
                </a:solidFill>
                <a:latin typeface="Montserrat"/>
              </a:rPr>
              <a:t>MLSMFP | Progress: audit, tuning and network-transfer validation | 2026-10-28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F656E"/>
                </a:solidFill>
                <a:latin typeface="Montserrat"/>
              </a:rP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8275320" cy="576072"/>
          </a:xfrm>
          <a:prstGeom prst="rect">
            <a:avLst/>
          </a:prstGeom>
          <a:solidFill>
            <a:srgbClr val="F2F4F6"/>
          </a:solidFill>
          <a:ln w="1016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16152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F656E"/>
                </a:solidFill>
                <a:latin typeface="Montserrat"/>
              </a:rPr>
              <a:t>Prepared A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16152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1">
                <a:solidFill>
                  <a:srgbClr val="1F3755"/>
                </a:solidFill>
                <a:latin typeface="Montserrat"/>
              </a:rPr>
              <a:t>813323e3ef75b752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16152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138,560 rows · 866 runs · tabular_v4_21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73936"/>
            <a:ext cx="82753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47088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F656E"/>
                </a:solidFill>
                <a:latin typeface="Montserrat"/>
              </a:rPr>
              <a:t>A source manifest 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47088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1">
                <a:solidFill>
                  <a:srgbClr val="1F3755"/>
                </a:solidFill>
                <a:latin typeface="Montserrat"/>
              </a:rPr>
              <a:t>4bf0c50f61b2287…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47088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Run/artifact links and QA source manifest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404872"/>
            <a:ext cx="8275320" cy="576072"/>
          </a:xfrm>
          <a:prstGeom prst="rect">
            <a:avLst/>
          </a:prstGeom>
          <a:solidFill>
            <a:srgbClr val="F2F4F6"/>
          </a:solidFill>
          <a:ln w="1016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478024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F656E"/>
                </a:solidFill>
                <a:latin typeface="Montserrat"/>
              </a:rPr>
              <a:t>Selection preregistration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478024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1">
                <a:solidFill>
                  <a:srgbClr val="1F3755"/>
                </a:solidFill>
                <a:latin typeface="Montserrat"/>
              </a:rPr>
              <a:t>6d5b729e33bd1162…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78024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Sealed before XGBoost/MLP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035808"/>
            <a:ext cx="827532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108960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F656E"/>
                </a:solidFill>
                <a:latin typeface="Montserrat"/>
              </a:rPr>
              <a:t>XGBoost study SHA-256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108960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1">
                <a:solidFill>
                  <a:srgbClr val="1F3755"/>
                </a:solidFill>
                <a:latin typeface="Montserrat"/>
              </a:rPr>
              <a:t>5b3ace9ece0223b8…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08960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50 trials · seed 42 · GroupKFold(5)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666744"/>
            <a:ext cx="8275320" cy="576072"/>
          </a:xfrm>
          <a:prstGeom prst="rect">
            <a:avLst/>
          </a:prstGeom>
          <a:solidFill>
            <a:srgbClr val="F2F4F6"/>
          </a:solidFill>
          <a:ln w="1016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739896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F656E"/>
                </a:solidFill>
                <a:latin typeface="Montserrat"/>
              </a:rPr>
              <a:t>B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739896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1">
                <a:solidFill>
                  <a:srgbClr val="1F3755"/>
                </a:solidFill>
                <a:latin typeface="Montserrat"/>
              </a:rPr>
              <a:t>e1e66e5ab9a41273…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739896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39 × 25 scenarios · separate network · label-free staging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34840"/>
            <a:ext cx="8183879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80" b="0">
                <a:solidFill>
                  <a:srgbClr val="5F656E"/>
                </a:solidFill>
                <a:latin typeface="Montserrat"/>
              </a:rPr>
              <a:t>Source paths and full digests remain in the experiment manifests and execution log; B target rows are not persisted.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6FF804-ED03-00B4-80BE-81E99A582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n-US" noProof="0" smtClean="0"/>
              <a:t>44</a:t>
            </a:fld>
            <a:endParaRPr lang="en-U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E69F7-14D0-B481-4806-A4A180A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79500"/>
            <a:ext cx="7874000" cy="1905000"/>
          </a:xfrm>
        </p:spPr>
        <p:txBody>
          <a:bodyPr/>
          <a:lstStyle/>
          <a:p>
            <a:r>
              <a:rPr lang="en-US" noProof="0" dirty="0"/>
              <a:t>Machine Learning Model for Hydraulic Failure Prediction in Stormwater Systems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2334C66-4D63-D716-251A-3E0420C2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Luis Fernando Fajardo Bravo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70B49F-1F4A-F2BB-8468-490BC5AB8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1418" y="4108392"/>
            <a:ext cx="1392079" cy="447813"/>
          </a:xfrm>
        </p:spPr>
        <p:txBody>
          <a:bodyPr/>
          <a:lstStyle/>
          <a:p>
            <a:r>
              <a:t>2026-10-28</a:t>
            </a:r>
          </a:p>
        </p:txBody>
      </p:sp>
    </p:spTree>
    <p:extLst>
      <p:ext uri="{BB962C8B-B14F-4D97-AF65-F5344CB8AC3E}">
        <p14:creationId xmlns:p14="http://schemas.microsoft.com/office/powerpoint/2010/main" val="517127943"/>
      </p:ext>
    </p:extLst>
  </p:cSld>
  <p:clrMapOvr>
    <a:masterClrMapping/>
  </p:clrMapOvr>
</p:sld>
</file>

<file path=ppt/theme/theme1.xml><?xml version="1.0" encoding="utf-8"?>
<a:theme xmlns:a="http://schemas.openxmlformats.org/drawingml/2006/main" name="diap">
  <a:themeElements>
    <a:clrScheme name="Simple Light">
      <a:dk1>
        <a:srgbClr val="FFFFFF"/>
      </a:dk1>
      <a:lt1>
        <a:srgbClr val="0C2C45"/>
      </a:lt1>
      <a:dk2>
        <a:srgbClr val="8BC5FA"/>
      </a:dk2>
      <a:lt2>
        <a:srgbClr val="243C59"/>
      </a:lt2>
      <a:accent1>
        <a:srgbClr val="5083C2"/>
      </a:accent1>
      <a:accent2>
        <a:srgbClr val="355A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B3C633-C8C3-46EC-A779-D84379177807}">
  <we:reference id="wa200010725" version="1.0.0.1" store="es-MX" storeType="OMEX"/>
  <we:alternateReferences>
    <we:reference id="WA200010725" version="1.0.0.1" store="" storeType="OMEX"/>
  </we:alternateReferences>
  <we:properties>
    <we:property name="claude.fileId" value="&quot;0e8703bd-6d4e-4448-859d-ea000cb375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11182</Words>
  <Application>Microsoft Office PowerPoint</Application>
  <PresentationFormat>Presentación en pantalla (16:9)</PresentationFormat>
  <Paragraphs>916</Paragraphs>
  <Slides>54</Slides>
  <Notes>33</Notes>
  <HiddenSlides>7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Zen Antique</vt:lpstr>
      <vt:lpstr>Montserrat</vt:lpstr>
      <vt:lpstr>Libre Baskerville</vt:lpstr>
      <vt:lpstr>diap</vt:lpstr>
      <vt:lpstr>Machine Learning Model for Hydraulic Failure Prediction in Stormwater Systems</vt:lpstr>
      <vt:lpstr>Thesis II Schedule</vt:lpstr>
      <vt:lpstr>Presentación de PowerPoint</vt:lpstr>
      <vt:lpstr>Presentación de PowerPoint</vt:lpstr>
      <vt:lpstr>Presentación de PowerPoint</vt:lpstr>
      <vt:lpstr>Presentación de PowerPoint</vt:lpstr>
      <vt:lpstr>Hydrograph 1</vt:lpstr>
      <vt:lpstr>Hydrograph 1</vt:lpstr>
      <vt:lpstr>Hydrograph 2</vt:lpstr>
      <vt:lpstr>Hydrograph 2</vt:lpstr>
      <vt:lpstr>Validation hydrographs</vt:lpstr>
      <vt:lpstr>Presentación de PowerPoint</vt:lpstr>
      <vt:lpstr>Presentación de PowerPoint</vt:lpstr>
      <vt:lpstr>Presentación de PowerPoint</vt:lpstr>
      <vt:lpstr>Data handling and model training workflow</vt:lpstr>
      <vt:lpstr>Example database – Node 75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Machine Learning Model for Hydraulic Failure Prediction in Stormwater Systems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Nitrogen Narcosis Caused by Diving Case Report</dc:title>
  <dc:creator>Maria Alejandra Gonzalez Molina</dc:creator>
  <cp:lastModifiedBy>Luis Fernando Fajardo Bravo</cp:lastModifiedBy>
  <cp:revision>78</cp:revision>
  <cp:lastPrinted>2026-07-30T02:50:58Z</cp:lastPrinted>
  <dcterms:modified xsi:type="dcterms:W3CDTF">2026-10-20T13:36:38Z</dcterms:modified>
</cp:coreProperties>
</file>