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1"/>
  </p:notesMasterIdLst>
  <p:handoutMasterIdLst>
    <p:handoutMasterId r:id="rId32"/>
  </p:handoutMasterIdLst>
  <p:sldIdLst>
    <p:sldId id="356" r:id="rId2"/>
    <p:sldId id="412" r:id="rId3"/>
    <p:sldId id="419" r:id="rId4"/>
    <p:sldId id="420" r:id="rId5"/>
    <p:sldId id="429" r:id="rId6"/>
    <p:sldId id="431" r:id="rId7"/>
    <p:sldId id="421" r:id="rId8"/>
    <p:sldId id="422" r:id="rId9"/>
    <p:sldId id="423" r:id="rId10"/>
    <p:sldId id="424" r:id="rId11"/>
    <p:sldId id="432" r:id="rId12"/>
    <p:sldId id="416" r:id="rId13"/>
    <p:sldId id="417" r:id="rId14"/>
    <p:sldId id="418" r:id="rId15"/>
    <p:sldId id="427" r:id="rId16"/>
    <p:sldId id="428"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Lst>
  <p:sldSz cx="9144000" cy="5143500" type="screen16x9"/>
  <p:notesSz cx="6858000" cy="9144000"/>
  <p:embeddedFontLst>
    <p:embeddedFont>
      <p:font typeface="Libre Baskerville" panose="020B0604020202020204" charset="0"/>
      <p:regular r:id="rId33"/>
      <p:bold r:id="rId34"/>
      <p:italic r:id="rId35"/>
    </p:embeddedFont>
    <p:embeddedFont>
      <p:font typeface="Montserrat" panose="000005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A4FF9F"/>
    <a:srgbClr val="5E8CBE"/>
    <a:srgbClr val="867AB8"/>
    <a:srgbClr val="FF7C80"/>
    <a:srgbClr val="8BC5FA"/>
    <a:srgbClr val="31547B"/>
    <a:srgbClr val="355A84"/>
    <a:srgbClr val="93A6C1"/>
    <a:srgbClr val="508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DF707-0B7A-4722-825E-A8C82910448D}">
  <a:tblStyle styleId="{B70DF707-0B7A-4722-825E-A8C8291044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2" autoAdjust="0"/>
    <p:restoredTop sz="94400" autoAdjust="0"/>
  </p:normalViewPr>
  <p:slideViewPr>
    <p:cSldViewPr snapToGrid="0">
      <p:cViewPr varScale="1">
        <p:scale>
          <a:sx n="87" d="100"/>
          <a:sy n="87" d="100"/>
        </p:scale>
        <p:origin x="9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4" d="100"/>
          <a:sy n="54" d="100"/>
        </p:scale>
        <p:origin x="2565"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1D31A96-AA36-E222-75CD-942A5EB99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8C89931-5FA1-104C-E402-96DD3FE88B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16F0B-887D-48C5-BC7E-1B58F2397D46}" type="datetimeFigureOut">
              <a:rPr lang="es-CO" smtClean="0"/>
              <a:t>22/09/2026</a:t>
            </a:fld>
            <a:endParaRPr lang="es-CO"/>
          </a:p>
        </p:txBody>
      </p:sp>
      <p:sp>
        <p:nvSpPr>
          <p:cNvPr id="4" name="Marcador de pie de página 3">
            <a:extLst>
              <a:ext uri="{FF2B5EF4-FFF2-40B4-BE49-F238E27FC236}">
                <a16:creationId xmlns:a16="http://schemas.microsoft.com/office/drawing/2014/main" id="{CCDE2FF6-00C1-28C4-B854-E31A77EFB5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3F43366-C97E-5D30-6A61-70599CFB0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8D6B6-0D79-4A52-B148-990ABCFC1EBF}" type="slidenum">
              <a:rPr lang="es-CO" smtClean="0"/>
              <a:t>‹Nº›</a:t>
            </a:fld>
            <a:endParaRPr lang="es-CO"/>
          </a:p>
        </p:txBody>
      </p:sp>
    </p:spTree>
    <p:extLst>
      <p:ext uri="{BB962C8B-B14F-4D97-AF65-F5344CB8AC3E}">
        <p14:creationId xmlns:p14="http://schemas.microsoft.com/office/powerpoint/2010/main" val="630113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4:39:27.120"/>
    </inkml:context>
    <inkml:brush xml:id="br0">
      <inkml:brushProperty name="width" value="0.2" units="cm"/>
      <inkml:brushProperty name="height" value="0.2" units="cm"/>
      <inkml:brushProperty name="color" value="#FFFFFF"/>
    </inkml:brush>
  </inkml:definitions>
  <inkml:trace contextRef="#ctx0" brushRef="#br0">0 0 24461,'1039'19'0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6986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2ACD-391E-BFA8-4946-273C3C1B70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60AC92-FD3C-B5B1-9592-566E42FFD122}"/>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F749602-211D-CC24-93A9-B99A4826DC3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256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9AF-B256-F79D-01C0-DEE25CE617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FE2BDB-D1CD-9102-A167-9BEACBD2543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6A35544-7779-52CD-525A-C3F8424B76E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62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033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8763-6BE7-3EED-06AF-187EA77AC4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DBBC01-22A6-4A87-E929-CC7F5841844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5E92510-A5BB-A530-B362-1E6107B3742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655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E2EB-6CB3-7D3A-712B-258AC4F71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856E60-D474-CB55-D00C-240581A3C64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F8ECDF11-1B20-9101-FCCE-82BA35AEEE8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64884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Graph neural network-based surrogate modelling for real-time hydraulic prediction of urban drainage networks</a:t>
            </a:r>
          </a:p>
          <a:p>
            <a:r>
              <a:t>*Detalles computacionales del preprint; publicación revisada verificada. Contrastar con versión editorial antes de replicar.</a:t>
            </a:r>
          </a:p>
          <a:p>
            <a:r>
              <a:t>Fuente: https://arxiv.org/pdf/2404.10324</a:t>
            </a:r>
          </a:p>
          <a:p>
            <a:r>
              <a:t>Código: https://github.com/Zhiyu014/GNN-UDS</a:t>
            </a:r>
          </a:p>
          <a:p>
            <a:endParaRPr/>
          </a:p>
          <a:p>
            <a:r>
              <a:t>Extended English synthesis is an original paraphrase; consult the DOI for the publisher abstract.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Accelerating hydrodynamic simulations of urban drainage systems with physics-guided machine learning</a:t>
            </a:r>
          </a:p>
          <a:p>
            <a:r>
              <a:t>Texto publicado, secciones 2.3–2.6, 3.2 y 3.5. Sus tiempos no incluyen nuestro desarrollo ni se trasladan a nuestra red.</a:t>
            </a:r>
          </a:p>
          <a:p>
            <a:r>
              <a:t>Fuente: https://backend.orbit.dtu.dk/ws/portalfiles/portal/282620979/1_s2.0_S0043135422009198_main.pdf</a:t>
            </a:r>
          </a:p>
          <a:p>
            <a:r>
              <a:t>Código: </a:t>
            </a:r>
          </a:p>
          <a:p>
            <a:endParaRPr/>
          </a:p>
          <a:p>
            <a:r>
              <a:t>Extended English synthesis is an original paraphrase; consult the DOI for the publisher abstract.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Transferable and data efficient metamodeling of storm water system nodal depths using auto-regressive graph neural networks</a:t>
            </a:r>
          </a:p>
          <a:p>
            <a:r>
              <a:t>Texto publicado, secciones 2.1, 2.4, 4.3–4.4 y 6.2.3. Transferencia limitada y objetivo distinto al de la tesis.</a:t>
            </a:r>
          </a:p>
          <a:p>
            <a:r>
              <a:t>Fuente: https://repository.tudelft.nl/file/File_82fef3ff-9a5f-4275-bd8f-6a4eb06c463d</a:t>
            </a:r>
          </a:p>
          <a:p>
            <a:r>
              <a:t>Código: https://github.com/alextremo0205/SWMM_GNN_Repository_Paper_version</a:t>
            </a:r>
          </a:p>
          <a:p>
            <a:endParaRPr/>
          </a:p>
          <a:p>
            <a:r>
              <a:t>Extended English synthesis is an original paraphrase; consult the DOI for the publisher abstract.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graph neural networks for urban drainage metamodeling: Key components and transferability analysis</a:t>
            </a:r>
          </a:p>
          <a:p>
            <a:r>
              <a:t>Texto publicado, secciones 3.3–3.6 y 5.3; README del código. A100 usada no significa A100 obligatoria.</a:t>
            </a:r>
          </a:p>
          <a:p>
            <a:r>
              <a:t>Fuente: https://repository.tudelft.nl/file/File_1cf09147-d8d4-4be3-8b42-f2e508ab64a6</a:t>
            </a:r>
          </a:p>
          <a:p>
            <a:r>
              <a:t>Código: https://github.com/alextremo0205/SWMM_GNN_Component_Evaluation_and_Transferability_Analysis</a:t>
            </a:r>
          </a:p>
          <a:p>
            <a:endParaRPr/>
          </a:p>
          <a:p>
            <a:r>
              <a:t>Extended English synthesis is an original paraphrase; consult the DOI for the publisher abstract.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Artificial Neural Network Surrogate Models for Detention-Based Flood Control in Urban Areas</a:t>
            </a:r>
          </a:p>
          <a:p>
            <a:r>
              <a:t>Solo resumen editorial y afiliaciones. Publicado en línea 03/09/2026; número de revista noviembre 2026.</a:t>
            </a:r>
          </a:p>
          <a:p>
            <a:r>
              <a:t>Fuente: https://ascelibrary.org/doi/abs/10.1061/JWRMD5.WRENG-7598</a:t>
            </a:r>
          </a:p>
          <a:p>
            <a:r>
              <a:t>Código: </a:t>
            </a:r>
          </a:p>
          <a:p>
            <a:endParaRPr/>
          </a:p>
          <a:p>
            <a:r>
              <a:t>Extended English synthesis is an original paraphrase; consult the DOI for the publisher abstract.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a:t>
            </a:r>
          </a:p>
          <a:p>
            <a:r>
              <a:t>*Detalles computacionales del preprint; publicación revisada verificada. Contrastar con versión editorial antes de replicar.</a:t>
            </a:r>
          </a:p>
          <a:p>
            <a:r>
              <a:t>CONDICIONAL: útil si necesitamos dinámica temporal; no sustituir XGBoost solo por modernidad.</a:t>
            </a:r>
          </a:p>
          <a:p>
            <a:r>
              <a:t>Fuente: https://arxiv.org/pdf/2404.10324</a:t>
            </a:r>
          </a:p>
          <a:p>
            <a:endParaRPr/>
          </a:p>
          <a:p>
            <a:r>
              <a:t>P2</a:t>
            </a:r>
          </a:p>
          <a:p>
            <a:r>
              <a:t>Texto publicado, secciones 2.3–2.6, 3.2 y 3.5. Sus tiempos no incluyen nuestro desarrollo ni se trasladan a nuestra red.</a:t>
            </a:r>
          </a:p>
          <a:p>
            <a:r>
              <a:t>APROVECHAR IDEAS: extremos y errores de volumen. Implementación temporal completa, solo con una necesidad demostrada.</a:t>
            </a:r>
          </a:p>
          <a:p>
            <a:r>
              <a:t>Fuente: https://backend.orbit.dtu.dk/ws/portalfiles/portal/282620979/1_s2.0_S0043135422009198_main.pdf</a:t>
            </a:r>
          </a:p>
          <a:p>
            <a:endParaRPr/>
          </a:p>
          <a:p>
            <a:r>
              <a:t>Estimated effort is specific to adapting the method to our target, not an author-reported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P3</a:t>
            </a:r>
          </a:p>
          <a:p>
            <a:r>
              <a:t>Texto publicado, secciones 2.1, 2.4, 4.3–4.4 y 6.2.3. Transferencia limitada y objetivo distinto al de la tesis.</a:t>
            </a:r>
          </a:p>
          <a:p>
            <a:r>
              <a:t>SEGUNDA ETAPA: mejor candidato reproducible si la topología aporta valor medible sobre la MLP.</a:t>
            </a:r>
          </a:p>
          <a:p>
            <a:r>
              <a:t>Fuente: https://repository.tudelft.nl/file/File_82fef3ff-9a5f-4275-bd8f-6a4eb06c463d</a:t>
            </a:r>
          </a:p>
          <a:p>
            <a:endParaRPr/>
          </a:p>
          <a:p>
            <a:r>
              <a:t>P4</a:t>
            </a:r>
          </a:p>
          <a:p>
            <a:r>
              <a:t>Texto publicado, secciones 3.3–3.6 y 5.3; README del código. A100 usada no significa A100 obligatoria.</a:t>
            </a:r>
          </a:p>
          <a:p>
            <a:r>
              <a:t>POSPONER: alto costo para el objetivo actual. Priorizar cuando transferencia sea una pregunta central de la tesis.</a:t>
            </a:r>
          </a:p>
          <a:p>
            <a:r>
              <a:t>Fuente: https://repository.tudelft.nl/file/File_1cf09147-d8d4-4be3-8b42-f2e508ab64a6</a:t>
            </a:r>
          </a:p>
          <a:p>
            <a:endParaRPr/>
          </a:p>
          <a:p>
            <a:r>
              <a:t>P5</a:t>
            </a:r>
          </a:p>
          <a:p>
            <a:r>
              <a:t>Solo resumen editorial y afiliaciones. Publicado en línea 03/09/2026; número de revista noviembre 2026.</a:t>
            </a:r>
          </a:p>
          <a:p>
            <a:r>
              <a:t>PRIORIDAD ALTA: piloto MLP acotado; consultar texto completo antes de atribuirle detalles de entrenamiento.</a:t>
            </a:r>
          </a:p>
          <a:p>
            <a:r>
              <a:t>Fuente: https://ascelibrary.org/doi/abs/10.1061/JWRMD5.WRENG-7598</a:t>
            </a:r>
          </a:p>
          <a:p>
            <a:endParaRPr/>
          </a:p>
          <a:p>
            <a:r>
              <a:t>Estimated effort is specific to adapting the method to our target, not an author-reported result.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 *Detalles computacionales del preprint; publicación revisada verificada. Contrastar con versión editorial antes de replicar.</a:t>
            </a:r>
          </a:p>
          <a:p>
            <a:r>
              <a:t>https://arxiv.org/pdf/2404.10324</a:t>
            </a:r>
          </a:p>
          <a:p>
            <a:r>
              <a:t>https://github.com/Zhiyu014/GNN-UDS</a:t>
            </a:r>
          </a:p>
          <a:p>
            <a:endParaRPr/>
          </a:p>
          <a:p>
            <a:r>
              <a:t>P2 Texto publicado, secciones 2.3–2.6, 3.2 y 3.5. Sus tiempos no incluyen nuestro desarrollo ni se trasladan a nuestra red.</a:t>
            </a:r>
          </a:p>
          <a:p>
            <a:r>
              <a:t>https://backend.orbit.dtu.dk/ws/portalfiles/portal/282620979/1_s2.0_S0043135422009198_main.pdf</a:t>
            </a:r>
          </a:p>
          <a:p>
            <a:endParaRPr/>
          </a:p>
          <a:p>
            <a:endParaRPr/>
          </a:p>
          <a:p>
            <a:r>
              <a:t>P3 Texto publicado, secciones 2.1, 2.4, 4.3–4.4 y 6.2.3. Transferencia limitada y objetivo distinto al de la tesis.</a:t>
            </a:r>
          </a:p>
          <a:p>
            <a:r>
              <a:t>https://repository.tudelft.nl/file/File_82fef3ff-9a5f-4275-bd8f-6a4eb06c463d</a:t>
            </a:r>
          </a:p>
          <a:p>
            <a:r>
              <a:t>https://github.com/alextremo0205/SWMM_GNN_Repository_Paper_version</a:t>
            </a:r>
          </a:p>
          <a:p>
            <a:endParaRPr/>
          </a:p>
          <a:p>
            <a:r>
              <a:t>P4 Texto publicado, secciones 3.3–3.6 y 5.3; README del código. A100 usada no significa A100 obligatoria.</a:t>
            </a:r>
          </a:p>
          <a:p>
            <a:r>
              <a:t>https://repository.tudelft.nl/file/File_1cf09147-d8d4-4be3-8b42-f2e508ab64a6</a:t>
            </a:r>
          </a:p>
          <a:p>
            <a:r>
              <a:t>https://github.com/alextremo0205/SWMM_GNN_Component_Evaluation_and_Transferability_Analysis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P5 Solo resumen editorial y afiliaciones. Publicado en línea 03/09/2026; número de revista noviembre 2026.</a:t>
            </a:r>
          </a:p>
          <a:p>
            <a:r>
              <a:t>https://ascelibrary.org/doi/abs/10.1061/JWRMD5.WRENG-7598</a:t>
            </a:r>
          </a:p>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Portada">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3" y="0"/>
            <a:ext cx="9144000" cy="5143500"/>
          </a:xfrm>
          <a:prstGeom prst="rect">
            <a:avLst/>
          </a:prstGeom>
          <a:noFill/>
          <a:ln>
            <a:noFill/>
          </a:ln>
        </p:spPr>
      </p:pic>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2" name="Título 1">
            <a:extLst>
              <a:ext uri="{FF2B5EF4-FFF2-40B4-BE49-F238E27FC236}">
                <a16:creationId xmlns:a16="http://schemas.microsoft.com/office/drawing/2014/main" id="{1835F034-20D9-B4C5-8358-9688592E6032}"/>
              </a:ext>
            </a:extLst>
          </p:cNvPr>
          <p:cNvSpPr>
            <a:spLocks noGrp="1"/>
          </p:cNvSpPr>
          <p:nvPr>
            <p:ph type="title"/>
          </p:nvPr>
        </p:nvSpPr>
        <p:spPr>
          <a:xfrm>
            <a:off x="1230705" y="987873"/>
            <a:ext cx="6588199" cy="375821"/>
          </a:xfrm>
        </p:spPr>
        <p:txBody>
          <a:bodyPr/>
          <a:lstStyle>
            <a:lvl1pPr algn="ctr">
              <a:defRPr sz="3600"/>
            </a:lvl1pPr>
          </a:lstStyle>
          <a:p>
            <a:r>
              <a:rPr lang="es-ES" dirty="0"/>
              <a:t>Haga clic para modificar el estilo de título del patrón</a:t>
            </a:r>
            <a:endParaRPr lang="es-CO" dirty="0"/>
          </a:p>
        </p:txBody>
      </p:sp>
      <p:cxnSp>
        <p:nvCxnSpPr>
          <p:cNvPr id="3" name="Conector recto 2">
            <a:extLst>
              <a:ext uri="{FF2B5EF4-FFF2-40B4-BE49-F238E27FC236}">
                <a16:creationId xmlns:a16="http://schemas.microsoft.com/office/drawing/2014/main" id="{089B234E-DA3E-ADB7-C645-D2663C91D17A}"/>
              </a:ext>
            </a:extLst>
          </p:cNvPr>
          <p:cNvCxnSpPr/>
          <p:nvPr userDrawn="1"/>
        </p:nvCxnSpPr>
        <p:spPr>
          <a:xfrm>
            <a:off x="224175" y="3099830"/>
            <a:ext cx="8695649" cy="0"/>
          </a:xfrm>
          <a:prstGeom prst="line">
            <a:avLst/>
          </a:prstGeom>
          <a:ln w="19050"/>
        </p:spPr>
        <p:style>
          <a:lnRef idx="1">
            <a:schemeClr val="dk1"/>
          </a:lnRef>
          <a:fillRef idx="0">
            <a:schemeClr val="dk1"/>
          </a:fillRef>
          <a:effectRef idx="0">
            <a:schemeClr val="dk1"/>
          </a:effectRef>
          <a:fontRef idx="minor">
            <a:schemeClr val="tx1"/>
          </a:fontRef>
        </p:style>
      </p:cxnSp>
      <p:sp>
        <p:nvSpPr>
          <p:cNvPr id="5" name="Google Shape;11;p2">
            <a:extLst>
              <a:ext uri="{FF2B5EF4-FFF2-40B4-BE49-F238E27FC236}">
                <a16:creationId xmlns:a16="http://schemas.microsoft.com/office/drawing/2014/main" id="{46BD2D74-0A2E-C2B6-BEBB-A7A73007EDF2}"/>
              </a:ext>
            </a:extLst>
          </p:cNvPr>
          <p:cNvSpPr txBox="1">
            <a:spLocks noGrp="1"/>
          </p:cNvSpPr>
          <p:nvPr>
            <p:ph type="subTitle" idx="1"/>
          </p:nvPr>
        </p:nvSpPr>
        <p:spPr>
          <a:xfrm>
            <a:off x="2318445" y="3513265"/>
            <a:ext cx="4507107" cy="4056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7" name="Marcador de texto 6">
            <a:extLst>
              <a:ext uri="{FF2B5EF4-FFF2-40B4-BE49-F238E27FC236}">
                <a16:creationId xmlns:a16="http://schemas.microsoft.com/office/drawing/2014/main" id="{CBC81BF4-67AC-BF92-3B23-337A171E5C5F}"/>
              </a:ext>
            </a:extLst>
          </p:cNvPr>
          <p:cNvSpPr>
            <a:spLocks noGrp="1"/>
          </p:cNvSpPr>
          <p:nvPr>
            <p:ph type="body" sz="quarter" idx="10" hasCustomPrompt="1"/>
          </p:nvPr>
        </p:nvSpPr>
        <p:spPr>
          <a:xfrm>
            <a:off x="4010747" y="4108392"/>
            <a:ext cx="1122501" cy="447813"/>
          </a:xfrm>
        </p:spPr>
        <p:txBody>
          <a:bodyPr/>
          <a:lstStyle>
            <a:lvl1pPr marL="114300" indent="0">
              <a:buNone/>
              <a:defRPr sz="1400"/>
            </a:lvl1pPr>
          </a:lstStyle>
          <a:p>
            <a:pPr lvl="0"/>
            <a:r>
              <a:rPr lang="es-ES" dirty="0" err="1"/>
              <a:t>to</a:t>
            </a:r>
            <a:r>
              <a:rPr lang="es-ES" dirty="0"/>
              <a:t> nivel</a:t>
            </a:r>
            <a:endParaRPr lang="es-CO" dirty="0"/>
          </a:p>
        </p:txBody>
      </p:sp>
    </p:spTree>
    <p:extLst>
      <p:ext uri="{BB962C8B-B14F-4D97-AF65-F5344CB8AC3E}">
        <p14:creationId xmlns:p14="http://schemas.microsoft.com/office/powerpoint/2010/main" val="18893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1350" y="1423263"/>
            <a:ext cx="5405100" cy="1948500"/>
          </a:xfrm>
          <a:prstGeom prst="rect">
            <a:avLst/>
          </a:prstGeom>
          <a:noFill/>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711350" y="3314625"/>
            <a:ext cx="5405100" cy="405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60950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12000"/>
          </a:blip>
          <a:stretch>
            <a:fillRect/>
          </a:stretch>
        </p:blipFill>
        <p:spPr>
          <a:xfrm>
            <a:off x="0" y="-22250"/>
            <a:ext cx="9144000" cy="5143500"/>
          </a:xfrm>
          <a:prstGeom prst="rect">
            <a:avLst/>
          </a:prstGeom>
          <a:noFill/>
          <a:ln>
            <a:noFill/>
          </a:ln>
        </p:spPr>
      </p:pic>
      <p:sp>
        <p:nvSpPr>
          <p:cNvPr id="16" name="Google Shape;16;p3"/>
          <p:cNvSpPr txBox="1">
            <a:spLocks noGrp="1"/>
          </p:cNvSpPr>
          <p:nvPr>
            <p:ph type="title"/>
          </p:nvPr>
        </p:nvSpPr>
        <p:spPr>
          <a:xfrm>
            <a:off x="1141350" y="2549500"/>
            <a:ext cx="6861300" cy="107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58700" y="1353788"/>
            <a:ext cx="1626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2331150" y="3627713"/>
            <a:ext cx="4481700" cy="38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D7D205FF-0CD9-CE2F-E2C1-83481A2B81DB}"/>
              </a:ext>
            </a:extLst>
          </p:cNvPr>
          <p:cNvSpPr>
            <a:spLocks noGrp="1"/>
          </p:cNvSpPr>
          <p:nvPr>
            <p:ph type="sldNum" sz="quarter" idx="4"/>
          </p:nvPr>
        </p:nvSpPr>
        <p:spPr>
          <a:xfrm>
            <a:off x="697395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19771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521092"/>
            <a:ext cx="7704000" cy="498300"/>
          </a:xfrm>
          <a:prstGeom prst="rect">
            <a:avLst/>
          </a:prstGeom>
        </p:spPr>
        <p:txBody>
          <a:bodyPr spcFirstLastPara="1" wrap="square" lIns="91425" tIns="91425" rIns="91425" bIns="91425" anchor="t" anchorCtr="0">
            <a:noAutofit/>
          </a:bodyPr>
          <a:lstStyle>
            <a:lvl1pPr marL="139700" lvl="0" indent="0" algn="l" rtl="0">
              <a:lnSpc>
                <a:spcPct val="100000"/>
              </a:lnSpc>
              <a:spcBef>
                <a:spcPts val="0"/>
              </a:spcBef>
              <a:spcAft>
                <a:spcPts val="0"/>
              </a:spcAft>
              <a:buSzPts val="1400"/>
              <a:buFontTx/>
              <a:buNone/>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61766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38"/>
        <p:cNvGrpSpPr/>
        <p:nvPr/>
      </p:nvGrpSpPr>
      <p:grpSpPr>
        <a:xfrm>
          <a:off x="0" y="0"/>
          <a:ext cx="0" cy="0"/>
          <a:chOff x="0" y="0"/>
          <a:chExt cx="0" cy="0"/>
        </a:xfrm>
      </p:grpSpPr>
      <p:pic>
        <p:nvPicPr>
          <p:cNvPr id="39" name="Google Shape;39;p6"/>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 name="Marcador de número de diapositiva 32">
            <a:extLst>
              <a:ext uri="{FF2B5EF4-FFF2-40B4-BE49-F238E27FC236}">
                <a16:creationId xmlns:a16="http://schemas.microsoft.com/office/drawing/2014/main" id="{1AF50676-8359-BE63-DD6F-3F783BB612C7}"/>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3" name="Google Shape;24;p4">
            <a:extLst>
              <a:ext uri="{FF2B5EF4-FFF2-40B4-BE49-F238E27FC236}">
                <a16:creationId xmlns:a16="http://schemas.microsoft.com/office/drawing/2014/main" id="{B7538562-B18C-A308-8992-A29375029CFE}"/>
              </a:ext>
            </a:extLst>
          </p:cNvPr>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Tree>
    <p:extLst>
      <p:ext uri="{BB962C8B-B14F-4D97-AF65-F5344CB8AC3E}">
        <p14:creationId xmlns:p14="http://schemas.microsoft.com/office/powerpoint/2010/main" val="344615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391583"/>
            <a:ext cx="7704000" cy="498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1055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itulos">
    <p:spTree>
      <p:nvGrpSpPr>
        <p:cNvPr id="1" name=""/>
        <p:cNvGrpSpPr/>
        <p:nvPr/>
      </p:nvGrpSpPr>
      <p:grpSpPr>
        <a:xfrm>
          <a:off x="0" y="0"/>
          <a:ext cx="0" cy="0"/>
          <a:chOff x="0" y="0"/>
          <a:chExt cx="0" cy="0"/>
        </a:xfrm>
      </p:grpSpPr>
      <p:pic>
        <p:nvPicPr>
          <p:cNvPr id="6" name="Google Shape;22;p4">
            <a:extLst>
              <a:ext uri="{FF2B5EF4-FFF2-40B4-BE49-F238E27FC236}">
                <a16:creationId xmlns:a16="http://schemas.microsoft.com/office/drawing/2014/main" id="{4C5B8F73-FC8B-9241-7678-C4DDCD3019AE}"/>
              </a:ext>
            </a:extLst>
          </p:cNvPr>
          <p:cNvPicPr preferRelativeResize="0"/>
          <p:nvPr userDrawn="1"/>
        </p:nvPicPr>
        <p:blipFill>
          <a:blip r:embed="rId2">
            <a:alphaModFix amt="12000"/>
          </a:blip>
          <a:stretch>
            <a:fillRect/>
          </a:stretch>
        </p:blipFill>
        <p:spPr>
          <a:xfrm>
            <a:off x="0" y="0"/>
            <a:ext cx="9144000" cy="5143500"/>
          </a:xfrm>
          <a:prstGeom prst="rect">
            <a:avLst/>
          </a:prstGeom>
          <a:noFill/>
          <a:ln>
            <a:noFill/>
          </a:ln>
        </p:spPr>
      </p:pic>
      <p:sp>
        <p:nvSpPr>
          <p:cNvPr id="2" name="Título 1">
            <a:extLst>
              <a:ext uri="{FF2B5EF4-FFF2-40B4-BE49-F238E27FC236}">
                <a16:creationId xmlns:a16="http://schemas.microsoft.com/office/drawing/2014/main" id="{B3A07BA6-F4A9-9808-ED15-76AEE7C7AF26}"/>
              </a:ext>
            </a:extLst>
          </p:cNvPr>
          <p:cNvSpPr>
            <a:spLocks noGrp="1"/>
          </p:cNvSpPr>
          <p:nvPr>
            <p:ph type="title"/>
          </p:nvPr>
        </p:nvSpPr>
        <p:spPr/>
        <p:txBody>
          <a:bodyPr/>
          <a:lstStyle>
            <a:lvl1pPr algn="ctr">
              <a:defRPr sz="3300"/>
            </a:lvl1pPr>
          </a:lstStyle>
          <a:p>
            <a:r>
              <a:rPr lang="es-ES" dirty="0"/>
              <a:t>Haga clic para modificar</a:t>
            </a:r>
            <a:endParaRPr lang="es-CO" dirty="0"/>
          </a:p>
        </p:txBody>
      </p:sp>
      <p:sp>
        <p:nvSpPr>
          <p:cNvPr id="3" name="Marcador de número de diapositiva 2">
            <a:extLst>
              <a:ext uri="{FF2B5EF4-FFF2-40B4-BE49-F238E27FC236}">
                <a16:creationId xmlns:a16="http://schemas.microsoft.com/office/drawing/2014/main" id="{AD75B560-8E7C-D540-20BE-B237247E6F84}"/>
              </a:ext>
            </a:extLst>
          </p:cNvPr>
          <p:cNvSpPr>
            <a:spLocks noGrp="1"/>
          </p:cNvSpPr>
          <p:nvPr>
            <p:ph type="sldNum" sz="quarter" idx="10"/>
          </p:nvPr>
        </p:nvSpPr>
        <p:spPr/>
        <p:txBody>
          <a:bodyPr/>
          <a:lstStyle/>
          <a:p>
            <a:fld id="{2FE31968-4ACB-4FDC-A729-E0AFD0CA931C}" type="slidenum">
              <a:rPr lang="es-CO" smtClean="0"/>
              <a:t>‹Nº›</a:t>
            </a:fld>
            <a:endParaRPr lang="es-CO"/>
          </a:p>
        </p:txBody>
      </p:sp>
      <p:sp>
        <p:nvSpPr>
          <p:cNvPr id="5" name="Marcador de texto 4">
            <a:extLst>
              <a:ext uri="{FF2B5EF4-FFF2-40B4-BE49-F238E27FC236}">
                <a16:creationId xmlns:a16="http://schemas.microsoft.com/office/drawing/2014/main" id="{910C5ADD-74DF-90D3-03A8-63663869A774}"/>
              </a:ext>
            </a:extLst>
          </p:cNvPr>
          <p:cNvSpPr>
            <a:spLocks noGrp="1"/>
          </p:cNvSpPr>
          <p:nvPr>
            <p:ph type="body" sz="quarter" idx="11" hasCustomPrompt="1"/>
          </p:nvPr>
        </p:nvSpPr>
        <p:spPr>
          <a:xfrm>
            <a:off x="297555" y="1391915"/>
            <a:ext cx="6187177" cy="421861"/>
          </a:xfrm>
        </p:spPr>
        <p:txBody>
          <a:bodyPr/>
          <a:lstStyle>
            <a:lvl1pPr marL="114300" indent="0" algn="l">
              <a:buNone/>
              <a:defRPr lang="es-CO" sz="2400" b="1" i="0" u="none" strike="noStrike" cap="none" dirty="0">
                <a:solidFill>
                  <a:srgbClr val="FFFFB3"/>
                </a:solidFill>
                <a:latin typeface="Montserrat"/>
                <a:ea typeface="Montserrat"/>
                <a:cs typeface="Montserrat"/>
                <a:sym typeface="Montserrat"/>
              </a:defRPr>
            </a:lvl1pPr>
          </a:lstStyle>
          <a:p>
            <a:pPr lvl="0"/>
            <a:r>
              <a:rPr lang="es-ES" dirty="0"/>
              <a:t>Subtítulo</a:t>
            </a:r>
            <a:endParaRPr lang="es-CO" dirty="0"/>
          </a:p>
        </p:txBody>
      </p:sp>
    </p:spTree>
    <p:extLst>
      <p:ext uri="{BB962C8B-B14F-4D97-AF65-F5344CB8AC3E}">
        <p14:creationId xmlns:p14="http://schemas.microsoft.com/office/powerpoint/2010/main" val="26305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12000"/>
          </a:blip>
          <a:stretch>
            <a:fillRect/>
          </a:stretch>
        </p:blipFill>
        <p:spPr>
          <a:xfrm>
            <a:off x="0" y="-20903"/>
            <a:ext cx="9144000" cy="5143500"/>
          </a:xfrm>
          <a:prstGeom prst="rect">
            <a:avLst/>
          </a:prstGeom>
          <a:noFill/>
          <a:ln>
            <a:noFill/>
          </a:ln>
        </p:spPr>
      </p:pic>
      <p:sp>
        <p:nvSpPr>
          <p:cNvPr id="50" name="Google Shape;50;p7"/>
          <p:cNvSpPr txBox="1">
            <a:spLocks noGrp="1"/>
          </p:cNvSpPr>
          <p:nvPr>
            <p:ph type="body" idx="1"/>
          </p:nvPr>
        </p:nvSpPr>
        <p:spPr>
          <a:xfrm>
            <a:off x="3562925" y="2238025"/>
            <a:ext cx="4864800" cy="193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tx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51" name="Google Shape;51;p7"/>
          <p:cNvSpPr txBox="1">
            <a:spLocks noGrp="1"/>
          </p:cNvSpPr>
          <p:nvPr>
            <p:ph type="title"/>
          </p:nvPr>
        </p:nvSpPr>
        <p:spPr>
          <a:xfrm>
            <a:off x="3562925" y="970775"/>
            <a:ext cx="48648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2" name="Marcador de número de diapositiva 32">
            <a:extLst>
              <a:ext uri="{FF2B5EF4-FFF2-40B4-BE49-F238E27FC236}">
                <a16:creationId xmlns:a16="http://schemas.microsoft.com/office/drawing/2014/main" id="{F9367B2C-BBE5-04C5-44F7-3356491E6B6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5640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4" name="Google Shape;64;p9"/>
          <p:cNvSpPr txBox="1">
            <a:spLocks noGrp="1"/>
          </p:cNvSpPr>
          <p:nvPr>
            <p:ph type="title"/>
          </p:nvPr>
        </p:nvSpPr>
        <p:spPr>
          <a:xfrm>
            <a:off x="711350" y="1580150"/>
            <a:ext cx="515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9"/>
          <p:cNvSpPr txBox="1">
            <a:spLocks noGrp="1"/>
          </p:cNvSpPr>
          <p:nvPr>
            <p:ph type="subTitle" idx="1"/>
          </p:nvPr>
        </p:nvSpPr>
        <p:spPr>
          <a:xfrm>
            <a:off x="711350" y="2340250"/>
            <a:ext cx="5151000" cy="12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E374F13D-0CE4-3400-4DA2-4B2131FFDD6A}"/>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2854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67"/>
        <p:cNvGrpSpPr/>
        <p:nvPr/>
      </p:nvGrpSpPr>
      <p:grpSpPr>
        <a:xfrm>
          <a:off x="0" y="0"/>
          <a:ext cx="0" cy="0"/>
          <a:chOff x="0" y="0"/>
          <a:chExt cx="0" cy="0"/>
        </a:xfrm>
      </p:grpSpPr>
      <p:pic>
        <p:nvPicPr>
          <p:cNvPr id="68" name="Google Shape;68;p10"/>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9" name="Google Shape;69;p10"/>
          <p:cNvSpPr txBox="1">
            <a:spLocks noGrp="1"/>
          </p:cNvSpPr>
          <p:nvPr>
            <p:ph type="title"/>
          </p:nvPr>
        </p:nvSpPr>
        <p:spPr>
          <a:xfrm>
            <a:off x="3560250" y="3291125"/>
            <a:ext cx="4626600" cy="11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A8B88258-C5B6-1041-8893-E62BA8F14BB0}"/>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3089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70"/>
        <p:cNvGrpSpPr/>
        <p:nvPr/>
      </p:nvGrpSpPr>
      <p:grpSpPr>
        <a:xfrm>
          <a:off x="0" y="0"/>
          <a:ext cx="0" cy="0"/>
          <a:chOff x="0" y="0"/>
          <a:chExt cx="0" cy="0"/>
        </a:xfrm>
      </p:grpSpPr>
      <p:pic>
        <p:nvPicPr>
          <p:cNvPr id="71" name="Google Shape;71;p11"/>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72" name="Google Shape;72;p11"/>
          <p:cNvSpPr txBox="1">
            <a:spLocks noGrp="1"/>
          </p:cNvSpPr>
          <p:nvPr>
            <p:ph type="title" hasCustomPrompt="1"/>
          </p:nvPr>
        </p:nvSpPr>
        <p:spPr>
          <a:xfrm>
            <a:off x="1670700" y="1580875"/>
            <a:ext cx="58026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3" name="Google Shape;73;p11"/>
          <p:cNvSpPr txBox="1">
            <a:spLocks noGrp="1"/>
          </p:cNvSpPr>
          <p:nvPr>
            <p:ph type="subTitle" idx="1"/>
          </p:nvPr>
        </p:nvSpPr>
        <p:spPr>
          <a:xfrm>
            <a:off x="1670700" y="3114124"/>
            <a:ext cx="5802600" cy="44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 name="Marcador de número de diapositiva 32">
            <a:extLst>
              <a:ext uri="{FF2B5EF4-FFF2-40B4-BE49-F238E27FC236}">
                <a16:creationId xmlns:a16="http://schemas.microsoft.com/office/drawing/2014/main" id="{8AC9DA0D-3DCA-DFC3-BE58-DCA1A78946E9}"/>
              </a:ext>
            </a:extLst>
          </p:cNvPr>
          <p:cNvSpPr>
            <a:spLocks noGrp="1"/>
          </p:cNvSpPr>
          <p:nvPr>
            <p:ph type="sldNum" sz="quarter" idx="4"/>
          </p:nvPr>
        </p:nvSpPr>
        <p:spPr>
          <a:xfrm>
            <a:off x="6960572"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77634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Shape 82"/>
        <p:cNvGrpSpPr/>
        <p:nvPr/>
      </p:nvGrpSpPr>
      <p:grpSpPr>
        <a:xfrm>
          <a:off x="0" y="0"/>
          <a:ext cx="0" cy="0"/>
          <a:chOff x="0" y="0"/>
          <a:chExt cx="0" cy="0"/>
        </a:xfrm>
      </p:grpSpPr>
      <p:pic>
        <p:nvPicPr>
          <p:cNvPr id="83" name="Google Shape;83;p13"/>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84" name="Google Shape;84;p13"/>
          <p:cNvSpPr txBox="1">
            <a:spLocks noGrp="1"/>
          </p:cNvSpPr>
          <p:nvPr>
            <p:ph type="title"/>
          </p:nvPr>
        </p:nvSpPr>
        <p:spPr>
          <a:xfrm>
            <a:off x="720000" y="75784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85" name="Google Shape;85;p13"/>
          <p:cNvSpPr txBox="1">
            <a:spLocks noGrp="1"/>
          </p:cNvSpPr>
          <p:nvPr>
            <p:ph type="title" idx="2" hasCustomPrompt="1"/>
          </p:nvPr>
        </p:nvSpPr>
        <p:spPr>
          <a:xfrm>
            <a:off x="767145" y="1806480"/>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6" name="Google Shape;86;p13"/>
          <p:cNvSpPr txBox="1">
            <a:spLocks noGrp="1"/>
          </p:cNvSpPr>
          <p:nvPr>
            <p:ph type="subTitle" idx="1"/>
          </p:nvPr>
        </p:nvSpPr>
        <p:spPr>
          <a:xfrm>
            <a:off x="1444845" y="197170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3" hasCustomPrompt="1"/>
          </p:nvPr>
        </p:nvSpPr>
        <p:spPr>
          <a:xfrm>
            <a:off x="4664695" y="2391672"/>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8" name="Google Shape;88;p13"/>
          <p:cNvSpPr txBox="1">
            <a:spLocks noGrp="1"/>
          </p:cNvSpPr>
          <p:nvPr>
            <p:ph type="subTitle" idx="4"/>
          </p:nvPr>
        </p:nvSpPr>
        <p:spPr>
          <a:xfrm>
            <a:off x="5342395" y="255769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3"/>
          <p:cNvSpPr txBox="1">
            <a:spLocks noGrp="1"/>
          </p:cNvSpPr>
          <p:nvPr>
            <p:ph type="title" idx="5" hasCustomPrompt="1"/>
          </p:nvPr>
        </p:nvSpPr>
        <p:spPr>
          <a:xfrm>
            <a:off x="767145" y="2976864"/>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0" name="Google Shape;90;p13"/>
          <p:cNvSpPr txBox="1">
            <a:spLocks noGrp="1"/>
          </p:cNvSpPr>
          <p:nvPr>
            <p:ph type="subTitle" idx="6"/>
          </p:nvPr>
        </p:nvSpPr>
        <p:spPr>
          <a:xfrm>
            <a:off x="1444845" y="3143681"/>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7" hasCustomPrompt="1"/>
          </p:nvPr>
        </p:nvSpPr>
        <p:spPr>
          <a:xfrm>
            <a:off x="4664695" y="3562056"/>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2" name="Google Shape;92;p13"/>
          <p:cNvSpPr txBox="1">
            <a:spLocks noGrp="1"/>
          </p:cNvSpPr>
          <p:nvPr>
            <p:ph type="subTitle" idx="8"/>
          </p:nvPr>
        </p:nvSpPr>
        <p:spPr>
          <a:xfrm>
            <a:off x="5342395" y="3729672"/>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9" hasCustomPrompt="1"/>
          </p:nvPr>
        </p:nvSpPr>
        <p:spPr>
          <a:xfrm>
            <a:off x="767145" y="4147248"/>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 name="Google Shape;94;p13"/>
          <p:cNvSpPr txBox="1">
            <a:spLocks noGrp="1"/>
          </p:cNvSpPr>
          <p:nvPr>
            <p:ph type="subTitle" idx="13"/>
          </p:nvPr>
        </p:nvSpPr>
        <p:spPr>
          <a:xfrm>
            <a:off x="1444845" y="4315663"/>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3"/>
          <p:cNvSpPr txBox="1">
            <a:spLocks noGrp="1"/>
          </p:cNvSpPr>
          <p:nvPr>
            <p:ph type="subTitle" idx="14"/>
          </p:nvPr>
        </p:nvSpPr>
        <p:spPr>
          <a:xfrm>
            <a:off x="1444875" y="1646950"/>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99" name="Google Shape;99;p13"/>
          <p:cNvSpPr txBox="1">
            <a:spLocks noGrp="1"/>
          </p:cNvSpPr>
          <p:nvPr>
            <p:ph type="subTitle" idx="15"/>
          </p:nvPr>
        </p:nvSpPr>
        <p:spPr>
          <a:xfrm>
            <a:off x="1444875" y="2841512"/>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0" name="Google Shape;100;p13"/>
          <p:cNvSpPr txBox="1">
            <a:spLocks noGrp="1"/>
          </p:cNvSpPr>
          <p:nvPr>
            <p:ph type="subTitle" idx="16"/>
          </p:nvPr>
        </p:nvSpPr>
        <p:spPr>
          <a:xfrm>
            <a:off x="1444875" y="4036075"/>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1" name="Google Shape;101;p13"/>
          <p:cNvSpPr txBox="1">
            <a:spLocks noGrp="1"/>
          </p:cNvSpPr>
          <p:nvPr>
            <p:ph type="subTitle" idx="17"/>
          </p:nvPr>
        </p:nvSpPr>
        <p:spPr>
          <a:xfrm>
            <a:off x="5342400" y="3438794"/>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102" name="Google Shape;102;p13"/>
          <p:cNvSpPr txBox="1">
            <a:spLocks noGrp="1"/>
          </p:cNvSpPr>
          <p:nvPr>
            <p:ph type="subTitle" idx="18"/>
          </p:nvPr>
        </p:nvSpPr>
        <p:spPr>
          <a:xfrm>
            <a:off x="5342400" y="2244231"/>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2" name="Marcador de número de diapositiva 32">
            <a:extLst>
              <a:ext uri="{FF2B5EF4-FFF2-40B4-BE49-F238E27FC236}">
                <a16:creationId xmlns:a16="http://schemas.microsoft.com/office/drawing/2014/main" id="{A6A022A7-5EAA-EFCC-2C64-7193F2986839}"/>
              </a:ext>
            </a:extLst>
          </p:cNvPr>
          <p:cNvSpPr>
            <a:spLocks noGrp="1"/>
          </p:cNvSpPr>
          <p:nvPr>
            <p:ph type="sldNum" sz="quarter" idx="19"/>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8946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103"/>
        <p:cNvGrpSpPr/>
        <p:nvPr/>
      </p:nvGrpSpPr>
      <p:grpSpPr>
        <a:xfrm>
          <a:off x="0" y="0"/>
          <a:ext cx="0" cy="0"/>
          <a:chOff x="0" y="0"/>
          <a:chExt cx="0" cy="0"/>
        </a:xfrm>
      </p:grpSpPr>
      <p:pic>
        <p:nvPicPr>
          <p:cNvPr id="104" name="Google Shape;104;p1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5" name="Google Shape;105;p14"/>
          <p:cNvSpPr txBox="1">
            <a:spLocks noGrp="1"/>
          </p:cNvSpPr>
          <p:nvPr>
            <p:ph type="title"/>
          </p:nvPr>
        </p:nvSpPr>
        <p:spPr>
          <a:xfrm>
            <a:off x="2290050" y="3989413"/>
            <a:ext cx="45639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1458150" y="2816863"/>
            <a:ext cx="6227700" cy="1229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2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2" name="Marcador de número de diapositiva 32">
            <a:extLst>
              <a:ext uri="{FF2B5EF4-FFF2-40B4-BE49-F238E27FC236}">
                <a16:creationId xmlns:a16="http://schemas.microsoft.com/office/drawing/2014/main" id="{4E81FD6E-2FFF-28AE-374E-DDC20EFB91FF}"/>
              </a:ext>
            </a:extLst>
          </p:cNvPr>
          <p:cNvSpPr>
            <a:spLocks noGrp="1"/>
          </p:cNvSpPr>
          <p:nvPr>
            <p:ph type="sldNum" sz="quarter" idx="4"/>
          </p:nvPr>
        </p:nvSpPr>
        <p:spPr>
          <a:xfrm>
            <a:off x="6974084" y="4868702"/>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029443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reserve="1">
  <p:cSld name="Title and text">
    <p:spTree>
      <p:nvGrpSpPr>
        <p:cNvPr id="1" name="Shape 140"/>
        <p:cNvGrpSpPr/>
        <p:nvPr/>
      </p:nvGrpSpPr>
      <p:grpSpPr>
        <a:xfrm>
          <a:off x="0" y="0"/>
          <a:ext cx="0" cy="0"/>
          <a:chOff x="0" y="0"/>
          <a:chExt cx="0" cy="0"/>
        </a:xfrm>
      </p:grpSpPr>
      <p:pic>
        <p:nvPicPr>
          <p:cNvPr id="141" name="Google Shape;141;p18"/>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42" name="Google Shape;142;p18"/>
          <p:cNvSpPr txBox="1">
            <a:spLocks noGrp="1"/>
          </p:cNvSpPr>
          <p:nvPr>
            <p:ph type="subTitle" idx="1"/>
          </p:nvPr>
        </p:nvSpPr>
        <p:spPr>
          <a:xfrm>
            <a:off x="973797" y="3011475"/>
            <a:ext cx="4398300" cy="8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8"/>
          <p:cNvSpPr txBox="1">
            <a:spLocks noGrp="1"/>
          </p:cNvSpPr>
          <p:nvPr>
            <p:ph type="title"/>
          </p:nvPr>
        </p:nvSpPr>
        <p:spPr>
          <a:xfrm>
            <a:off x="973809" y="1270425"/>
            <a:ext cx="4398300" cy="1781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18"/>
          <p:cNvSpPr>
            <a:spLocks noGrp="1"/>
          </p:cNvSpPr>
          <p:nvPr>
            <p:ph type="pic" idx="2"/>
          </p:nvPr>
        </p:nvSpPr>
        <p:spPr>
          <a:xfrm>
            <a:off x="5327150" y="1080200"/>
            <a:ext cx="2983200" cy="2983200"/>
          </a:xfrm>
          <a:prstGeom prst="ellipse">
            <a:avLst/>
          </a:prstGeom>
          <a:noFill/>
          <a:ln w="38100" cap="flat" cmpd="sng">
            <a:solidFill>
              <a:schemeClr val="dk2"/>
            </a:solidFill>
            <a:prstDash val="solid"/>
            <a:round/>
            <a:headEnd type="none" w="sm" len="sm"/>
            <a:tailEnd type="none" w="sm" len="sm"/>
          </a:ln>
        </p:spPr>
      </p:sp>
      <p:sp>
        <p:nvSpPr>
          <p:cNvPr id="2" name="Marcador de número de diapositiva 32">
            <a:extLst>
              <a:ext uri="{FF2B5EF4-FFF2-40B4-BE49-F238E27FC236}">
                <a16:creationId xmlns:a16="http://schemas.microsoft.com/office/drawing/2014/main" id="{7011B3A5-BA18-77C0-B197-5934FE56912F}"/>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4601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reserve="1">
  <p:cSld name="Title and text 1">
    <p:spTree>
      <p:nvGrpSpPr>
        <p:cNvPr id="1" name="Shape 148"/>
        <p:cNvGrpSpPr/>
        <p:nvPr/>
      </p:nvGrpSpPr>
      <p:grpSpPr>
        <a:xfrm>
          <a:off x="0" y="0"/>
          <a:ext cx="0" cy="0"/>
          <a:chOff x="0" y="0"/>
          <a:chExt cx="0" cy="0"/>
        </a:xfrm>
      </p:grpSpPr>
      <p:pic>
        <p:nvPicPr>
          <p:cNvPr id="149" name="Google Shape;149;p19"/>
          <p:cNvPicPr preferRelativeResize="0"/>
          <p:nvPr/>
        </p:nvPicPr>
        <p:blipFill>
          <a:blip r:embed="rId2">
            <a:alphaModFix amt="12000"/>
          </a:blip>
          <a:stretch>
            <a:fillRect/>
          </a:stretch>
        </p:blipFill>
        <p:spPr>
          <a:xfrm>
            <a:off x="0" y="-13714"/>
            <a:ext cx="9144000" cy="5143500"/>
          </a:xfrm>
          <a:prstGeom prst="rect">
            <a:avLst/>
          </a:prstGeom>
          <a:noFill/>
          <a:ln>
            <a:noFill/>
          </a:ln>
        </p:spPr>
      </p:pic>
      <p:sp>
        <p:nvSpPr>
          <p:cNvPr id="150" name="Google Shape;150;p19"/>
          <p:cNvSpPr txBox="1">
            <a:spLocks noGrp="1"/>
          </p:cNvSpPr>
          <p:nvPr>
            <p:ph type="subTitle" idx="1"/>
          </p:nvPr>
        </p:nvSpPr>
        <p:spPr>
          <a:xfrm>
            <a:off x="1889400" y="3812150"/>
            <a:ext cx="53652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19"/>
          <p:cNvSpPr txBox="1">
            <a:spLocks noGrp="1"/>
          </p:cNvSpPr>
          <p:nvPr>
            <p:ph type="title"/>
          </p:nvPr>
        </p:nvSpPr>
        <p:spPr>
          <a:xfrm>
            <a:off x="1889550" y="3306875"/>
            <a:ext cx="5365200" cy="63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4C836EED-38EE-4930-F765-43666026257A}"/>
              </a:ext>
            </a:extLst>
          </p:cNvPr>
          <p:cNvSpPr>
            <a:spLocks noGrp="1"/>
          </p:cNvSpPr>
          <p:nvPr>
            <p:ph type="sldNum" sz="quarter" idx="4"/>
          </p:nvPr>
        </p:nvSpPr>
        <p:spPr>
          <a:xfrm>
            <a:off x="6965076" y="4855149"/>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99558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reserve="1">
  <p:cSld name="Title and text 2">
    <p:spTree>
      <p:nvGrpSpPr>
        <p:cNvPr id="1" name="Shape 153"/>
        <p:cNvGrpSpPr/>
        <p:nvPr/>
      </p:nvGrpSpPr>
      <p:grpSpPr>
        <a:xfrm>
          <a:off x="0" y="0"/>
          <a:ext cx="0" cy="0"/>
          <a:chOff x="0" y="0"/>
          <a:chExt cx="0" cy="0"/>
        </a:xfrm>
      </p:grpSpPr>
      <p:pic>
        <p:nvPicPr>
          <p:cNvPr id="154" name="Google Shape;154;p20"/>
          <p:cNvPicPr preferRelativeResize="0"/>
          <p:nvPr/>
        </p:nvPicPr>
        <p:blipFill>
          <a:blip r:embed="rId2">
            <a:alphaModFix amt="12000"/>
          </a:blip>
          <a:stretch>
            <a:fillRect/>
          </a:stretch>
        </p:blipFill>
        <p:spPr>
          <a:xfrm>
            <a:off x="31531" y="0"/>
            <a:ext cx="9144000" cy="5143500"/>
          </a:xfrm>
          <a:prstGeom prst="rect">
            <a:avLst/>
          </a:prstGeom>
          <a:noFill/>
          <a:ln>
            <a:noFill/>
          </a:ln>
        </p:spPr>
      </p:pic>
      <p:sp>
        <p:nvSpPr>
          <p:cNvPr id="155" name="Google Shape;155;p20"/>
          <p:cNvSpPr txBox="1">
            <a:spLocks noGrp="1"/>
          </p:cNvSpPr>
          <p:nvPr>
            <p:ph type="title"/>
          </p:nvPr>
        </p:nvSpPr>
        <p:spPr>
          <a:xfrm>
            <a:off x="720000" y="66710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56" name="Google Shape;156;p20"/>
          <p:cNvSpPr txBox="1">
            <a:spLocks noGrp="1"/>
          </p:cNvSpPr>
          <p:nvPr>
            <p:ph type="subTitle" idx="1"/>
          </p:nvPr>
        </p:nvSpPr>
        <p:spPr>
          <a:xfrm>
            <a:off x="719413" y="1383062"/>
            <a:ext cx="5347500" cy="174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2" name="Marcador de número de diapositiva 32">
            <a:extLst>
              <a:ext uri="{FF2B5EF4-FFF2-40B4-BE49-F238E27FC236}">
                <a16:creationId xmlns:a16="http://schemas.microsoft.com/office/drawing/2014/main" id="{75E61C1E-9234-A230-B547-BF54ADA7F1AE}"/>
              </a:ext>
            </a:extLst>
          </p:cNvPr>
          <p:cNvSpPr>
            <a:spLocks noGrp="1"/>
          </p:cNvSpPr>
          <p:nvPr>
            <p:ph type="sldNum" sz="quarter" idx="4"/>
          </p:nvPr>
        </p:nvSpPr>
        <p:spPr>
          <a:xfrm>
            <a:off x="6938049"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464999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reserve="1">
  <p:cSld name="Title and two columns 1">
    <p:spTree>
      <p:nvGrpSpPr>
        <p:cNvPr id="1" name="Shape 163"/>
        <p:cNvGrpSpPr/>
        <p:nvPr/>
      </p:nvGrpSpPr>
      <p:grpSpPr>
        <a:xfrm>
          <a:off x="0" y="0"/>
          <a:ext cx="0" cy="0"/>
          <a:chOff x="0" y="0"/>
          <a:chExt cx="0" cy="0"/>
        </a:xfrm>
      </p:grpSpPr>
      <p:pic>
        <p:nvPicPr>
          <p:cNvPr id="164" name="Google Shape;164;p21"/>
          <p:cNvPicPr preferRelativeResize="0"/>
          <p:nvPr/>
        </p:nvPicPr>
        <p:blipFill>
          <a:blip r:embed="rId2">
            <a:alphaModFix amt="12000"/>
          </a:blip>
          <a:stretch>
            <a:fillRect/>
          </a:stretch>
        </p:blipFill>
        <p:spPr>
          <a:xfrm>
            <a:off x="0" y="-14188"/>
            <a:ext cx="9144000" cy="5143500"/>
          </a:xfrm>
          <a:prstGeom prst="rect">
            <a:avLst/>
          </a:prstGeom>
          <a:noFill/>
          <a:ln>
            <a:noFill/>
          </a:ln>
        </p:spPr>
      </p:pic>
      <p:sp>
        <p:nvSpPr>
          <p:cNvPr id="165" name="Google Shape;165;p21"/>
          <p:cNvSpPr txBox="1">
            <a:spLocks noGrp="1"/>
          </p:cNvSpPr>
          <p:nvPr>
            <p:ph type="subTitle" idx="1"/>
          </p:nvPr>
        </p:nvSpPr>
        <p:spPr>
          <a:xfrm>
            <a:off x="1366805" y="1856906"/>
            <a:ext cx="30267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6" name="Google Shape;166;p21"/>
          <p:cNvSpPr txBox="1">
            <a:spLocks noGrp="1"/>
          </p:cNvSpPr>
          <p:nvPr>
            <p:ph type="subTitle" idx="2"/>
          </p:nvPr>
        </p:nvSpPr>
        <p:spPr>
          <a:xfrm>
            <a:off x="4706911" y="1895947"/>
            <a:ext cx="30231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7" name="Google Shape;167;p21"/>
          <p:cNvSpPr txBox="1">
            <a:spLocks noGrp="1"/>
          </p:cNvSpPr>
          <p:nvPr>
            <p:ph type="subTitle" idx="3"/>
          </p:nvPr>
        </p:nvSpPr>
        <p:spPr>
          <a:xfrm>
            <a:off x="1366805" y="2360869"/>
            <a:ext cx="3026700" cy="22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8" name="Google Shape;168;p21"/>
          <p:cNvSpPr txBox="1">
            <a:spLocks noGrp="1"/>
          </p:cNvSpPr>
          <p:nvPr>
            <p:ph type="subTitle" idx="4"/>
          </p:nvPr>
        </p:nvSpPr>
        <p:spPr>
          <a:xfrm>
            <a:off x="4706911" y="2362069"/>
            <a:ext cx="3023100" cy="226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9" name="Google Shape;169;p21"/>
          <p:cNvSpPr txBox="1">
            <a:spLocks noGrp="1"/>
          </p:cNvSpPr>
          <p:nvPr>
            <p:ph type="title"/>
          </p:nvPr>
        </p:nvSpPr>
        <p:spPr>
          <a:xfrm>
            <a:off x="720000" y="70318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A11EDC36-5F6C-7891-6A2B-41384387A3D2}"/>
              </a:ext>
            </a:extLst>
          </p:cNvPr>
          <p:cNvSpPr>
            <a:spLocks noGrp="1"/>
          </p:cNvSpPr>
          <p:nvPr>
            <p:ph type="sldNum" sz="quarter" idx="10"/>
          </p:nvPr>
        </p:nvSpPr>
        <p:spPr>
          <a:xfrm>
            <a:off x="6947058" y="485467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42142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reserve="1">
  <p:cSld name="Title and two columns 2">
    <p:spTree>
      <p:nvGrpSpPr>
        <p:cNvPr id="1" name="Shape 176"/>
        <p:cNvGrpSpPr/>
        <p:nvPr/>
      </p:nvGrpSpPr>
      <p:grpSpPr>
        <a:xfrm>
          <a:off x="0" y="0"/>
          <a:ext cx="0" cy="0"/>
          <a:chOff x="0" y="0"/>
          <a:chExt cx="0" cy="0"/>
        </a:xfrm>
      </p:grpSpPr>
      <p:pic>
        <p:nvPicPr>
          <p:cNvPr id="177" name="Google Shape;177;p22"/>
          <p:cNvPicPr preferRelativeResize="0"/>
          <p:nvPr/>
        </p:nvPicPr>
        <p:blipFill>
          <a:blip r:embed="rId2">
            <a:alphaModFix amt="12000"/>
          </a:blip>
          <a:stretch>
            <a:fillRect/>
          </a:stretch>
        </p:blipFill>
        <p:spPr>
          <a:xfrm>
            <a:off x="0" y="-9210"/>
            <a:ext cx="9144000" cy="5143500"/>
          </a:xfrm>
          <a:prstGeom prst="rect">
            <a:avLst/>
          </a:prstGeom>
          <a:noFill/>
          <a:ln>
            <a:noFill/>
          </a:ln>
        </p:spPr>
      </p:pic>
      <p:sp>
        <p:nvSpPr>
          <p:cNvPr id="178" name="Google Shape;178;p22"/>
          <p:cNvSpPr txBox="1">
            <a:spLocks noGrp="1"/>
          </p:cNvSpPr>
          <p:nvPr>
            <p:ph type="title"/>
          </p:nvPr>
        </p:nvSpPr>
        <p:spPr>
          <a:xfrm>
            <a:off x="720000" y="696921"/>
            <a:ext cx="7758665"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79" name="Google Shape;179;p22"/>
          <p:cNvSpPr txBox="1">
            <a:spLocks noGrp="1"/>
          </p:cNvSpPr>
          <p:nvPr>
            <p:ph type="subTitle" idx="1"/>
          </p:nvPr>
        </p:nvSpPr>
        <p:spPr>
          <a:xfrm>
            <a:off x="720000"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86" name="Google Shape;186;p22"/>
          <p:cNvSpPr txBox="1">
            <a:spLocks noGrp="1"/>
          </p:cNvSpPr>
          <p:nvPr>
            <p:ph type="subTitle" idx="2"/>
          </p:nvPr>
        </p:nvSpPr>
        <p:spPr>
          <a:xfrm>
            <a:off x="4626665"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 name="Marcador de número de diapositiva 32">
            <a:extLst>
              <a:ext uri="{FF2B5EF4-FFF2-40B4-BE49-F238E27FC236}">
                <a16:creationId xmlns:a16="http://schemas.microsoft.com/office/drawing/2014/main" id="{E6B8D90A-F721-5BFA-9520-C81330115A3C}"/>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695312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2" preserve="1">
  <p:cSld name="Background 2">
    <p:spTree>
      <p:nvGrpSpPr>
        <p:cNvPr id="1" name="Shape 305"/>
        <p:cNvGrpSpPr/>
        <p:nvPr/>
      </p:nvGrpSpPr>
      <p:grpSpPr>
        <a:xfrm>
          <a:off x="0" y="0"/>
          <a:ext cx="0" cy="0"/>
          <a:chOff x="0" y="0"/>
          <a:chExt cx="0" cy="0"/>
        </a:xfrm>
      </p:grpSpPr>
      <p:sp>
        <p:nvSpPr>
          <p:cNvPr id="2" name="Marcador de número de diapositiva 32">
            <a:extLst>
              <a:ext uri="{FF2B5EF4-FFF2-40B4-BE49-F238E27FC236}">
                <a16:creationId xmlns:a16="http://schemas.microsoft.com/office/drawing/2014/main" id="{E3CF2F18-9AEF-9045-E247-CDBA355811BF}"/>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pic>
        <p:nvPicPr>
          <p:cNvPr id="3" name="Google Shape;9;p2">
            <a:extLst>
              <a:ext uri="{FF2B5EF4-FFF2-40B4-BE49-F238E27FC236}">
                <a16:creationId xmlns:a16="http://schemas.microsoft.com/office/drawing/2014/main" id="{AD9A05E1-271E-DF86-855C-3402A37CE6EE}"/>
              </a:ext>
            </a:extLst>
          </p:cNvPr>
          <p:cNvPicPr preferRelativeResize="0"/>
          <p:nvPr userDrawn="1"/>
        </p:nvPicPr>
        <p:blipFill>
          <a:blip r:embed="rId2">
            <a:alphaModFix amt="12000"/>
          </a:blip>
          <a:stretch>
            <a:fillRect/>
          </a:stretch>
        </p:blipFill>
        <p:spPr>
          <a:xfrm>
            <a:off x="-3" y="0"/>
            <a:ext cx="9144000" cy="5143500"/>
          </a:xfrm>
          <a:prstGeom prst="rect">
            <a:avLst/>
          </a:prstGeom>
          <a:noFill/>
          <a:ln>
            <a:noFill/>
          </a:ln>
        </p:spPr>
      </p:pic>
    </p:spTree>
    <p:extLst>
      <p:ext uri="{BB962C8B-B14F-4D97-AF65-F5344CB8AC3E}">
        <p14:creationId xmlns:p14="http://schemas.microsoft.com/office/powerpoint/2010/main" val="3322039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eño personalizado">
    <p:bg>
      <p:bgRef idx="1001">
        <a:schemeClr val="bg1"/>
      </p:bgRef>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077D320-9EC5-A233-F3F1-072E9662FFBA}"/>
              </a:ext>
            </a:extLst>
          </p:cNvPr>
          <p:cNvSpPr>
            <a:spLocks noGrp="1"/>
          </p:cNvSpPr>
          <p:nvPr>
            <p:ph type="sldNum" sz="quarter" idx="10"/>
          </p:nvPr>
        </p:nvSpPr>
        <p:spPr/>
        <p:txBody>
          <a:bodyPr/>
          <a:lstStyle/>
          <a:p>
            <a:fld id="{2FE31968-4ACB-4FDC-A729-E0AFD0CA931C}" type="slidenum">
              <a:rPr lang="es-CO" smtClean="0"/>
              <a:t>‹Nº›</a:t>
            </a:fld>
            <a:endParaRPr lang="es-CO"/>
          </a:p>
        </p:txBody>
      </p:sp>
    </p:spTree>
    <p:extLst>
      <p:ext uri="{BB962C8B-B14F-4D97-AF65-F5344CB8AC3E}">
        <p14:creationId xmlns:p14="http://schemas.microsoft.com/office/powerpoint/2010/main" val="21527593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7555" y="711622"/>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2pPr>
            <a:lvl3pPr lvl="2">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3pPr>
            <a:lvl4pPr lvl="3">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4pPr>
            <a:lvl5pPr lvl="4">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5pPr>
            <a:lvl6pPr lvl="5">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6pPr>
            <a:lvl7pPr lvl="6">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7pPr>
            <a:lvl8pPr lvl="7">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8pPr>
            <a:lvl9pPr lvl="8">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9pPr>
          </a:lstStyle>
          <a:p>
            <a:endParaRPr dirty="0"/>
          </a:p>
        </p:txBody>
      </p:sp>
      <p:sp>
        <p:nvSpPr>
          <p:cNvPr id="7" name="Google Shape;7;p1"/>
          <p:cNvSpPr txBox="1">
            <a:spLocks noGrp="1"/>
          </p:cNvSpPr>
          <p:nvPr>
            <p:ph type="body" idx="1"/>
          </p:nvPr>
        </p:nvSpPr>
        <p:spPr>
          <a:xfrm>
            <a:off x="305585" y="1448419"/>
            <a:ext cx="8520600" cy="3184621"/>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dirty="0"/>
          </a:p>
        </p:txBody>
      </p:sp>
      <p:pic>
        <p:nvPicPr>
          <p:cNvPr id="4" name="Imagen 3">
            <a:extLst>
              <a:ext uri="{FF2B5EF4-FFF2-40B4-BE49-F238E27FC236}">
                <a16:creationId xmlns:a16="http://schemas.microsoft.com/office/drawing/2014/main" id="{60FC9AC8-8B9B-C356-BE60-A5E249FA5D4A}"/>
              </a:ext>
            </a:extLst>
          </p:cNvPr>
          <p:cNvPicPr>
            <a:picLocks noChangeAspect="1"/>
          </p:cNvPicPr>
          <p:nvPr userDrawn="1"/>
        </p:nvPicPr>
        <p:blipFill rotWithShape="1">
          <a:blip r:embed="rId22">
            <a:duotone>
              <a:schemeClr val="accent3">
                <a:shade val="45000"/>
                <a:satMod val="135000"/>
              </a:schemeClr>
              <a:prstClr val="white"/>
            </a:duotone>
            <a:extLst>
              <a:ext uri="{BEBA8EAE-BF5A-486C-A8C5-ECC9F3942E4B}">
                <a14:imgProps xmlns:a14="http://schemas.microsoft.com/office/drawing/2010/main">
                  <a14:imgLayer r:embed="rId23">
                    <a14:imgEffect>
                      <a14:backgroundRemoval t="9896" b="89974" l="2344" r="97461">
                        <a14:foregroundMark x1="54297" y1="27474" x2="42578" y2="19531"/>
                        <a14:foregroundMark x1="42578" y1="19531" x2="54688" y2="27734"/>
                        <a14:foregroundMark x1="54688" y1="27734" x2="96875" y2="39714"/>
                        <a14:foregroundMark x1="94336" y1="55990" x2="86328" y2="65885"/>
                        <a14:foregroundMark x1="86328" y1="65885" x2="24609" y2="80469"/>
                        <a14:foregroundMark x1="24609" y1="80469" x2="25586" y2="67057"/>
                        <a14:foregroundMark x1="25586" y1="67057" x2="48047" y2="49089"/>
                        <a14:foregroundMark x1="48047" y1="49089" x2="43945" y2="37891"/>
                        <a14:foregroundMark x1="43945" y1="37891" x2="17578" y2="22396"/>
                        <a14:foregroundMark x1="17578" y1="22396" x2="2344" y2="32031"/>
                        <a14:foregroundMark x1="2344" y1="32031" x2="11914" y2="67448"/>
                        <a14:foregroundMark x1="11914" y1="67448" x2="37305" y2="45964"/>
                        <a14:foregroundMark x1="89453" y1="71484" x2="96094" y2="68490"/>
                        <a14:foregroundMark x1="88672" y1="72526" x2="97461" y2="68620"/>
                        <a14:foregroundMark x1="45508" y1="80339" x2="48438" y2="78125"/>
                      </a14:backgroundRemoval>
                    </a14:imgEffect>
                    <a14:imgEffect>
                      <a14:saturation sat="112000"/>
                    </a14:imgEffect>
                  </a14:imgLayer>
                </a14:imgProps>
              </a:ext>
            </a:extLst>
          </a:blip>
          <a:srcRect t="60775" r="7281" b="27471"/>
          <a:stretch/>
        </p:blipFill>
        <p:spPr>
          <a:xfrm>
            <a:off x="6443128" y="-6955"/>
            <a:ext cx="2700872" cy="572700"/>
          </a:xfrm>
          <a:prstGeom prst="rect">
            <a:avLst/>
          </a:prstGeom>
          <a:gradFill>
            <a:gsLst>
              <a:gs pos="19000">
                <a:srgbClr val="0E2A47">
                  <a:alpha val="59000"/>
                  <a:lumMod val="100000"/>
                </a:srgbClr>
              </a:gs>
              <a:gs pos="33000">
                <a:schemeClr val="accent2">
                  <a:lumMod val="10000"/>
                  <a:lumOff val="90000"/>
                </a:schemeClr>
              </a:gs>
              <a:gs pos="77000">
                <a:schemeClr val="accent2">
                  <a:lumMod val="25000"/>
                  <a:lumOff val="75000"/>
                </a:schemeClr>
              </a:gs>
              <a:gs pos="100000">
                <a:schemeClr val="accent3">
                  <a:lumMod val="60000"/>
                  <a:lumOff val="40000"/>
                </a:schemeClr>
              </a:gs>
            </a:gsLst>
            <a:lin ang="10800000" scaled="1"/>
          </a:gradFill>
          <a:ln>
            <a:noFill/>
          </a:ln>
          <a:effectLst>
            <a:softEdge rad="0"/>
          </a:effectLst>
        </p:spPr>
      </p:pic>
      <p:pic>
        <p:nvPicPr>
          <p:cNvPr id="9" name="Google Shape;28;p4">
            <a:extLst>
              <a:ext uri="{FF2B5EF4-FFF2-40B4-BE49-F238E27FC236}">
                <a16:creationId xmlns:a16="http://schemas.microsoft.com/office/drawing/2014/main" id="{C838CF9F-1988-524C-8E01-03AB6CF3D3E1}"/>
              </a:ext>
            </a:extLst>
          </p:cNvPr>
          <p:cNvPicPr preferRelativeResize="0"/>
          <p:nvPr userDrawn="1"/>
        </p:nvPicPr>
        <p:blipFill>
          <a:blip r:embed="rId24">
            <a:alphaModFix amt="70000"/>
          </a:blip>
          <a:stretch>
            <a:fillRect/>
          </a:stretch>
        </p:blipFill>
        <p:spPr>
          <a:xfrm>
            <a:off x="8420241" y="4668168"/>
            <a:ext cx="911641" cy="950664"/>
          </a:xfrm>
          <a:prstGeom prst="rect">
            <a:avLst/>
          </a:prstGeom>
          <a:noFill/>
          <a:ln>
            <a:noFill/>
          </a:ln>
        </p:spPr>
      </p:pic>
      <p:pic>
        <p:nvPicPr>
          <p:cNvPr id="10" name="Imagen 9">
            <a:extLst>
              <a:ext uri="{FF2B5EF4-FFF2-40B4-BE49-F238E27FC236}">
                <a16:creationId xmlns:a16="http://schemas.microsoft.com/office/drawing/2014/main" id="{E968E9F5-C031-8916-0772-8842EBF6AC4A}"/>
              </a:ext>
            </a:extLst>
          </p:cNvPr>
          <p:cNvPicPr>
            <a:picLocks noChangeAspect="1"/>
          </p:cNvPicPr>
          <p:nvPr userDrawn="1"/>
        </p:nvPicPr>
        <p:blipFill rotWithShape="1">
          <a:blip r:embed="rId25"/>
          <a:srcRect l="1" r="57412"/>
          <a:stretch/>
        </p:blipFill>
        <p:spPr>
          <a:xfrm>
            <a:off x="213505" y="11159"/>
            <a:ext cx="1161848" cy="556689"/>
          </a:xfrm>
          <a:prstGeom prst="rect">
            <a:avLst/>
          </a:prstGeom>
        </p:spPr>
      </p:pic>
      <p:sp>
        <p:nvSpPr>
          <p:cNvPr id="24" name="CuadroTexto 23">
            <a:extLst>
              <a:ext uri="{FF2B5EF4-FFF2-40B4-BE49-F238E27FC236}">
                <a16:creationId xmlns:a16="http://schemas.microsoft.com/office/drawing/2014/main" id="{1B677341-6345-4681-C896-F97AE06C9832}"/>
              </a:ext>
            </a:extLst>
          </p:cNvPr>
          <p:cNvSpPr txBox="1"/>
          <p:nvPr userDrawn="1"/>
        </p:nvSpPr>
        <p:spPr>
          <a:xfrm>
            <a:off x="8606436" y="4864819"/>
            <a:ext cx="269626" cy="276999"/>
          </a:xfrm>
          <a:prstGeom prst="rect">
            <a:avLst/>
          </a:prstGeom>
          <a:noFill/>
        </p:spPr>
        <p:txBody>
          <a:bodyPr wrap="none" rtlCol="0">
            <a:spAutoFit/>
          </a:bodyPr>
          <a:lstStyle/>
          <a:p>
            <a:r>
              <a:rPr lang="es-CO" sz="1200" dirty="0">
                <a:solidFill>
                  <a:schemeClr val="bg1"/>
                </a:solidFill>
              </a:rPr>
              <a:t>1</a:t>
            </a:r>
            <a:endParaRPr lang="es-ES" sz="1200" dirty="0">
              <a:solidFill>
                <a:schemeClr val="bg1"/>
              </a:solidFill>
            </a:endParaRPr>
          </a:p>
        </p:txBody>
      </p:sp>
      <p:sp>
        <p:nvSpPr>
          <p:cNvPr id="27" name="Rectángulo: esquinas redondeadas 26">
            <a:extLst>
              <a:ext uri="{FF2B5EF4-FFF2-40B4-BE49-F238E27FC236}">
                <a16:creationId xmlns:a16="http://schemas.microsoft.com/office/drawing/2014/main" id="{03C48C39-10AC-00E1-8439-5BCADFB10EA4}"/>
              </a:ext>
            </a:extLst>
          </p:cNvPr>
          <p:cNvSpPr/>
          <p:nvPr userDrawn="1"/>
        </p:nvSpPr>
        <p:spPr>
          <a:xfrm>
            <a:off x="2700873" y="-3427"/>
            <a:ext cx="6481958" cy="569172"/>
          </a:xfrm>
          <a:prstGeom prst="roundRect">
            <a:avLst/>
          </a:prstGeom>
          <a:gradFill flip="none" rotWithShape="1">
            <a:gsLst>
              <a:gs pos="19000">
                <a:srgbClr val="0E2A47">
                  <a:alpha val="59000"/>
                  <a:lumMod val="100000"/>
                </a:srgbClr>
              </a:gs>
              <a:gs pos="43000">
                <a:schemeClr val="accent2">
                  <a:lumMod val="10000"/>
                  <a:lumOff val="90000"/>
                </a:schemeClr>
              </a:gs>
              <a:gs pos="69000">
                <a:schemeClr val="accent2">
                  <a:lumMod val="25000"/>
                  <a:lumOff val="75000"/>
                </a:schemeClr>
              </a:gs>
              <a:gs pos="98230">
                <a:srgbClr val="0E2A47"/>
              </a:gs>
              <a:gs pos="84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4" name="Marcador de número de diapositiva 33">
            <a:extLst>
              <a:ext uri="{FF2B5EF4-FFF2-40B4-BE49-F238E27FC236}">
                <a16:creationId xmlns:a16="http://schemas.microsoft.com/office/drawing/2014/main" id="{882642BA-E753-0526-0DB1-979EB663AD8D}"/>
              </a:ext>
            </a:extLst>
          </p:cNvPr>
          <p:cNvSpPr>
            <a:spLocks noGrp="1"/>
          </p:cNvSpPr>
          <p:nvPr>
            <p:ph type="sldNum" sz="quarter" idx="4"/>
          </p:nvPr>
        </p:nvSpPr>
        <p:spPr>
          <a:xfrm>
            <a:off x="6964577"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FE31968-4ACB-4FDC-A729-E0AFD0CA931C}" type="slidenum">
              <a:rPr lang="es-CO" smtClean="0"/>
              <a:t>‹Nº›</a:t>
            </a:fld>
            <a:endParaRPr lang="es-CO"/>
          </a:p>
        </p:txBody>
      </p:sp>
      <p:pic>
        <p:nvPicPr>
          <p:cNvPr id="5" name="Imagen 4" descr="Imagen que contiene señal&#10;&#10;Descripción generada automáticamente">
            <a:extLst>
              <a:ext uri="{FF2B5EF4-FFF2-40B4-BE49-F238E27FC236}">
                <a16:creationId xmlns:a16="http://schemas.microsoft.com/office/drawing/2014/main" id="{AA992F98-CF33-2388-CD15-8BE6A34588BE}"/>
              </a:ext>
            </a:extLst>
          </p:cNvPr>
          <p:cNvPicPr>
            <a:picLocks noChangeAspect="1"/>
          </p:cNvPicPr>
          <p:nvPr userDrawn="1"/>
        </p:nvPicPr>
        <p:blipFill>
          <a:blip r:embed="rId26"/>
          <a:stretch>
            <a:fillRect/>
          </a:stretch>
        </p:blipFill>
        <p:spPr>
          <a:xfrm>
            <a:off x="3375481" y="11159"/>
            <a:ext cx="356259" cy="540000"/>
          </a:xfrm>
          <a:prstGeom prst="rect">
            <a:avLst/>
          </a:prstGeom>
        </p:spPr>
      </p:pic>
      <p:sp>
        <p:nvSpPr>
          <p:cNvPr id="2" name="Rectángulo 1">
            <a:extLst>
              <a:ext uri="{FF2B5EF4-FFF2-40B4-BE49-F238E27FC236}">
                <a16:creationId xmlns:a16="http://schemas.microsoft.com/office/drawing/2014/main" id="{9C7EBD3B-61F3-6418-1C94-41562CE9B0D7}"/>
              </a:ext>
            </a:extLst>
          </p:cNvPr>
          <p:cNvSpPr/>
          <p:nvPr userDrawn="1"/>
        </p:nvSpPr>
        <p:spPr>
          <a:xfrm>
            <a:off x="3777571" y="98234"/>
            <a:ext cx="4572000" cy="369332"/>
          </a:xfrm>
          <a:prstGeom prst="rect">
            <a:avLst/>
          </a:prstGeom>
        </p:spPr>
        <p:txBody>
          <a:bodyPr>
            <a:spAutoFit/>
          </a:bodyPr>
          <a:lstStyle/>
          <a:p>
            <a:r>
              <a:rPr lang="en-US" sz="900" noProof="0" dirty="0">
                <a:solidFill>
                  <a:srgbClr val="0E2A47"/>
                </a:solidFill>
              </a:rPr>
              <a:t>Department of Civil and Environmental Engineering </a:t>
            </a:r>
          </a:p>
          <a:p>
            <a:r>
              <a:rPr lang="en-US" sz="900" noProof="0" dirty="0">
                <a:solidFill>
                  <a:srgbClr val="0E2A47"/>
                </a:solidFill>
              </a:rPr>
              <a:t>Water Supply and Sewers Systems Research Center</a:t>
            </a:r>
          </a:p>
        </p:txBody>
      </p:sp>
    </p:spTree>
    <p:extLst>
      <p:ext uri="{BB962C8B-B14F-4D97-AF65-F5344CB8AC3E}">
        <p14:creationId xmlns:p14="http://schemas.microsoft.com/office/powerpoint/2010/main" val="4011355625"/>
      </p:ext>
    </p:extLst>
  </p:cSld>
  <p:clrMap bg1="lt1" tx1="dk1" bg2="lt2" tx2="dk2" accent1="accent1" accent2="accent2" accent3="accent3" accent4="accent4" accent5="accent5" accent6="accent6" hlink="hlink" folHlink="folHlink"/>
  <p:sldLayoutIdLst>
    <p:sldLayoutId id="2147483716" r:id="rId1"/>
    <p:sldLayoutId id="2147483684" r:id="rId2"/>
    <p:sldLayoutId id="2147483685" r:id="rId3"/>
    <p:sldLayoutId id="2147483686" r:id="rId4"/>
    <p:sldLayoutId id="2147483688" r:id="rId5"/>
    <p:sldLayoutId id="2147483718" r:id="rId6"/>
    <p:sldLayoutId id="2147483719" r:id="rId7"/>
    <p:sldLayoutId id="2147483689" r:id="rId8"/>
    <p:sldLayoutId id="2147483691" r:id="rId9"/>
    <p:sldLayoutId id="2147483692" r:id="rId10"/>
    <p:sldLayoutId id="2147483693" r:id="rId11"/>
    <p:sldLayoutId id="2147483695" r:id="rId12"/>
    <p:sldLayoutId id="2147483696" r:id="rId13"/>
    <p:sldLayoutId id="2147483700" r:id="rId14"/>
    <p:sldLayoutId id="2147483701" r:id="rId15"/>
    <p:sldLayoutId id="2147483702" r:id="rId16"/>
    <p:sldLayoutId id="2147483703" r:id="rId17"/>
    <p:sldLayoutId id="2147483704" r:id="rId18"/>
    <p:sldLayoutId id="2147483714" r:id="rId19"/>
    <p:sldLayoutId id="214748371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16/j.watres.2022.118972"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16/j.watres.2024.122396"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16/j.watres.2025.125079"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doi.org/10.1016/j.watres.2025.125079" TargetMode="External"/><Relationship Id="rId5" Type="http://schemas.openxmlformats.org/officeDocument/2006/relationships/hyperlink" Target="https://doi.org/10.1016/j.watres.2024.122396" TargetMode="External"/><Relationship Id="rId4" Type="http://schemas.openxmlformats.org/officeDocument/2006/relationships/hyperlink" Target="https://doi.org/10.1016/j.watres.2022.118972"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1</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15</a:t>
            </a:r>
            <a:r>
              <a:rPr lang="en-US" noProof="0" dirty="0"/>
              <a:t>/09/2026</a:t>
            </a:r>
          </a:p>
        </p:txBody>
      </p:sp>
    </p:spTree>
    <p:extLst>
      <p:ext uri="{BB962C8B-B14F-4D97-AF65-F5344CB8AC3E}">
        <p14:creationId xmlns:p14="http://schemas.microsoft.com/office/powerpoint/2010/main" val="2916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9CAFC-5177-D67A-6614-34FBD698874E}"/>
              </a:ext>
            </a:extLst>
          </p:cNvPr>
          <p:cNvSpPr>
            <a:spLocks noGrp="1"/>
          </p:cNvSpPr>
          <p:nvPr>
            <p:ph type="ctrTitle"/>
          </p:nvPr>
        </p:nvSpPr>
        <p:spPr>
          <a:xfrm>
            <a:off x="579732" y="629031"/>
            <a:ext cx="8259468" cy="682937"/>
          </a:xfrm>
        </p:spPr>
        <p:txBody>
          <a:bodyPr/>
          <a:lstStyle/>
          <a:p>
            <a:pPr algn="ctr"/>
            <a:r>
              <a:rPr lang="es-CO" sz="3600" dirty="0"/>
              <a:t>Cronograma Tesis II</a:t>
            </a:r>
          </a:p>
        </p:txBody>
      </p:sp>
      <p:sp>
        <p:nvSpPr>
          <p:cNvPr id="4" name="Marcador de número de diapositiva 3">
            <a:extLst>
              <a:ext uri="{FF2B5EF4-FFF2-40B4-BE49-F238E27FC236}">
                <a16:creationId xmlns:a16="http://schemas.microsoft.com/office/drawing/2014/main" id="{BAA8C51F-8A78-1D8A-B04C-3F51073EB7EC}"/>
              </a:ext>
            </a:extLst>
          </p:cNvPr>
          <p:cNvSpPr>
            <a:spLocks noGrp="1"/>
          </p:cNvSpPr>
          <p:nvPr>
            <p:ph type="sldNum" sz="quarter" idx="4"/>
          </p:nvPr>
        </p:nvSpPr>
        <p:spPr/>
        <p:txBody>
          <a:bodyPr/>
          <a:lstStyle/>
          <a:p>
            <a:fld id="{585754B4-F252-4673-A93E-AFAD19F3B91A}" type="slidenum">
              <a:rPr lang="es-CO" smtClean="0"/>
              <a:t>2</a:t>
            </a:fld>
            <a:endParaRPr lang="es-CO"/>
          </a:p>
        </p:txBody>
      </p:sp>
      <p:sp>
        <p:nvSpPr>
          <p:cNvPr id="3" name="AutoShape 2" descr="Cronograma actualizado">
            <a:extLst>
              <a:ext uri="{FF2B5EF4-FFF2-40B4-BE49-F238E27FC236}">
                <a16:creationId xmlns:a16="http://schemas.microsoft.com/office/drawing/2014/main" id="{391512BD-75DB-46B7-9427-7D00345A21F8}"/>
              </a:ext>
            </a:extLst>
          </p:cNvPr>
          <p:cNvSpPr>
            <a:spLocks noChangeAspect="1" noChangeArrowheads="1"/>
          </p:cNvSpPr>
          <p:nvPr/>
        </p:nvSpPr>
        <p:spPr bwMode="auto">
          <a:xfrm>
            <a:off x="4419600" y="2419350"/>
            <a:ext cx="3358308" cy="3358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A7D4184A-46BC-4EFA-BF41-F2D33FE988AF}"/>
              </a:ext>
            </a:extLst>
          </p:cNvPr>
          <p:cNvPicPr>
            <a:picLocks noChangeAspect="1"/>
          </p:cNvPicPr>
          <p:nvPr/>
        </p:nvPicPr>
        <p:blipFill rotWithShape="1">
          <a:blip r:embed="rId2"/>
          <a:srcRect l="30741" t="11123" r="2222" b="9558"/>
          <a:stretch/>
        </p:blipFill>
        <p:spPr>
          <a:xfrm>
            <a:off x="948266" y="1172904"/>
            <a:ext cx="7247467" cy="3970596"/>
          </a:xfrm>
          <a:prstGeom prst="rect">
            <a:avLst/>
          </a:prstGeom>
        </p:spPr>
      </p:pic>
    </p:spTree>
    <p:extLst>
      <p:ext uri="{BB962C8B-B14F-4D97-AF65-F5344CB8AC3E}">
        <p14:creationId xmlns:p14="http://schemas.microsoft.com/office/powerpoint/2010/main" val="238470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4FA5-8482-AF15-2C20-2ECA027AAF8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CAB1E0C-009F-75F6-A7E1-8E163B3B0C9A}"/>
              </a:ext>
            </a:extLst>
          </p:cNvPr>
          <p:cNvSpPr>
            <a:spLocks noGrp="1"/>
          </p:cNvSpPr>
          <p:nvPr>
            <p:ph type="sldNum" sz="quarter" idx="4"/>
          </p:nvPr>
        </p:nvSpPr>
        <p:spPr/>
        <p:txBody>
          <a:bodyPr/>
          <a:lstStyle/>
          <a:p>
            <a:fld id="{585754B4-F252-4673-A93E-AFAD19F3B91A}" type="slidenum">
              <a:rPr lang="es-CO" smtClean="0"/>
              <a:t>3</a:t>
            </a:fld>
            <a:endParaRPr lang="es-CO"/>
          </a:p>
        </p:txBody>
      </p:sp>
      <p:pic>
        <p:nvPicPr>
          <p:cNvPr id="3" name="Imagen 2">
            <a:extLst>
              <a:ext uri="{FF2B5EF4-FFF2-40B4-BE49-F238E27FC236}">
                <a16:creationId xmlns:a16="http://schemas.microsoft.com/office/drawing/2014/main" id="{571CD7F5-D937-D25E-8F98-B9EE4D4689DC}"/>
              </a:ext>
            </a:extLst>
          </p:cNvPr>
          <p:cNvPicPr>
            <a:picLocks noChangeAspect="1"/>
          </p:cNvPicPr>
          <p:nvPr/>
        </p:nvPicPr>
        <p:blipFill>
          <a:blip r:embed="rId3"/>
          <a:srcRect t="4823" b="57003"/>
          <a:stretch>
            <a:fillRect/>
          </a:stretch>
        </p:blipFill>
        <p:spPr>
          <a:xfrm>
            <a:off x="498517" y="1375143"/>
            <a:ext cx="8146966" cy="2764465"/>
          </a:xfrm>
          <a:prstGeom prst="rect">
            <a:avLst/>
          </a:prstGeom>
        </p:spPr>
      </p:pic>
    </p:spTree>
    <p:extLst>
      <p:ext uri="{BB962C8B-B14F-4D97-AF65-F5344CB8AC3E}">
        <p14:creationId xmlns:p14="http://schemas.microsoft.com/office/powerpoint/2010/main" val="334200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315B-EC17-2E0E-77A8-7C956F9AD02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E387F3A-E029-914C-63E6-E3BA7A18477E}"/>
              </a:ext>
            </a:extLst>
          </p:cNvPr>
          <p:cNvSpPr>
            <a:spLocks noGrp="1"/>
          </p:cNvSpPr>
          <p:nvPr>
            <p:ph type="sldNum" sz="quarter" idx="4"/>
          </p:nvPr>
        </p:nvSpPr>
        <p:spPr/>
        <p:txBody>
          <a:bodyPr/>
          <a:lstStyle/>
          <a:p>
            <a:fld id="{585754B4-F252-4673-A93E-AFAD19F3B91A}" type="slidenum">
              <a:rPr lang="es-CO" smtClean="0"/>
              <a:t>4</a:t>
            </a:fld>
            <a:endParaRPr lang="es-CO"/>
          </a:p>
        </p:txBody>
      </p:sp>
      <p:pic>
        <p:nvPicPr>
          <p:cNvPr id="5" name="Imagen 4">
            <a:extLst>
              <a:ext uri="{FF2B5EF4-FFF2-40B4-BE49-F238E27FC236}">
                <a16:creationId xmlns:a16="http://schemas.microsoft.com/office/drawing/2014/main" id="{8AA93BC3-14B7-9383-36AF-D772AA33648F}"/>
              </a:ext>
            </a:extLst>
          </p:cNvPr>
          <p:cNvPicPr>
            <a:picLocks noChangeAspect="1"/>
          </p:cNvPicPr>
          <p:nvPr/>
        </p:nvPicPr>
        <p:blipFill>
          <a:blip r:embed="rId3"/>
          <a:srcRect t="42309"/>
          <a:stretch>
            <a:fillRect/>
          </a:stretch>
        </p:blipFill>
        <p:spPr>
          <a:xfrm>
            <a:off x="587753" y="886046"/>
            <a:ext cx="7968493" cy="4086360"/>
          </a:xfrm>
          <a:prstGeom prst="rect">
            <a:avLst/>
          </a:prstGeom>
        </p:spPr>
      </p:pic>
    </p:spTree>
    <p:extLst>
      <p:ext uri="{BB962C8B-B14F-4D97-AF65-F5344CB8AC3E}">
        <p14:creationId xmlns:p14="http://schemas.microsoft.com/office/powerpoint/2010/main" val="159002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5</a:t>
            </a:fld>
            <a:endParaRPr lang="es-CO"/>
          </a:p>
        </p:txBody>
      </p:sp>
      <p:pic>
        <p:nvPicPr>
          <p:cNvPr id="6" name="Imagen 5">
            <a:extLst>
              <a:ext uri="{FF2B5EF4-FFF2-40B4-BE49-F238E27FC236}">
                <a16:creationId xmlns:a16="http://schemas.microsoft.com/office/drawing/2014/main" id="{EA65B0F5-20CF-5338-0942-2661BEFF455B}"/>
              </a:ext>
            </a:extLst>
          </p:cNvPr>
          <p:cNvPicPr>
            <a:picLocks noChangeAspect="1"/>
          </p:cNvPicPr>
          <p:nvPr/>
        </p:nvPicPr>
        <p:blipFill>
          <a:blip r:embed="rId2"/>
          <a:srcRect t="5791" b="47331"/>
          <a:stretch>
            <a:fillRect/>
          </a:stretch>
        </p:blipFill>
        <p:spPr>
          <a:xfrm>
            <a:off x="95497" y="1525227"/>
            <a:ext cx="4408714" cy="2411195"/>
          </a:xfrm>
          <a:prstGeom prst="rect">
            <a:avLst/>
          </a:prstGeom>
        </p:spPr>
      </p:pic>
      <p:pic>
        <p:nvPicPr>
          <p:cNvPr id="8" name="Imagen 7">
            <a:extLst>
              <a:ext uri="{FF2B5EF4-FFF2-40B4-BE49-F238E27FC236}">
                <a16:creationId xmlns:a16="http://schemas.microsoft.com/office/drawing/2014/main" id="{92E36C39-D4F6-88C7-C127-2DA81F3BA7D2}"/>
              </a:ext>
            </a:extLst>
          </p:cNvPr>
          <p:cNvPicPr>
            <a:picLocks noChangeAspect="1"/>
          </p:cNvPicPr>
          <p:nvPr/>
        </p:nvPicPr>
        <p:blipFill>
          <a:blip r:embed="rId2"/>
          <a:srcRect t="53121"/>
          <a:stretch>
            <a:fillRect/>
          </a:stretch>
        </p:blipFill>
        <p:spPr>
          <a:xfrm>
            <a:off x="4572000" y="1525227"/>
            <a:ext cx="4408714" cy="2411195"/>
          </a:xfrm>
          <a:prstGeom prst="rect">
            <a:avLst/>
          </a:prstGeom>
        </p:spPr>
      </p:pic>
    </p:spTree>
    <p:extLst>
      <p:ext uri="{BB962C8B-B14F-4D97-AF65-F5344CB8AC3E}">
        <p14:creationId xmlns:p14="http://schemas.microsoft.com/office/powerpoint/2010/main" val="252730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6</a:t>
            </a:fld>
            <a:endParaRPr lang="es-CO"/>
          </a:p>
        </p:txBody>
      </p:sp>
      <p:pic>
        <p:nvPicPr>
          <p:cNvPr id="3" name="Imagen 2">
            <a:extLst>
              <a:ext uri="{FF2B5EF4-FFF2-40B4-BE49-F238E27FC236}">
                <a16:creationId xmlns:a16="http://schemas.microsoft.com/office/drawing/2014/main" id="{F77ED31B-0E71-4B15-A5DD-D678D0230B3E}"/>
              </a:ext>
            </a:extLst>
          </p:cNvPr>
          <p:cNvPicPr>
            <a:picLocks noChangeAspect="1"/>
          </p:cNvPicPr>
          <p:nvPr/>
        </p:nvPicPr>
        <p:blipFill rotWithShape="1">
          <a:blip r:embed="rId2"/>
          <a:srcRect t="6516"/>
          <a:stretch/>
        </p:blipFill>
        <p:spPr>
          <a:xfrm>
            <a:off x="0" y="1140178"/>
            <a:ext cx="9144000" cy="3077660"/>
          </a:xfrm>
          <a:prstGeom prst="rect">
            <a:avLst/>
          </a:prstGeom>
        </p:spPr>
      </p:pic>
    </p:spTree>
    <p:extLst>
      <p:ext uri="{BB962C8B-B14F-4D97-AF65-F5344CB8AC3E}">
        <p14:creationId xmlns:p14="http://schemas.microsoft.com/office/powerpoint/2010/main" val="202889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626DB37-67F3-8520-E2D7-FBB1D39F3C65}"/>
              </a:ext>
            </a:extLst>
          </p:cNvPr>
          <p:cNvSpPr>
            <a:spLocks noGrp="1"/>
          </p:cNvSpPr>
          <p:nvPr>
            <p:ph type="sldNum" sz="quarter" idx="4"/>
          </p:nvPr>
        </p:nvSpPr>
        <p:spPr/>
        <p:txBody>
          <a:bodyPr/>
          <a:lstStyle/>
          <a:p>
            <a:fld id="{585754B4-F252-4673-A93E-AFAD19F3B91A}" type="slidenum">
              <a:rPr lang="es-CO" smtClean="0"/>
              <a:t>7</a:t>
            </a:fld>
            <a:endParaRPr lang="es-CO"/>
          </a:p>
        </p:txBody>
      </p:sp>
      <p:sp>
        <p:nvSpPr>
          <p:cNvPr id="11" name="Título 1">
            <a:extLst>
              <a:ext uri="{FF2B5EF4-FFF2-40B4-BE49-F238E27FC236}">
                <a16:creationId xmlns:a16="http://schemas.microsoft.com/office/drawing/2014/main" id="{CDCDC6EB-0825-9C8C-45AB-5F5ABC780E40}"/>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3" name="Imagen 2">
            <a:extLst>
              <a:ext uri="{FF2B5EF4-FFF2-40B4-BE49-F238E27FC236}">
                <a16:creationId xmlns:a16="http://schemas.microsoft.com/office/drawing/2014/main" id="{AB2179FF-67EB-4C0B-A271-9679AEDCCDB9}"/>
              </a:ext>
            </a:extLst>
          </p:cNvPr>
          <p:cNvPicPr>
            <a:picLocks noChangeAspect="1"/>
          </p:cNvPicPr>
          <p:nvPr/>
        </p:nvPicPr>
        <p:blipFill>
          <a:blip r:embed="rId2"/>
          <a:stretch>
            <a:fillRect/>
          </a:stretch>
        </p:blipFill>
        <p:spPr>
          <a:xfrm>
            <a:off x="4587624" y="1393341"/>
            <a:ext cx="4541693" cy="2838264"/>
          </a:xfrm>
          <a:prstGeom prst="rect">
            <a:avLst/>
          </a:prstGeom>
        </p:spPr>
      </p:pic>
      <p:pic>
        <p:nvPicPr>
          <p:cNvPr id="6" name="Imagen 5">
            <a:extLst>
              <a:ext uri="{FF2B5EF4-FFF2-40B4-BE49-F238E27FC236}">
                <a16:creationId xmlns:a16="http://schemas.microsoft.com/office/drawing/2014/main" id="{97322B59-3F9B-4B7A-AD0A-C2520D144A6E}"/>
              </a:ext>
            </a:extLst>
          </p:cNvPr>
          <p:cNvPicPr>
            <a:picLocks noChangeAspect="1"/>
          </p:cNvPicPr>
          <p:nvPr/>
        </p:nvPicPr>
        <p:blipFill>
          <a:blip r:embed="rId3"/>
          <a:stretch>
            <a:fillRect/>
          </a:stretch>
        </p:blipFill>
        <p:spPr>
          <a:xfrm>
            <a:off x="-85883" y="1393341"/>
            <a:ext cx="4541693" cy="2838264"/>
          </a:xfrm>
          <a:prstGeom prst="rect">
            <a:avLst/>
          </a:prstGeom>
        </p:spPr>
      </p:pic>
    </p:spTree>
    <p:extLst>
      <p:ext uri="{BB962C8B-B14F-4D97-AF65-F5344CB8AC3E}">
        <p14:creationId xmlns:p14="http://schemas.microsoft.com/office/powerpoint/2010/main" val="24480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9D52-9E34-0926-C8C1-47AA7E4EB9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BF823F5-67D7-B033-4B55-AA60FBF0B977}"/>
              </a:ext>
            </a:extLst>
          </p:cNvPr>
          <p:cNvSpPr>
            <a:spLocks noGrp="1"/>
          </p:cNvSpPr>
          <p:nvPr>
            <p:ph type="sldNum" sz="quarter" idx="4"/>
          </p:nvPr>
        </p:nvSpPr>
        <p:spPr/>
        <p:txBody>
          <a:bodyPr/>
          <a:lstStyle/>
          <a:p>
            <a:fld id="{585754B4-F252-4673-A93E-AFAD19F3B91A}" type="slidenum">
              <a:rPr lang="es-CO" smtClean="0"/>
              <a:t>8</a:t>
            </a:fld>
            <a:endParaRPr lang="es-CO"/>
          </a:p>
        </p:txBody>
      </p:sp>
      <p:sp>
        <p:nvSpPr>
          <p:cNvPr id="11" name="Título 1">
            <a:extLst>
              <a:ext uri="{FF2B5EF4-FFF2-40B4-BE49-F238E27FC236}">
                <a16:creationId xmlns:a16="http://schemas.microsoft.com/office/drawing/2014/main" id="{96B9EDD6-4D4B-372B-3595-7F663CA86EDA}"/>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5" name="Imagen 4">
            <a:extLst>
              <a:ext uri="{FF2B5EF4-FFF2-40B4-BE49-F238E27FC236}">
                <a16:creationId xmlns:a16="http://schemas.microsoft.com/office/drawing/2014/main" id="{4CBD982C-AC36-4772-9DED-E98FCBBEFF41}"/>
              </a:ext>
            </a:extLst>
          </p:cNvPr>
          <p:cNvPicPr>
            <a:picLocks noChangeAspect="1"/>
          </p:cNvPicPr>
          <p:nvPr/>
        </p:nvPicPr>
        <p:blipFill>
          <a:blip r:embed="rId2"/>
          <a:stretch>
            <a:fillRect/>
          </a:stretch>
        </p:blipFill>
        <p:spPr>
          <a:xfrm>
            <a:off x="3130955" y="1457216"/>
            <a:ext cx="3157021" cy="3266398"/>
          </a:xfrm>
          <a:prstGeom prst="rect">
            <a:avLst/>
          </a:prstGeom>
        </p:spPr>
      </p:pic>
    </p:spTree>
    <p:extLst>
      <p:ext uri="{BB962C8B-B14F-4D97-AF65-F5344CB8AC3E}">
        <p14:creationId xmlns:p14="http://schemas.microsoft.com/office/powerpoint/2010/main" val="13245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FDE7-4805-3429-7AB8-8450B869FF8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2EBCF-B505-5B79-3BEF-C3568754B25C}"/>
              </a:ext>
            </a:extLst>
          </p:cNvPr>
          <p:cNvSpPr>
            <a:spLocks noGrp="1"/>
          </p:cNvSpPr>
          <p:nvPr>
            <p:ph type="sldNum" sz="quarter" idx="4"/>
          </p:nvPr>
        </p:nvSpPr>
        <p:spPr/>
        <p:txBody>
          <a:bodyPr/>
          <a:lstStyle/>
          <a:p>
            <a:fld id="{585754B4-F252-4673-A93E-AFAD19F3B91A}" type="slidenum">
              <a:rPr lang="es-CO" smtClean="0"/>
              <a:t>9</a:t>
            </a:fld>
            <a:endParaRPr lang="es-CO"/>
          </a:p>
        </p:txBody>
      </p:sp>
      <p:sp>
        <p:nvSpPr>
          <p:cNvPr id="11" name="Título 1">
            <a:extLst>
              <a:ext uri="{FF2B5EF4-FFF2-40B4-BE49-F238E27FC236}">
                <a16:creationId xmlns:a16="http://schemas.microsoft.com/office/drawing/2014/main" id="{09339CA4-DF15-7763-E093-853AF320FD65}"/>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142DFF09-AE1F-459C-ADE1-1A31CBCDC5ED}"/>
              </a:ext>
            </a:extLst>
          </p:cNvPr>
          <p:cNvPicPr>
            <a:picLocks noChangeAspect="1"/>
          </p:cNvPicPr>
          <p:nvPr/>
        </p:nvPicPr>
        <p:blipFill>
          <a:blip r:embed="rId2"/>
          <a:stretch>
            <a:fillRect/>
          </a:stretch>
        </p:blipFill>
        <p:spPr>
          <a:xfrm>
            <a:off x="265513" y="1498681"/>
            <a:ext cx="4306487" cy="2655630"/>
          </a:xfrm>
          <a:prstGeom prst="rect">
            <a:avLst/>
          </a:prstGeom>
        </p:spPr>
      </p:pic>
      <p:pic>
        <p:nvPicPr>
          <p:cNvPr id="7" name="Imagen 6">
            <a:extLst>
              <a:ext uri="{FF2B5EF4-FFF2-40B4-BE49-F238E27FC236}">
                <a16:creationId xmlns:a16="http://schemas.microsoft.com/office/drawing/2014/main" id="{D9529BE3-4746-4F1F-A4F7-5B5C00D0B122}"/>
              </a:ext>
            </a:extLst>
          </p:cNvPr>
          <p:cNvPicPr>
            <a:picLocks noChangeAspect="1"/>
          </p:cNvPicPr>
          <p:nvPr/>
        </p:nvPicPr>
        <p:blipFill>
          <a:blip r:embed="rId3"/>
          <a:stretch>
            <a:fillRect/>
          </a:stretch>
        </p:blipFill>
        <p:spPr>
          <a:xfrm>
            <a:off x="4799982" y="1498681"/>
            <a:ext cx="4226998" cy="2606612"/>
          </a:xfrm>
          <a:prstGeom prst="rect">
            <a:avLst/>
          </a:prstGeom>
        </p:spPr>
      </p:pic>
    </p:spTree>
    <p:extLst>
      <p:ext uri="{BB962C8B-B14F-4D97-AF65-F5344CB8AC3E}">
        <p14:creationId xmlns:p14="http://schemas.microsoft.com/office/powerpoint/2010/main" val="195235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76CB-76A9-EEB9-D917-4A2C0EEBF1D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F27D437-394F-8E4A-0B83-E4EDE5652BD6}"/>
              </a:ext>
            </a:extLst>
          </p:cNvPr>
          <p:cNvSpPr>
            <a:spLocks noGrp="1"/>
          </p:cNvSpPr>
          <p:nvPr>
            <p:ph type="sldNum" sz="quarter" idx="4"/>
          </p:nvPr>
        </p:nvSpPr>
        <p:spPr/>
        <p:txBody>
          <a:bodyPr/>
          <a:lstStyle/>
          <a:p>
            <a:fld id="{585754B4-F252-4673-A93E-AFAD19F3B91A}" type="slidenum">
              <a:rPr lang="es-CO" smtClean="0"/>
              <a:t>10</a:t>
            </a:fld>
            <a:endParaRPr lang="es-CO"/>
          </a:p>
        </p:txBody>
      </p:sp>
      <p:sp>
        <p:nvSpPr>
          <p:cNvPr id="11" name="Título 1">
            <a:extLst>
              <a:ext uri="{FF2B5EF4-FFF2-40B4-BE49-F238E27FC236}">
                <a16:creationId xmlns:a16="http://schemas.microsoft.com/office/drawing/2014/main" id="{4E7BB490-16C1-CBEF-4A70-93F0E7D40F3B}"/>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CA5BF9FC-2F24-4D51-BE15-55CEC2DA68B0}"/>
              </a:ext>
            </a:extLst>
          </p:cNvPr>
          <p:cNvPicPr>
            <a:picLocks noChangeAspect="1"/>
          </p:cNvPicPr>
          <p:nvPr/>
        </p:nvPicPr>
        <p:blipFill>
          <a:blip r:embed="rId2"/>
          <a:stretch>
            <a:fillRect/>
          </a:stretch>
        </p:blipFill>
        <p:spPr>
          <a:xfrm>
            <a:off x="2659149" y="1174648"/>
            <a:ext cx="3825701" cy="3831533"/>
          </a:xfrm>
          <a:prstGeom prst="rect">
            <a:avLst/>
          </a:prstGeom>
        </p:spPr>
      </p:pic>
    </p:spTree>
    <p:extLst>
      <p:ext uri="{BB962C8B-B14F-4D97-AF65-F5344CB8AC3E}">
        <p14:creationId xmlns:p14="http://schemas.microsoft.com/office/powerpoint/2010/main" val="26350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FB974-508E-4911-A51E-8A1258E6DCB0}"/>
              </a:ext>
            </a:extLst>
          </p:cNvPr>
          <p:cNvSpPr>
            <a:spLocks noGrp="1"/>
          </p:cNvSpPr>
          <p:nvPr>
            <p:ph type="ctrTitle"/>
          </p:nvPr>
        </p:nvSpPr>
        <p:spPr>
          <a:xfrm>
            <a:off x="753684" y="712063"/>
            <a:ext cx="6728028" cy="1948500"/>
          </a:xfrm>
        </p:spPr>
        <p:txBody>
          <a:bodyPr/>
          <a:lstStyle/>
          <a:p>
            <a:r>
              <a:rPr lang="es-CO" sz="2400" dirty="0"/>
              <a:t>Hidrogramas de validación</a:t>
            </a:r>
          </a:p>
        </p:txBody>
      </p:sp>
      <p:sp>
        <p:nvSpPr>
          <p:cNvPr id="4" name="Marcador de número de diapositiva 3">
            <a:extLst>
              <a:ext uri="{FF2B5EF4-FFF2-40B4-BE49-F238E27FC236}">
                <a16:creationId xmlns:a16="http://schemas.microsoft.com/office/drawing/2014/main" id="{D677A189-3140-48BF-983E-8EAC48737321}"/>
              </a:ext>
            </a:extLst>
          </p:cNvPr>
          <p:cNvSpPr>
            <a:spLocks noGrp="1"/>
          </p:cNvSpPr>
          <p:nvPr>
            <p:ph type="sldNum" sz="quarter" idx="4"/>
          </p:nvPr>
        </p:nvSpPr>
        <p:spPr/>
        <p:txBody>
          <a:bodyPr/>
          <a:lstStyle/>
          <a:p>
            <a:fld id="{585754B4-F252-4673-A93E-AFAD19F3B91A}" type="slidenum">
              <a:rPr lang="es-CO" smtClean="0"/>
              <a:t>11</a:t>
            </a:fld>
            <a:endParaRPr lang="es-CO"/>
          </a:p>
        </p:txBody>
      </p:sp>
      <p:pic>
        <p:nvPicPr>
          <p:cNvPr id="6" name="Imagen 5">
            <a:extLst>
              <a:ext uri="{FF2B5EF4-FFF2-40B4-BE49-F238E27FC236}">
                <a16:creationId xmlns:a16="http://schemas.microsoft.com/office/drawing/2014/main" id="{28B79CF2-DA30-4611-B391-F0715A55DA2E}"/>
              </a:ext>
            </a:extLst>
          </p:cNvPr>
          <p:cNvPicPr>
            <a:picLocks noChangeAspect="1"/>
          </p:cNvPicPr>
          <p:nvPr/>
        </p:nvPicPr>
        <p:blipFill rotWithShape="1">
          <a:blip r:embed="rId2"/>
          <a:srcRect t="6816"/>
          <a:stretch/>
        </p:blipFill>
        <p:spPr>
          <a:xfrm>
            <a:off x="169112" y="1185334"/>
            <a:ext cx="8805775" cy="3584770"/>
          </a:xfrm>
          <a:prstGeom prst="rect">
            <a:avLst/>
          </a:prstGeom>
        </p:spPr>
      </p:pic>
    </p:spTree>
    <p:extLst>
      <p:ext uri="{BB962C8B-B14F-4D97-AF65-F5344CB8AC3E}">
        <p14:creationId xmlns:p14="http://schemas.microsoft.com/office/powerpoint/2010/main" val="1628622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43497D6-9EFC-5C3C-3D97-5839F30B0410}"/>
              </a:ext>
            </a:extLst>
          </p:cNvPr>
          <p:cNvSpPr>
            <a:spLocks noGrp="1"/>
          </p:cNvSpPr>
          <p:nvPr>
            <p:ph type="sldNum" sz="quarter" idx="4"/>
          </p:nvPr>
        </p:nvSpPr>
        <p:spPr/>
        <p:txBody>
          <a:bodyPr/>
          <a:lstStyle/>
          <a:p>
            <a:fld id="{585754B4-F252-4673-A93E-AFAD19F3B91A}" type="slidenum">
              <a:rPr lang="es-CO" smtClean="0"/>
              <a:t>12</a:t>
            </a:fld>
            <a:endParaRPr lang="es-CO"/>
          </a:p>
        </p:txBody>
      </p:sp>
      <p:graphicFrame>
        <p:nvGraphicFramePr>
          <p:cNvPr id="7" name="Tabla 9">
            <a:extLst>
              <a:ext uri="{FF2B5EF4-FFF2-40B4-BE49-F238E27FC236}">
                <a16:creationId xmlns:a16="http://schemas.microsoft.com/office/drawing/2014/main" id="{AB3D8465-6913-E28D-A772-257D3B80A86F}"/>
              </a:ext>
            </a:extLst>
          </p:cNvPr>
          <p:cNvGraphicFramePr>
            <a:graphicFrameLocks noGrp="1"/>
          </p:cNvGraphicFramePr>
          <p:nvPr>
            <p:extLst>
              <p:ext uri="{D42A27DB-BD31-4B8C-83A1-F6EECF244321}">
                <p14:modId xmlns:p14="http://schemas.microsoft.com/office/powerpoint/2010/main" val="4119193712"/>
              </p:ext>
            </p:extLst>
          </p:nvPr>
        </p:nvGraphicFramePr>
        <p:xfrm>
          <a:off x="341208" y="1018309"/>
          <a:ext cx="8269391" cy="3539482"/>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1</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Ampliar considerablemente el conjunto de simulaciones: generar más información de entrenamiento antes de concluir que se necesita cambiar la arquitectura del modelo.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2</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Aumentar la diversidad de los escenarios de entrenamiento: incorporar eventos extremos, combinaciones poco frecuentes y condiciones fuera del rango actualmente considerado.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3</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Explicar claramente la clasificación binaria: describir el criterio utilizado para determinar si ocurre o no inundación en un nodo y cómo se asignan las clases.</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información que conduce a la clasificación: analizar qué variables y condiciones hidráulicas llevan al modelo a predecir inundación o no inundación.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Aclarar la terminología de las variables hidráulicas: definir con precisión la diferencia entre incoming discharge, inflow y las variables relacionadas con la magnitud o el escalamiento del caudal.</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Asegurar una comparación justa entre modelos: indicar explícitamente que todos fueron entrenados y evaluados con los mismos datos, particiones, métricas y procedimientos de validación.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chemeClr val="bg1"/>
                          </a:solidFill>
                        </a:rPr>
                        <a:t>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Incorporar información temporal, espacial y topológica: incluir descriptores de la evolución del evento, del estado hidráulico previo y de las relaciones entre nodos vecinos, aguas arriba y aguas abajo.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 Alejandra Tabares</a:t>
                      </a:r>
                    </a:p>
                  </a:txBody>
                  <a:tcPr>
                    <a:solidFill>
                      <a:srgbClr val="FFFFB3"/>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13914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294EAF-EDC7-1E8C-E44E-837C2B6FC7B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FA138E4-B0F9-7A69-20CB-7E01BE5FC2ED}"/>
              </a:ext>
            </a:extLst>
          </p:cNvPr>
          <p:cNvSpPr>
            <a:spLocks noGrp="1"/>
          </p:cNvSpPr>
          <p:nvPr>
            <p:ph type="sldNum" sz="quarter" idx="4"/>
          </p:nvPr>
        </p:nvSpPr>
        <p:spPr/>
        <p:txBody>
          <a:bodyPr/>
          <a:lstStyle/>
          <a:p>
            <a:fld id="{585754B4-F252-4673-A93E-AFAD19F3B91A}" type="slidenum">
              <a:rPr lang="es-CO" smtClean="0"/>
              <a:t>13</a:t>
            </a:fld>
            <a:endParaRPr lang="es-CO"/>
          </a:p>
        </p:txBody>
      </p:sp>
      <p:graphicFrame>
        <p:nvGraphicFramePr>
          <p:cNvPr id="7" name="Tabla 9">
            <a:extLst>
              <a:ext uri="{FF2B5EF4-FFF2-40B4-BE49-F238E27FC236}">
                <a16:creationId xmlns:a16="http://schemas.microsoft.com/office/drawing/2014/main" id="{99180F23-7B54-B0E8-E28E-651F0632C479}"/>
              </a:ext>
            </a:extLst>
          </p:cNvPr>
          <p:cNvGraphicFramePr>
            <a:graphicFrameLocks noGrp="1"/>
          </p:cNvGraphicFramePr>
          <p:nvPr>
            <p:extLst>
              <p:ext uri="{D42A27DB-BD31-4B8C-83A1-F6EECF244321}">
                <p14:modId xmlns:p14="http://schemas.microsoft.com/office/powerpoint/2010/main" val="417949955"/>
              </p:ext>
            </p:extLst>
          </p:nvPr>
        </p:nvGraphicFramePr>
        <p:xfrm>
          <a:off x="341208" y="1018309"/>
          <a:ext cx="8269391" cy="400620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8</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Implementar una búsqueda sistemática de hiperparámetros: explicar claramente el procedimiento automatizado y utilizar optimización bayesiana, por ejemplo mediante Optuna.</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Alejandra Tabares, Raziyeh Farmani</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9</a:t>
                      </a:r>
                    </a:p>
                  </a:txBody>
                  <a:tcPr>
                    <a:solidFill>
                      <a:srgbClr val="A4FF9F"/>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Redefinir el objetivo principal de la investigación: precisar si el propósito es desarrollar un modelo sustituto para acelerar simulaciones hidráulicas, apoyar decisiones en tiempo real o combinar ambos alcances.</a:t>
                      </a:r>
                    </a:p>
                  </a:txBody>
                  <a:tcPr marL="9525" marR="9525" marT="9525" marB="0" anchor="ctr">
                    <a:solidFill>
                      <a:srgbClr val="A4FF9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A4FF9F"/>
                    </a:solidFill>
                  </a:tcPr>
                </a:tc>
                <a:extLst>
                  <a:ext uri="{0D108BD9-81ED-4DB2-BD59-A6C34878D82A}">
                    <a16:rowId xmlns:a16="http://schemas.microsoft.com/office/drawing/2014/main" val="1759192205"/>
                  </a:ext>
                </a:extLst>
              </a:tr>
              <a:tr h="370840">
                <a:tc>
                  <a:txBody>
                    <a:bodyPr/>
                    <a:lstStyle/>
                    <a:p>
                      <a:r>
                        <a:rPr lang="es-CO" sz="1000" dirty="0">
                          <a:solidFill>
                            <a:srgbClr val="FFFFFF"/>
                          </a:solidFill>
                        </a:rPr>
                        <a:t>10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Explicar con mayor claridad la arquitectura general del modelo: identificar las variables de entrada, las salidas predichas y la relación entre ambas.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60357366"/>
                  </a:ext>
                </a:extLst>
              </a:tr>
              <a:tr h="370840">
                <a:tc>
                  <a:txBody>
                    <a:bodyPr/>
                    <a:lstStyle/>
                    <a:p>
                      <a:r>
                        <a:rPr lang="es-CO" sz="1000" dirty="0">
                          <a:solidFill>
                            <a:srgbClr val="FFFFFF"/>
                          </a:solidFill>
                        </a:rPr>
                        <a:t>11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Mejorar la interpretación de la importancia de variables: explicar cómo se calcula la importancia y cómo debe interpretarse desde una perspectiva hidráulica.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906638111"/>
                  </a:ext>
                </a:extLst>
              </a:tr>
              <a:tr h="370840">
                <a:tc>
                  <a:txBody>
                    <a:bodyPr/>
                    <a:lstStyle/>
                    <a:p>
                      <a:r>
                        <a:rPr lang="es-CO" sz="1000" dirty="0">
                          <a:solidFill>
                            <a:srgbClr val="FFFFFF"/>
                          </a:solidFill>
                        </a:rPr>
                        <a:t>12</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la suficiencia y representatividad del dataset: justificar si el número y la diversidad de simulaciones son adecuados para entrenar los modelos y evaluar su capacidad de generalización.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189397800"/>
                  </a:ext>
                </a:extLst>
              </a:tr>
              <a:tr h="370840">
                <a:tc>
                  <a:txBody>
                    <a:bodyPr/>
                    <a:lstStyle/>
                    <a:p>
                      <a:r>
                        <a:rPr lang="es-CO" sz="1000" dirty="0">
                          <a:solidFill>
                            <a:srgbClr val="FFFFFF"/>
                          </a:solidFill>
                        </a:rPr>
                        <a:t>13</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Justificar con mayor profundidad la selección de algoritmos: explicar por qué se evaluaron modelos lineales, máquinas de vectores de soporte y XGBoost, incluyendo sus ventajas y limitaciones.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380875798"/>
                  </a:ext>
                </a:extLst>
              </a:tr>
              <a:tr h="370840">
                <a:tc>
                  <a:txBody>
                    <a:bodyPr/>
                    <a:lstStyle/>
                    <a:p>
                      <a:r>
                        <a:rPr lang="es-CO" sz="1000" dirty="0">
                          <a:solidFill>
                            <a:srgbClr val="FFFFFF"/>
                          </a:solidFill>
                        </a:rPr>
                        <a:t>14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Analizar la influencia de los hiperparámetros principales: evaluar cómo parámetros como la profundidad máxima, el número de árboles, la tasa de aprendizaje y el submuestreo afectan el desempeño.</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03816403"/>
                  </a:ext>
                </a:extLst>
              </a:tr>
              <a:tr h="370840">
                <a:tc>
                  <a:txBody>
                    <a:bodyPr/>
                    <a:lstStyle/>
                    <a:p>
                      <a:r>
                        <a:rPr lang="es-CO" sz="1000" dirty="0">
                          <a:solidFill>
                            <a:srgbClr val="FFFFFF"/>
                          </a:solidFill>
                        </a:rPr>
                        <a:t>15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Extender la validación a nuevos escenarios: evaluar la capacidad del modelo para extrapolar fuera del rango de entrenamiento e identificar las condiciones en las que sus predicciones dejan de ser confiables.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171465059"/>
                  </a:ext>
                </a:extLst>
              </a:tr>
            </a:tbl>
          </a:graphicData>
        </a:graphic>
      </p:graphicFrame>
    </p:spTree>
    <p:extLst>
      <p:ext uri="{BB962C8B-B14F-4D97-AF65-F5344CB8AC3E}">
        <p14:creationId xmlns:p14="http://schemas.microsoft.com/office/powerpoint/2010/main" val="111864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36966B-BBD8-9949-C49D-F6AA6FB942D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5310A4D-EBE8-B1B7-336E-5751D0F0E21D}"/>
              </a:ext>
            </a:extLst>
          </p:cNvPr>
          <p:cNvSpPr>
            <a:spLocks noGrp="1"/>
          </p:cNvSpPr>
          <p:nvPr>
            <p:ph type="sldNum" sz="quarter" idx="4"/>
          </p:nvPr>
        </p:nvSpPr>
        <p:spPr/>
        <p:txBody>
          <a:bodyPr/>
          <a:lstStyle/>
          <a:p>
            <a:fld id="{585754B4-F252-4673-A93E-AFAD19F3B91A}" type="slidenum">
              <a:rPr lang="es-CO" smtClean="0"/>
              <a:t>14</a:t>
            </a:fld>
            <a:endParaRPr lang="es-CO"/>
          </a:p>
        </p:txBody>
      </p:sp>
      <p:graphicFrame>
        <p:nvGraphicFramePr>
          <p:cNvPr id="7" name="Tabla 9">
            <a:extLst>
              <a:ext uri="{FF2B5EF4-FFF2-40B4-BE49-F238E27FC236}">
                <a16:creationId xmlns:a16="http://schemas.microsoft.com/office/drawing/2014/main" id="{810318F4-2DEB-026B-FE1D-3ACA7ADECB88}"/>
              </a:ext>
            </a:extLst>
          </p:cNvPr>
          <p:cNvGraphicFramePr>
            <a:graphicFrameLocks noGrp="1"/>
          </p:cNvGraphicFramePr>
          <p:nvPr>
            <p:extLst>
              <p:ext uri="{D42A27DB-BD31-4B8C-83A1-F6EECF244321}">
                <p14:modId xmlns:p14="http://schemas.microsoft.com/office/powerpoint/2010/main" val="4123426406"/>
              </p:ext>
            </p:extLst>
          </p:nvPr>
        </p:nvGraphicFramePr>
        <p:xfrm>
          <a:off x="341208" y="1018309"/>
          <a:ext cx="8269391" cy="322515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rgbClr val="FFFFFF"/>
                          </a:solidFill>
                        </a:rPr>
                        <a:t>16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discusión técnica de los resultados: interpretar el desempeño desde una perspectiva hidráulica, analizar las causas de los errores y discutir las limitaciones e implicaciones prácticas.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17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Fortalecer la revisión de literatura: ampliar y actualizar el estado del arte, precisar el vacío de investigación y explicar cómo el trabajo contribuye a abordarlo.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18</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Reforzar el rigor metodológico y la reproducibilidad: justificar las decisiones metodológicas, documentar los procedimientos y respaldarlos con literatura científica.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19</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Explorar arquitecturas neuronales espaciotemporales: después de ampliar los datos y mejorar las variables, evaluar una combinación de RNN y CNN para representar la evolución temporal y las relaciones entre nodos.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20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una red hidráulica sin calibrar como análisis complementario: analizar cómo cambia el desempeño del modelo y estudiar la incertidumbre asociada con las simulaciones.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rgbClr val="FFFFFF"/>
                          </a:solidFill>
                        </a:rPr>
                        <a:t>21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Definir variables de estado para eventos con múltiples picos: incorporar información como el volumen almacenado antes de cada pulso para representar el almacenamiento residual de la red.</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Jaime Plazas</a:t>
                      </a:r>
                    </a:p>
                  </a:txBody>
                  <a:tcPr>
                    <a:solidFill>
                      <a:srgbClr val="5E8CBE"/>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34038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30F5E-BA68-202E-7B0A-48C9A641F754}"/>
              </a:ext>
            </a:extLst>
          </p:cNvPr>
          <p:cNvSpPr>
            <a:spLocks noGrp="1"/>
          </p:cNvSpPr>
          <p:nvPr>
            <p:ph type="ctrTitle"/>
          </p:nvPr>
        </p:nvSpPr>
        <p:spPr>
          <a:xfrm>
            <a:off x="511234" y="591410"/>
            <a:ext cx="3277985" cy="554763"/>
          </a:xfrm>
        </p:spPr>
        <p:txBody>
          <a:bodyPr/>
          <a:lstStyle/>
          <a:p>
            <a:r>
              <a:rPr lang="es-CO" sz="1600" dirty="0"/>
              <a:t>Flujo de manejo de datos y entrenamiento del modelo</a:t>
            </a:r>
          </a:p>
        </p:txBody>
      </p:sp>
      <p:sp>
        <p:nvSpPr>
          <p:cNvPr id="4" name="Marcador de número de diapositiva 3">
            <a:extLst>
              <a:ext uri="{FF2B5EF4-FFF2-40B4-BE49-F238E27FC236}">
                <a16:creationId xmlns:a16="http://schemas.microsoft.com/office/drawing/2014/main" id="{EF69496C-9079-71F3-0908-C0C85CA72F64}"/>
              </a:ext>
            </a:extLst>
          </p:cNvPr>
          <p:cNvSpPr>
            <a:spLocks noGrp="1"/>
          </p:cNvSpPr>
          <p:nvPr>
            <p:ph type="sldNum" sz="quarter" idx="4"/>
          </p:nvPr>
        </p:nvSpPr>
        <p:spPr/>
        <p:txBody>
          <a:bodyPr/>
          <a:lstStyle/>
          <a:p>
            <a:fld id="{585754B4-F252-4673-A93E-AFAD19F3B91A}" type="slidenum">
              <a:rPr lang="es-CO" smtClean="0"/>
              <a:t>15</a:t>
            </a:fld>
            <a:endParaRPr lang="es-CO"/>
          </a:p>
        </p:txBody>
      </p:sp>
      <p:pic>
        <p:nvPicPr>
          <p:cNvPr id="5" name="Imagen 4">
            <a:extLst>
              <a:ext uri="{FF2B5EF4-FFF2-40B4-BE49-F238E27FC236}">
                <a16:creationId xmlns:a16="http://schemas.microsoft.com/office/drawing/2014/main" id="{5A080E53-A15F-1798-2E61-46485B05DE72}"/>
              </a:ext>
            </a:extLst>
          </p:cNvPr>
          <p:cNvPicPr>
            <a:picLocks noChangeAspect="1"/>
          </p:cNvPicPr>
          <p:nvPr/>
        </p:nvPicPr>
        <p:blipFill>
          <a:blip r:embed="rId2"/>
          <a:srcRect l="4332" t="3160" r="9775" b="6049"/>
          <a:stretch>
            <a:fillRect/>
          </a:stretch>
        </p:blipFill>
        <p:spPr bwMode="auto">
          <a:xfrm>
            <a:off x="581891" y="1146173"/>
            <a:ext cx="2909454" cy="3917664"/>
          </a:xfrm>
          <a:prstGeom prst="rect">
            <a:avLst/>
          </a:prstGeom>
        </p:spPr>
      </p:pic>
      <p:sp>
        <p:nvSpPr>
          <p:cNvPr id="12" name="Título 1">
            <a:extLst>
              <a:ext uri="{FF2B5EF4-FFF2-40B4-BE49-F238E27FC236}">
                <a16:creationId xmlns:a16="http://schemas.microsoft.com/office/drawing/2014/main" id="{FE4015AE-274D-F04E-C156-503874D2BFD4}"/>
              </a:ext>
            </a:extLst>
          </p:cNvPr>
          <p:cNvSpPr txBox="1">
            <a:spLocks/>
          </p:cNvSpPr>
          <p:nvPr/>
        </p:nvSpPr>
        <p:spPr>
          <a:xfrm>
            <a:off x="5020889" y="646828"/>
            <a:ext cx="3277985" cy="5547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5200"/>
              <a:buFont typeface="Libre Baskerville"/>
              <a:buNone/>
              <a:defRPr sz="4200" b="1" i="0" u="none" strike="noStrike" cap="none">
                <a:solidFill>
                  <a:schemeClr val="dk2"/>
                </a:solidFill>
                <a:latin typeface="Libre Baskerville"/>
                <a:ea typeface="Libre Baskerville"/>
                <a:cs typeface="Libre Baskerville"/>
                <a:sym typeface="Libre Baskerville"/>
              </a:defRPr>
            </a:lvl1pPr>
            <a:lvl2pPr marR="0" lvl="1"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2pPr>
            <a:lvl3pPr marR="0" lvl="2"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3pPr>
            <a:lvl4pPr marR="0" lvl="3"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4pPr>
            <a:lvl5pPr marR="0" lvl="4"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5pPr>
            <a:lvl6pPr marR="0" lvl="5"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6pPr>
            <a:lvl7pPr marR="0" lvl="6"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7pPr>
            <a:lvl8pPr marR="0" lvl="7"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8pPr>
            <a:lvl9pPr marR="0" lvl="8"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9pPr>
          </a:lstStyle>
          <a:p>
            <a:r>
              <a:rPr lang="es-CO" sz="1600" dirty="0"/>
              <a:t>Flujo de validación del modelo</a:t>
            </a:r>
          </a:p>
        </p:txBody>
      </p:sp>
      <p:pic>
        <p:nvPicPr>
          <p:cNvPr id="13" name="Imagen 12">
            <a:extLst>
              <a:ext uri="{FF2B5EF4-FFF2-40B4-BE49-F238E27FC236}">
                <a16:creationId xmlns:a16="http://schemas.microsoft.com/office/drawing/2014/main" id="{798B8C84-083F-6C4E-9CAD-8BD78F63DA02}"/>
              </a:ext>
            </a:extLst>
          </p:cNvPr>
          <p:cNvPicPr>
            <a:picLocks noChangeAspect="1"/>
          </p:cNvPicPr>
          <p:nvPr/>
        </p:nvPicPr>
        <p:blipFill>
          <a:blip r:embed="rId3"/>
          <a:srcRect l="9957" t="3197" r="5357" b="5036"/>
          <a:stretch>
            <a:fillRect/>
          </a:stretch>
        </p:blipFill>
        <p:spPr bwMode="auto">
          <a:xfrm>
            <a:off x="4821382" y="1324696"/>
            <a:ext cx="3243813" cy="3233450"/>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Entrada de lápiz 17">
                <a:extLst>
                  <a:ext uri="{FF2B5EF4-FFF2-40B4-BE49-F238E27FC236}">
                    <a16:creationId xmlns:a16="http://schemas.microsoft.com/office/drawing/2014/main" id="{5AB56417-6C2E-26EF-424B-C4227955EC5B}"/>
                  </a:ext>
                </a:extLst>
              </p14:cNvPr>
              <p14:cNvContentPartPr/>
              <p14:nvPr/>
            </p14:nvContentPartPr>
            <p14:xfrm>
              <a:off x="5333738" y="2105640"/>
              <a:ext cx="374400" cy="7200"/>
            </p14:xfrm>
          </p:contentPart>
        </mc:Choice>
        <mc:Fallback xmlns="">
          <p:pic>
            <p:nvPicPr>
              <p:cNvPr id="18" name="Entrada de lápiz 17">
                <a:extLst>
                  <a:ext uri="{FF2B5EF4-FFF2-40B4-BE49-F238E27FC236}">
                    <a16:creationId xmlns:a16="http://schemas.microsoft.com/office/drawing/2014/main" id="{5AB56417-6C2E-26EF-424B-C4227955EC5B}"/>
                  </a:ext>
                </a:extLst>
              </p:cNvPr>
              <p:cNvPicPr/>
              <p:nvPr/>
            </p:nvPicPr>
            <p:blipFill>
              <a:blip r:embed="rId5"/>
              <a:stretch>
                <a:fillRect/>
              </a:stretch>
            </p:blipFill>
            <p:spPr>
              <a:xfrm>
                <a:off x="5297738" y="2069640"/>
                <a:ext cx="446040" cy="78840"/>
              </a:xfrm>
              <a:prstGeom prst="rect">
                <a:avLst/>
              </a:prstGeom>
            </p:spPr>
          </p:pic>
        </mc:Fallback>
      </mc:AlternateContent>
    </p:spTree>
    <p:extLst>
      <p:ext uri="{BB962C8B-B14F-4D97-AF65-F5344CB8AC3E}">
        <p14:creationId xmlns:p14="http://schemas.microsoft.com/office/powerpoint/2010/main" val="3064627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BF259-65CE-D3EB-286B-F1391FBE046F}"/>
              </a:ext>
            </a:extLst>
          </p:cNvPr>
          <p:cNvSpPr>
            <a:spLocks noGrp="1"/>
          </p:cNvSpPr>
          <p:nvPr>
            <p:ph type="ctrTitle"/>
          </p:nvPr>
        </p:nvSpPr>
        <p:spPr>
          <a:xfrm>
            <a:off x="535784" y="695900"/>
            <a:ext cx="8072432" cy="405600"/>
          </a:xfrm>
        </p:spPr>
        <p:txBody>
          <a:bodyPr/>
          <a:lstStyle/>
          <a:p>
            <a:r>
              <a:rPr lang="es-CO" sz="2000" dirty="0"/>
              <a:t>Ejemplo de base de datos – Nodo 75</a:t>
            </a:r>
          </a:p>
        </p:txBody>
      </p:sp>
      <p:sp>
        <p:nvSpPr>
          <p:cNvPr id="4" name="Marcador de número de diapositiva 3">
            <a:extLst>
              <a:ext uri="{FF2B5EF4-FFF2-40B4-BE49-F238E27FC236}">
                <a16:creationId xmlns:a16="http://schemas.microsoft.com/office/drawing/2014/main" id="{9F1B04AC-391E-C7FC-2E4F-9C47FB322689}"/>
              </a:ext>
            </a:extLst>
          </p:cNvPr>
          <p:cNvSpPr>
            <a:spLocks noGrp="1"/>
          </p:cNvSpPr>
          <p:nvPr>
            <p:ph type="sldNum" sz="quarter" idx="4"/>
          </p:nvPr>
        </p:nvSpPr>
        <p:spPr/>
        <p:txBody>
          <a:bodyPr/>
          <a:lstStyle/>
          <a:p>
            <a:fld id="{585754B4-F252-4673-A93E-AFAD19F3B91A}" type="slidenum">
              <a:rPr lang="es-CO" smtClean="0"/>
              <a:t>16</a:t>
            </a:fld>
            <a:endParaRPr lang="es-CO"/>
          </a:p>
        </p:txBody>
      </p:sp>
      <p:pic>
        <p:nvPicPr>
          <p:cNvPr id="7" name="Imagen 6">
            <a:extLst>
              <a:ext uri="{FF2B5EF4-FFF2-40B4-BE49-F238E27FC236}">
                <a16:creationId xmlns:a16="http://schemas.microsoft.com/office/drawing/2014/main" id="{6E68C9FC-8E88-4A1F-8146-1AA60470AF1F}"/>
              </a:ext>
            </a:extLst>
          </p:cNvPr>
          <p:cNvPicPr>
            <a:picLocks noChangeAspect="1"/>
          </p:cNvPicPr>
          <p:nvPr/>
        </p:nvPicPr>
        <p:blipFill>
          <a:blip r:embed="rId2"/>
          <a:stretch>
            <a:fillRect/>
          </a:stretch>
        </p:blipFill>
        <p:spPr>
          <a:xfrm>
            <a:off x="197427" y="1573366"/>
            <a:ext cx="8749145" cy="1456961"/>
          </a:xfrm>
          <a:prstGeom prst="rect">
            <a:avLst/>
          </a:prstGeom>
        </p:spPr>
      </p:pic>
      <p:sp>
        <p:nvSpPr>
          <p:cNvPr id="8" name="CuadroTexto 7">
            <a:extLst>
              <a:ext uri="{FF2B5EF4-FFF2-40B4-BE49-F238E27FC236}">
                <a16:creationId xmlns:a16="http://schemas.microsoft.com/office/drawing/2014/main" id="{5C0F9941-C470-694D-AE62-C375EA5DBADB}"/>
              </a:ext>
            </a:extLst>
          </p:cNvPr>
          <p:cNvSpPr txBox="1"/>
          <p:nvPr/>
        </p:nvSpPr>
        <p:spPr>
          <a:xfrm>
            <a:off x="443345" y="3463636"/>
            <a:ext cx="8503227" cy="523220"/>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s-CO" dirty="0">
                <a:solidFill>
                  <a:schemeClr val="tx1"/>
                </a:solidFill>
              </a:rPr>
              <a:t>Verde: Identificadores y valores de respuesta, no van al modelo como entradas</a:t>
            </a:r>
          </a:p>
          <a:p>
            <a:pPr marL="342900" indent="-342900">
              <a:buClr>
                <a:schemeClr val="tx1"/>
              </a:buClr>
              <a:buFont typeface="Arial" panose="020B0604020202020204" pitchFamily="34" charset="0"/>
              <a:buChar char="•"/>
            </a:pPr>
            <a:r>
              <a:rPr lang="es-CO" dirty="0">
                <a:solidFill>
                  <a:schemeClr val="tx1"/>
                </a:solidFill>
              </a:rPr>
              <a:t>Morado: Variables de entrada o </a:t>
            </a:r>
            <a:r>
              <a:rPr lang="es-CO" dirty="0" err="1">
                <a:solidFill>
                  <a:schemeClr val="tx1"/>
                </a:solidFill>
              </a:rPr>
              <a:t>features</a:t>
            </a:r>
            <a:r>
              <a:rPr lang="es-CO" dirty="0">
                <a:solidFill>
                  <a:schemeClr val="tx1"/>
                </a:solidFill>
              </a:rPr>
              <a:t>, son los valores e información que usa el modelo para entrar</a:t>
            </a:r>
          </a:p>
        </p:txBody>
      </p:sp>
    </p:spTree>
    <p:extLst>
      <p:ext uri="{BB962C8B-B14F-4D97-AF65-F5344CB8AC3E}">
        <p14:creationId xmlns:p14="http://schemas.microsoft.com/office/powerpoint/2010/main" val="179913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¿Vale la pena cambiar XGBoost?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Objetivo: inundación y volumen total por nodo. La complejidad adicional necesita una ganancia demostrada.</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Ruta</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Esfuerzo orientativo*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Decisión para la tesis</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Mantener y fortalecer XGBoost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Datos diversos + validación por familias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PRIORIDAD 1. Es la referencia que ya funciona; probar dónde falla.</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 tabular existente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30–60 h · 1–2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PRIORIDAD 2. Comparación neuronal controlada con las mismas 17 entradas.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GNN / modelo temporal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120–240 h · 4–8 semanas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CONDICIONAL. Solo si mejora extremos, topología o dinámica necesaria.</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Transferencia entre redes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180–300 h · 6–10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SEGUNDA ETAPA. Requiere otras redes y prueba en el destino.</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Qué tenemos y qué falta medir</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Base local inspeccionada: Chico Sur; una red, etiquetas de SWMM y escenarios sintéticos.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18</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Aspecto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Situación / implicación</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200" b="1">
                          <a:solidFill>
                            <a:srgbClr val="8BC5FA"/>
                          </a:solidFill>
                          <a:latin typeface="Montserrat"/>
                        </a:rPr>
                        <a:t>Datos actuales</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160 nodos y 160 tuberías; sin subcuencas ni pluviómetros. Entradas por hidrogramas; 17 features tabulares.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200" b="1">
                          <a:solidFill>
                            <a:srgbClr val="8BC5FA"/>
                          </a:solidFill>
                          <a:latin typeface="Montserrat"/>
                        </a:rPr>
                        <a:t>Variables adicionales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Geometría y conectividad: recuperar INP. Series de estados y caudales: preparar/exportar. Lluvia–escorrentía: nuevo alcance hidrológico.</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200" b="1">
                          <a:solidFill>
                            <a:srgbClr val="8BC5FA"/>
                          </a:solidFill>
                          <a:latin typeface="Montserrat"/>
                        </a:rPr>
                        <a:t>GPU disponible localmente</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NVIDIA T400, 4 GB. Una GPU mayor usada en un paper no es un requisito mínimo demostrado. Ensayar memoria y tiempo primero.</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200" b="1">
                          <a:solidFill>
                            <a:srgbClr val="8BC5FA"/>
                          </a:solidFill>
                          <a:latin typeface="Montserrat"/>
                        </a:rPr>
                        <a:t>Supuestos del costo</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Una persona con Python/SWMM; 30 h/semana. Incluye datos, adaptación y validación; excluye esperas, licencias y formación desde cero.</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200" b="1">
                          <a:solidFill>
                            <a:srgbClr val="8BC5FA"/>
                          </a:solidFill>
                          <a:latin typeface="Montserrat"/>
                        </a:rPr>
                        <a:t>Lo que no podemos prometer</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Tiempos locales de simulación/entrenamiento aún sin benchmark. Las etiquetas sintéticas prueban emulación de SWMM, no exactitud frente a campo.</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P1 · Zhang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19</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Physics-based drainage simulators are often too slow for online prediction. This study develops a graph-neural surrogate for hydraulic routing in urban drainage networks, using recent hydraulic states as initial conditions and future runoff and control actions as boundary conditions. The model represents the network through node–pipe relationships and adds physics-guided mechanisms that constrain predictions through flow-balance and flooding-occurrence relationships. In a stormwater case study, the GNN surrogate was more accurate and more cost-effective than a fully connected neural network after the same training budget. The physical constraints reduced errors and improved interpretability. The authors present the approach as a fast, interpretable alternative for real-time hydraulic prediction relative to a physics-based simulator.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263, 122142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CityU Hong Kong (registro institucional)</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demostrada hacia otra red. Un caso de estudio; nuevas lluvias no equivalen a nueva topología.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Alta cercanía hidráulica. Estudiar clasificación de inundación y balance; adoptar todo el modelo amplía el alcance temporal.</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10.1016/j.watres.2024.122142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120–210 h / 4–7 sem. Datos 40–70 h; GNN y validación 80–140 h. Decisión: condicional.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P2 · Palmitessa et al. (2022)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20</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work demonstrates physics-guided machine learning as a fast surrogate for urban-drainage hydraulics. The neural surrogate is trained from a limited collection of high-fidelity hydrodynamic simulations and preserves distributed predictions of water levels, pipe flows, and surcharge flows across all nodes and links. It is formulated autoregressively, with runoff as a boundary input and physical constraints that retain plausible states. In the reported cases, surrogate runs are one to two orders of magnitude faster than the high-fidelity model while time-series agreement is around R² = 0.9; training takes approximately one hour. The authors identify interactive design, real-time use, and future extension to other water systems as application areas, while noting that transfer learning and GNNs remain future opportunities rather than demonstrated cross-network transfer.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223, 118972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Technical University of Denmark</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prueba transferencia de pesos. Dos sistemas evalúan la metodología; no demuestran un modelo universal sin reentrenar.</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Muy útil para volumen por nodo, extremos y restricciones físicas. Cambiar MIKE 1D por SWMM sería una adaptación.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10.1016/j.watres.2022.118972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120–180 h / 4–6 sem. Datos 30–60 h; adaptación/pruebas 90–120 h. Decisión: usar ideas, no replicar aún.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P3 · Garzón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21</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proposes an autoregressive GNN metamodel of EPA SWMM to estimate hydraulic heads in stormwater networks. It addresses the data cost of conventional fully connected neural networks by incorporating temporal, physical, and graph-relational inductive biases. The model uses topology, pipe information, runoff histories, and recent states to predict future nodal heads, then feeds predictions back through time. The study reports that the GNN reaches high accuracy and speed-up using fewer examples than fully connected baselines. Its transfer test applies the model to an unseen section of the same drainage network and obtains accurate head predictions. The contribution is therefore important for data-efficient topology-aware modelling, but it does not establish zero-shot generalization to a different city or independently designed network, and its output is hydraulic head rather than event-total overflow volume.</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266, 122396</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PARCIAL: zero-shot a una subred no vista del mismo sistema. No demuestra transferencia a otra ciudad o red independiente.</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Código y datos públicos. Buen punto de partida GNN; predecir niveles no resuelve por sí solo nuestro volumen desbordado.</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10.1016/j.watres.2024.122396</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120–240 h / 4–8 sem. Datos 30–60 h; GNN y salida volumen 90–180 h. Decisión: segunda etapa.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P4 · Garzón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22</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study systematically evaluates GNN components for urban-drainage metamodels: graph-layer type, processor depth, and multi-step prediction window. It also tests transfer across two hydraulically distinct Dutch drainage networks and across tasks, from hydraulic-head prediction to flow prediction. Moderate depth and ten-step windows achieved accurate heads and flows, while GPU-parallel simulations produced large speed-ups relative to SWMM. Crucially for this thesis, direct zero-shot transfer is not presented as sufficient: normalization and full fine-tuning on the target are required for cross-domain adaptation. Joint training across the two networks learns useful shared representations, but it is not proof of performance on a third unseen network. The paper gives a concrete protocol for comparing pretraining, zero-shot use, and fine-tuning instead of treating them as equivalent.</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290, 125079</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SÍ, CON ADAPTACIÓN entre dos redes. Zero-shot fue pobre; fine-tuning recupera desempeño. Entrenamiento conjunto no prueba una tercera red desconocida.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Referencia para una futura transferencia. Exige varias redes y adapta cargas/caudales, no directamente volumen de inundación.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10.1016/j.watres.2025.125079</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180–300 h / 6–10 sem., sin conseguir redes. Datos 60–100 h; transferencia 120–200 h. Decisión: posponer.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P5 · Brazão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23</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evaluates MLP surrogate models trained from SWMM simulations to estimate total flood volume and maximum outflow for decentralized detention-system design. The models include detention capacity, outlet dimensions, spatial distribution of storage units, and rainfall descriptors, addressing design variables omitted by earlier end-of-pipe studies. A real urban catchment is simulated under multiple detention and rainfall scenarios; the authors evaluate dataset size and network architecture before embedding the models in multiobjective optimization. Reported errors are below 4% MAPE for maximum outflow in all rainfall scenarios and below 15% MAPE for total flood volume in most scenarios. Moving from 20,000 to 50,000 samples gave only marginal gains, whereas deeper MLPs improved accuracy until overfitting appeared. The surrogate optimization reduced computational time by about 98.4% against equivalent SWMM optimization.</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J. Water Resources Planning and Management (ASCE), 152(11)</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U. Federal de Paraíba / U. de Brasília</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documentada en el resumen disponible. Volumen total reportado; no confirmar salida por nodo ni transferencia sin texto completo.</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Apoya un comparador MLP económico. No acredita que MLP supere XGBoost en nuestras mismas entradas y particiones.</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10.1061/JWRMD5.WRENG-7598</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30–60 h / 1–2 sem. Datos 6–12 h; MLP y pruebas 24–48 h. Decisión: piloto prioritario.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P1–P2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24</a:t>
            </a:r>
          </a:p>
        </p:txBody>
      </p:sp>
      <p:graphicFrame>
        <p:nvGraphicFramePr>
          <p:cNvPr id="8" name="Table 7"/>
          <p:cNvGraphicFramePr>
            <a:graphicFrameLocks noGrp="1"/>
          </p:cNvGraphicFramePr>
          <p:nvPr/>
        </p:nvGraphicFramePr>
        <p:xfrm>
          <a:off x="292608" y="1051560"/>
          <a:ext cx="8549640" cy="3401568"/>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1490472">
                <a:tc>
                  <a:txBody>
                    <a:bodyPr/>
                    <a:lstStyle/>
                    <a:p>
                      <a:pPr>
                        <a:lnSpc>
                          <a:spcPct val="102000"/>
                        </a:lnSpc>
                        <a:spcBef>
                          <a:spcPts val="0"/>
                        </a:spcBef>
                        <a:spcAft>
                          <a:spcPts val="300"/>
                        </a:spcAft>
                      </a:pPr>
                      <a:r>
                        <a:rPr sz="985" b="1">
                          <a:solidFill>
                            <a:srgbClr val="8BC5FA"/>
                          </a:solidFill>
                          <a:latin typeface="Montserrat"/>
                        </a:rPr>
                        <a:t>P1 · Zhang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Falta preparar h(t), Q(t), inflow/outflow y flooding(t). Conectividad: recuperable del INP. Definir estados iniciales disponibles al inferir.</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RTX A5000 24 GB; GNN ≈2,14 h por entrenamiento (20.000 épocas). No es mínimo requerido ni tiempo local.</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120–210 h / 4–7 sem. Datos 40–70 h; GNN y validación 80–140 h. Decisión: condicional.</a:t>
                      </a:r>
                    </a:p>
                  </a:txBody>
                  <a:tcPr marT="64008" marB="64008">
                    <a:solidFill>
                      <a:srgbClr val="193A58"/>
                    </a:solidFill>
                  </a:tcPr>
                </a:tc>
                <a:extLst>
                  <a:ext uri="{0D108BD9-81ED-4DB2-BD59-A6C34878D82A}">
                    <a16:rowId xmlns:a16="http://schemas.microsoft.com/office/drawing/2014/main" val="10001"/>
                  </a:ext>
                </a:extLst>
              </a:tr>
              <a:tr h="1490472">
                <a:tc>
                  <a:txBody>
                    <a:bodyPr/>
                    <a:lstStyle/>
                    <a:p>
                      <a:pPr>
                        <a:lnSpc>
                          <a:spcPct val="102000"/>
                        </a:lnSpc>
                        <a:spcBef>
                          <a:spcPts val="0"/>
                        </a:spcBef>
                        <a:spcAft>
                          <a:spcPts val="300"/>
                        </a:spcAft>
                      </a:pPr>
                      <a:r>
                        <a:rPr sz="985" b="1">
                          <a:solidFill>
                            <a:srgbClr val="8BC5FA"/>
                          </a:solidFill>
                          <a:latin typeface="Montserrat"/>
                        </a:rPr>
                        <a:t>P2 · Palmitessa et al. (2022)</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Falta dataset temporal de niveles, caudales y desbordamientos. Geometría: INP. Reproducción exacta: acceso/licencia MIKE 1D; adaptación SWMM evita esa dependencia.</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CPU i9, 32 GB RAM; 0,5–2 h de entrenamiento. GPU no mejoró la simulación autorregresiva en su implementación.</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120–180 h / 4–6 sem. Datos 30–60 h; adaptación/pruebas 90–120 h. Decisión: usar ideas, no replicar aún.</a:t>
                      </a:r>
                    </a:p>
                  </a:txBody>
                  <a:tcPr marT="64008" marB="64008">
                    <a:solidFill>
                      <a:srgbClr val="234560"/>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P3–P4–P5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25</a:t>
            </a:r>
          </a:p>
        </p:txBody>
      </p:sp>
      <p:graphicFrame>
        <p:nvGraphicFramePr>
          <p:cNvPr id="8" name="Table 7"/>
          <p:cNvGraphicFramePr>
            <a:graphicFrameLocks noGrp="1"/>
          </p:cNvGraphicFramePr>
          <p:nvPr/>
        </p:nvGraphicFramePr>
        <p:xfrm>
          <a:off x="292608" y="1051560"/>
          <a:ext cx="8549640" cy="3484245"/>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993648">
                <a:tc>
                  <a:txBody>
                    <a:bodyPr/>
                    <a:lstStyle/>
                    <a:p>
                      <a:pPr>
                        <a:lnSpc>
                          <a:spcPct val="102000"/>
                        </a:lnSpc>
                        <a:spcBef>
                          <a:spcPts val="0"/>
                        </a:spcBef>
                        <a:spcAft>
                          <a:spcPts val="300"/>
                        </a:spcAft>
                      </a:pPr>
                      <a:r>
                        <a:rPr sz="985" b="1">
                          <a:solidFill>
                            <a:srgbClr val="8BC5FA"/>
                          </a:solidFill>
                          <a:latin typeface="Montserrat"/>
                        </a:rPr>
                        <a:t>P3 · Garzón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Conectividad, cotas y longitudes: recuperar INP. Preparar inflows y niveles temporales. Añadir etiqueta/salida de desbordamiento para nuestro objetivo.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DelftBlue, GPUs V100S 32 GB para experimentos/búsqueda. 100 épocas, AdamW. No declara ese tamaño como mínimo.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120–240 h / 4–8 sem. Datos 30–60 h; GNN y salida volumen 90–180 h. Decisión: segunda etapa.</a:t>
                      </a:r>
                    </a:p>
                  </a:txBody>
                  <a:tcPr marT="64008" marB="64008">
                    <a:solidFill>
                      <a:srgbClr val="193A58"/>
                    </a:solidFill>
                  </a:tcPr>
                </a:tc>
                <a:extLst>
                  <a:ext uri="{0D108BD9-81ED-4DB2-BD59-A6C34878D82A}">
                    <a16:rowId xmlns:a16="http://schemas.microsoft.com/office/drawing/2014/main" val="10001"/>
                  </a:ext>
                </a:extLst>
              </a:tr>
              <a:tr h="993648">
                <a:tc>
                  <a:txBody>
                    <a:bodyPr/>
                    <a:lstStyle/>
                    <a:p>
                      <a:pPr>
                        <a:lnSpc>
                          <a:spcPct val="102000"/>
                        </a:lnSpc>
                        <a:spcBef>
                          <a:spcPts val="0"/>
                        </a:spcBef>
                        <a:spcAft>
                          <a:spcPts val="300"/>
                        </a:spcAft>
                      </a:pPr>
                      <a:r>
                        <a:rPr sz="985" b="1">
                          <a:solidFill>
                            <a:srgbClr val="8BC5FA"/>
                          </a:solidFill>
                          <a:latin typeface="Montserrat"/>
                        </a:rPr>
                        <a:t>P4 · Garzón et al. (2026)</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Otras redes y series de estados/caudales; revisar entrada de lluvia. INP actual sin subcuencas/pluviómetros. Revisar offsets, aristas paralelas y estructuras especiales.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experimentos GPU; rendimiento en A100 80 GB. Huber/AdamW, 25 épocas. El repositorio tiene restricciones de elementos hidráulicos.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180–300 h / 6–10 sem., sin conseguir redes. Datos 60–100 h; transferencia 120–200 h. Decisión: posponer.</a:t>
                      </a:r>
                    </a:p>
                  </a:txBody>
                  <a:tcPr marT="64008" marB="64008">
                    <a:solidFill>
                      <a:srgbClr val="234560"/>
                    </a:solidFill>
                  </a:tcPr>
                </a:tc>
                <a:extLst>
                  <a:ext uri="{0D108BD9-81ED-4DB2-BD59-A6C34878D82A}">
                    <a16:rowId xmlns:a16="http://schemas.microsoft.com/office/drawing/2014/main" val="10002"/>
                  </a:ext>
                </a:extLst>
              </a:tr>
              <a:tr h="993648">
                <a:tc>
                  <a:txBody>
                    <a:bodyPr/>
                    <a:lstStyle/>
                    <a:p>
                      <a:pPr>
                        <a:lnSpc>
                          <a:spcPct val="102000"/>
                        </a:lnSpc>
                        <a:spcBef>
                          <a:spcPts val="0"/>
                        </a:spcBef>
                        <a:spcAft>
                          <a:spcPts val="300"/>
                        </a:spcAft>
                      </a:pPr>
                      <a:r>
                        <a:rPr sz="985" b="1">
                          <a:solidFill>
                            <a:srgbClr val="8BC5FA"/>
                          </a:solidFill>
                          <a:latin typeface="Montserrat"/>
                        </a:rPr>
                        <a:t>P5 · Brazão et al. (2026)</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Adaptación nodo–evento: reutilizar las 17 features. Replicar diseño de detención: capacidad, salidas, ubicación y lluvia; esos escenarios no están en nuestro INP.</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 VERIFICADO: hardware/tiempo no accesibles en resumen. No hay base para exigir una GPU grande.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30–60 h / 1–2 sem. Datos 6–12 h; MLP y pruebas 24–48 h. Decisión: piloto prioritario.</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Criterio para invertir más tiempo</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Recomendación propia: cerrar primero un experimento pequeño y comparable; decidir con resultados reservados.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26</a:t>
            </a:r>
          </a:p>
        </p:txBody>
      </p:sp>
      <p:graphicFrame>
        <p:nvGraphicFramePr>
          <p:cNvPr id="8" name="Table 7"/>
          <p:cNvGraphicFramePr>
            <a:graphicFrameLocks noGrp="1"/>
          </p:cNvGraphicFramePr>
          <p:nvPr/>
        </p:nvGraphicFramePr>
        <p:xfrm>
          <a:off x="292608" y="1051560"/>
          <a:ext cx="854964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Paso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Qué se hace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Condición para continuar</a:t>
                      </a:r>
                    </a:p>
                  </a:txBody>
                  <a:tcPr marT="64008" marB="64008">
                    <a:solidFill>
                      <a:srgbClr val="355A84"/>
                    </a:solidFill>
                  </a:tcPr>
                </a:tc>
                <a:extLst>
                  <a:ext uri="{0D108BD9-81ED-4DB2-BD59-A6C34878D82A}">
                    <a16:rowId xmlns:a16="http://schemas.microsoft.com/office/drawing/2014/main" val="10000"/>
                  </a:ext>
                </a:extLst>
              </a:tr>
              <a:tr h="763524">
                <a:tc>
                  <a:txBody>
                    <a:bodyPr/>
                    <a:lstStyle/>
                    <a:p>
                      <a:pPr>
                        <a:lnSpc>
                          <a:spcPct val="102000"/>
                        </a:lnSpc>
                        <a:spcBef>
                          <a:spcPts val="0"/>
                        </a:spcBef>
                        <a:spcAft>
                          <a:spcPts val="300"/>
                        </a:spcAft>
                      </a:pPr>
                      <a:r>
                        <a:rPr sz="1140" b="1">
                          <a:solidFill>
                            <a:srgbClr val="8BC5FA"/>
                          </a:solidFill>
                          <a:latin typeface="Montserrat"/>
                        </a:rPr>
                        <a:t>1 · Piloto MLP</a:t>
                      </a:r>
                    </a:p>
                    <a:p>
                      <a:pPr>
                        <a:lnSpc>
                          <a:spcPct val="102000"/>
                        </a:lnSpc>
                        <a:spcBef>
                          <a:spcPts val="0"/>
                        </a:spcBef>
                        <a:spcAft>
                          <a:spcPts val="300"/>
                        </a:spcAft>
                      </a:pPr>
                      <a:r>
                        <a:rPr sz="1140" b="0">
                          <a:solidFill>
                            <a:srgbClr val="8BC5FA"/>
                          </a:solidFill>
                          <a:latin typeface="Montserrat"/>
                        </a:rPr>
                        <a:t>30–60 h</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Mismas entradas y eventos; ajuste interno y selección de época; varias semillas.</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Mejora práctica predefinida en volumen, extremos o falsos negativos. No decidir por entrenamiento.</a:t>
                      </a:r>
                    </a:p>
                  </a:txBody>
                  <a:tcPr marT="64008" marB="64008">
                    <a:solidFill>
                      <a:srgbClr val="193A58"/>
                    </a:solidFill>
                  </a:tcPr>
                </a:tc>
                <a:extLst>
                  <a:ext uri="{0D108BD9-81ED-4DB2-BD59-A6C34878D82A}">
                    <a16:rowId xmlns:a16="http://schemas.microsoft.com/office/drawing/2014/main" val="10001"/>
                  </a:ext>
                </a:extLst>
              </a:tr>
              <a:tr h="763524">
                <a:tc>
                  <a:txBody>
                    <a:bodyPr/>
                    <a:lstStyle/>
                    <a:p>
                      <a:pPr>
                        <a:lnSpc>
                          <a:spcPct val="102000"/>
                        </a:lnSpc>
                        <a:spcBef>
                          <a:spcPts val="0"/>
                        </a:spcBef>
                        <a:spcAft>
                          <a:spcPts val="300"/>
                        </a:spcAft>
                      </a:pPr>
                      <a:r>
                        <a:rPr sz="1140" b="1">
                          <a:solidFill>
                            <a:srgbClr val="8BC5FA"/>
                          </a:solidFill>
                          <a:latin typeface="Montserrat"/>
                        </a:rPr>
                        <a:t>2 · Datos antes de arquitectura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Reservar familias de hidrogramas, multipicos y extremos. Medir XGBoost y MLP.</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Si ambos fallan igual, revisar cobertura y descriptores; más capas no recuperan información ausente.</a:t>
                      </a:r>
                    </a:p>
                  </a:txBody>
                  <a:tcPr marT="64008" marB="64008">
                    <a:solidFill>
                      <a:srgbClr val="234560"/>
                    </a:solidFill>
                  </a:tcPr>
                </a:tc>
                <a:extLst>
                  <a:ext uri="{0D108BD9-81ED-4DB2-BD59-A6C34878D82A}">
                    <a16:rowId xmlns:a16="http://schemas.microsoft.com/office/drawing/2014/main" val="10002"/>
                  </a:ext>
                </a:extLst>
              </a:tr>
              <a:tr h="763524">
                <a:tc>
                  <a:txBody>
                    <a:bodyPr/>
                    <a:lstStyle/>
                    <a:p>
                      <a:pPr>
                        <a:lnSpc>
                          <a:spcPct val="102000"/>
                        </a:lnSpc>
                        <a:spcBef>
                          <a:spcPts val="0"/>
                        </a:spcBef>
                        <a:spcAft>
                          <a:spcPts val="300"/>
                        </a:spcAft>
                      </a:pPr>
                      <a:r>
                        <a:rPr sz="1140" b="1">
                          <a:solidFill>
                            <a:srgbClr val="8BC5FA"/>
                          </a:solidFill>
                          <a:latin typeface="Montserrat"/>
                        </a:rPr>
                        <a:t>3 · Piloto GNN</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Probar una muestra, lotes pequeños y memoria pico antes de alquilar GPU.</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Continuar si hay una hipótesis topológica clara y datos temporales/objetivos disponibles.</a:t>
                      </a:r>
                    </a:p>
                  </a:txBody>
                  <a:tcPr marT="64008" marB="64008">
                    <a:solidFill>
                      <a:srgbClr val="193A58"/>
                    </a:solidFill>
                  </a:tcPr>
                </a:tc>
                <a:extLst>
                  <a:ext uri="{0D108BD9-81ED-4DB2-BD59-A6C34878D82A}">
                    <a16:rowId xmlns:a16="http://schemas.microsoft.com/office/drawing/2014/main" val="10003"/>
                  </a:ext>
                </a:extLst>
              </a:tr>
              <a:tr h="763524">
                <a:tc>
                  <a:txBody>
                    <a:bodyPr/>
                    <a:lstStyle/>
                    <a:p>
                      <a:pPr>
                        <a:lnSpc>
                          <a:spcPct val="102000"/>
                        </a:lnSpc>
                        <a:spcBef>
                          <a:spcPts val="0"/>
                        </a:spcBef>
                        <a:spcAft>
                          <a:spcPts val="300"/>
                        </a:spcAft>
                      </a:pPr>
                      <a:r>
                        <a:rPr sz="1140" b="1">
                          <a:solidFill>
                            <a:srgbClr val="8BC5FA"/>
                          </a:solidFill>
                          <a:latin typeface="Montserrat"/>
                        </a:rPr>
                        <a:t>4 · Transferencia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Comparar desde cero, zero-shot y fine-tuning con igual presupuesto de datos destino.</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Eventos destino reservados. No llamar “extrapolación” al entrenamiento conjunto en redes ya vistas.</a:t>
                      </a:r>
                    </a:p>
                  </a:txBody>
                  <a:tcPr marT="64008" marB="64008">
                    <a:solidFill>
                      <a:srgbClr val="234560"/>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4608576"/>
            <a:ext cx="8229600" cy="182880"/>
          </a:xfrm>
          <a:prstGeom prst="rect">
            <a:avLst/>
          </a:prstGeom>
          <a:noFill/>
        </p:spPr>
        <p:txBody>
          <a:bodyPr wrap="square" lIns="0" tIns="0" rIns="0" bIns="0">
            <a:spAutoFit/>
          </a:bodyPr>
          <a:lstStyle/>
          <a:p>
            <a:pPr>
              <a:lnSpc>
                <a:spcPct val="106000"/>
              </a:lnSpc>
              <a:spcBef>
                <a:spcPts val="0"/>
              </a:spcBef>
              <a:spcAft>
                <a:spcPts val="300"/>
              </a:spcAft>
            </a:pPr>
            <a:r>
              <a:rPr sz="950" b="1">
                <a:solidFill>
                  <a:srgbClr val="F1CB83"/>
                </a:solidFill>
                <a:latin typeface="Montserrat"/>
              </a:rPr>
              <a:t>Ninguno de estos trabajos garantiza superar nuestro XGBoost con el mismo objetivo, datos y validación.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Presupuesto computacional: medir antes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Separar horas-persona de desarrollo, horas-máquina de entrenamiento y tiempo para generar etiquetas.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27</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Costo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Cómo estimarlo para esta red</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160" b="1">
                          <a:solidFill>
                            <a:srgbClr val="8BC5FA"/>
                          </a:solidFill>
                          <a:latin typeface="Montserrat"/>
                        </a:rPr>
                        <a:t>Simulaciones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Cronometrar 20 eventos representativos. Tiempo ≈ N × mediana por evento / paralelismo efectivo; revisar también extremos lentos.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160" b="1">
                          <a:solidFill>
                            <a:srgbClr val="8BC5FA"/>
                          </a:solidFill>
                          <a:latin typeface="Montserrat"/>
                        </a:rPr>
                        <a:t>Búsqueda de modelos</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Tiempo ≈ configuraciones × folds × semillas × duración de un ajuste. No confundir “un entrenamiento de 2 h” con toda la búsqueda.</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160" b="1">
                          <a:solidFill>
                            <a:srgbClr val="8BC5FA"/>
                          </a:solidFill>
                          <a:latin typeface="Montserrat"/>
                        </a:rPr>
                        <a:t>Datos temporales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Ejemplo propio: 1.000 eventos × 1.440 pasos × (160×3 + 160×2 variables) × 4 bytes ≈ 4,6 GB crudos; sin ventanas duplicadas ni cachés.</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160" b="1">
                          <a:solidFill>
                            <a:srgbClr val="8BC5FA"/>
                          </a:solidFill>
                          <a:latin typeface="Montserrat"/>
                        </a:rPr>
                        <a:t>Memoria de GPU</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Depende de lotes, ventana, capas y gradientes; no del tamaño del CSV. T400 4 GB: piloto. Si no cabe, evaluar GPU 16–24 GB; no comprar por el paper.</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160" b="1">
                          <a:solidFill>
                            <a:srgbClr val="8BC5FA"/>
                          </a:solidFill>
                          <a:latin typeface="Montserrat"/>
                        </a:rPr>
                        <a:t>Decisión de alcance</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Con objetivo por evento y XGBoost sólido: MLP primero. Para GNN/transferencia, reservar semanas adicionales solo tras demostrar una necesidad.</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1/2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28</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P1</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Zhang et al. (2024) · Graph neural network-based surrogate modelling for real-time hydraulic prediction of urban drainage networks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Water Research 263, 122142 | DOI 10.1016/j.watres.2024.122142</a:t>
            </a:r>
          </a:p>
        </p:txBody>
      </p:sp>
      <p:sp>
        <p:nvSpPr>
          <p:cNvPr id="11" name="TextBox 10"/>
          <p:cNvSpPr txBox="1"/>
          <p:nvPr/>
        </p:nvSpPr>
        <p:spPr>
          <a:xfrm>
            <a:off x="384048" y="1911095"/>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P2</a:t>
            </a:r>
          </a:p>
        </p:txBody>
      </p:sp>
      <p:sp>
        <p:nvSpPr>
          <p:cNvPr id="12" name="TextBox 11"/>
          <p:cNvSpPr txBox="1"/>
          <p:nvPr/>
        </p:nvSpPr>
        <p:spPr>
          <a:xfrm>
            <a:off x="886968" y="1911095"/>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4"/>
              </a:rPr>
              <a:t>Palmitessa et al. (2022) · Accelerating hydrodynamic simulations of urban drainage systems with physics-guided machine learning</a:t>
            </a:r>
          </a:p>
        </p:txBody>
      </p:sp>
      <p:sp>
        <p:nvSpPr>
          <p:cNvPr id="13" name="TextBox 12"/>
          <p:cNvSpPr txBox="1"/>
          <p:nvPr/>
        </p:nvSpPr>
        <p:spPr>
          <a:xfrm>
            <a:off x="886968" y="2386584"/>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4"/>
              </a:rPr>
              <a:t>Water Research 223, 118972 | DOI 10.1016/j.watres.2022.118972</a:t>
            </a:r>
          </a:p>
        </p:txBody>
      </p:sp>
      <p:sp>
        <p:nvSpPr>
          <p:cNvPr id="14" name="TextBox 13"/>
          <p:cNvSpPr txBox="1"/>
          <p:nvPr/>
        </p:nvSpPr>
        <p:spPr>
          <a:xfrm>
            <a:off x="384048" y="2770632"/>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P3</a:t>
            </a:r>
          </a:p>
        </p:txBody>
      </p:sp>
      <p:sp>
        <p:nvSpPr>
          <p:cNvPr id="15" name="TextBox 14"/>
          <p:cNvSpPr txBox="1"/>
          <p:nvPr/>
        </p:nvSpPr>
        <p:spPr>
          <a:xfrm>
            <a:off x="886968" y="2770632"/>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5"/>
              </a:rPr>
              <a:t>Garzón et al. (2024) · Transferable and data efficient metamodeling of storm water system nodal depths using auto-regressive graph neural networks</a:t>
            </a:r>
          </a:p>
        </p:txBody>
      </p:sp>
      <p:sp>
        <p:nvSpPr>
          <p:cNvPr id="16" name="TextBox 15"/>
          <p:cNvSpPr txBox="1"/>
          <p:nvPr/>
        </p:nvSpPr>
        <p:spPr>
          <a:xfrm>
            <a:off x="886968" y="3246120"/>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5"/>
              </a:rPr>
              <a:t>Water Research 266, 122396 | DOI 10.1016/j.watres.2024.122396</a:t>
            </a:r>
          </a:p>
        </p:txBody>
      </p:sp>
      <p:sp>
        <p:nvSpPr>
          <p:cNvPr id="17" name="TextBox 16"/>
          <p:cNvSpPr txBox="1"/>
          <p:nvPr/>
        </p:nvSpPr>
        <p:spPr>
          <a:xfrm>
            <a:off x="384048" y="3630168"/>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P4</a:t>
            </a:r>
          </a:p>
        </p:txBody>
      </p:sp>
      <p:sp>
        <p:nvSpPr>
          <p:cNvPr id="18" name="TextBox 17"/>
          <p:cNvSpPr txBox="1"/>
          <p:nvPr/>
        </p:nvSpPr>
        <p:spPr>
          <a:xfrm>
            <a:off x="886968" y="3630168"/>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6"/>
              </a:rPr>
              <a:t>Garzón et al. (2026) · Evaluation of graph neural networks for urban drainage metamodeling: Key components and transferability analysis</a:t>
            </a:r>
          </a:p>
        </p:txBody>
      </p:sp>
      <p:sp>
        <p:nvSpPr>
          <p:cNvPr id="19" name="TextBox 18"/>
          <p:cNvSpPr txBox="1"/>
          <p:nvPr/>
        </p:nvSpPr>
        <p:spPr>
          <a:xfrm>
            <a:off x="886968" y="4105656"/>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6"/>
              </a:rPr>
              <a:t>Water Research 290, 125079 | DOI 10.1016/j.watres.2025.125079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29</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P5</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Brazão et al. (2026) · Evaluation of Artificial Neural Network Surrogate Models for Detention-Based Flood Control in Urban Areas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J. Water Resources Planning and Management (ASCE), 152(11) | DOI 10.1061/JWRMD5.WRENG-7598</a:t>
            </a:r>
          </a:p>
        </p:txBody>
      </p:sp>
    </p:spTree>
  </p:cSld>
  <p:clrMapOvr>
    <a:masterClrMapping/>
  </p:clrMapOvr>
</p:sld>
</file>

<file path=ppt/theme/theme1.xml><?xml version="1.0" encoding="utf-8"?>
<a:theme xmlns:a="http://schemas.openxmlformats.org/drawingml/2006/main" name="diap">
  <a:themeElements>
    <a:clrScheme name="Simple Light">
      <a:dk1>
        <a:srgbClr val="FFFFFF"/>
      </a:dk1>
      <a:lt1>
        <a:srgbClr val="0C2C45"/>
      </a:lt1>
      <a:dk2>
        <a:srgbClr val="8BC5FA"/>
      </a:dk2>
      <a:lt2>
        <a:srgbClr val="243C59"/>
      </a:lt2>
      <a:accent1>
        <a:srgbClr val="5083C2"/>
      </a:accent1>
      <a:accent2>
        <a:srgbClr val="355A84"/>
      </a:accent2>
      <a:accent3>
        <a:srgbClr val="FFFFFF"/>
      </a:accent3>
      <a:accent4>
        <a:srgbClr val="FFFFFF"/>
      </a:accent4>
      <a:accent5>
        <a:srgbClr val="FFFFFF"/>
      </a:accent5>
      <a:accent6>
        <a:srgbClr val="FFFFFF"/>
      </a:accent6>
      <a:hlink>
        <a:srgbClr val="FFFFFF"/>
      </a:hlink>
      <a:folHlink>
        <a:srgbClr val="0097A7"/>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5B3C633-C8C3-46EC-A779-D84379177807}">
  <we:reference id="wa200010725" version="1.0.0.1" store="es-MX" storeType="OMEX"/>
  <we:alternateReferences>
    <we:reference id="WA200010725" version="1.0.0.1" store="" storeType="OMEX"/>
  </we:alternateReferences>
  <we:properties>
    <we:property name="claude.fileId" value="&quot;0e8703bd-6d4e-4448-859d-ea000cb375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10165</TotalTime>
  <Words>4554</Words>
  <Application>Microsoft Office PowerPoint</Application>
  <PresentationFormat>Presentación en pantalla (16:9)</PresentationFormat>
  <Paragraphs>371</Paragraphs>
  <Slides>29</Slides>
  <Notes>15</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Libre Baskerville</vt:lpstr>
      <vt:lpstr>Arial</vt:lpstr>
      <vt:lpstr>Zen Antique</vt:lpstr>
      <vt:lpstr>Montserrat</vt:lpstr>
      <vt:lpstr>diap</vt:lpstr>
      <vt:lpstr>Machine Learning Model for Hydraulic Failure Prediction in Stormwater Systems</vt:lpstr>
      <vt:lpstr>Cronograma Tesis II</vt:lpstr>
      <vt:lpstr>Presentación de PowerPoint</vt:lpstr>
      <vt:lpstr>Presentación de PowerPoint</vt:lpstr>
      <vt:lpstr>Presentación de PowerPoint</vt:lpstr>
      <vt:lpstr>Presentación de PowerPoint</vt:lpstr>
      <vt:lpstr>Hidrograma 1</vt:lpstr>
      <vt:lpstr>Hidrograma 1</vt:lpstr>
      <vt:lpstr>Hidrograma 2</vt:lpstr>
      <vt:lpstr>Hidrograma 2</vt:lpstr>
      <vt:lpstr>Hidrogramas de validación</vt:lpstr>
      <vt:lpstr>Presentación de PowerPoint</vt:lpstr>
      <vt:lpstr>Presentación de PowerPoint</vt:lpstr>
      <vt:lpstr>Presentación de PowerPoint</vt:lpstr>
      <vt:lpstr>Flujo de manejo de datos y entrenamiento del modelo</vt:lpstr>
      <vt:lpstr>Ejemplo de base de datos – Nodo 75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Nitrogen Narcosis Caused by Diving Case Report</dc:title>
  <dc:creator>Maria Alejandra Gonzalez Molina</dc:creator>
  <cp:lastModifiedBy>Luis Fernando Fajardo Bravo</cp:lastModifiedBy>
  <cp:revision>75</cp:revision>
  <cp:lastPrinted>2026-07-30T02:50:58Z</cp:lastPrinted>
  <dcterms:modified xsi:type="dcterms:W3CDTF">2026-09-22T14:58:33Z</dcterms:modified>
</cp:coreProperties>
</file>