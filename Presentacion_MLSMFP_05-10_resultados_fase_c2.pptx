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1"/>
  </p:notesMasterIdLst>
  <p:handoutMasterIdLst>
    <p:handoutMasterId r:id="rId32"/>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44"/>
    <p:sldId id="447" r:id="rId45"/>
    <p:sldId id="448" r:id="rId46"/>
    <p:sldId id="449" r:id="rId47"/>
    <p:sldId id="450" r:id="rId48"/>
    <p:sldId id="451" r:id="rId49"/>
    <p:sldId id="452" r:id="rId50"/>
  </p:sldIdLst>
  <p:sldSz cx="9144000" cy="5143500" type="screen16x9"/>
  <p:notesSz cx="6858000" cy="9144000"/>
  <p:embeddedFontLst>
    <p:embeddedFont>
      <p:font typeface="Libre Baskerville" panose="020B0604020202020204" charset="0"/>
      <p:regular r:id="rId33"/>
      <p:bold r:id="rId34"/>
      <p:italic r:id="rId35"/>
    </p:embeddedFont>
    <p:embeddedFont>
      <p:font typeface="Montserrat"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*Detalles computacionales del preprint; publicación revisada verificada. Contrastar con versión editorial antes de replicar.</a:t>
            </a:r>
          </a:p>
          <a:p>
            <a:r>
              <a:t>Fuente: https://arxiv.org/pdf/2404.10324</a:t>
            </a:r>
          </a:p>
          <a:p>
            <a:r>
              <a:t>Código: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Texto publicado, secciones 2.3–2.6, 3.2 y 3.5. Sus tiempos no incluyen nuestro desarrollo ni se trasladan a nuestra red.</a:t>
            </a:r>
          </a:p>
          <a:p>
            <a:r>
              <a:t>Fuente: https://backend.orbit.dtu.dk/ws/portalfiles/portal/282620979/1_s2.0_S0043135422009198_main.pdf</a:t>
            </a:r>
          </a:p>
          <a:p>
            <a:r>
              <a:t>Código: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Texto publicado, secciones 2.1, 2.4, 4.3–4.4 y 6.2.3. Transferencia limitada y objetivo distinto al de la tesis.</a:t>
            </a:r>
          </a:p>
          <a:p>
            <a:r>
              <a:t>Fuente: https://repository.tudelft.nl/file/File_82fef3ff-9a5f-4275-bd8f-6a4eb06c463d</a:t>
            </a:r>
          </a:p>
          <a:p>
            <a:r>
              <a:t>Código: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Texto publicado, secciones 3.3–3.6 y 5.3; README del código. A100 usada no significa A100 obligatoria.</a:t>
            </a:r>
          </a:p>
          <a:p>
            <a:r>
              <a:t>Fuente: https://repository.tudelft.nl/file/File_1cf09147-d8d4-4be3-8b42-f2e508ab64a6</a:t>
            </a:r>
          </a:p>
          <a:p>
            <a:r>
              <a:t>Código: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Solo resumen editorial y afiliaciones. Publicado en línea 03/09/2026; número de revista noviembre 2026.</a:t>
            </a:r>
          </a:p>
          <a:p>
            <a:r>
              <a:t>Fuente: https://ascelibrary.org/doi/abs/10.1061/JWRMD5.WRENG-7598</a:t>
            </a:r>
          </a:p>
          <a:p>
            <a:r>
              <a:t>Código: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*Detalles computacionales del preprint; publicación revisada verificada. Contrastar con versión editorial antes de replicar.</a:t>
            </a:r>
          </a:p>
          <a:p>
            <a:r>
              <a:t>CONDICIONAL: útil si necesitamos dinámica temporal; no sustituir XGBoost solo por modernidad.</a:t>
            </a:r>
          </a:p>
          <a:p>
            <a:r>
              <a:t>Fuente: https://arxiv.org/pdf/2404.10324</a:t>
            </a:r>
          </a:p>
          <a:p>
            <a:endParaRPr/>
          </a:p>
          <a:p>
            <a:r>
              <a:t>P2</a:t>
            </a:r>
          </a:p>
          <a:p>
            <a:r>
              <a:t>Texto publicado, secciones 2.3–2.6, 3.2 y 3.5. Sus tiempos no incluyen nuestro desarrollo ni se trasladan a nuestra red.</a:t>
            </a:r>
          </a:p>
          <a:p>
            <a:r>
              <a:t>APROVECHAR IDEAS: extremos y errores de volumen. Implementación temporal completa, solo con una necesidad demostrada.</a:t>
            </a:r>
          </a:p>
          <a:p>
            <a:r>
              <a:t>Fuente: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Texto publicado, secciones 2.1, 2.4, 4.3–4.4 y 6.2.3. Transferencia limitada y objetivo distinto al de la tesis.</a:t>
            </a:r>
          </a:p>
          <a:p>
            <a:r>
              <a:t>SEGUNDA ETAPA: mejor candidato reproducible si la topología aporta valor medible sobre la MLP.</a:t>
            </a:r>
          </a:p>
          <a:p>
            <a:r>
              <a:t>Fuente: https://repository.tudelft.nl/file/File_82fef3ff-9a5f-4275-bd8f-6a4eb06c463d</a:t>
            </a:r>
          </a:p>
          <a:p>
            <a:endParaRPr/>
          </a:p>
          <a:p>
            <a:r>
              <a:t>P4</a:t>
            </a:r>
          </a:p>
          <a:p>
            <a:r>
              <a:t>Texto publicado, secciones 3.3–3.6 y 5.3; README del código. A100 usada no significa A100 obligatoria.</a:t>
            </a:r>
          </a:p>
          <a:p>
            <a:r>
              <a:t>POSPONER: alto costo para el objetivo actual. Priorizar cuando transferencia sea una pregunta central de la tesis.</a:t>
            </a:r>
          </a:p>
          <a:p>
            <a:r>
              <a:t>Fuente: https://repository.tudelft.nl/file/File_1cf09147-d8d4-4be3-8b42-f2e508ab64a6</a:t>
            </a:r>
          </a:p>
          <a:p>
            <a:endParaRPr/>
          </a:p>
          <a:p>
            <a:r>
              <a:t>P5</a:t>
            </a:r>
          </a:p>
          <a:p>
            <a:r>
              <a:t>Solo resumen editorial y afiliaciones. Publicado en línea 03/09/2026; número de revista noviembre 2026.</a:t>
            </a:r>
          </a:p>
          <a:p>
            <a:r>
              <a:t>PRIORIDAD ALTA: piloto MLP acotado; consultar texto completo antes de atribuirle detalles de entrenamiento.</a:t>
            </a:r>
          </a:p>
          <a:p>
            <a:r>
              <a:t>Fuente: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*Detalles computacionales del preprint; publicación revisada verificada. Contrastar con versión editorial antes de replicar.</a:t>
            </a:r>
          </a:p>
          <a:p>
            <a:r>
              <a:t>https://arxiv.org/pdf/2404.10324</a:t>
            </a:r>
          </a:p>
          <a:p>
            <a:r>
              <a:t>https://github.com/Zhiyu014/GNN-UDS</a:t>
            </a:r>
          </a:p>
          <a:p>
            <a:endParaRPr/>
          </a:p>
          <a:p>
            <a:r>
              <a:t>P2 Texto publicado, secciones 2.3–2.6, 3.2 y 3.5. Sus tiempos no incluyen nuestro desarrollo ni se trasladan a nuestra red.</a:t>
            </a:r>
          </a:p>
          <a:p>
            <a:r>
              <a:t>https://backend.orbit.dtu.dk/ws/portalfiles/portal/282620979/1_s2.0_S0043135422009198_main.pdf</a:t>
            </a:r>
          </a:p>
          <a:p>
            <a:endParaRPr/>
          </a:p>
          <a:p>
            <a:endParaRPr/>
          </a:p>
          <a:p>
            <a:r>
              <a:t>P3 Texto publicado, secciones 2.1, 2.4, 4.3–4.4 y 6.2.3. Transferencia limitada y objetivo distinto al de la tesis.</a:t>
            </a:r>
          </a:p>
          <a:p>
            <a:r>
              <a:t>https://repository.tudelft.nl/file/File_82fef3ff-9a5f-4275-bd8f-6a4eb06c463d</a:t>
            </a:r>
          </a:p>
          <a:p>
            <a:r>
              <a:t>https://github.com/alextremo0205/SWMM_GNN_Repository_Paper_version</a:t>
            </a:r>
          </a:p>
          <a:p>
            <a:endParaRPr/>
          </a:p>
          <a:p>
            <a:r>
              <a:t>P4 Texto publicado, secciones 3.3–3.6 y 5.3; README del código. A100 usada no significa A100 obligatoria.</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Solo resumen editorial y afiliaciones. Publicado en línea 03/09/2026; número de revista noviembre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Assets from outputs/maps/long_moderate/long_moderate_f2.000. Scenario totals: SWMM 12,738.0 m3; XGBoost 11,103.116974830627 m3; error −12.834691671921593%. Classification: TP=40, TN=120, FP=0, FN=0. Parity figure reports R2=0.953, MAE=14.36 m3, RMSE=52.04 m3.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png"/><Relationship Id="rId23" Type="http://schemas.microsoft.com/office/2007/relationships/hdphoto" Target="../media/hdphoto1.wdp"/><Relationship Id="rId24" Type="http://schemas.openxmlformats.org/officeDocument/2006/relationships/image" Target="../media/image2.png"/><Relationship Id="rId25" Type="http://schemas.openxmlformats.org/officeDocument/2006/relationships/image" Target="../media/image3.png"/><Relationship Id="rId26"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customXml" Target="../ink/ink1.xml"/><Relationship Id="rId5" Type="http://schemas.openxmlformats.org/officeDocument/2006/relationships/image" Target="../media/image9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doi.org/10.1016/j.watres.2024.12214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doi.org/10.1016/j.watres.2022.11897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doi.org/10.1016/j.watres.2024.12239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doi.org/10.1016/j.watres.2025.12507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doi.org/10.1061/JWRMD5.WRENG-759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doi.org/10.1016/j.watres.2024.122142" TargetMode="External"/><Relationship Id="rId4" Type="http://schemas.openxmlformats.org/officeDocument/2006/relationships/hyperlink" Target="https://doi.org/10.1016/j.watres.2022.118972" TargetMode="External"/><Relationship Id="rId5" Type="http://schemas.openxmlformats.org/officeDocument/2006/relationships/hyperlink" Target="https://doi.org/10.1016/j.watres.2024.122396" TargetMode="External"/><Relationship Id="rId6" Type="http://schemas.openxmlformats.org/officeDocument/2006/relationships/hyperlink" Target="https://doi.org/10.1016/j.watres.2025.12507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doi.org/10.1061/JWRMD5.WRENG-759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15</a:t>
            </a:r>
            <a:r>
              <a:rPr lang="en-US" noProof="0" dirty="0"/>
              <a:t>/09/2026</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s-CO" sz="3600" dirty="0"/>
              <a:t>Cronograma Tesis II</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Cronograma actualizado">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s-CO" sz="2400" dirty="0"/>
              <a:t>Hidrogramas de validación</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Ampliar considerablemente el conjunto de simulaciones: generar más información de entrenamiento antes de concluir que se necesita cambiar la arquitectura del modelo.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Aumentar la diversidad de los escenarios de entrenamiento: incorporar eventos extremos, combinaciones poco frecuentes y condiciones fuera del rango actualmente considerado.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Explicar claramente la clasificación binaria: describir el criterio utilizado para determinar si ocurre o no inundación en un nodo y cómo se asignan las clases.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información que conduce a la clasificación: analizar qué variables y condiciones hidráulicas llevan al modelo a predecir inundación o no inundación.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Aclarar la terminología de las variables hidráulicas: definir con precisión la diferencia entre incoming discharge, inflow y las variables relacionadas con la magnitud o el escalamiento del caudal.</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Asegurar una comparación justa entre modelos: indicar explícitamente que todos fueron entrenados y evaluados con los mismos datos, particiones, métricas y procedimientos de validación.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Incorporar información temporal, espacial y topológica: incluir descriptores de la evolución del evento, del estado hidráulico previo y de las relaciones entre nodos vecinos, aguas arriba y aguas abajo.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Implementar una búsqueda sistemática de hiperparámetros: explicar claramente el procedimiento automatizado y utilizar optimización bayesiana, por ejemplo mediante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Redefinir el objetivo principal de la investigación: precisar si el propósito es desarrollar un modelo sustituto para acelerar simulaciones hidráulicas, apoyar decisiones en tiempo real o combinar ambos alcances.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Explicar con mayor claridad la arquitectura general del modelo: identificar las variables de entrada, las salidas predichas y la relación entre ambas.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Mejorar la interpretación de la importancia de variables: explicar cómo se calcula la importancia y cómo debe interpretarse desde una perspectiva hidráulica.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la suficiencia y representatividad del dataset: justificar si el número y la diversidad de simulaciones son adecuados para entrenar los modelos y evaluar su capacidad de generalización.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Justificar con mayor profundidad la selección de algoritmos: explicar por qué se evaluaron modelos lineales, máquinas de vectores de soporte y XGBoost, incluyendo sus ventajas y limitaciones.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Analizar la influencia de los hiperparámetros principales: evaluar cómo parámetros como la profundidad máxima, el número de árboles, la tasa de aprendizaje y el submuestreo afectan el desempeño.</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Extender la validación a nuevos escenarios: evaluar la capacidad del modelo para extrapolar fuera del rango de entrenamiento e identificar las condiciones en las que sus predicciones dejan de ser confiables.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discusión técnica de los resultados: interpretar el desempeño desde una perspectiva hidráulica, analizar las causas de los errores y discutir las limitaciones e implicaciones prácticas.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Fortalecer la revisión de literatura: ampliar y actualizar el estado del arte, precisar el vacío de investigación y explicar cómo el trabajo contribuye a abordarlo.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Reforzar el rigor metodológico y la reproducibilidad: justificar las decisiones metodológicas, documentar los procedimientos y respaldarlos con literatura científica.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Explorar arquitecturas neuronales espaciotemporales: después de ampliar los datos y mejorar las variables, evaluar una combinación de RNN y CNN para representar la evolución temporal y las relaciones entre nodos.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una red hidráulica sin calibrar como análisis complementario: analizar cómo cambia el desempeño del modelo y estudiar la incertidumbre asociada con las simulaciones.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Definir variables de estado para eventos con múltiples picos: incorporar información como el volumen almacenado antes de cada pulso para representar el almacenamiento residual de la red.</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s-CO" sz="1600" dirty="0"/>
              <a:t>Flujo de manejo de datos y entrenamiento del modelo</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s-CO" sz="1600" dirty="0"/>
              <a:t>Flujo de validación del modelo</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s-CO" sz="2000" dirty="0"/>
              <a:t>Ejemplo de base de datos – Nodo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s-CO" dirty="0">
                <a:solidFill>
                  <a:schemeClr val="tx1"/>
                </a:solidFill>
              </a:rPr>
              <a:t>Verde: Identificadores y valores de respuesta, no van al modelo como entradas</a:t>
            </a:r>
          </a:p>
          <a:p>
            <a:pPr marL="342900" indent="-342900">
              <a:buClr>
                <a:schemeClr val="tx1"/>
              </a:buClr>
              <a:buFont typeface="Arial" panose="020B0604020202020204" pitchFamily="34" charset="0"/>
              <a:buChar char="•"/>
            </a:pPr>
            <a:r>
              <a:rPr lang="es-CO" dirty="0">
                <a:solidFill>
                  <a:schemeClr val="tx1"/>
                </a:solidFill>
              </a:rPr>
              <a:t>Morado: Variables de entrada o </a:t>
            </a:r>
            <a:r>
              <a:rPr lang="es-CO" dirty="0" err="1">
                <a:solidFill>
                  <a:schemeClr val="tx1"/>
                </a:solidFill>
              </a:rPr>
              <a:t>features</a:t>
            </a:r>
            <a:r>
              <a:rPr lang="es-CO" dirty="0">
                <a:solidFill>
                  <a:schemeClr val="tx1"/>
                </a:solidFill>
              </a:rPr>
              <a:t>, son los valores e información que usa el modelo para entrar</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¿Vale la pena cambiar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Objetivo: inundación y volumen total por nodo. La complejidad adicional necesita una ganancia demostrada.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Ruta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Esfuerzo orientativo*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Decisión para la tesis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Mantener y fortalecer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Datos diversos + validación por familias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PRIORIDAD 1. Es la referencia que ya funciona; probar dónde falla.</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 tabular existente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PRIORIDAD 2. Comparación neuronal controlada con las mismas 17 entradas.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modelo temporal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semanas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CONDICIONAL. Solo si mejora extremos, topología o dinámica necesaria.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Transferencia entre redes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SEGUNDA ETAPA. Requiere otras redes y prueba en el destino.</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Qué tenemos y qué falta medir</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Base local inspeccionada: Chico Sur; una red, etiquetas de SWMM y escenarios sintéticos.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Situación / implicación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Datos actuales</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nodos y 160 tuberías; sin subcuencas ni pluviómetros. Entradas por hidrogramas; 17 features tabulares.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Variables adicionales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Geometría y conectividad: recuperar INP. Series de estados y caudales: preparar/exportar. Lluvia–escorrentía: nuevo alcance hidrológico.</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GPU disponible localmente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Una GPU mayor usada en un paper no es un requisito mínimo demostrado. Ensayar memoria y tiempo primero.</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Supuestos del costo</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Una persona con Python/SWMM; 30 h/semana. Incluye datos, adaptación y validación; excluye esperas, licencias y formación desde cero.</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Lo que no podemos prometer</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Tiempos locales de simulación/entrenamiento aún sin benchmark. Las etiquetas sintéticas prueban emulación de SWMM, no exactitud frente a campo.</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(registro institucional)</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demostrada hacia otra red. Un caso de estudio; nuevas lluvias no equivalen a nueva topología.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Alta cercanía hidráulica. Estudiar clasificación de inundación y balance; adoptar todo el modelo amplía el alcance temporal.</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sem. Datos 40–70 h; GNN y validación 80–140 h. Decisión: condicional.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prueba transferencia de pesos. Dos sistemas evalúan la metodología; no demuestran un modelo universal sin reentrenar.</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Muy útil para volumen por nodo, extremos y restricciones físicas. Cambiar MIKE 1D por SWMM sería una adaptación.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sem. Datos 30–60 h; adaptación/pruebas 90–120 h. Decisión: usar ideas, no replicar aún.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PARCIAL: zero-shot a una subred no vista del mismo sistema. No demuestra transferencia a otra ciudad o red independiente.</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Código y datos públicos. Buen punto de partida GNN; predecir niveles no resuelve por sí solo nuestro volumen desbordado.</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sem. Datos 30–60 h; GNN y salida volumen 90–180 h. Decisión: segunda etapa.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SÍ, CON ADAPTACIÓN entre dos redes. Zero-shot fue pobre; fine-tuning recupera desempeño. Entrenamiento conjunto no prueba una tercera red desconocida.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Referencia para una futura transferencia. Exige varias redes y adapta cargas/caudales, no directamente volumen de inundación.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sem., sin conseguir redes. Datos 60–100 h; transferencia 120–200 h. Decisión: posponer.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U. Federal de Paraíba / U. de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documentada en el resumen disponible. Volumen total reportado; no confirmar salida por nodo ni transferencia sin texto completo.</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Apoya un comparador MLP económico. No acredita que MLP supere XGBoost en nuestras mismas entradas y particiones.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sem. Datos 6–12 h; MLP y pruebas 24–48 h. Decisión: piloto prioritario.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Falta preparar h(t), Q(t), inflow/outflow y flooding(t). Conectividad: recuperable del INP. Definir estados iniciales disponibles al inferir.</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RTX A5000 24 GB; GNN ≈2,14 h por entrenamiento (20.000 épocas). No es mínimo requerido ni tiempo local.</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sem. Datos 40–70 h; GNN y validación 80–140 h. Decisión: condicional.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Falta dataset temporal de niveles, caudales y desbordamientos. Geometría: INP. Reproducción exacta: acceso/licencia MIKE 1D; adaptación SWMM evita esa dependencia.</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CPU i9, 32 GB RAM; 0,5–2 h de entrenamiento. GPU no mejoró la simulación autorregresiva en su implementación.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sem. Datos 30–60 h; adaptación/pruebas 90–120 h. Decisión: usar ideas, no replicar aún.</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Conectividad, cotas y longitudes: recuperar INP. Preparar inflows y niveles temporales. Añadir etiqueta/salida de desbordamiento para nuestro objetivo.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DelftBlue, GPUs V100S 32 GB para experimentos/búsqueda. 100 épocas, AdamW. No declara ese tamaño como mínimo.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sem. Datos 30–60 h; GNN y salida volumen 90–180 h. Decisión: segunda etapa.</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Otras redes y series de estados/caudales; revisar entrada de lluvia. INP actual sin subcuencas/pluviómetros. Revisar offsets, aristas paralelas y estructuras especiales.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experimentos GPU; rendimiento en A100 80 GB. Huber/AdamW, 25 épocas. El repositorio tiene restricciones de elementos hidráulicos.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sem., sin conseguir redes. Datos 60–100 h; transferencia 120–200 h. Decisión: posponer.</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Adaptación nodo–evento: reutilizar las 17 features. Replicar diseño de detención: capacidad, salidas, ubicación y lluvia; esos escenarios no están en nuestro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 VERIFICADO: hardware/tiempo no accesibles en resumen. No hay base para exigir una GPU grande.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sem. Datos 6–12 h; MLP y pruebas 24–48 h. Decisión: piloto prioritario.</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Criterio para invertir más tiempo</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Recomendación propia: cerrar primero un experimento pequeño y comparable; decidir con resultados reservados.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Paso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Qué se hace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Condición para continuar</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Piloto MLP</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Mismas entradas y eventos; ajuste interno y selección de época; varias semillas.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Mejora práctica predefinida en volumen, extremos o falsos negativos. No decidir por entrenamiento.</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Datos antes de arquitectura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Reservar familias de hidrogramas, multipicos y extremos. Medir XGBoost y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Si ambos fallan igual, revisar cobertura y descriptores; más capas no recuperan información ausente.</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Piloto GNN</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Probar una muestra, lotes pequeños y memoria pico antes de alquilar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Continuar si hay una hipótesis topológica clara y datos temporales/objetivos disponibles.</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Transferencia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Comparar desde cero, zero-shot y fine-tuning con igual presupuesto de datos destino.</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Eventos destino reservados. No llamar “extrapolación” al entrenamiento conjunto en redes ya vistas.</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Ninguno de estos trabajos garantiza superar nuestro XGBoost con el mismo objetivo, datos y validación.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Presupuesto computacional: medir antes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Separar horas-persona de desarrollo, horas-máquina de entrenamiento y tiempo para generar etiquetas.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Cómo estimarlo para esta red</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Simulaciones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Cronometrar 20 eventos representativos. Tiempo ≈ N × mediana por evento / paralelismo efectivo; revisar también extremos lentos.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Búsqueda de modelos</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Tiempo ≈ configuraciones × folds × semillas × duración de un ajuste. No confundir “un entrenamiento de 2 h” con toda la búsqueda.</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Datos temporales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Ejemplo propio: 1.000 eventos × 1.440 pasos × (160×3 + 160×2 variables) × 4 bytes ≈ 4,6 GB crudos; sin ventanas duplicadas ni cachés.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Memoria de GPU</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Depende de lotes, ventana, capas y gradientes; no del tamaño del CSV. T400 4 GB: piloto. Si no cabe, evaluar GPU 16–24 GB; no comprar por el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Decisión de alcance</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Con objetivo por evento y XGBoost sólido: MLP primero. Para GNN/transferencia, reservar semanas adicionales solo tras demostrar una necesidad.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92024"/>
            <a:ext cx="8229600" cy="393192"/>
          </a:xfrm>
          <a:prstGeom prst="rect">
            <a:avLst/>
          </a:prstGeom>
          <a:noFill/>
        </p:spPr>
        <p:txBody>
          <a:bodyPr wrap="square" lIns="0" rIns="0" tIns="0" bIns="0">
            <a:spAutoFit/>
          </a:bodyPr>
          <a:lstStyle/>
          <a:p>
            <a:pPr>
              <a:lnSpc>
                <a:spcPct val="100000"/>
              </a:lnSpc>
              <a:spcAft>
                <a:spcPts val="200"/>
              </a:spcAft>
            </a:pPr>
            <a:r>
              <a:rPr sz="2100" b="1">
                <a:solidFill>
                  <a:srgbClr val="8BC5FA"/>
                </a:solidFill>
                <a:latin typeface="Montserrat"/>
              </a:rPr>
              <a:t>Resultado de un escenario: forma, mapas y parity</a:t>
            </a:r>
          </a:p>
        </p:txBody>
      </p:sp>
      <p:sp>
        <p:nvSpPr>
          <p:cNvPr id="5" name="TextBox 4"/>
          <p:cNvSpPr txBox="1"/>
          <p:nvPr/>
        </p:nvSpPr>
        <p:spPr>
          <a:xfrm>
            <a:off x="429768" y="658368"/>
            <a:ext cx="8229600" cy="256032"/>
          </a:xfrm>
          <a:prstGeom prst="rect">
            <a:avLst/>
          </a:prstGeom>
          <a:noFill/>
        </p:spPr>
        <p:txBody>
          <a:bodyPr wrap="square" lIns="0" rIns="0" tIns="0" bIns="0">
            <a:spAutoFit/>
          </a:bodyPr>
          <a:lstStyle/>
          <a:p>
            <a:pPr>
              <a:lnSpc>
                <a:spcPct val="100000"/>
              </a:lnSpc>
              <a:spcAft>
                <a:spcPts val="200"/>
              </a:spcAft>
            </a:pPr>
            <a:r>
              <a:rPr sz="969" b="0">
                <a:solidFill>
                  <a:srgbClr val="B7CBE0"/>
                </a:solidFill>
                <a:latin typeface="Montserrat"/>
              </a:rPr>
              <a:t>Escenario sintético long_moderate · factor de caudal 2.00 · volumen acumulado de inundación por nodo y evento</a:t>
            </a:r>
          </a:p>
        </p:txBody>
      </p:sp>
      <p:pic>
        <p:nvPicPr>
          <p:cNvPr id="6" name="Picture 5" descr="hydrograph_long_moderate_f2.000.png"/>
          <p:cNvPicPr>
            <a:picLocks noChangeAspect="1"/>
          </p:cNvPicPr>
          <p:nvPr/>
        </p:nvPicPr>
        <p:blipFill>
          <a:blip r:embed="rId2"/>
          <a:stretch>
            <a:fillRect/>
          </a:stretch>
        </p:blipFill>
        <p:spPr>
          <a:xfrm>
            <a:off x="310896" y="1051560"/>
            <a:ext cx="3657600" cy="2033289"/>
          </a:xfrm>
          <a:prstGeom prst="rect">
            <a:avLst/>
          </a:prstGeom>
        </p:spPr>
      </p:pic>
      <p:sp>
        <p:nvSpPr>
          <p:cNvPr id="7" name="TextBox 6"/>
          <p:cNvSpPr txBox="1"/>
          <p:nvPr/>
        </p:nvSpPr>
        <p:spPr>
          <a:xfrm>
            <a:off x="4709160" y="1069848"/>
            <a:ext cx="1938528" cy="237744"/>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Forma del hidrograma</a:t>
            </a:r>
          </a:p>
        </p:txBody>
      </p:sp>
      <p:sp>
        <p:nvSpPr>
          <p:cNvPr id="8" name="TextBox 7"/>
          <p:cNvSpPr txBox="1"/>
          <p:nvPr/>
        </p:nvSpPr>
        <p:spPr>
          <a:xfrm>
            <a:off x="4709160" y="1353312"/>
            <a:ext cx="1938528" cy="603504"/>
          </a:xfrm>
          <a:prstGeom prst="rect">
            <a:avLst/>
          </a:prstGeom>
          <a:noFill/>
        </p:spPr>
        <p:txBody>
          <a:bodyPr wrap="square" lIns="0" rIns="0" tIns="0" bIns="0">
            <a:spAutoFit/>
          </a:bodyPr>
          <a:lstStyle/>
          <a:p>
            <a:pPr>
              <a:lnSpc>
                <a:spcPct val="100000"/>
              </a:lnSpc>
              <a:spcAft>
                <a:spcPts val="200"/>
              </a:spcAft>
            </a:pPr>
            <a:r>
              <a:rPr sz="1010" b="0">
                <a:solidFill>
                  <a:srgbClr val="F7FAFE"/>
                </a:solidFill>
                <a:latin typeface="Montserrat"/>
              </a:rPr>
              <a:t>long_moderate</a:t>
            </a:r>
          </a:p>
          <a:p>
            <a:pPr>
              <a:lnSpc>
                <a:spcPct val="100000"/>
              </a:lnSpc>
              <a:spcAft>
                <a:spcPts val="200"/>
              </a:spcAft>
            </a:pPr>
            <a:r>
              <a:rPr sz="1010" b="0">
                <a:solidFill>
                  <a:srgbClr val="F7FAFE"/>
                </a:solidFill>
                <a:latin typeface="Montserrat"/>
              </a:rPr>
              <a:t>Subida gradual, pico tardío y recesión prolongada.</a:t>
            </a:r>
          </a:p>
        </p:txBody>
      </p:sp>
      <p:sp>
        <p:nvSpPr>
          <p:cNvPr id="9" name="TextBox 8"/>
          <p:cNvSpPr txBox="1"/>
          <p:nvPr/>
        </p:nvSpPr>
        <p:spPr>
          <a:xfrm>
            <a:off x="4709160" y="2084831"/>
            <a:ext cx="1938528" cy="210312"/>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Resultado agregado</a:t>
            </a:r>
          </a:p>
        </p:txBody>
      </p:sp>
      <p:sp>
        <p:nvSpPr>
          <p:cNvPr id="10" name="TextBox 9"/>
          <p:cNvSpPr txBox="1"/>
          <p:nvPr/>
        </p:nvSpPr>
        <p:spPr>
          <a:xfrm>
            <a:off x="4709160" y="2350008"/>
            <a:ext cx="1938528" cy="877824"/>
          </a:xfrm>
          <a:prstGeom prst="rect">
            <a:avLst/>
          </a:prstGeom>
          <a:noFill/>
        </p:spPr>
        <p:txBody>
          <a:bodyPr wrap="square" lIns="0" rIns="0" tIns="0" bIns="0">
            <a:spAutoFit/>
          </a:bodyPr>
          <a:lstStyle/>
          <a:p>
            <a:pPr>
              <a:lnSpc>
                <a:spcPct val="100000"/>
              </a:lnSpc>
              <a:spcAft>
                <a:spcPts val="200"/>
              </a:spcAft>
            </a:pPr>
            <a:r>
              <a:rPr sz="1000" b="0">
                <a:solidFill>
                  <a:srgbClr val="F7FAFE"/>
                </a:solidFill>
                <a:latin typeface="Montserrat"/>
              </a:rPr>
              <a:t>SWMM: 12,738 m³</a:t>
            </a:r>
          </a:p>
          <a:p>
            <a:pPr>
              <a:lnSpc>
                <a:spcPct val="100000"/>
              </a:lnSpc>
              <a:spcAft>
                <a:spcPts val="200"/>
              </a:spcAft>
            </a:pPr>
            <a:r>
              <a:rPr sz="1000" b="0">
                <a:solidFill>
                  <a:srgbClr val="F7FAFE"/>
                </a:solidFill>
                <a:latin typeface="Montserrat"/>
              </a:rPr>
              <a:t>XGBoost: 11,103 m³</a:t>
            </a:r>
          </a:p>
          <a:p>
            <a:pPr>
              <a:lnSpc>
                <a:spcPct val="100000"/>
              </a:lnSpc>
              <a:spcAft>
                <a:spcPts val="200"/>
              </a:spcAft>
            </a:pPr>
            <a:r>
              <a:rPr sz="1000" b="0">
                <a:solidFill>
                  <a:srgbClr val="F7FAFE"/>
                </a:solidFill>
                <a:latin typeface="Montserrat"/>
              </a:rPr>
              <a:t>Error: −12.8%</a:t>
            </a:r>
          </a:p>
          <a:p>
            <a:pPr>
              <a:lnSpc>
                <a:spcPct val="100000"/>
              </a:lnSpc>
              <a:spcAft>
                <a:spcPts val="200"/>
              </a:spcAft>
            </a:pPr>
            <a:r>
              <a:rPr sz="1000" b="0">
                <a:solidFill>
                  <a:srgbClr val="F7FAFE"/>
                </a:solidFill>
                <a:latin typeface="Montserrat"/>
              </a:rPr>
              <a:t>40 nodos inundados en SWMM</a:t>
            </a:r>
          </a:p>
        </p:txBody>
      </p:sp>
      <p:sp>
        <p:nvSpPr>
          <p:cNvPr id="11" name="TextBox 10"/>
          <p:cNvSpPr txBox="1"/>
          <p:nvPr/>
        </p:nvSpPr>
        <p:spPr>
          <a:xfrm>
            <a:off x="6876288" y="1069848"/>
            <a:ext cx="1828800" cy="219456"/>
          </a:xfrm>
          <a:prstGeom prst="rect">
            <a:avLst/>
          </a:prstGeom>
          <a:noFill/>
        </p:spPr>
        <p:txBody>
          <a:bodyPr wrap="square" lIns="0" rIns="0" tIns="0" bIns="0">
            <a:spAutoFit/>
          </a:bodyPr>
          <a:lstStyle/>
          <a:p>
            <a:pPr>
              <a:lnSpc>
                <a:spcPct val="100000"/>
              </a:lnSpc>
              <a:spcAft>
                <a:spcPts val="200"/>
              </a:spcAft>
            </a:pPr>
            <a:r>
              <a:rPr sz="1100" b="1">
                <a:solidFill>
                  <a:srgbClr val="8BC5FA"/>
                </a:solidFill>
                <a:latin typeface="Montserrat"/>
              </a:rPr>
              <a:t>Parity por nodo</a:t>
            </a:r>
          </a:p>
        </p:txBody>
      </p:sp>
      <p:pic>
        <p:nvPicPr>
          <p:cNvPr id="12" name="Picture 11" descr="parity_nodes_symlog_long_moderate_f2.000.png"/>
          <p:cNvPicPr>
            <a:picLocks noChangeAspect="1"/>
          </p:cNvPicPr>
          <p:nvPr/>
        </p:nvPicPr>
        <p:blipFill>
          <a:blip r:embed="rId3"/>
          <a:stretch>
            <a:fillRect/>
          </a:stretch>
        </p:blipFill>
        <p:spPr>
          <a:xfrm>
            <a:off x="6922008" y="1353312"/>
            <a:ext cx="1572768" cy="1599466"/>
          </a:xfrm>
          <a:prstGeom prst="rect">
            <a:avLst/>
          </a:prstGeom>
        </p:spPr>
      </p:pic>
      <p:sp>
        <p:nvSpPr>
          <p:cNvPr id="13" name="TextBox 12"/>
          <p:cNvSpPr txBox="1"/>
          <p:nvPr/>
        </p:nvSpPr>
        <p:spPr>
          <a:xfrm>
            <a:off x="6876288" y="2990088"/>
            <a:ext cx="1856231" cy="329184"/>
          </a:xfrm>
          <a:prstGeom prst="rect">
            <a:avLst/>
          </a:prstGeom>
          <a:noFill/>
        </p:spPr>
        <p:txBody>
          <a:bodyPr wrap="square" lIns="0" rIns="0" tIns="0" bIns="0">
            <a:spAutoFit/>
          </a:bodyPr>
          <a:lstStyle/>
          <a:p>
            <a:pPr>
              <a:lnSpc>
                <a:spcPct val="100000"/>
              </a:lnSpc>
              <a:spcAft>
                <a:spcPts val="200"/>
              </a:spcAft>
            </a:pPr>
            <a:r>
              <a:rPr sz="819" b="0">
                <a:solidFill>
                  <a:srgbClr val="B7CBE0"/>
                </a:solidFill>
                <a:latin typeface="Montserrat"/>
              </a:rPr>
              <a:t>R² = 0.953 · MAE = 14.36 m³</a:t>
            </a:r>
          </a:p>
          <a:p>
            <a:pPr>
              <a:lnSpc>
                <a:spcPct val="100000"/>
              </a:lnSpc>
              <a:spcAft>
                <a:spcPts val="200"/>
              </a:spcAft>
            </a:pPr>
            <a:r>
              <a:rPr sz="819" b="0">
                <a:solidFill>
                  <a:srgbClr val="B7CBE0"/>
                </a:solidFill>
                <a:latin typeface="Montserrat"/>
              </a:rPr>
              <a:t>RMSE = 52.04 m³ · n = 160</a:t>
            </a:r>
          </a:p>
        </p:txBody>
      </p:sp>
      <p:sp>
        <p:nvSpPr>
          <p:cNvPr id="14" name="TextBox 13"/>
          <p:cNvSpPr txBox="1"/>
          <p:nvPr/>
        </p:nvSpPr>
        <p:spPr>
          <a:xfrm>
            <a:off x="329184"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long_moderate_f2.000.png"/>
          <p:cNvPicPr>
            <a:picLocks noChangeAspect="1"/>
          </p:cNvPicPr>
          <p:nvPr/>
        </p:nvPicPr>
        <p:blipFill>
          <a:blip r:embed="rId4"/>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rIns="0" t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long_moderate_f2.000.png"/>
          <p:cNvPicPr>
            <a:picLocks noChangeAspect="1"/>
          </p:cNvPicPr>
          <p:nvPr/>
        </p:nvPicPr>
        <p:blipFill>
          <a:blip r:embed="rId5"/>
          <a:stretch>
            <a:fillRect/>
          </a:stretch>
        </p:blipFill>
        <p:spPr>
          <a:xfrm>
            <a:off x="2880360" y="3282696"/>
            <a:ext cx="2468880" cy="1522455"/>
          </a:xfrm>
          <a:prstGeom prst="rect">
            <a:avLst/>
          </a:prstGeom>
        </p:spPr>
      </p:pic>
      <p:sp>
        <p:nvSpPr>
          <p:cNvPr id="18" name="TextBox 17"/>
          <p:cNvSpPr txBox="1"/>
          <p:nvPr/>
        </p:nvSpPr>
        <p:spPr>
          <a:xfrm>
            <a:off x="310896" y="4882896"/>
            <a:ext cx="7863840" cy="128016"/>
          </a:xfrm>
          <a:prstGeom prst="rect">
            <a:avLst/>
          </a:prstGeom>
          <a:noFill/>
        </p:spPr>
        <p:txBody>
          <a:bodyPr wrap="square" lIns="0" rIns="0" tIns="0" bIns="0">
            <a:spAutoFit/>
          </a:bodyPr>
          <a:lstStyle/>
          <a:p>
            <a:pPr>
              <a:lnSpc>
                <a:spcPct val="100000"/>
              </a:lnSpc>
              <a:spcAft>
                <a:spcPts val="200"/>
              </a:spcAft>
            </a:pPr>
            <a:r>
              <a:rPr sz="760" b="0">
                <a:solidFill>
                  <a:srgbClr val="B7CBE0"/>
                </a:solidFill>
                <a:latin typeface="Montserrat"/>
              </a:rPr>
              <a:t>MLSMFP  |  Resultados actuales · SWMM vs XGBoost  |  Escenario long_moderate_f2.000</a:t>
            </a:r>
          </a:p>
        </p:txBody>
      </p:sp>
      <p:sp>
        <p:nvSpPr>
          <p:cNvPr id="19" name="TextBox 18"/>
          <p:cNvSpPr txBox="1"/>
          <p:nvPr/>
        </p:nvSpPr>
        <p:spPr>
          <a:xfrm>
            <a:off x="8321040" y="4818888"/>
            <a:ext cx="502920" cy="201168"/>
          </a:xfrm>
          <a:prstGeom prst="rect">
            <a:avLst/>
          </a:prstGeom>
          <a:noFill/>
        </p:spPr>
        <p:txBody>
          <a:bodyPr wrap="square" lIns="0" rIns="0" t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Primera corrida real de punta a punta (2026-10-05)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39 formas × 25 factores + base = 1000 corridas SWMM, 160 nodos, 160,000 filas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31</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Métrica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Valor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Nota</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Corridas SWMM</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39 formas × 25 factores + base</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Filas en dataset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160,000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1000 corridas × 160 nodos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Escenarios sin drenar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Fase C2: reintento con extensión nunca se activó</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Errores / crashes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Pipeline completo, 0 fallos</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Exclusión por continuidad de routing — Fase C2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37 de 1000 corridas (3.7%) superan el 5% de error de continuidad SWMM</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32</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Escenario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Factor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Error de continuidad</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shape_ultra_short_impulse</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12.38% (peor caso)</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rare_extreme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11.72%</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common_bogota</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10.57%</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base (forma base)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5.17% — confirma el fix de formas base</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Benchmark justo — 5 familias, protocolo LeaveOneShapeOut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154,080 filas evaluadas (tras excluir continuidad) · 46,225 inundadas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33</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Familia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RMSE volumen</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F1 clasificador</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XGBoost (ganador)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78.04</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0.979</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99.61</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0.977</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Random Forest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185.46</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0.890</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Lineal</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201.18</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0.817</a:t>
                      </a:r>
                    </a:p>
                  </a:txBody>
                  <a:tcPr marT="64008" marB="64008">
                    <a:solidFill>
                      <a:srgbClr val="234560"/>
                    </a:solidFill>
                  </a:tcPr>
                </a:tc>
                <a:extLst>
                  <a:ext uri="{0D108BD9-81ED-4DB2-BD59-A6C34878D82A}">
                    <a16:rowId xmlns:a16="http://schemas.microsoft.com/office/drawing/2014/main" val="10004"/>
                  </a:ext>
                </a:extLst>
              </a:tr>
              <a:tr h="724662">
                <a:tc>
                  <a:txBody>
                    <a:bodyPr/>
                    <a:lstStyle/>
                    <a:p>
                      <a:pPr>
                        <a:lnSpc>
                          <a:spcPct val="102000"/>
                        </a:lnSpc>
                        <a:spcBef>
                          <a:spcPts val="0"/>
                        </a:spcBef>
                        <a:spcAft>
                          <a:spcPts val="300"/>
                        </a:spcAft>
                      </a:pPr>
                      <a:r>
                        <a:rPr sz="1220" b="1">
                          <a:solidFill>
                            <a:srgbClr val="8BC5FA"/>
                          </a:solidFill>
                          <a:latin typeface="Montserrat"/>
                        </a:rPr>
                        <a:t>SVM</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pendiente — excluido por escala</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Paridad SWMM vs. predicción, por familia (OOF)</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Mismas predicciones out-of-fold que el ranking — no es un ajuste optimista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34</a:t>
            </a:r>
          </a:p>
        </p:txBody>
      </p:sp>
      <p:pic>
        <p:nvPicPr>
          <p:cNvPr id="8" name="Picture 7" descr="parity_nodes_linear_todas_las_corridas.png"/>
          <p:cNvPicPr>
            <a:picLocks noChangeAspect="1"/>
          </p:cNvPicPr>
          <p:nvPr/>
        </p:nvPicPr>
        <p:blipFill>
          <a:blip r:embed="rId2"/>
          <a:stretch>
            <a:fillRect/>
          </a:stretch>
        </p:blipFill>
        <p:spPr>
          <a:xfrm>
            <a:off x="350000" y="1050000"/>
            <a:ext cx="1533473" cy="1571750"/>
          </a:xfrm>
          <a:prstGeom prst="rect">
            <a:avLst/>
          </a:prstGeom>
        </p:spPr>
      </p:pic>
      <p:sp>
        <p:nvSpPr>
          <p:cNvPr id="9" name="TextBox 8"/>
          <p:cNvSpPr txBox="1"/>
          <p:nvPr/>
        </p:nvSpPr>
        <p:spPr>
          <a:xfrm>
            <a:off x="350000" y="1000000"/>
            <a:ext cx="4172000" cy="300000"/>
          </a:xfrm>
          <a:prstGeom prst="rect">
            <a:avLst/>
          </a:prstGeom>
          <a:noFill/>
        </p:spPr>
        <p:txBody>
          <a:bodyPr wrap="none">
            <a:spAutoFit/>
          </a:bodyPr>
          <a:lstStyle/>
          <a:p>
            <a:r>
              <a:rPr sz="1400" b="1"/>
              <a:t>XGBoost</a:t>
            </a:r>
          </a:p>
        </p:txBody>
      </p:sp>
      <p:pic>
        <p:nvPicPr>
          <p:cNvPr id="10" name="Picture 9" descr="parity_nodes_linear_todas_las_corridas.png"/>
          <p:cNvPicPr>
            <a:picLocks noChangeAspect="1"/>
          </p:cNvPicPr>
          <p:nvPr/>
        </p:nvPicPr>
        <p:blipFill>
          <a:blip r:embed="rId3"/>
          <a:stretch>
            <a:fillRect/>
          </a:stretch>
        </p:blipFill>
        <p:spPr>
          <a:xfrm>
            <a:off x="4622000" y="1050000"/>
            <a:ext cx="1533473" cy="1571750"/>
          </a:xfrm>
          <a:prstGeom prst="rect">
            <a:avLst/>
          </a:prstGeom>
        </p:spPr>
      </p:pic>
      <p:sp>
        <p:nvSpPr>
          <p:cNvPr id="11" name="TextBox 10"/>
          <p:cNvSpPr txBox="1"/>
          <p:nvPr/>
        </p:nvSpPr>
        <p:spPr>
          <a:xfrm>
            <a:off x="4622000" y="1000000"/>
            <a:ext cx="4172000" cy="300000"/>
          </a:xfrm>
          <a:prstGeom prst="rect">
            <a:avLst/>
          </a:prstGeom>
          <a:noFill/>
        </p:spPr>
        <p:txBody>
          <a:bodyPr wrap="none">
            <a:spAutoFit/>
          </a:bodyPr>
          <a:lstStyle/>
          <a:p>
            <a:r>
              <a:rPr sz="1400" b="1"/>
              <a:t>Random Forest</a:t>
            </a:r>
          </a:p>
        </p:txBody>
      </p:sp>
      <p:pic>
        <p:nvPicPr>
          <p:cNvPr id="12" name="Picture 11" descr="parity_nodes_linear_todas_las_corridas.png"/>
          <p:cNvPicPr>
            <a:picLocks noChangeAspect="1"/>
          </p:cNvPicPr>
          <p:nvPr/>
        </p:nvPicPr>
        <p:blipFill>
          <a:blip r:embed="rId4"/>
          <a:stretch>
            <a:fillRect/>
          </a:stretch>
        </p:blipFill>
        <p:spPr>
          <a:xfrm>
            <a:off x="350000" y="2971750"/>
            <a:ext cx="1533473" cy="1571750"/>
          </a:xfrm>
          <a:prstGeom prst="rect">
            <a:avLst/>
          </a:prstGeom>
        </p:spPr>
      </p:pic>
      <p:sp>
        <p:nvSpPr>
          <p:cNvPr id="13" name="TextBox 12"/>
          <p:cNvSpPr txBox="1"/>
          <p:nvPr/>
        </p:nvSpPr>
        <p:spPr>
          <a:xfrm>
            <a:off x="350000" y="2921750"/>
            <a:ext cx="4172000" cy="300000"/>
          </a:xfrm>
          <a:prstGeom prst="rect">
            <a:avLst/>
          </a:prstGeom>
          <a:noFill/>
        </p:spPr>
        <p:txBody>
          <a:bodyPr wrap="none">
            <a:spAutoFit/>
          </a:bodyPr>
          <a:lstStyle/>
          <a:p>
            <a:r>
              <a:rPr sz="1400" b="1"/>
              <a:t>Lineal</a:t>
            </a:r>
          </a:p>
        </p:txBody>
      </p:sp>
      <p:pic>
        <p:nvPicPr>
          <p:cNvPr id="14" name="Picture 13" descr="parity_nodes_linear_todas_las_corridas.png"/>
          <p:cNvPicPr>
            <a:picLocks noChangeAspect="1"/>
          </p:cNvPicPr>
          <p:nvPr/>
        </p:nvPicPr>
        <p:blipFill>
          <a:blip r:embed="rId5"/>
          <a:stretch>
            <a:fillRect/>
          </a:stretch>
        </p:blipFill>
        <p:spPr>
          <a:xfrm>
            <a:off x="4622000" y="2971750"/>
            <a:ext cx="1533473" cy="1571750"/>
          </a:xfrm>
          <a:prstGeom prst="rect">
            <a:avLst/>
          </a:prstGeom>
        </p:spPr>
      </p:pic>
      <p:sp>
        <p:nvSpPr>
          <p:cNvPr id="15" name="TextBox 14"/>
          <p:cNvSpPr txBox="1"/>
          <p:nvPr/>
        </p:nvSpPr>
        <p:spPr>
          <a:xfrm>
            <a:off x="4622000" y="2921750"/>
            <a:ext cx="4172000" cy="300000"/>
          </a:xfrm>
          <a:prstGeom prst="rect">
            <a:avLst/>
          </a:prstGeom>
          <a:noFill/>
        </p:spPr>
        <p:txBody>
          <a:bodyPr wrap="none">
            <a:spAutoFit/>
          </a:bodyPr>
          <a:lstStyle/>
          <a:p>
            <a:r>
              <a:rPr sz="1400" b="1"/>
              <a:t>MLP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Optuna sobre XGBoost (familia ganadora) — estimación exploratoria</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50 trials · GroupKFold(5) interno por shape_id · NO es confirmatorio (spec §12)</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35</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Hiperparámetro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Default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Mejor trial (#47/50)</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Clasificador max_depth / lr / n_est.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5 / 0.136 / 313</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Regresor max_depth / lr / n_est.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8 / 0.199 / 421</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Objetivo (RMSE, fold interno)</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108.84</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Status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estimacion_exploratoria_condicionada</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Próximos pasos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Lo que queda en la lista de trabajo después de esta corrida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Resultados Fase C2 · benchmark 5 familias  |  05 octubre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36</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Pendiente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Origen</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1</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Configurar SVM para esta escala y sumarlo al ranking</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Benchmark</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Entrenar sobre tabular_v4_21 (features tributarias) y conectar ScenarioPredictor</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Fase B2</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3</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config_7shapes.yaml desactualizado</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Auditoría Fase 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4</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Decisión de integración (merge a la rama real)</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Pospuesta</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10165</TotalTime>
  <Words>4554</Words>
  <Application>Microsoft Office PowerPoint</Application>
  <PresentationFormat>Presentación en pantalla (16:9)</PresentationFormat>
  <Paragraphs>371</Paragraphs>
  <Slides>29</Slides>
  <Notes>15</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Libre Baskerville</vt:lpstr>
      <vt:lpstr>Arial</vt:lpstr>
      <vt:lpstr>Zen Antique</vt:lpstr>
      <vt:lpstr>Montserrat</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75</cp:revision>
  <cp:lastPrinted>2026-07-30T02:50:58Z</cp:lastPrinted>
  <dcterms:modified xsi:type="dcterms:W3CDTF">2026-09-22T14:58:33Z</dcterms:modified>
</cp:coreProperties>
</file>