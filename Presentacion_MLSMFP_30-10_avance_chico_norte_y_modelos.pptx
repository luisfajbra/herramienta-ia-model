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56"/>
  </p:notesMasterIdLst>
  <p:handoutMasterIdLst>
    <p:handoutMasterId r:id="rId57"/>
  </p:handoutMasterIdLst>
  <p:sldIdLst>
    <p:sldId id="470" r:id="rId45"/>
    <p:sldId id="471" r:id="rId16"/>
    <p:sldId id="472" r:id="rId17"/>
    <p:sldId id="473" r:id="rId18"/>
    <p:sldId id="474" r:id="rId19"/>
    <p:sldId id="475" r:id="rId20"/>
    <p:sldId id="476" r:id="rId21"/>
    <p:sldId id="477" r:id="rId22"/>
    <p:sldId id="478" r:id="rId23"/>
    <p:sldId id="479" r:id="rId24"/>
    <p:sldId id="480" r:id="rId25"/>
    <p:sldId id="481" r:id="rId26"/>
    <p:sldId id="482" r:id="rId27"/>
  </p:sldIdLst>
  <p:sldSz cx="9144000" cy="5143500" type="screen16x9"/>
  <p:notesSz cx="6858000" cy="9144000"/>
  <p:embeddedFontLst>
    <p:embeddedFont>
      <p:font typeface="Libre Baskerville" panose="020B0604020202020204" charset="0"/>
      <p:regular r:id="rId58"/>
      <p:bold r:id="rId59"/>
      <p:italic r:id="rId60"/>
    </p:embeddedFont>
    <p:embeddedFont>
      <p:font typeface="Montserrat" panose="00000500000000000000" pitchFamily="2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3"/>
    <a:srgbClr val="A4FF9F"/>
    <a:srgbClr val="5E8CBE"/>
    <a:srgbClr val="867AB8"/>
    <a:srgbClr val="FF7C80"/>
    <a:srgbClr val="8BC5FA"/>
    <a:srgbClr val="31547B"/>
    <a:srgbClr val="355A84"/>
    <a:srgbClr val="93A6C1"/>
    <a:srgbClr val="508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0DF707-0B7A-4722-825E-A8C82910448D}">
  <a:tblStyle styleId="{B70DF707-0B7A-4722-825E-A8C8291044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2" autoAdjust="0"/>
    <p:restoredTop sz="94400" autoAdjust="0"/>
  </p:normalViewPr>
  <p:slideViewPr>
    <p:cSldViewPr snapToGrid="0">
      <p:cViewPr varScale="1">
        <p:scale>
          <a:sx n="141" d="100"/>
          <a:sy n="141" d="100"/>
        </p:scale>
        <p:origin x="852" y="-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5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45" Type="http://schemas.openxmlformats.org/officeDocument/2006/relationships/slide" Target="slides/slide1.xml"/><Relationship Id="rId56" Type="http://schemas.openxmlformats.org/officeDocument/2006/relationships/notesMaster" Target="notesMasters/notesMaster1.xml"/><Relationship Id="rId57" Type="http://schemas.openxmlformats.org/officeDocument/2006/relationships/handoutMaster" Target="handoutMasters/handoutMaster1.xml"/><Relationship Id="rId58" Type="http://schemas.openxmlformats.org/officeDocument/2006/relationships/font" Target="fonts/font1.fntdata"/><Relationship Id="rId59" Type="http://schemas.openxmlformats.org/officeDocument/2006/relationships/font" Target="fonts/font2.fntdata"/><Relationship Id="rId60" Type="http://schemas.openxmlformats.org/officeDocument/2006/relationships/font" Target="fonts/font3.fntdata"/><Relationship Id="rId61" Type="http://schemas.openxmlformats.org/officeDocument/2006/relationships/font" Target="fonts/font4.fntdata"/><Relationship Id="rId62" Type="http://schemas.openxmlformats.org/officeDocument/2006/relationships/font" Target="fonts/font5.fntdata"/><Relationship Id="rId63" Type="http://schemas.openxmlformats.org/officeDocument/2006/relationships/font" Target="fonts/font6.fntdata"/><Relationship Id="rId64" Type="http://schemas.openxmlformats.org/officeDocument/2006/relationships/font" Target="fonts/font7.fntdata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1D31A96-AA36-E222-75CD-942A5EB991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C89931-5FA1-104C-E402-96DD3FE88B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16F0B-887D-48C5-BC7E-1B58F2397D46}" type="datetimeFigureOut">
              <a:rPr lang="es-CO" smtClean="0"/>
              <a:t>20/10/2026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DE2FF6-00C1-28C4-B854-E31A77EFB5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F43366-C97E-5D30-6A61-70599CFB0E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8D6B6-0D79-4A52-B148-990ABCFC1E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01135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0615503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Portada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35F034-20D9-B4C5-8358-9688592E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705" y="987873"/>
            <a:ext cx="6588199" cy="375821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89B234E-DA3E-ADB7-C645-D2663C91D17A}"/>
              </a:ext>
            </a:extLst>
          </p:cNvPr>
          <p:cNvCxnSpPr/>
          <p:nvPr userDrawn="1"/>
        </p:nvCxnSpPr>
        <p:spPr>
          <a:xfrm>
            <a:off x="224175" y="3099830"/>
            <a:ext cx="869564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Google Shape;11;p2">
            <a:extLst>
              <a:ext uri="{FF2B5EF4-FFF2-40B4-BE49-F238E27FC236}">
                <a16:creationId xmlns:a16="http://schemas.microsoft.com/office/drawing/2014/main" id="{46BD2D74-0A2E-C2B6-BEBB-A7A73007ED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18445" y="3513265"/>
            <a:ext cx="4507107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BC81BF4-67AC-BF92-3B23-337A171E5C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0747" y="4108392"/>
            <a:ext cx="1122501" cy="447813"/>
          </a:xfrm>
        </p:spPr>
        <p:txBody>
          <a:bodyPr/>
          <a:lstStyle>
            <a:lvl1pPr marL="114300" indent="0">
              <a:buNone/>
              <a:defRPr sz="1400"/>
            </a:lvl1pPr>
          </a:lstStyle>
          <a:p>
            <a:pPr lvl="0"/>
            <a:r>
              <a:rPr lang="es-ES" dirty="0" err="1"/>
              <a:t>to</a:t>
            </a:r>
            <a:r>
              <a:rPr lang="es-ES" dirty="0"/>
              <a:t>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893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1350" y="1423263"/>
            <a:ext cx="5405100" cy="194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1350" y="3314625"/>
            <a:ext cx="5405100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950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2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141350" y="2549500"/>
            <a:ext cx="6861300" cy="10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58700" y="1353788"/>
            <a:ext cx="1626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331150" y="3627713"/>
            <a:ext cx="44817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D7D205FF-0CD9-CE2F-E2C1-83481A2B8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395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77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521092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76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1AF50676-8359-BE63-DD6F-3F783BB61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3" name="Google Shape;24;p4">
            <a:extLst>
              <a:ext uri="{FF2B5EF4-FFF2-40B4-BE49-F238E27FC236}">
                <a16:creationId xmlns:a16="http://schemas.microsoft.com/office/drawing/2014/main" id="{B7538562-B18C-A308-8992-A29375029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615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391583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055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2;p4">
            <a:extLst>
              <a:ext uri="{FF2B5EF4-FFF2-40B4-BE49-F238E27FC236}">
                <a16:creationId xmlns:a16="http://schemas.microsoft.com/office/drawing/2014/main" id="{4C5B8F73-FC8B-9241-7678-C4DDCD3019A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A07BA6-F4A9-9808-ED15-76AEE7C7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3300"/>
            </a:lvl1pPr>
          </a:lstStyle>
          <a:p>
            <a:r>
              <a:rPr lang="es-ES" dirty="0"/>
              <a:t>Haga clic para modificar</a:t>
            </a:r>
            <a:endParaRPr lang="es-CO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D75B560-8E7C-D540-20BE-B237247E6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0C5ADD-74DF-90D3-03A8-63663869A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7555" y="1391915"/>
            <a:ext cx="6187177" cy="421861"/>
          </a:xfrm>
        </p:spPr>
        <p:txBody>
          <a:bodyPr/>
          <a:lstStyle>
            <a:lvl1pPr marL="114300" indent="0" algn="l">
              <a:buNone/>
              <a:defRPr lang="es-CO" sz="2400" b="1" i="0" u="none" strike="noStrike" cap="none" dirty="0">
                <a:solidFill>
                  <a:srgbClr val="FFFFB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305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>
  <p:cSld name="One column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0903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3562925" y="2238025"/>
            <a:ext cx="4864800" cy="19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3562925" y="970775"/>
            <a:ext cx="48648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F9367B2C-BBE5-04C5-44F7-3356491E6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40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Section title and 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711350" y="1580150"/>
            <a:ext cx="5151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711350" y="2340250"/>
            <a:ext cx="51510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74F13D-0CE4-3400-4DA2-4B2131FFD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854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3560250" y="3291125"/>
            <a:ext cx="4626600" cy="11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8B88258-C5B6-1041-8893-E62BA8F14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089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>
  <p:cSld name="Big 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670700" y="1580875"/>
            <a:ext cx="58026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1670700" y="3114124"/>
            <a:ext cx="5802600" cy="4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8AC9DA0D-3DCA-DFC3-BE58-DCA1A7894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0572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6341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>
  <p:cSld name="Table of conten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720000" y="75784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2" hasCustomPrompt="1"/>
          </p:nvPr>
        </p:nvSpPr>
        <p:spPr>
          <a:xfrm>
            <a:off x="767145" y="1806480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444845" y="197170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3" hasCustomPrompt="1"/>
          </p:nvPr>
        </p:nvSpPr>
        <p:spPr>
          <a:xfrm>
            <a:off x="4664695" y="2391672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4"/>
          </p:nvPr>
        </p:nvSpPr>
        <p:spPr>
          <a:xfrm>
            <a:off x="5342395" y="255769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5" hasCustomPrompt="1"/>
          </p:nvPr>
        </p:nvSpPr>
        <p:spPr>
          <a:xfrm>
            <a:off x="767145" y="2976864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6"/>
          </p:nvPr>
        </p:nvSpPr>
        <p:spPr>
          <a:xfrm>
            <a:off x="1444845" y="3143681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7" hasCustomPrompt="1"/>
          </p:nvPr>
        </p:nvSpPr>
        <p:spPr>
          <a:xfrm>
            <a:off x="4664695" y="3562056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8"/>
          </p:nvPr>
        </p:nvSpPr>
        <p:spPr>
          <a:xfrm>
            <a:off x="5342395" y="3729672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9" hasCustomPrompt="1"/>
          </p:nvPr>
        </p:nvSpPr>
        <p:spPr>
          <a:xfrm>
            <a:off x="767145" y="4147248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3"/>
          </p:nvPr>
        </p:nvSpPr>
        <p:spPr>
          <a:xfrm>
            <a:off x="1444845" y="4315663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4"/>
          </p:nvPr>
        </p:nvSpPr>
        <p:spPr>
          <a:xfrm>
            <a:off x="1444875" y="1646950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5"/>
          </p:nvPr>
        </p:nvSpPr>
        <p:spPr>
          <a:xfrm>
            <a:off x="1444875" y="2841512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6"/>
          </p:nvPr>
        </p:nvSpPr>
        <p:spPr>
          <a:xfrm>
            <a:off x="1444875" y="4036075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7"/>
          </p:nvPr>
        </p:nvSpPr>
        <p:spPr>
          <a:xfrm>
            <a:off x="5342400" y="3438794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8"/>
          </p:nvPr>
        </p:nvSpPr>
        <p:spPr>
          <a:xfrm>
            <a:off x="5342400" y="2244231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6A022A7-5EAA-EFCC-2C64-7193F298683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9460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2290050" y="3989413"/>
            <a:ext cx="45639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"/>
          </p:nvPr>
        </p:nvSpPr>
        <p:spPr>
          <a:xfrm>
            <a:off x="1458150" y="2816863"/>
            <a:ext cx="6227700" cy="122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E81FD6E-2FFF-28AE-374E-DDC20EFB9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4084" y="4868702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9443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preserve="1">
  <p:cSld name="Title and 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>
            <a:spLocks noGrp="1"/>
          </p:cNvSpPr>
          <p:nvPr>
            <p:ph type="subTitle" idx="1"/>
          </p:nvPr>
        </p:nvSpPr>
        <p:spPr>
          <a:xfrm>
            <a:off x="973797" y="3011475"/>
            <a:ext cx="43983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973809" y="1270425"/>
            <a:ext cx="4398300" cy="17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>
            <a:spLocks noGrp="1"/>
          </p:cNvSpPr>
          <p:nvPr>
            <p:ph type="pic" idx="2"/>
          </p:nvPr>
        </p:nvSpPr>
        <p:spPr>
          <a:xfrm>
            <a:off x="5327150" y="1080200"/>
            <a:ext cx="2983200" cy="29832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011B3A5-BA18-77C0-B197-5934FE569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0159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preserve="1">
  <p:cSld name="Title and text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371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subTitle" idx="1"/>
          </p:nvPr>
        </p:nvSpPr>
        <p:spPr>
          <a:xfrm>
            <a:off x="1889400" y="3812150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title"/>
          </p:nvPr>
        </p:nvSpPr>
        <p:spPr>
          <a:xfrm>
            <a:off x="1889550" y="3306875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C836EED-38EE-4930-F765-436660262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5149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558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preserve="1">
  <p:cSld name="Title and text 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3153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>
            <a:spLocks noGrp="1"/>
          </p:cNvSpPr>
          <p:nvPr>
            <p:ph type="title"/>
          </p:nvPr>
        </p:nvSpPr>
        <p:spPr>
          <a:xfrm>
            <a:off x="720000" y="66710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56" name="Google Shape;156;p20"/>
          <p:cNvSpPr txBox="1">
            <a:spLocks noGrp="1"/>
          </p:cNvSpPr>
          <p:nvPr>
            <p:ph type="subTitle" idx="1"/>
          </p:nvPr>
        </p:nvSpPr>
        <p:spPr>
          <a:xfrm>
            <a:off x="719413" y="1383062"/>
            <a:ext cx="5347500" cy="17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5E61C1E-9234-A230-B547-BF54ADA7F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8049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999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preserve="1">
  <p:cSld name="Title and two columns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418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subTitle" idx="1"/>
          </p:nvPr>
        </p:nvSpPr>
        <p:spPr>
          <a:xfrm>
            <a:off x="1366805" y="1856906"/>
            <a:ext cx="30267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2"/>
          </p:nvPr>
        </p:nvSpPr>
        <p:spPr>
          <a:xfrm>
            <a:off x="4706911" y="1895947"/>
            <a:ext cx="30231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3"/>
          </p:nvPr>
        </p:nvSpPr>
        <p:spPr>
          <a:xfrm>
            <a:off x="1366805" y="2360869"/>
            <a:ext cx="3026700" cy="22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4"/>
          </p:nvPr>
        </p:nvSpPr>
        <p:spPr>
          <a:xfrm>
            <a:off x="4706911" y="2362069"/>
            <a:ext cx="3023100" cy="22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720000" y="70318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11EDC36-5F6C-7891-6A2B-41384387A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47058" y="485467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21428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 preserve="1">
  <p:cSld name="Title and two columns 2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921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>
            <a:spLocks noGrp="1"/>
          </p:cNvSpPr>
          <p:nvPr>
            <p:ph type="title"/>
          </p:nvPr>
        </p:nvSpPr>
        <p:spPr>
          <a:xfrm>
            <a:off x="720000" y="696921"/>
            <a:ext cx="7758665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1"/>
          </p:nvPr>
        </p:nvSpPr>
        <p:spPr>
          <a:xfrm>
            <a:off x="720000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86" name="Google Shape;186;p22"/>
          <p:cNvSpPr txBox="1">
            <a:spLocks noGrp="1"/>
          </p:cNvSpPr>
          <p:nvPr>
            <p:ph type="subTitle" idx="2"/>
          </p:nvPr>
        </p:nvSpPr>
        <p:spPr>
          <a:xfrm>
            <a:off x="4626665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6B8D90A-F721-5BFA-9520-C81330115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9531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 preserve="1">
  <p:cSld name="Background 2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CF2F18-9AEF-9045-E247-CDBA35581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pic>
        <p:nvPicPr>
          <p:cNvPr id="3" name="Google Shape;9;p2">
            <a:extLst>
              <a:ext uri="{FF2B5EF4-FFF2-40B4-BE49-F238E27FC236}">
                <a16:creationId xmlns:a16="http://schemas.microsoft.com/office/drawing/2014/main" id="{AD9A05E1-271E-DF86-855C-3402A37CE6E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2039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eño personaliza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077D320-9EC5-A233-F3F1-072E9662F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275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Relationship Id="rId23" Type="http://schemas.microsoft.com/office/2007/relationships/hdphoto" Target="../media/hdphoto1.wdp"/><Relationship Id="rId24" Type="http://schemas.openxmlformats.org/officeDocument/2006/relationships/image" Target="../media/image2.png"/><Relationship Id="rId25" Type="http://schemas.openxmlformats.org/officeDocument/2006/relationships/image" Target="../media/image3.png"/><Relationship Id="rId26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97555" y="71162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5585" y="1448419"/>
            <a:ext cx="8520600" cy="318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FC9AC8-8B9B-C356-BE60-A5E249FA5D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896" b="89974" l="2344" r="97461">
                        <a14:foregroundMark x1="54297" y1="27474" x2="42578" y2="19531"/>
                        <a14:foregroundMark x1="42578" y1="19531" x2="54688" y2="27734"/>
                        <a14:foregroundMark x1="54688" y1="27734" x2="96875" y2="39714"/>
                        <a14:foregroundMark x1="94336" y1="55990" x2="86328" y2="65885"/>
                        <a14:foregroundMark x1="86328" y1="65885" x2="24609" y2="80469"/>
                        <a14:foregroundMark x1="24609" y1="80469" x2="25586" y2="67057"/>
                        <a14:foregroundMark x1="25586" y1="67057" x2="48047" y2="49089"/>
                        <a14:foregroundMark x1="48047" y1="49089" x2="43945" y2="37891"/>
                        <a14:foregroundMark x1="43945" y1="37891" x2="17578" y2="22396"/>
                        <a14:foregroundMark x1="17578" y1="22396" x2="2344" y2="32031"/>
                        <a14:foregroundMark x1="2344" y1="32031" x2="11914" y2="67448"/>
                        <a14:foregroundMark x1="11914" y1="67448" x2="37305" y2="45964"/>
                        <a14:foregroundMark x1="89453" y1="71484" x2="96094" y2="68490"/>
                        <a14:foregroundMark x1="88672" y1="72526" x2="97461" y2="68620"/>
                        <a14:foregroundMark x1="45508" y1="80339" x2="48438" y2="78125"/>
                      </a14:backgroundRemoval>
                    </a14:imgEffect>
                    <a14:imgEffect>
                      <a14:saturation sat="112000"/>
                    </a14:imgEffect>
                  </a14:imgLayer>
                </a14:imgProps>
              </a:ext>
            </a:extLst>
          </a:blip>
          <a:srcRect t="60775" r="7281" b="27471"/>
          <a:stretch/>
        </p:blipFill>
        <p:spPr>
          <a:xfrm>
            <a:off x="6443128" y="-6955"/>
            <a:ext cx="2700872" cy="572700"/>
          </a:xfrm>
          <a:prstGeom prst="rect">
            <a:avLst/>
          </a:prstGeom>
          <a:gradFill>
            <a:gsLst>
              <a:gs pos="19000">
                <a:srgbClr val="0E2A47">
                  <a:alpha val="59000"/>
                  <a:lumMod val="100000"/>
                </a:srgbClr>
              </a:gs>
              <a:gs pos="33000">
                <a:schemeClr val="accent2">
                  <a:lumMod val="10000"/>
                  <a:lumOff val="90000"/>
                </a:schemeClr>
              </a:gs>
              <a:gs pos="77000">
                <a:schemeClr val="accent2">
                  <a:lumMod val="25000"/>
                  <a:lumOff val="75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</a:gradFill>
          <a:ln>
            <a:noFill/>
          </a:ln>
          <a:effectLst>
            <a:softEdge rad="0"/>
          </a:effectLst>
        </p:spPr>
      </p:pic>
      <p:pic>
        <p:nvPicPr>
          <p:cNvPr id="9" name="Google Shape;28;p4">
            <a:extLst>
              <a:ext uri="{FF2B5EF4-FFF2-40B4-BE49-F238E27FC236}">
                <a16:creationId xmlns:a16="http://schemas.microsoft.com/office/drawing/2014/main" id="{C838CF9F-1988-524C-8E01-03AB6CF3D3E1}"/>
              </a:ext>
            </a:extLst>
          </p:cNvPr>
          <p:cNvPicPr preferRelativeResize="0"/>
          <p:nvPr userDrawn="1"/>
        </p:nvPicPr>
        <p:blipFill>
          <a:blip r:embed="rId24">
            <a:alphaModFix amt="70000"/>
          </a:blip>
          <a:stretch>
            <a:fillRect/>
          </a:stretch>
        </p:blipFill>
        <p:spPr>
          <a:xfrm>
            <a:off x="8420241" y="4668168"/>
            <a:ext cx="911641" cy="95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968E9F5-C031-8916-0772-8842EBF6AC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/>
          <a:srcRect l="1" r="57412"/>
          <a:stretch/>
        </p:blipFill>
        <p:spPr>
          <a:xfrm>
            <a:off x="213505" y="11159"/>
            <a:ext cx="1161848" cy="556689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B677341-6345-4681-C896-F97AE06C9832}"/>
              </a:ext>
            </a:extLst>
          </p:cNvPr>
          <p:cNvSpPr txBox="1"/>
          <p:nvPr userDrawn="1"/>
        </p:nvSpPr>
        <p:spPr>
          <a:xfrm>
            <a:off x="8606436" y="486481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1</a:t>
            </a:r>
            <a:endParaRPr lang="es-ES" sz="1200" dirty="0">
              <a:solidFill>
                <a:schemeClr val="bg1"/>
              </a:solidFill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03C48C39-10AC-00E1-8439-5BCADFB10EA4}"/>
              </a:ext>
            </a:extLst>
          </p:cNvPr>
          <p:cNvSpPr/>
          <p:nvPr userDrawn="1"/>
        </p:nvSpPr>
        <p:spPr>
          <a:xfrm>
            <a:off x="2700873" y="-3427"/>
            <a:ext cx="6481958" cy="569172"/>
          </a:xfrm>
          <a:prstGeom prst="roundRect">
            <a:avLst/>
          </a:prstGeom>
          <a:gradFill flip="none" rotWithShape="1">
            <a:gsLst>
              <a:gs pos="19000">
                <a:srgbClr val="0E2A47">
                  <a:alpha val="59000"/>
                  <a:lumMod val="100000"/>
                </a:srgbClr>
              </a:gs>
              <a:gs pos="43000">
                <a:schemeClr val="accent2">
                  <a:lumMod val="10000"/>
                  <a:lumOff val="90000"/>
                </a:schemeClr>
              </a:gs>
              <a:gs pos="69000">
                <a:schemeClr val="accent2">
                  <a:lumMod val="25000"/>
                  <a:lumOff val="75000"/>
                </a:schemeClr>
              </a:gs>
              <a:gs pos="98230">
                <a:srgbClr val="0E2A47"/>
              </a:gs>
              <a:gs pos="84000">
                <a:schemeClr val="accent3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4" name="Marcador de número de diapositiva 33">
            <a:extLst>
              <a:ext uri="{FF2B5EF4-FFF2-40B4-BE49-F238E27FC236}">
                <a16:creationId xmlns:a16="http://schemas.microsoft.com/office/drawing/2014/main" id="{882642BA-E753-0526-0DB1-979EB663A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4577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pic>
        <p:nvPicPr>
          <p:cNvPr id="5" name="Imagen 4" descr="Imagen que contiene señal&#10;&#10;Descripción generada automáticamente">
            <a:extLst>
              <a:ext uri="{FF2B5EF4-FFF2-40B4-BE49-F238E27FC236}">
                <a16:creationId xmlns:a16="http://schemas.microsoft.com/office/drawing/2014/main" id="{AA992F98-CF33-2388-CD15-8BE6A34588BE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3375481" y="11159"/>
            <a:ext cx="356259" cy="540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C7EBD3B-61F3-6418-1C94-41562CE9B0D7}"/>
              </a:ext>
            </a:extLst>
          </p:cNvPr>
          <p:cNvSpPr/>
          <p:nvPr userDrawn="1"/>
        </p:nvSpPr>
        <p:spPr>
          <a:xfrm>
            <a:off x="3777571" y="9823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noProof="0" dirty="0">
                <a:solidFill>
                  <a:srgbClr val="0E2A47"/>
                </a:solidFill>
              </a:rPr>
              <a:t>Department of Civil and Environmental Engineering </a:t>
            </a:r>
          </a:p>
          <a:p>
            <a:r>
              <a:rPr lang="en-US" sz="900" noProof="0" dirty="0">
                <a:solidFill>
                  <a:srgbClr val="0E2A47"/>
                </a:solidFill>
              </a:rPr>
              <a:t>Water Supply and Sewers Systems Research Center</a:t>
            </a:r>
          </a:p>
        </p:txBody>
      </p:sp>
    </p:spTree>
    <p:extLst>
      <p:ext uri="{BB962C8B-B14F-4D97-AF65-F5344CB8AC3E}">
        <p14:creationId xmlns:p14="http://schemas.microsoft.com/office/powerpoint/2010/main" val="401135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84" r:id="rId2"/>
    <p:sldLayoutId id="2147483685" r:id="rId3"/>
    <p:sldLayoutId id="2147483686" r:id="rId4"/>
    <p:sldLayoutId id="2147483688" r:id="rId5"/>
    <p:sldLayoutId id="2147483718" r:id="rId6"/>
    <p:sldLayoutId id="2147483719" r:id="rId7"/>
    <p:sldLayoutId id="2147483689" r:id="rId8"/>
    <p:sldLayoutId id="2147483691" r:id="rId9"/>
    <p:sldLayoutId id="2147483692" r:id="rId10"/>
    <p:sldLayoutId id="2147483693" r:id="rId11"/>
    <p:sldLayoutId id="2147483695" r:id="rId12"/>
    <p:sldLayoutId id="2147483696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14" r:id="rId19"/>
    <p:sldLayoutId id="214748371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46FF804-ED03-00B4-80BE-81E99A582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n-US" noProof="0" smtClean="0"/>
              <a:t>44</a:t>
            </a:fld>
            <a:endParaRPr lang="en-US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97E69F7-14D0-B481-4806-A4A180AC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79500"/>
            <a:ext cx="7874000" cy="1905000"/>
          </a:xfrm>
        </p:spPr>
        <p:txBody>
          <a:bodyPr/>
          <a:lstStyle/>
          <a:p>
            <a:r>
              <a:t>Modelo de aprendizaje automático para predecir fallas hidráulicas</a:t>
            </a:r>
          </a:p>
          <a:p>
            <a:r>
              <a:t>en redes de alcantarillado pluvial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F2334C66-4D63-D716-251A-3E0420C2F0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Luis Fernando Fajardo Bravo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70B49F-1F4A-F2BB-8468-490BC5AB86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1418" y="4108392"/>
            <a:ext cx="1392079" cy="447813"/>
          </a:xfrm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000">
                <a:latin typeface="Montserrat"/>
              </a:rPr>
              <a:t>30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51712794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Chico Sur lista; Chico Norte incorporada como prueba externa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Corte al 30 de octubre · candidatos A ajustados; transferencia B aún sin medir.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CHICO SUR · ENTRENAMIENTO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0E2A47"/>
                </a:solidFill>
                <a:latin typeface="Montserrat"/>
              </a:rPr>
              <a:t>138.560 filas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D3034"/>
                </a:solidFill>
                <a:latin typeface="Montserrat"/>
              </a:rPr>
              <a:t>866 de 1.000 simulaciones elegibles con el QA provisional.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CANDIDATOS · RMSE INTERNO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50" b="1">
                <a:solidFill>
                  <a:srgbClr val="0E2A47"/>
                </a:solidFill>
                <a:latin typeface="Montserrat"/>
              </a:rPr>
              <a:t>73,78 / 86,42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2D3034"/>
                </a:solidFill>
                <a:latin typeface="Montserrat"/>
              </a:rPr>
              <a:t>XGBoost / MLP · 50 ensayos cada uno; selección solo con Chico Sur.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CHICO NORTE · CAMPAÑA SWMM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1">
                <a:solidFill>
                  <a:srgbClr val="0E2A47"/>
                </a:solidFill>
                <a:latin typeface="Montserrat"/>
              </a:rPr>
              <a:t>975 / 975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787 elegibles; 188 excluidas. Aún no hay score de transferencia.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3017520"/>
            <a:ext cx="8193024" cy="804672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136392"/>
            <a:ext cx="123444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MLP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108960"/>
            <a:ext cx="644652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034"/>
                </a:solidFill>
                <a:latin typeface="Montserrat"/>
              </a:rPr>
              <a:t>Búsqueda 50/50 terminada y ensemble final de cinco semillas (42–46) ajustado.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096512"/>
            <a:ext cx="80924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1">
                <a:solidFill>
                  <a:srgbClr val="0E2A47"/>
                </a:solidFill>
                <a:latin typeface="Montserrat"/>
              </a:rPr>
              <a:t>Chico Norte es la prueba externa. Para medir transferencia: congelar dominio, registrar candidatos reales y sellar predicciones.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Chico Sur: simulaciones filtradas con QA hidráulico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QA hidráulico aplicado a las simulaciones reconstruidas de Chico Sur; criterios aún provisionales.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CORRIDAS FUENTE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Simulaciones SWMM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662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APTAS PARA ENTRENAR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866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Tras controles de 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172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EXCLUIDAS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134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Sin imputar etiquetas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8484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1286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FORMAS PRESENTES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36 /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Cuatro grupos sin corrida apta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532888"/>
            <a:ext cx="5394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355A84"/>
                </a:solidFill>
                <a:latin typeface="Montserrat"/>
              </a:rPr>
              <a:t>MOTIVOS DE EXCLUSIÓN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944368"/>
            <a:ext cx="1965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No drenada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980944"/>
            <a:ext cx="2852928" cy="182880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2980944"/>
            <a:ext cx="2852928" cy="182880"/>
          </a:xfrm>
          <a:prstGeom prst="rect">
            <a:avLst/>
          </a:prstGeom>
          <a:solidFill>
            <a:srgbClr val="355A84"/>
          </a:solidFill>
          <a:ln>
            <a:solidFill>
              <a:srgbClr val="355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4688" y="2935224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2A47"/>
                </a:solidFill>
                <a:latin typeface="Montserrat"/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529584"/>
            <a:ext cx="1965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Continuidad &gt; 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3566160"/>
            <a:ext cx="2852928" cy="182880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0" y="3566160"/>
            <a:ext cx="998524" cy="182880"/>
          </a:xfrm>
          <a:prstGeom prst="rect">
            <a:avLst/>
          </a:prstGeom>
          <a:solidFill>
            <a:srgbClr val="8BC5FA"/>
          </a:solidFill>
          <a:ln>
            <a:solidFill>
              <a:srgbClr val="8BC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4688" y="3520440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2A47"/>
                </a:solidFill>
                <a:latin typeface="Montserrat"/>
              </a:rPr>
              <a:t>35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587752"/>
            <a:ext cx="2148840" cy="1362456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47688" y="2715768"/>
            <a:ext cx="1828800" cy="2834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138.560 filas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3072384"/>
            <a:ext cx="1837943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160 nodos · 21 variables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41.497 filas inundadas (29,9%)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Umbral: 1 m³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160520"/>
            <a:ext cx="813816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9" b="0">
                <a:solidFill>
                  <a:srgbClr val="5B6977"/>
                </a:solidFill>
                <a:latin typeface="Montserrat"/>
              </a:rPr>
              <a:t>134 excluidas: 100 no drenadas y 35 sobre 5% de continuidad; un caso comparte motivos. El umbral y las tolerancias siguen pendientes de justificación hidráulica.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Diseño de evaluación: Chico Norte permanece aislada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Chico Sur selecciona los hiperparámetros; Chico Norte se conserva como prueba externa independiente.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ENTRENAMIENTO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Chico Sur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866 corridas aptas</a:t>
            </a:r>
          </a:p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Preparación congelada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SELECCIÓN INTERNA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GroupKFold(5)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Separación por forma</a:t>
            </a:r>
          </a:p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Optuna solo ve Chico Sur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PRUEBA EXTERNA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Chico Norte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2D3034"/>
                </a:solidFill>
                <a:latin typeface="Montserrat"/>
              </a:rPr>
              <a:t>975 corridas staged  Etiquetas y score real aún cerrados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936" y="1691640"/>
            <a:ext cx="3200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8BC5FA"/>
                </a:solidFill>
                <a:latin typeface="Montserrat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1691640"/>
            <a:ext cx="3200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8BC5FA"/>
                </a:solidFill>
                <a:latin typeface="Montserrat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2926080"/>
            <a:ext cx="8193024" cy="100584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026664"/>
            <a:ext cx="7680960" cy="2834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2A47"/>
                </a:solidFill>
                <a:latin typeface="Montserrat"/>
              </a:rPr>
              <a:t>Control contra fuga de información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364992"/>
            <a:ext cx="7635240" cy="4480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Los manifiestos enlazan INP, hidrogramas, RPT/OUT, QA y variables. La ruta de scoring está probada con fixtures sintéticos; falta congelar la compatibilidad estructural antes de registrar y predecir en 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87952"/>
            <a:ext cx="81381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977"/>
                </a:solidFill>
                <a:latin typeface="Montserrat"/>
              </a:rPr>
              <a:t>Una red externa mide transferencia a Chico Norte; no estima desempeño para una población de redes.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Chico Norte: topología del INP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Vista de nodos y conducciones; este mapa no contiene resultados de simulación ni predicciones.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48</a:t>
            </a:r>
          </a:p>
        </p:txBody>
      </p:sp>
      <p:pic>
        <p:nvPicPr>
          <p:cNvPr id="7" name="Picture 6" descr="red_b_chico_norte_topolo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572000" cy="39156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28016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1353312"/>
            <a:ext cx="257860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NODOS CON COORDENADAS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7296" y="1609343"/>
            <a:ext cx="257860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E2A47"/>
                </a:solidFill>
                <a:latin typeface="Montserrat"/>
              </a:rPr>
              <a:t>523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7296" y="2029967"/>
            <a:ext cx="25786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Inventario geométrico leído del INP 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69748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2770632"/>
            <a:ext cx="257860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CONDUCCIONES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3026664"/>
            <a:ext cx="257860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E2A47"/>
                </a:solidFill>
                <a:latin typeface="Montserrat"/>
              </a:rPr>
              <a:t>522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7296" y="3447288"/>
            <a:ext cx="25786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Trazado de enlaces entre nodos según el INP.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096512"/>
            <a:ext cx="2834640" cy="402336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4123944"/>
            <a:ext cx="256032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0E2A47"/>
                </a:solidFill>
                <a:latin typeface="Montserrat"/>
              </a:rPr>
              <a:t>Topología solamente · sin caudales ni inundación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Chico Norte: hidrograma sintético y campaña SWMM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Ejemplo de entrada nodal para Chico Norte; los caudales provienen del INP y de formas sintéticas.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49</a:t>
            </a:r>
          </a:p>
        </p:txBody>
      </p:sp>
      <p:pic>
        <p:nvPicPr>
          <p:cNvPr id="7" name="Picture 6" descr="red_b_hidrograma_sinte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5212080" cy="24385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42432" y="1261872"/>
            <a:ext cx="2907792" cy="114300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1000" b="0">
                <a:latin typeface="Montserrat"/>
              </a:rPr>
              <a:t>ESCENARIOS EJECUTADOS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1335024"/>
            <a:ext cx="2651760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975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591055"/>
            <a:ext cx="2651760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30" b="1">
                <a:solidFill>
                  <a:srgbClr val="0E2A47"/>
                </a:solidFill>
                <a:latin typeface="Montserrat"/>
              </a:rPr>
              <a:t>39 formas × 25 factores; resultados SWMM completos y filtrados por QA.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2011679"/>
            <a:ext cx="265176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69" b="0">
                <a:solidFill>
                  <a:srgbClr val="2D3034"/>
                </a:solidFill>
                <a:latin typeface="Montserrat"/>
              </a:rPr>
              <a:t>QA final: 787 elegibles · 188 excluidas.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2633472"/>
            <a:ext cx="2907792" cy="114300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0448" y="2706624"/>
            <a:ext cx="2651760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GRILLA DE FACTORES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2962656"/>
            <a:ext cx="2651760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>
                <a:solidFill>
                  <a:srgbClr val="0E2A47"/>
                </a:solidFill>
                <a:latin typeface="Montserrat"/>
              </a:rPr>
              <a:t>0,2–5,0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3383279"/>
            <a:ext cx="265176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Paso de 0,2; se conserva el pico nodal de referencia y se escala por factor.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77639"/>
            <a:ext cx="809244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E2A47"/>
                </a:solidFill>
                <a:latin typeface="Montserrat"/>
              </a:rPr>
              <a:t>Ejemplo: nodo 268I · pico base 54,08 L/s · pico con factor 2,8: 151,4 L/s.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361688"/>
            <a:ext cx="811987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69" b="0">
                <a:solidFill>
                  <a:srgbClr val="5B6977"/>
                </a:solidFill>
                <a:latin typeface="Montserrat"/>
              </a:rPr>
              <a:t>Entrada sintética de caudal por nodo; no es lluvia observada ni transformación lluvia–escorrentía. Se aplicó el redondeo aprobado al minuto más cercano.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Chico Sur · escenario inundado mediano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977"/>
                </a:solidFill>
                <a:latin typeface="Montserrat"/>
              </a:rPr>
              <a:t>Mapa SWMM y modelo promovido anteriormente · mismo escenario y escala; comparación retrospectiva, no validación del candidato actual.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50</a:t>
            </a:r>
          </a:p>
        </p:txBody>
      </p:sp>
      <p:pic>
        <p:nvPicPr>
          <p:cNvPr id="7" name="Picture 6" descr="red_a_mediana_sw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50976"/>
            <a:ext cx="4187952" cy="2515469"/>
          </a:xfrm>
          <a:prstGeom prst="rect">
            <a:avLst/>
          </a:prstGeom>
        </p:spPr>
      </p:pic>
      <p:pic>
        <p:nvPicPr>
          <p:cNvPr id="8" name="Picture 7" descr="red_a_mediana_xgboost_prev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50976"/>
            <a:ext cx="4187952" cy="25154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" y="4114800"/>
            <a:ext cx="38587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9" b="1">
                <a:solidFill>
                  <a:srgbClr val="0E2A47"/>
                </a:solidFill>
                <a:latin typeface="Montserrat"/>
              </a:rPr>
              <a:t>SWMM · 9.518 m³ · 52 nodos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4114800"/>
            <a:ext cx="38587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9" b="1">
                <a:solidFill>
                  <a:srgbClr val="0E2A47"/>
                </a:solidFill>
                <a:latin typeface="Montserrat"/>
              </a:rPr>
              <a:t>XGBoost previo · 9.278 m³ · 52 nodos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4462272"/>
            <a:ext cx="8183879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19" b="0">
                <a:solidFill>
                  <a:srgbClr val="5B6977"/>
                </a:solidFill>
                <a:latin typeface="Montserrat"/>
              </a:rPr>
              <a:t>Diferencia del volumen total en este ejemplo: −240 m³. XGBoost anterior (promovido el 06-oct); no es paridad OOF ni prueba externa.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Chico Sur · escenario de mayor volumen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977"/>
                </a:solidFill>
                <a:latin typeface="Montserrat"/>
              </a:rPr>
              <a:t>Mapa SWMM y modelo promovido anteriormente · mismo escenario y escala; comparación retrospectiva, no validación del candidato actual.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51</a:t>
            </a:r>
          </a:p>
        </p:txBody>
      </p:sp>
      <p:pic>
        <p:nvPicPr>
          <p:cNvPr id="7" name="Picture 6" descr="red_a_mayor_volumen_sw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50976"/>
            <a:ext cx="4187952" cy="2517496"/>
          </a:xfrm>
          <a:prstGeom prst="rect">
            <a:avLst/>
          </a:prstGeom>
        </p:spPr>
      </p:pic>
      <p:pic>
        <p:nvPicPr>
          <p:cNvPr id="8" name="Picture 7" descr="red_a_mayor_volumen_xgboost_prev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50976"/>
            <a:ext cx="4187952" cy="25174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" y="4114800"/>
            <a:ext cx="38587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9" b="1">
                <a:solidFill>
                  <a:srgbClr val="0E2A47"/>
                </a:solidFill>
                <a:latin typeface="Montserrat"/>
              </a:rPr>
              <a:t>SWMM · 183.407 m³ · 93 nodos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4114800"/>
            <a:ext cx="38587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9" b="1">
                <a:solidFill>
                  <a:srgbClr val="0E2A47"/>
                </a:solidFill>
                <a:latin typeface="Montserrat"/>
              </a:rPr>
              <a:t>XGBoost previo · 188.628 m³ · 91 nodos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4462272"/>
            <a:ext cx="8183879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19" b="0">
                <a:solidFill>
                  <a:srgbClr val="5B6977"/>
                </a:solidFill>
                <a:latin typeface="Montserrat"/>
              </a:rPr>
              <a:t>Diferencia del volumen total en este ejemplo: +5.221 m³. XGBoost anterior (promovido el 06-oct); no es paridad OOF ni prueba externa.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Selección interna de XGBoost y 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5B6977"/>
                </a:solidFill>
                <a:latin typeface="Montserrat"/>
              </a:rPr>
              <a:t>50 ensayos cada uno · GroupKFold(5) por forma · Chico Sur como única red de selección.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13385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783" y="1207008"/>
            <a:ext cx="244144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XGBOOST · MEJOR ENSAYO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3" y="1463040"/>
            <a:ext cx="244144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73,782 m³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3" y="1883664"/>
            <a:ext cx="2441448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69" b="0">
                <a:solidFill>
                  <a:srgbClr val="2D3034"/>
                </a:solidFill>
                <a:latin typeface="Montserrat"/>
              </a:rPr>
              <a:t>Trial 13 · menor macro_network_rmse.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241401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487168"/>
            <a:ext cx="244144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MLP · MEJOR ENSAYO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743200"/>
            <a:ext cx="244144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86,420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3163824"/>
            <a:ext cx="2441448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69" b="0">
                <a:solidFill>
                  <a:srgbClr val="2D3034"/>
                </a:solidFill>
                <a:latin typeface="Montserrat"/>
              </a:rPr>
              <a:t>Trial 48 · mismo objetivo y protocolo.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703320"/>
            <a:ext cx="2697480" cy="694944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3776472"/>
            <a:ext cx="2395728" cy="5486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E2A47"/>
                </a:solidFill>
                <a:latin typeface="Montserrat"/>
              </a:rPr>
              <a:t>Ensemble MLP de cinco semillas ajustado (42–46).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389120"/>
            <a:ext cx="5449824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9" b="0">
                <a:solidFill>
                  <a:srgbClr val="5B6977"/>
                </a:solidFill>
                <a:latin typeface="Montserrat"/>
              </a:rPr>
              <a:t>Mejores objetivos internos; no miden transferencia a B ni generalización entre redes.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005840"/>
            <a:ext cx="5577840" cy="26171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Candidatos ajustados; Chico Norte simulada y preparada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5B6977"/>
                </a:solidFill>
                <a:latin typeface="Montserrat"/>
              </a:rPr>
              <a:t>Corte verificado al 30 de octubre · conteos de B describen QA, no desempeño del modelo.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143000"/>
            <a:ext cx="3931920" cy="254203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307592"/>
            <a:ext cx="349300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30" b="1">
                <a:solidFill>
                  <a:srgbClr val="355A84"/>
                </a:solidFill>
                <a:latin typeface="Montserrat"/>
              </a:rPr>
              <a:t>XGBOOST · CANDIDATO A LISTO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737360"/>
            <a:ext cx="347472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50 / 50 ensayos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304288"/>
            <a:ext cx="3456432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2D3034"/>
                </a:solidFill>
                <a:latin typeface="Montserrat"/>
              </a:rPr>
              <a:t>Seleccionado y ajustado con Chico Sur; artefactos y procedencia verificados.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36592" y="1143000"/>
            <a:ext cx="3931920" cy="2542032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307592"/>
            <a:ext cx="349300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30" b="1">
                <a:solidFill>
                  <a:srgbClr val="0E2A47"/>
                </a:solidFill>
                <a:latin typeface="Montserrat"/>
              </a:rPr>
              <a:t>MLP · ENSEMBLE LISTO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737360"/>
            <a:ext cx="347472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50 / 50 + 5 semillas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304288"/>
            <a:ext cx="3456432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Trials terminados; ensemble 42–46 recargado y verificado. La selección interna sigue siendo exploratoria.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867912"/>
            <a:ext cx="162763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80" b="1">
                <a:solidFill>
                  <a:srgbClr val="355A84"/>
                </a:solidFill>
                <a:latin typeface="Montserrat"/>
              </a:rPr>
              <a:t>CHICO NORTE · 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840480"/>
            <a:ext cx="6519672" cy="35661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10" b="1">
                <a:solidFill>
                  <a:srgbClr val="0E2A47"/>
                </a:solidFill>
                <a:latin typeface="Montserrat"/>
              </a:rPr>
              <a:t>787 elegibles · 188 excluidas · 0 pendientes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297680"/>
            <a:ext cx="8119872" cy="173736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4297680"/>
            <a:ext cx="7253752" cy="173736"/>
          </a:xfrm>
          <a:prstGeom prst="rect">
            <a:avLst/>
          </a:prstGeom>
          <a:solidFill>
            <a:srgbClr val="5E8CBE"/>
          </a:solidFill>
          <a:ln>
            <a:solidFill>
              <a:srgbClr val="5E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489704"/>
            <a:ext cx="8119872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>
                <a:solidFill>
                  <a:srgbClr val="5B6977"/>
                </a:solidFill>
                <a:latin typeface="Montserrat"/>
              </a:rPr>
              <a:t>3.901 artefactos enlazados con hashes verificados. QA de continuidad (5%) y drenaje continúa provisional.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Transferencia a Chico Norte: paso actual y visuales disponibles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5B6977"/>
                </a:solidFill>
                <a:latin typeface="Montserrat"/>
              </a:rPr>
              <a:t>Las pruebas sintéticas del scorer no son un resultado real de transferencia.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2A47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Congelar dominio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>
                <a:solidFill>
                  <a:srgbClr val="2D3034"/>
                </a:solidFill>
                <a:latin typeface="Montserrat"/>
              </a:rPr>
              <a:t>Aprobar compatibilidad estructural común de A y 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Registrar candidatos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69" b="0">
                <a:solidFill>
                  <a:srgbClr val="2D3034"/>
                </a:solidFill>
                <a:latin typeface="Montserrat"/>
              </a:rPr>
              <a:t>Enlazar modelos, fuentes y variables reales por hashes.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0016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7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Predecir y sellar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69" b="0">
                <a:solidFill>
                  <a:srgbClr val="2D3034"/>
                </a:solidFill>
                <a:latin typeface="Montserrat"/>
              </a:rPr>
              <a:t>Emitir predicciones en B antes de abrir sus etiquetas.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1424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0296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2A47"/>
                </a:solidFill>
                <a:latin typeface="Montserra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Evaluar y mapear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2D3034"/>
                </a:solidFill>
                <a:latin typeface="Montserrat"/>
              </a:rPr>
              <a:t>Calcular métricas y producir paridad/mapas del candidato.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227832"/>
            <a:ext cx="7754112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0E2A47"/>
                </a:solidFill>
                <a:latin typeface="Montserrat"/>
              </a:rPr>
              <a:t>Ya existen: topología de Chico Norte y mapas SWMM de inundación en Chico Sur; las comparaciones mostradas usan un XGBoost anterior. Aún no existen mapas de predicción ni paridad para el candidato nuevo en Chico Norte.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87368"/>
            <a:ext cx="797356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80" b="0">
                <a:solidFill>
                  <a:srgbClr val="5B6977"/>
                </a:solidFill>
                <a:latin typeface="Montserrat"/>
              </a:rPr>
              <a:t>El scoring real sigue cerrado: falta aprobar la política de dominio y sellar predicciones fuente-enlazadas.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Avance logrado y decisiones para completar la transferencia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40" b="0">
                <a:solidFill>
                  <a:srgbClr val="5B6977"/>
                </a:solidFill>
                <a:latin typeface="Montserrat"/>
              </a:rPr>
              <a:t>Chico Norte ya fue simulada y preparada como prueba externa; todavía no se usa para entrenar.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143000"/>
            <a:ext cx="4014215" cy="2414016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0160"/>
            <a:ext cx="363931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55A84"/>
                </a:solidFill>
                <a:latin typeface="Montserrat"/>
              </a:rPr>
              <a:t>Evidencia disponible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>
                <a:solidFill>
                  <a:srgbClr val="2D3034"/>
                </a:solidFill>
                <a:latin typeface="Montserrat"/>
              </a:rPr>
              <a:t>• Chico Sur: 866 elegibles; 138.560 filas.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>
                <a:solidFill>
                  <a:srgbClr val="2D3034"/>
                </a:solidFill>
                <a:latin typeface="Montserrat"/>
              </a:rPr>
              <a:t>• XGBoost y MLP: 50/50 trials; ensemble MLP listo.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25496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2D3034"/>
                </a:solidFill>
                <a:latin typeface="Montserrat"/>
              </a:rPr>
              <a:t>• Chico Norte: 975; 787 elegibles; 3.901 hashes verificados.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1143000"/>
            <a:ext cx="4014215" cy="2414016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280160"/>
            <a:ext cx="363931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2A47"/>
                </a:solidFill>
                <a:latin typeface="Montserrat"/>
              </a:rPr>
              <a:t>Evidencia pendiente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1746504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2D3034"/>
                </a:solidFill>
                <a:latin typeface="Montserrat"/>
              </a:rPr>
              <a:t>• Congelar dominio A→B; QA sigue provisional.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2286000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2D3034"/>
                </a:solidFill>
                <a:latin typeface="Montserrat"/>
              </a:rPr>
              <a:t>• Registrar candidatos y sellar predicciones reales.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825496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2D3034"/>
                </a:solidFill>
                <a:latin typeface="Montserrat"/>
              </a:rPr>
              <a:t>• Puntuar B, crear paridad/mapas y probar una tercera 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3767328"/>
            <a:ext cx="82296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0E2A47"/>
                </a:solidFill>
                <a:latin typeface="Montserrat"/>
              </a:rPr>
              <a:t>Cautela hidráulica: el umbral de continuidad del 5% y las tolerancias de drenaje siguen provisionales; presentar como filtro operativo, no estándar validado.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4279392"/>
            <a:ext cx="8229600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>
                <a:solidFill>
                  <a:srgbClr val="5B6977"/>
                </a:solidFill>
                <a:latin typeface="Montserrat"/>
              </a:rPr>
              <a:t>Alcance actual: hidrogramas sintéticos de caudal por nodo. No se simula lluvia–escorrentía.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Trazabilidad y límites de la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30" b="0">
                <a:solidFill>
                  <a:srgbClr val="5B6977"/>
                </a:solidFill>
                <a:latin typeface="Montserrat"/>
              </a:rPr>
              <a:t>Modelos y campaña tienen manifiestos; los objetivos de Chico Norte permanecen cerrados.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30-10-2026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33856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07008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Preparación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207008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813323e3ef75b752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207008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2D3034"/>
                </a:solidFill>
                <a:latin typeface="Montserrat"/>
              </a:rPr>
              <a:t>138.560 filas · 866 corridas elegibles · tabular_v4_21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755648"/>
            <a:ext cx="82753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828800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XGBoost · hashes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28800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a1a6e504… / 045526a9…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28800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>
                <a:solidFill>
                  <a:srgbClr val="2D3034"/>
                </a:solidFill>
                <a:latin typeface="Montserrat"/>
              </a:rPr>
              <a:t>Clasificador / regresor · candidato A-only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377440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450592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MLP · hashes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450592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0bb1045f… / a450253d…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450592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>
                <a:solidFill>
                  <a:srgbClr val="2D3034"/>
                </a:solidFill>
                <a:latin typeface="Montserrat"/>
              </a:rPr>
              <a:t>Clasificador / regresor · ensemble 42–46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2999232"/>
            <a:ext cx="82753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072384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Chico Norte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072384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975 · 787 QA aptas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072384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>
                <a:solidFill>
                  <a:srgbClr val="2D3034"/>
                </a:solidFill>
                <a:latin typeface="Montserrat"/>
              </a:rPr>
              <a:t>3.901 artefactos con hashes verificados; 188 excluidas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3621024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694176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Scorer · fixtures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694176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98 pruebas aprobadas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694176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>
                <a:solidFill>
                  <a:srgbClr val="2D3034"/>
                </a:solidFill>
                <a:latin typeface="Montserrat"/>
              </a:rPr>
              <a:t>Pruebas sintéticas; sin score real de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8183879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40" b="0">
                <a:solidFill>
                  <a:srgbClr val="5B6977"/>
                </a:solidFill>
                <a:latin typeface="Montserrat"/>
              </a:rPr>
              <a:t>Trazabilidad completa en manifests y bitácora; no se incorporaron etiquetas de B al entrenamiento.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p">
  <a:themeElements>
    <a:clrScheme name="Simple Light">
      <a:dk1>
        <a:srgbClr val="FFFFFF"/>
      </a:dk1>
      <a:lt1>
        <a:srgbClr val="0C2C45"/>
      </a:lt1>
      <a:dk2>
        <a:srgbClr val="8BC5FA"/>
      </a:dk2>
      <a:lt2>
        <a:srgbClr val="243C59"/>
      </a:lt2>
      <a:accent1>
        <a:srgbClr val="5083C2"/>
      </a:accent1>
      <a:accent2>
        <a:srgbClr val="355A8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B3C633-C8C3-46EC-A779-D84379177807}">
  <we:reference id="wa200010725" version="1.0.0.1" store="es-MX" storeType="OMEX"/>
  <we:alternateReferences>
    <we:reference id="WA200010725" version="1.0.0.1" store="" storeType="OMEX"/>
  </we:alternateReferences>
  <we:properties>
    <we:property name="claude.fileId" value="&quot;0e8703bd-6d4e-4448-859d-ea000cb375b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10184</TotalTime>
  <Words>11182</Words>
  <Application>Microsoft Office PowerPoint</Application>
  <PresentationFormat>Presentación en pantalla (16:9)</PresentationFormat>
  <Paragraphs>916</Paragraphs>
  <Slides>54</Slides>
  <Notes>33</Notes>
  <HiddenSlides>7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9" baseType="lpstr">
      <vt:lpstr>Arial</vt:lpstr>
      <vt:lpstr>Zen Antique</vt:lpstr>
      <vt:lpstr>Montserrat</vt:lpstr>
      <vt:lpstr>Libre Baskerville</vt:lpstr>
      <vt:lpstr>diap</vt:lpstr>
      <vt:lpstr>Machine Learning Model for Hydraulic Failure Prediction in Stormwater Systems</vt:lpstr>
      <vt:lpstr>Thesis II Schedule</vt:lpstr>
      <vt:lpstr>Presentación de PowerPoint</vt:lpstr>
      <vt:lpstr>Presentación de PowerPoint</vt:lpstr>
      <vt:lpstr>Presentación de PowerPoint</vt:lpstr>
      <vt:lpstr>Presentación de PowerPoint</vt:lpstr>
      <vt:lpstr>Hydrograph 1</vt:lpstr>
      <vt:lpstr>Hydrograph 1</vt:lpstr>
      <vt:lpstr>Hydrograph 2</vt:lpstr>
      <vt:lpstr>Hydrograph 2</vt:lpstr>
      <vt:lpstr>Validation hydrographs</vt:lpstr>
      <vt:lpstr>Presentación de PowerPoint</vt:lpstr>
      <vt:lpstr>Presentación de PowerPoint</vt:lpstr>
      <vt:lpstr>Presentación de PowerPoint</vt:lpstr>
      <vt:lpstr>Data handling and model training workflow</vt:lpstr>
      <vt:lpstr>Example database – Node 75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Machine Learning Model for Hydraulic Failure Prediction in Stormwater Systems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Nitrogen Narcosis Caused by Diving Case Report</dc:title>
  <dc:creator>Maria Alejandra Gonzalez Molina</dc:creator>
  <cp:lastModifiedBy>Luis Fernando Fajardo Bravo</cp:lastModifiedBy>
  <cp:revision>78</cp:revision>
  <cp:lastPrinted>2026-07-30T02:50:58Z</cp:lastPrinted>
  <dcterms:modified xsi:type="dcterms:W3CDTF">2026-10-20T13:36:38Z</dcterms:modified>
</cp:coreProperties>
</file>