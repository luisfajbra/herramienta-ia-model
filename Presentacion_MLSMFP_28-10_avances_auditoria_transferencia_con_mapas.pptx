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56"/>
  </p:notesMasterIdLst>
  <p:handoutMasterIdLst>
    <p:handoutMasterId r:id="rId57"/>
  </p:handoutMasterIdLst>
  <p:sldIdLst>
    <p:sldId id="470" r:id="rId45"/>
    <p:sldId id="471" r:id="rId16"/>
    <p:sldId id="472" r:id="rId17"/>
    <p:sldId id="473" r:id="rId18"/>
    <p:sldId id="474" r:id="rId19"/>
    <p:sldId id="475" r:id="rId20"/>
    <p:sldId id="476" r:id="rId21"/>
    <p:sldId id="477" r:id="rId22"/>
    <p:sldId id="478" r:id="rId23"/>
    <p:sldId id="479" r:id="rId24"/>
    <p:sldId id="480" r:id="rId25"/>
  </p:sldIdLst>
  <p:sldSz cx="9144000" cy="5143500" type="screen16x9"/>
  <p:notesSz cx="6858000" cy="9144000"/>
  <p:embeddedFontLst>
    <p:embeddedFont>
      <p:font typeface="Libre Baskerville" panose="020B0604020202020204" charset="0"/>
      <p:regular r:id="rId58"/>
      <p:bold r:id="rId59"/>
      <p:italic r:id="rId60"/>
    </p:embeddedFont>
    <p:embeddedFont>
      <p:font typeface="Montserrat" panose="00000500000000000000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B3"/>
    <a:srgbClr val="A4FF9F"/>
    <a:srgbClr val="5E8CBE"/>
    <a:srgbClr val="867AB8"/>
    <a:srgbClr val="FF7C80"/>
    <a:srgbClr val="8BC5FA"/>
    <a:srgbClr val="31547B"/>
    <a:srgbClr val="355A84"/>
    <a:srgbClr val="93A6C1"/>
    <a:srgbClr val="508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70DF707-0B7A-4722-825E-A8C82910448D}">
  <a:tblStyle styleId="{B70DF707-0B7A-4722-825E-A8C8291044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2" autoAdjust="0"/>
    <p:restoredTop sz="94400" autoAdjust="0"/>
  </p:normalViewPr>
  <p:slideViewPr>
    <p:cSldViewPr snapToGrid="0">
      <p:cViewPr varScale="1">
        <p:scale>
          <a:sx n="141" d="100"/>
          <a:sy n="141" d="100"/>
        </p:scale>
        <p:origin x="852" y="-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45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57" Type="http://schemas.openxmlformats.org/officeDocument/2006/relationships/handoutMaster" Target="handoutMasters/handoutMaster1.xml"/><Relationship Id="rId58" Type="http://schemas.openxmlformats.org/officeDocument/2006/relationships/font" Target="fonts/font1.fntdata"/><Relationship Id="rId59" Type="http://schemas.openxmlformats.org/officeDocument/2006/relationships/font" Target="fonts/font2.fntdata"/><Relationship Id="rId60" Type="http://schemas.openxmlformats.org/officeDocument/2006/relationships/font" Target="fonts/font3.fntdata"/><Relationship Id="rId61" Type="http://schemas.openxmlformats.org/officeDocument/2006/relationships/font" Target="fonts/font4.fntdata"/><Relationship Id="rId62" Type="http://schemas.openxmlformats.org/officeDocument/2006/relationships/font" Target="fonts/font5.fntdata"/><Relationship Id="rId63" Type="http://schemas.openxmlformats.org/officeDocument/2006/relationships/font" Target="fonts/font6.fntdata"/><Relationship Id="rId64" Type="http://schemas.openxmlformats.org/officeDocument/2006/relationships/font" Target="fonts/font7.fntdata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1D31A96-AA36-E222-75CD-942A5EB991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8C89931-5FA1-104C-E402-96DD3FE88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16F0B-887D-48C5-BC7E-1B58F2397D46}" type="datetimeFigureOut">
              <a:rPr lang="es-CO" smtClean="0"/>
              <a:t>20/10/2026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CDE2FF6-00C1-28C4-B854-E31A77EFB5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F43366-C97E-5D30-6A61-70599CFB0E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8D6B6-0D79-4A52-B148-990ABCFC1EB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0113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061550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Portada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835F034-20D9-B4C5-8358-9688592E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0705" y="987873"/>
            <a:ext cx="6588199" cy="375821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89B234E-DA3E-ADB7-C645-D2663C91D17A}"/>
              </a:ext>
            </a:extLst>
          </p:cNvPr>
          <p:cNvCxnSpPr/>
          <p:nvPr userDrawn="1"/>
        </p:nvCxnSpPr>
        <p:spPr>
          <a:xfrm>
            <a:off x="224175" y="3099830"/>
            <a:ext cx="8695649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Google Shape;11;p2">
            <a:extLst>
              <a:ext uri="{FF2B5EF4-FFF2-40B4-BE49-F238E27FC236}">
                <a16:creationId xmlns:a16="http://schemas.microsoft.com/office/drawing/2014/main" id="{46BD2D74-0A2E-C2B6-BEBB-A7A73007EDF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18445" y="3513265"/>
            <a:ext cx="4507107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CBC81BF4-67AC-BF92-3B23-337A171E5C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0747" y="4108392"/>
            <a:ext cx="1122501" cy="447813"/>
          </a:xfrm>
        </p:spPr>
        <p:txBody>
          <a:bodyPr/>
          <a:lstStyle>
            <a:lvl1pPr marL="114300" indent="0">
              <a:buNone/>
              <a:defRPr sz="1400"/>
            </a:lvl1pPr>
          </a:lstStyle>
          <a:p>
            <a:pPr lvl="0"/>
            <a:r>
              <a:rPr lang="es-ES" dirty="0" err="1"/>
              <a:t>to</a:t>
            </a:r>
            <a:r>
              <a:rPr lang="es-ES" dirty="0"/>
              <a:t> nivel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93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1350" y="1423263"/>
            <a:ext cx="5405100" cy="1948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1350" y="3314625"/>
            <a:ext cx="5405100" cy="40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  <p:sp>
        <p:nvSpPr>
          <p:cNvPr id="4" name="Marcador de número de diapositiva 32">
            <a:extLst>
              <a:ext uri="{FF2B5EF4-FFF2-40B4-BE49-F238E27FC236}">
                <a16:creationId xmlns:a16="http://schemas.microsoft.com/office/drawing/2014/main" id="{502B9196-72B9-D526-4C1D-BD5F0CF5C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950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2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141350" y="2549500"/>
            <a:ext cx="6861300" cy="10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58700" y="1353788"/>
            <a:ext cx="162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331150" y="3627713"/>
            <a:ext cx="4481700" cy="38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D7D205FF-0CD9-CE2F-E2C1-83481A2B8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395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77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521092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39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Tx/>
              <a:buNone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76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6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1AF50676-8359-BE63-DD6F-3F783BB61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sp>
        <p:nvSpPr>
          <p:cNvPr id="3" name="Google Shape;24;p4">
            <a:extLst>
              <a:ext uri="{FF2B5EF4-FFF2-40B4-BE49-F238E27FC236}">
                <a16:creationId xmlns:a16="http://schemas.microsoft.com/office/drawing/2014/main" id="{B7538562-B18C-A308-8992-A29375029C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615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1_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720000" y="1391583"/>
            <a:ext cx="7704000" cy="4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0000" y="719146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A24E282-299A-8125-64F0-0A3A21458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558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22;p4">
            <a:extLst>
              <a:ext uri="{FF2B5EF4-FFF2-40B4-BE49-F238E27FC236}">
                <a16:creationId xmlns:a16="http://schemas.microsoft.com/office/drawing/2014/main" id="{4C5B8F73-FC8B-9241-7678-C4DDCD3019A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3A07BA6-F4A9-9808-ED15-76AEE7C7A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sz="3300"/>
            </a:lvl1pPr>
          </a:lstStyle>
          <a:p>
            <a:r>
              <a:rPr lang="es-ES" dirty="0"/>
              <a:t>Haga clic para modificar</a:t>
            </a:r>
            <a:endParaRPr lang="es-CO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D75B560-8E7C-D540-20BE-B237247E6F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10C5ADD-74DF-90D3-03A8-63663869A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7555" y="1391915"/>
            <a:ext cx="6187177" cy="421861"/>
          </a:xfrm>
        </p:spPr>
        <p:txBody>
          <a:bodyPr/>
          <a:lstStyle>
            <a:lvl1pPr marL="114300" indent="0" algn="l">
              <a:buNone/>
              <a:defRPr lang="es-CO" sz="2400" b="1" i="0" u="none" strike="noStrike" cap="none" dirty="0">
                <a:solidFill>
                  <a:srgbClr val="FFFFB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</a:lstStyle>
          <a:p>
            <a:pPr lvl="0"/>
            <a:r>
              <a:rPr lang="es-ES" dirty="0"/>
              <a:t>Subtítulo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3058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preserve="1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20903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3562925" y="2238025"/>
            <a:ext cx="4864800" cy="19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3562925" y="970775"/>
            <a:ext cx="4864800" cy="121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F9367B2C-BBE5-04C5-44F7-3356491E6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6405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 preserve="1">
  <p:cSld name="Section title and description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711350" y="1580150"/>
            <a:ext cx="5151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711350" y="2340250"/>
            <a:ext cx="51510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74F13D-0CE4-3400-4DA2-4B2131FFD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8542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>
  <p:cSld name="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3560250" y="3291125"/>
            <a:ext cx="4626600" cy="117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8B88258-C5B6-1041-8893-E62BA8F14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0891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preserve="1">
  <p:cSld name="Big numb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 txBox="1">
            <a:spLocks noGrp="1"/>
          </p:cNvSpPr>
          <p:nvPr>
            <p:ph type="title" hasCustomPrompt="1"/>
          </p:nvPr>
        </p:nvSpPr>
        <p:spPr>
          <a:xfrm>
            <a:off x="1670700" y="1580875"/>
            <a:ext cx="5802600" cy="151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3" name="Google Shape;73;p11"/>
          <p:cNvSpPr txBox="1">
            <a:spLocks noGrp="1"/>
          </p:cNvSpPr>
          <p:nvPr>
            <p:ph type="subTitle" idx="1"/>
          </p:nvPr>
        </p:nvSpPr>
        <p:spPr>
          <a:xfrm>
            <a:off x="1670700" y="3114124"/>
            <a:ext cx="5802600" cy="44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8AC9DA0D-3DCA-DFC3-BE58-DCA1A7894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0572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76341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preserve="1">
  <p:cSld name="Table of contents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>
            <a:off x="720000" y="757845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2" hasCustomPrompt="1"/>
          </p:nvPr>
        </p:nvSpPr>
        <p:spPr>
          <a:xfrm>
            <a:off x="767145" y="1806480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1444845" y="197170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3" hasCustomPrompt="1"/>
          </p:nvPr>
        </p:nvSpPr>
        <p:spPr>
          <a:xfrm>
            <a:off x="4664695" y="2391672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4"/>
          </p:nvPr>
        </p:nvSpPr>
        <p:spPr>
          <a:xfrm>
            <a:off x="5342395" y="2557690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5" hasCustomPrompt="1"/>
          </p:nvPr>
        </p:nvSpPr>
        <p:spPr>
          <a:xfrm>
            <a:off x="767145" y="2976864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6"/>
          </p:nvPr>
        </p:nvSpPr>
        <p:spPr>
          <a:xfrm>
            <a:off x="1444845" y="3143681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7" hasCustomPrompt="1"/>
          </p:nvPr>
        </p:nvSpPr>
        <p:spPr>
          <a:xfrm>
            <a:off x="4664695" y="3562056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8"/>
          </p:nvPr>
        </p:nvSpPr>
        <p:spPr>
          <a:xfrm>
            <a:off x="5342395" y="3729672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9" hasCustomPrompt="1"/>
          </p:nvPr>
        </p:nvSpPr>
        <p:spPr>
          <a:xfrm>
            <a:off x="767145" y="4147248"/>
            <a:ext cx="621900" cy="50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2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3"/>
          </p:nvPr>
        </p:nvSpPr>
        <p:spPr>
          <a:xfrm>
            <a:off x="1444845" y="4315663"/>
            <a:ext cx="30816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4"/>
          </p:nvPr>
        </p:nvSpPr>
        <p:spPr>
          <a:xfrm>
            <a:off x="1444875" y="1646950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5"/>
          </p:nvPr>
        </p:nvSpPr>
        <p:spPr>
          <a:xfrm>
            <a:off x="1444875" y="2841512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6"/>
          </p:nvPr>
        </p:nvSpPr>
        <p:spPr>
          <a:xfrm>
            <a:off x="1444875" y="4036075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Libre Baskerville"/>
              <a:buNone/>
              <a:defRPr sz="2200" b="1">
                <a:solidFill>
                  <a:srgbClr val="FFFF00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17"/>
          </p:nvPr>
        </p:nvSpPr>
        <p:spPr>
          <a:xfrm>
            <a:off x="5342400" y="3438794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8"/>
          </p:nvPr>
        </p:nvSpPr>
        <p:spPr>
          <a:xfrm>
            <a:off x="5342400" y="2244231"/>
            <a:ext cx="3081600" cy="45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ibre Baskerville"/>
              <a:buNone/>
              <a:defRPr sz="22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6A022A7-5EAA-EFCC-2C64-7193F298683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9460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4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2290050" y="3989413"/>
            <a:ext cx="45639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1458150" y="2816863"/>
            <a:ext cx="6227700" cy="122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E81FD6E-2FFF-28AE-374E-DDC20EFB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74084" y="4868702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94438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preserve="1">
  <p:cSld name="Title and 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>
            <a:spLocks noGrp="1"/>
          </p:cNvSpPr>
          <p:nvPr>
            <p:ph type="subTitle" idx="1"/>
          </p:nvPr>
        </p:nvSpPr>
        <p:spPr>
          <a:xfrm>
            <a:off x="973797" y="3011475"/>
            <a:ext cx="4398300" cy="86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73809" y="1270425"/>
            <a:ext cx="4398300" cy="178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8"/>
          <p:cNvSpPr>
            <a:spLocks noGrp="1"/>
          </p:cNvSpPr>
          <p:nvPr>
            <p:ph type="pic" idx="2"/>
          </p:nvPr>
        </p:nvSpPr>
        <p:spPr>
          <a:xfrm>
            <a:off x="5327150" y="1080200"/>
            <a:ext cx="2983200" cy="2983200"/>
          </a:xfrm>
          <a:prstGeom prst="ellipse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011B3A5-BA18-77C0-B197-5934FE569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958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1591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 preserve="1">
  <p:cSld name="Title and text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9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3714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9"/>
          <p:cNvSpPr txBox="1">
            <a:spLocks noGrp="1"/>
          </p:cNvSpPr>
          <p:nvPr>
            <p:ph type="subTitle" idx="1"/>
          </p:nvPr>
        </p:nvSpPr>
        <p:spPr>
          <a:xfrm>
            <a:off x="1889400" y="3812150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"/>
          <p:cNvSpPr txBox="1">
            <a:spLocks noGrp="1"/>
          </p:cNvSpPr>
          <p:nvPr>
            <p:ph type="title"/>
          </p:nvPr>
        </p:nvSpPr>
        <p:spPr>
          <a:xfrm>
            <a:off x="1889550" y="3306875"/>
            <a:ext cx="5365200" cy="63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4C836EED-38EE-4930-F765-436660262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5149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58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 preserve="1">
  <p:cSld name="Title and text 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0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315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>
            <a:spLocks noGrp="1"/>
          </p:cNvSpPr>
          <p:nvPr>
            <p:ph type="title"/>
          </p:nvPr>
        </p:nvSpPr>
        <p:spPr>
          <a:xfrm>
            <a:off x="720000" y="66710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56" name="Google Shape;156;p20"/>
          <p:cNvSpPr txBox="1">
            <a:spLocks noGrp="1"/>
          </p:cNvSpPr>
          <p:nvPr>
            <p:ph type="subTitle" idx="1"/>
          </p:nvPr>
        </p:nvSpPr>
        <p:spPr>
          <a:xfrm>
            <a:off x="719413" y="1383062"/>
            <a:ext cx="5347500" cy="17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75E61C1E-9234-A230-B547-BF54ADA7F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38049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49993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 preserve="1">
  <p:cSld name="Title and two columns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1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1418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>
            <a:spLocks noGrp="1"/>
          </p:cNvSpPr>
          <p:nvPr>
            <p:ph type="subTitle" idx="1"/>
          </p:nvPr>
        </p:nvSpPr>
        <p:spPr>
          <a:xfrm>
            <a:off x="1366805" y="1856906"/>
            <a:ext cx="30267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2"/>
          </p:nvPr>
        </p:nvSpPr>
        <p:spPr>
          <a:xfrm>
            <a:off x="4706911" y="1895947"/>
            <a:ext cx="3023100" cy="40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Zen Antique"/>
              <a:buNone/>
              <a:defRPr sz="2200">
                <a:solidFill>
                  <a:schemeClr val="accent2"/>
                </a:solidFill>
                <a:latin typeface="Zen Antique"/>
                <a:ea typeface="Zen Antique"/>
                <a:cs typeface="Zen Antique"/>
                <a:sym typeface="Zen Antique"/>
              </a:defRPr>
            </a:lvl9pPr>
          </a:lstStyle>
          <a:p>
            <a:endParaRPr dirty="0"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3"/>
          </p:nvPr>
        </p:nvSpPr>
        <p:spPr>
          <a:xfrm>
            <a:off x="1366805" y="2360869"/>
            <a:ext cx="3026700" cy="226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4"/>
          </p:nvPr>
        </p:nvSpPr>
        <p:spPr>
          <a:xfrm>
            <a:off x="4706911" y="2362069"/>
            <a:ext cx="3023100" cy="22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14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/>
          </p:nvPr>
        </p:nvSpPr>
        <p:spPr>
          <a:xfrm>
            <a:off x="720000" y="703183"/>
            <a:ext cx="7704000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A11EDC36-5F6C-7891-6A2B-41384387A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947058" y="485467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21428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 preserve="1">
  <p:cSld name="Title and two columns 2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2"/>
          <p:cNvPicPr preferRelativeResize="0"/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0" y="-921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720000" y="696921"/>
            <a:ext cx="7758665" cy="5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9pPr>
          </a:lstStyle>
          <a:p>
            <a:endParaRPr dirty="0"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1"/>
          </p:nvPr>
        </p:nvSpPr>
        <p:spPr>
          <a:xfrm>
            <a:off x="720000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86" name="Google Shape;186;p22"/>
          <p:cNvSpPr txBox="1">
            <a:spLocks noGrp="1"/>
          </p:cNvSpPr>
          <p:nvPr>
            <p:ph type="subTitle" idx="2"/>
          </p:nvPr>
        </p:nvSpPr>
        <p:spPr>
          <a:xfrm>
            <a:off x="4626665" y="1401707"/>
            <a:ext cx="3852000" cy="34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6B8D90A-F721-5BFA-9520-C81330115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9531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 preserve="1">
  <p:cSld name="Background 2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32">
            <a:extLst>
              <a:ext uri="{FF2B5EF4-FFF2-40B4-BE49-F238E27FC236}">
                <a16:creationId xmlns:a16="http://schemas.microsoft.com/office/drawing/2014/main" id="{E3CF2F18-9AEF-9045-E247-CDBA35581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5076" y="485965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754B4-F252-4673-A93E-AFAD19F3B91A}" type="slidenum">
              <a:rPr lang="es-CO" smtClean="0"/>
              <a:t>‹Nº›</a:t>
            </a:fld>
            <a:endParaRPr lang="es-CO"/>
          </a:p>
        </p:txBody>
      </p:sp>
      <p:pic>
        <p:nvPicPr>
          <p:cNvPr id="3" name="Google Shape;9;p2">
            <a:extLst>
              <a:ext uri="{FF2B5EF4-FFF2-40B4-BE49-F238E27FC236}">
                <a16:creationId xmlns:a16="http://schemas.microsoft.com/office/drawing/2014/main" id="{AD9A05E1-271E-DF86-855C-3402A37CE6EE}"/>
              </a:ext>
            </a:extLst>
          </p:cNvPr>
          <p:cNvPicPr preferRelativeResize="0"/>
          <p:nvPr userDrawn="1"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-3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0394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seño personalizad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077D320-9EC5-A233-F3F1-072E9662FF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2759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png"/><Relationship Id="rId23" Type="http://schemas.microsoft.com/office/2007/relationships/hdphoto" Target="../media/hdphoto1.wdp"/><Relationship Id="rId24" Type="http://schemas.openxmlformats.org/officeDocument/2006/relationships/image" Target="../media/image2.png"/><Relationship Id="rId25" Type="http://schemas.openxmlformats.org/officeDocument/2006/relationships/image" Target="../media/image3.png"/><Relationship Id="rId2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97555" y="7116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05585" y="1448419"/>
            <a:ext cx="8520600" cy="3184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  <a:defRPr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0FC9AC8-8B9B-C356-BE60-A5E249FA5D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896" b="89974" l="2344" r="97461">
                        <a14:foregroundMark x1="54297" y1="27474" x2="42578" y2="19531"/>
                        <a14:foregroundMark x1="42578" y1="19531" x2="54688" y2="27734"/>
                        <a14:foregroundMark x1="54688" y1="27734" x2="96875" y2="39714"/>
                        <a14:foregroundMark x1="94336" y1="55990" x2="86328" y2="65885"/>
                        <a14:foregroundMark x1="86328" y1="65885" x2="24609" y2="80469"/>
                        <a14:foregroundMark x1="24609" y1="80469" x2="25586" y2="67057"/>
                        <a14:foregroundMark x1="25586" y1="67057" x2="48047" y2="49089"/>
                        <a14:foregroundMark x1="48047" y1="49089" x2="43945" y2="37891"/>
                        <a14:foregroundMark x1="43945" y1="37891" x2="17578" y2="22396"/>
                        <a14:foregroundMark x1="17578" y1="22396" x2="2344" y2="32031"/>
                        <a14:foregroundMark x1="2344" y1="32031" x2="11914" y2="67448"/>
                        <a14:foregroundMark x1="11914" y1="67448" x2="37305" y2="45964"/>
                        <a14:foregroundMark x1="89453" y1="71484" x2="96094" y2="68490"/>
                        <a14:foregroundMark x1="88672" y1="72526" x2="97461" y2="68620"/>
                        <a14:foregroundMark x1="45508" y1="80339" x2="48438" y2="78125"/>
                      </a14:backgroundRemoval>
                    </a14:imgEffect>
                    <a14:imgEffect>
                      <a14:saturation sat="112000"/>
                    </a14:imgEffect>
                  </a14:imgLayer>
                </a14:imgProps>
              </a:ext>
            </a:extLst>
          </a:blip>
          <a:srcRect t="60775" r="7281" b="27471"/>
          <a:stretch/>
        </p:blipFill>
        <p:spPr>
          <a:xfrm>
            <a:off x="6443128" y="-6955"/>
            <a:ext cx="2700872" cy="572700"/>
          </a:xfrm>
          <a:prstGeom prst="rect">
            <a:avLst/>
          </a:prstGeom>
          <a:gradFill>
            <a:gsLst>
              <a:gs pos="19000">
                <a:srgbClr val="0E2A47">
                  <a:alpha val="59000"/>
                  <a:lumMod val="100000"/>
                </a:srgbClr>
              </a:gs>
              <a:gs pos="33000">
                <a:schemeClr val="accent2">
                  <a:lumMod val="10000"/>
                  <a:lumOff val="90000"/>
                </a:schemeClr>
              </a:gs>
              <a:gs pos="77000">
                <a:schemeClr val="accent2">
                  <a:lumMod val="25000"/>
                  <a:lumOff val="75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0800000" scaled="1"/>
          </a:gradFill>
          <a:ln>
            <a:noFill/>
          </a:ln>
          <a:effectLst>
            <a:softEdge rad="0"/>
          </a:effectLst>
        </p:spPr>
      </p:pic>
      <p:pic>
        <p:nvPicPr>
          <p:cNvPr id="9" name="Google Shape;28;p4">
            <a:extLst>
              <a:ext uri="{FF2B5EF4-FFF2-40B4-BE49-F238E27FC236}">
                <a16:creationId xmlns:a16="http://schemas.microsoft.com/office/drawing/2014/main" id="{C838CF9F-1988-524C-8E01-03AB6CF3D3E1}"/>
              </a:ext>
            </a:extLst>
          </p:cNvPr>
          <p:cNvPicPr preferRelativeResize="0"/>
          <p:nvPr userDrawn="1"/>
        </p:nvPicPr>
        <p:blipFill>
          <a:blip r:embed="rId24">
            <a:alphaModFix amt="70000"/>
          </a:blip>
          <a:stretch>
            <a:fillRect/>
          </a:stretch>
        </p:blipFill>
        <p:spPr>
          <a:xfrm>
            <a:off x="8420241" y="4668168"/>
            <a:ext cx="911641" cy="95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968E9F5-C031-8916-0772-8842EBF6A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5"/>
          <a:srcRect l="1" r="57412"/>
          <a:stretch/>
        </p:blipFill>
        <p:spPr>
          <a:xfrm>
            <a:off x="213505" y="11159"/>
            <a:ext cx="1161848" cy="556689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1B677341-6345-4681-C896-F97AE06C9832}"/>
              </a:ext>
            </a:extLst>
          </p:cNvPr>
          <p:cNvSpPr txBox="1"/>
          <p:nvPr userDrawn="1"/>
        </p:nvSpPr>
        <p:spPr>
          <a:xfrm>
            <a:off x="8606436" y="4864819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1</a:t>
            </a:r>
            <a:endParaRPr lang="es-ES" sz="1200" dirty="0">
              <a:solidFill>
                <a:schemeClr val="bg1"/>
              </a:solidFill>
            </a:endParaRP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03C48C39-10AC-00E1-8439-5BCADFB10EA4}"/>
              </a:ext>
            </a:extLst>
          </p:cNvPr>
          <p:cNvSpPr/>
          <p:nvPr userDrawn="1"/>
        </p:nvSpPr>
        <p:spPr>
          <a:xfrm>
            <a:off x="2700873" y="-3427"/>
            <a:ext cx="6481958" cy="569172"/>
          </a:xfrm>
          <a:prstGeom prst="roundRect">
            <a:avLst/>
          </a:prstGeom>
          <a:gradFill flip="none" rotWithShape="1">
            <a:gsLst>
              <a:gs pos="19000">
                <a:srgbClr val="0E2A47">
                  <a:alpha val="59000"/>
                  <a:lumMod val="100000"/>
                </a:srgbClr>
              </a:gs>
              <a:gs pos="43000">
                <a:schemeClr val="accent2">
                  <a:lumMod val="10000"/>
                  <a:lumOff val="90000"/>
                </a:schemeClr>
              </a:gs>
              <a:gs pos="69000">
                <a:schemeClr val="accent2">
                  <a:lumMod val="25000"/>
                  <a:lumOff val="75000"/>
                </a:schemeClr>
              </a:gs>
              <a:gs pos="98230">
                <a:srgbClr val="0E2A47"/>
              </a:gs>
              <a:gs pos="84000">
                <a:schemeClr val="accent3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s-E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882642BA-E753-0526-0DB1-979EB663A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64577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31968-4ACB-4FDC-A729-E0AFD0CA931C}" type="slidenum">
              <a:rPr lang="es-CO" smtClean="0"/>
              <a:t>‹Nº›</a:t>
            </a:fld>
            <a:endParaRPr lang="es-CO"/>
          </a:p>
        </p:txBody>
      </p:sp>
      <p:pic>
        <p:nvPicPr>
          <p:cNvPr id="5" name="Imagen 4" descr="Imagen que contiene señal&#10;&#10;Descripción generada automáticamente">
            <a:extLst>
              <a:ext uri="{FF2B5EF4-FFF2-40B4-BE49-F238E27FC236}">
                <a16:creationId xmlns:a16="http://schemas.microsoft.com/office/drawing/2014/main" id="{AA992F98-CF33-2388-CD15-8BE6A34588BE}"/>
              </a:ext>
            </a:extLst>
          </p:cNvPr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3375481" y="11159"/>
            <a:ext cx="356259" cy="5400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9C7EBD3B-61F3-6418-1C94-41562CE9B0D7}"/>
              </a:ext>
            </a:extLst>
          </p:cNvPr>
          <p:cNvSpPr/>
          <p:nvPr userDrawn="1"/>
        </p:nvSpPr>
        <p:spPr>
          <a:xfrm>
            <a:off x="3777571" y="98234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900" noProof="0" dirty="0">
                <a:solidFill>
                  <a:srgbClr val="0E2A47"/>
                </a:solidFill>
              </a:rPr>
              <a:t>Department of Civil and Environmental Engineering </a:t>
            </a:r>
          </a:p>
          <a:p>
            <a:r>
              <a:rPr lang="en-US" sz="900" noProof="0" dirty="0">
                <a:solidFill>
                  <a:srgbClr val="0E2A47"/>
                </a:solidFill>
              </a:rPr>
              <a:t>Water Supply and Sewers Systems Research Center</a:t>
            </a:r>
          </a:p>
        </p:txBody>
      </p:sp>
    </p:spTree>
    <p:extLst>
      <p:ext uri="{BB962C8B-B14F-4D97-AF65-F5344CB8AC3E}">
        <p14:creationId xmlns:p14="http://schemas.microsoft.com/office/powerpoint/2010/main" val="4011355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684" r:id="rId2"/>
    <p:sldLayoutId id="2147483685" r:id="rId3"/>
    <p:sldLayoutId id="2147483686" r:id="rId4"/>
    <p:sldLayoutId id="2147483688" r:id="rId5"/>
    <p:sldLayoutId id="2147483718" r:id="rId6"/>
    <p:sldLayoutId id="2147483719" r:id="rId7"/>
    <p:sldLayoutId id="2147483689" r:id="rId8"/>
    <p:sldLayoutId id="2147483691" r:id="rId9"/>
    <p:sldLayoutId id="2147483692" r:id="rId10"/>
    <p:sldLayoutId id="2147483693" r:id="rId11"/>
    <p:sldLayoutId id="2147483695" r:id="rId12"/>
    <p:sldLayoutId id="2147483696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14" r:id="rId19"/>
    <p:sldLayoutId id="214748371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Avance semanal: datos A listos; transferencia en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Corte al 28 de octubre de 2026 · distinguir selección interna de evaluación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DATOS DE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de 1.000 simulaciones pasaron QA.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XGBOOST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73,78 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Mejor RMSE interno tras 50 ensayos Optuna en 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43584"/>
            <a:ext cx="2523744" cy="144475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16736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72768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0E2A47"/>
                </a:solidFill>
                <a:latin typeface="Montserrat"/>
              </a:rPr>
              <a:t>En curso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93392"/>
            <a:ext cx="2267711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Aún no hay métricas de transferencia.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" y="3017520"/>
            <a:ext cx="8193024" cy="804672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36392"/>
            <a:ext cx="123444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108960"/>
            <a:ext cx="644652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D3034"/>
                </a:solidFill>
                <a:latin typeface="Montserrat"/>
              </a:rPr>
              <a:t>Búsqueda de 50 ensayos activa; después se ajustará el ensemble final de cinco semillas.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096512"/>
            <a:ext cx="80924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1">
                <a:solidFill>
                  <a:srgbClr val="0E2A47"/>
                </a:solidFill>
                <a:latin typeface="Montserrat"/>
              </a:rPr>
              <a:t>Conclusión de hoy: A es trazable y XGBoost tiene candidato reproducible; la transferencia a B todavía debe medirse.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Conjunto A: simulaciones filtradas con QA hidráulico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Criterios aplicados provisionalmente: continuidad, drenaje y cobertura completa de resultados.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CORRIDAS FUENTE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Simulaciones SWMM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APTAS PARA ENTRENAR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866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Tras controles de 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172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EXCLUIDAS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Sin imputar etiquetas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84848" y="1143000"/>
            <a:ext cx="1874519" cy="1115568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1216152"/>
            <a:ext cx="1618487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FORMAS PRESENTES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472184"/>
            <a:ext cx="1618487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36 / 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2864" y="1892807"/>
            <a:ext cx="1618487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Cuatro grupos sin corrida apta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532888"/>
            <a:ext cx="5394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MOTIVOS DE EXCLUSIÓN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944368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No drenada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2980944"/>
            <a:ext cx="2852928" cy="182880"/>
          </a:xfrm>
          <a:prstGeom prst="rect">
            <a:avLst/>
          </a:prstGeom>
          <a:solidFill>
            <a:srgbClr val="355A84"/>
          </a:solidFill>
          <a:ln>
            <a:solidFill>
              <a:srgbClr val="355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04688" y="2935224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529584"/>
            <a:ext cx="19659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Continuidad &gt; 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0" y="3566160"/>
            <a:ext cx="2852928" cy="182880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560320" y="3566160"/>
            <a:ext cx="998524" cy="182880"/>
          </a:xfrm>
          <a:prstGeom prst="rect">
            <a:avLst/>
          </a:prstGeom>
          <a:solidFill>
            <a:srgbClr val="8BC5FA"/>
          </a:solidFill>
          <a:ln>
            <a:solidFill>
              <a:srgbClr val="8BC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04688" y="3520440"/>
            <a:ext cx="438912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35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2587752"/>
            <a:ext cx="2148840" cy="136245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2715768"/>
            <a:ext cx="182880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138.560 filas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7688" y="3072384"/>
            <a:ext cx="1837943" cy="7132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160 nodos · 21 variables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41.497 filas inundadas (29,9%)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D3034"/>
                </a:solidFill>
                <a:latin typeface="Montserrat"/>
              </a:rPr>
              <a:t>Umbral: 1 m³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4160520"/>
            <a:ext cx="8138160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Los motivos se traslapan en una corrida. El 5% y las tolerancias de drenaje aún requieren justificación hidráulica.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Diseño de evaluación: B permanece aislada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selección usa A; la red B se reserva para una prueba externa.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A · Chico Sur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866 corridas aptas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Preparación congelada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SELECCIÓN INTERNA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GroupKFold(5)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Separación por forma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Optuna solo ve 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234440"/>
            <a:ext cx="2523744" cy="141732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3" y="1307592"/>
            <a:ext cx="2267711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0E2A47"/>
                </a:solidFill>
                <a:latin typeface="Montserrat"/>
              </a:rPr>
              <a:t>PRUEBA EXTERNA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3" y="1563624"/>
            <a:ext cx="2267711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2A47"/>
                </a:solidFill>
                <a:latin typeface="Montserrat"/>
              </a:rPr>
              <a:t>Red B · Chico Norte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3" y="1984248"/>
            <a:ext cx="2267711" cy="6126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Etiquetas cerradas</a:t>
            </a:r>
          </a:p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Una red no representa todas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693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1576" y="1691640"/>
            <a:ext cx="32004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>
                <a:solidFill>
                  <a:srgbClr val="8BC5FA"/>
                </a:solidFill>
                <a:latin typeface="Montserra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2926080"/>
            <a:ext cx="8193024" cy="100584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26664"/>
            <a:ext cx="7680960" cy="28346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Control contra fuga de información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364992"/>
            <a:ext cx="7635240" cy="4480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D3034"/>
                </a:solidFill>
                <a:latin typeface="Montserrat"/>
              </a:rPr>
              <a:t>Se verifican manifiestos, archivos por corrida, claves y variables. Las predicciones se sellan y reproducen antes de abrir los RPT de 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187952"/>
            <a:ext cx="81381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40" b="0">
                <a:solidFill>
                  <a:srgbClr val="5B6977"/>
                </a:solidFill>
                <a:latin typeface="Montserrat"/>
              </a:rPr>
              <a:t>Alcance: transferencia a una red externa; no prueba generalización a una población de redes.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B · Chico Norte: topología del INP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Vista de nodos y conducciones; este mapa no contiene resultados de simulación ni predicciones.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48</a:t>
            </a:r>
          </a:p>
        </p:txBody>
      </p:sp>
      <p:pic>
        <p:nvPicPr>
          <p:cNvPr id="7" name="Picture 6" descr="red_b_chico_norte_topolo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572000" cy="391569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28016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97296" y="135331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NODOS CON COORDENADAS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296" y="1609343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7296" y="2029967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Inventario geométrico leído del INP base.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697480"/>
            <a:ext cx="2834640" cy="118872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97296" y="2770632"/>
            <a:ext cx="257860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CONDUCCIONES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7296" y="3026664"/>
            <a:ext cx="257860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0E2A47"/>
                </a:solidFill>
                <a:latin typeface="Montserrat"/>
              </a:rPr>
              <a:t>522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7296" y="3447288"/>
            <a:ext cx="257860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Trazado de enlaces entre nodos según el INP.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4096512"/>
            <a:ext cx="2834640" cy="40233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4123944"/>
            <a:ext cx="256032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40" b="1">
                <a:solidFill>
                  <a:srgbClr val="0E2A47"/>
                </a:solidFill>
                <a:latin typeface="Montserrat"/>
              </a:rPr>
              <a:t>Topología solamente · sin caudales ni inundación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Red A · mapas SWMM de escenarios admitidos por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Muestran volúmenes de referencia hidráulica del conjunto de entrenamiento; no son predicciones 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49</a:t>
            </a:r>
          </a:p>
        </p:txBody>
      </p:sp>
      <p:pic>
        <p:nvPicPr>
          <p:cNvPr id="7" name="Picture 6" descr="red_a_mediana_sw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50976"/>
            <a:ext cx="4187952" cy="2515469"/>
          </a:xfrm>
          <a:prstGeom prst="rect">
            <a:avLst/>
          </a:prstGeom>
        </p:spPr>
      </p:pic>
      <p:pic>
        <p:nvPicPr>
          <p:cNvPr id="8" name="Picture 7" descr="red_a_mayor_volumen_swm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950976"/>
            <a:ext cx="4187952" cy="25174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4114800"/>
            <a:ext cx="3822191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Mediana de escenarios inundados · 9.518 m³ · 52 nodos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4114800"/>
            <a:ext cx="3822191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69" b="1">
                <a:solidFill>
                  <a:srgbClr val="0E2A47"/>
                </a:solidFill>
                <a:latin typeface="Montserrat"/>
              </a:rPr>
              <a:t>Mayor volumen total · 183.407 m³ · 93 nodos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4489704"/>
            <a:ext cx="8183879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40" b="0">
                <a:solidFill>
                  <a:srgbClr val="5B6977"/>
                </a:solidFill>
                <a:latin typeface="Montserrat"/>
              </a:rPr>
              <a:t>Selección determinista entre las 711 corridas inundadas de A tras QA: mediana y máximo del volumen total SWMM.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XGBoost: 73,78 m³ de RMSE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50 ensayos Optuna · GroupKFold(5) por forma · semilla 42 · selección solo con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005840"/>
            <a:ext cx="5577840" cy="261717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44768" y="113385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2783" y="120700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MEJOR ENSAYO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2783" y="146304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>
                <a:solidFill>
                  <a:srgbClr val="0E2A47"/>
                </a:solidFill>
                <a:latin typeface="Montserrat"/>
              </a:rPr>
              <a:t>#13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3" y="188366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ID Optuna; numeración desde cero.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2414016"/>
            <a:ext cx="2697480" cy="107899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3" y="2487168"/>
            <a:ext cx="2441448" cy="21945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>
                <a:solidFill>
                  <a:srgbClr val="355A84"/>
                </a:solidFill>
                <a:latin typeface="Montserrat"/>
              </a:rPr>
              <a:t>CRITERIO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3" y="2743200"/>
            <a:ext cx="2441448" cy="3931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A47"/>
                </a:solidFill>
                <a:latin typeface="Montserrat"/>
              </a:rPr>
              <a:t>73,782 m³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3163824"/>
            <a:ext cx="2441448" cy="2743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10" b="0">
                <a:solidFill>
                  <a:srgbClr val="2D3034"/>
                </a:solidFill>
                <a:latin typeface="Montserrat"/>
              </a:rPr>
              <a:t>macro_network_rmse; en A equivale al RMSE de una red.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703320"/>
            <a:ext cx="2697480" cy="694944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776472"/>
            <a:ext cx="2395728" cy="5486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0E2A47"/>
                </a:solidFill>
                <a:latin typeface="Montserrat"/>
              </a:rPr>
              <a:t>Candidato ajustado con A; aún no es el resultado de 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4389120"/>
            <a:ext cx="5449824" cy="19202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B6977"/>
                </a:solidFill>
                <a:latin typeface="Montserrat"/>
              </a:rPr>
              <a:t>La línea oscura muestra el mejor RMSE acumulado; es una estimación de selección interna.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Estado de modelos y simulaciones de la red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Los conteos de B son operativos; todavía no son métricas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355A84"/>
                </a:solidFill>
                <a:latin typeface="Montserrat"/>
              </a:rPr>
              <a:t>XGBOOST · COMPLETADO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/ 50 ensayos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Candidato ajustado con A. Se verificaron la recarga de los modelos y la procedencia de sus archivos.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36592" y="1143000"/>
            <a:ext cx="3931920" cy="2542032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56048" y="1307592"/>
            <a:ext cx="349300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30" b="1">
                <a:solidFill>
                  <a:srgbClr val="0E2A47"/>
                </a:solidFill>
                <a:latin typeface="Montserrat"/>
              </a:rPr>
              <a:t>MLP · BÚSQUEDA ACTIVA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6048" y="1737360"/>
            <a:ext cx="347472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0E2A47"/>
                </a:solidFill>
                <a:latin typeface="Montserrat"/>
              </a:rPr>
              <a:t>50 ensayos previstos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2304288"/>
            <a:ext cx="345643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19" b="0">
                <a:solidFill>
                  <a:srgbClr val="2D3034"/>
                </a:solidFill>
                <a:latin typeface="Montserrat"/>
              </a:rPr>
              <a:t>GroupKFold(5), 200 épocas por fold. Falta ajustar el ensemble final de cinco semillas (42–46).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867912"/>
            <a:ext cx="1627632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355A84"/>
                </a:solidFill>
                <a:latin typeface="Montserrat"/>
              </a:rPr>
              <a:t>RED B · CORTE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3840480"/>
            <a:ext cx="6519672" cy="35661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10" b="1">
                <a:solidFill>
                  <a:srgbClr val="0E2A47"/>
                </a:solidFill>
                <a:latin typeface="Montserrat"/>
              </a:rPr>
              <a:t>339 aptas · 115 excluidas · 521 pendientes de 975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4297680"/>
            <a:ext cx="8119872" cy="173736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4297680"/>
            <a:ext cx="3780945" cy="173736"/>
          </a:xfrm>
          <a:prstGeom prst="rect">
            <a:avLst/>
          </a:prstGeom>
          <a:solidFill>
            <a:srgbClr val="5E8CBE"/>
          </a:solidFill>
          <a:ln>
            <a:solidFill>
              <a:srgbClr val="5E8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489704"/>
            <a:ext cx="8119872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>
                <a:solidFill>
                  <a:srgbClr val="5B6977"/>
                </a:solidFill>
                <a:latin typeface="Montserrat"/>
              </a:rPr>
              <a:t>Etiquetas de B aún cerradas para el scoring.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Mapas y gráficos de paridad: siguiente hito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Las figuras previas corresponden a otros modelos y otro protocolo; no se mezclan con esta evaluación.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Terminar MLP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Cerrar búsqueda y ajustar cinco semillas.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Sellar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Congelar modelos, variables y hashes de predicción.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0016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8888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55A84"/>
                </a:solidFill>
                <a:latin typeface="Montserra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Evaluar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6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Verificar RPT, QA y cobertura; calcular métricas.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1353312"/>
            <a:ext cx="1901952" cy="1554480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0296" y="1453896"/>
            <a:ext cx="310896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2A47"/>
                </a:solidFill>
                <a:latin typeface="Montserrat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1453896"/>
            <a:ext cx="1335024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1">
                <a:solidFill>
                  <a:srgbClr val="0E2A47"/>
                </a:solidFill>
                <a:latin typeface="Montserrat"/>
              </a:rPr>
              <a:t>Graficar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1865376"/>
            <a:ext cx="1627632" cy="8321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Paridad por nodo/escenario y mapas espaciales.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" y="3227832"/>
            <a:ext cx="7754112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2A47"/>
                </a:solidFill>
                <a:latin typeface="Montserrat"/>
              </a:rPr>
              <a:t>No reutilizamos figuras antiguas: mezclarlas con los nuevos candidatos exageraría la evidencia de transferencia.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87368"/>
            <a:ext cx="7973568" cy="29260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60" b="0">
                <a:solidFill>
                  <a:srgbClr val="5B6977"/>
                </a:solidFill>
                <a:latin typeface="Montserrat"/>
              </a:rPr>
              <a:t>Visual actual válido de modelos: convergencia de los 50 ensayos internos de XGBoost (diapositiva 50).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Qué podemos afirmar hoy y qué falta comprobar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La auditoría convirtió una tabla histórica en un experimento trazable con etiquetas protegidas.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E9F2FA"/>
          </a:solidFill>
          <a:ln w="7620">
            <a:solidFill>
              <a:srgbClr val="E9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55A84"/>
                </a:solidFill>
                <a:latin typeface="Montserrat"/>
              </a:rPr>
              <a:t>Evidencia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Dataset A reconstruido y filtrado, con manifiestos y hashes.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XGBoost seleccionado entre 50 ensayos; candidato verificado.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Nueva red B en simulación, con exclusiones reportadas.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143000"/>
            <a:ext cx="4014215" cy="2414016"/>
          </a:xfrm>
          <a:prstGeom prst="roundRect">
            <a:avLst>
              <a:gd name="adj" fmla="val 8000"/>
            </a:avLst>
          </a:prstGeom>
          <a:solidFill>
            <a:srgbClr val="FBF5E8"/>
          </a:solidFill>
          <a:ln w="7620">
            <a:solidFill>
              <a:srgbClr val="FBF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4608" y="1280160"/>
            <a:ext cx="3639312" cy="3291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0E2A47"/>
                </a:solidFill>
                <a:latin typeface="Montserrat"/>
              </a:rPr>
              <a:t>Evidencia pendiente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1746504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Terminar MLP y ajustar el ensemble de cinco semillas.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286000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Sellar predicciones; evaluar B y generar mapas/paridad nuevos.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825496"/>
            <a:ext cx="361188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2D3034"/>
                </a:solidFill>
                <a:latin typeface="Montserrat"/>
              </a:rPr>
              <a:t>• Probar otra red antes de afirmar generalización amplia.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" y="3767328"/>
            <a:ext cx="822960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Cautela hidráulica: continuidad ≤ 5%, extensiones de drenaje y tolerancias numéricas son provisionales; falta justificarlas.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" y="4279392"/>
            <a:ext cx="8229600" cy="2468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0">
                <a:solidFill>
                  <a:srgbClr val="5B6977"/>
                </a:solidFill>
                <a:latin typeface="Montserrat"/>
              </a:rPr>
              <a:t>Alcance: hidrogramas sintéticos de caudal por nodo; lluvia–escorrentía sigue fuera del proyecto actual.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02336" y="155448"/>
            <a:ext cx="8339327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50" b="1">
                <a:solidFill>
                  <a:srgbClr val="0E2A47"/>
                </a:solidFill>
                <a:latin typeface="Libre Baskerville"/>
              </a:rPr>
              <a:t>Trazabilidad y decisiones congeladas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12648"/>
            <a:ext cx="827532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69" b="0">
                <a:solidFill>
                  <a:srgbClr val="5B6977"/>
                </a:solidFill>
                <a:latin typeface="Montserrat"/>
              </a:rPr>
              <a:t>Cada resultado queda asociado a una preparación, un protocolo y artefactos verificables.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864608"/>
            <a:ext cx="7863840" cy="1554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740" b="0">
                <a:solidFill>
                  <a:srgbClr val="5B6977"/>
                </a:solidFill>
                <a:latin typeface="Montserrat"/>
              </a:rPr>
              <a:t>MLSMFP | Avance: auditoría, ajuste y transferencia entre redes | 28-10-2026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800600"/>
            <a:ext cx="502920" cy="2286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>
                <a:solidFill>
                  <a:srgbClr val="5B6977"/>
                </a:solidFill>
                <a:latin typeface="Montserrat"/>
              </a:rPr>
              <a:t>54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33856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07008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ID de preparación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1207008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813323e3ef75b752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138.560 filas · 866 corridas · tabular_v4_21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55648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Manifiesto de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828800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4bf0c50f61b2287…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Fuentes, archivos por corrida y QA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40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2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Prerregistro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450592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6d5b729e33bd1162…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450592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Sellado antes de las búsquedas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" y="2999232"/>
            <a:ext cx="8275320" cy="576072"/>
          </a:xfrm>
          <a:prstGeom prst="rect">
            <a:avLst/>
          </a:prstGeom>
          <a:solidFill>
            <a:srgbClr val="FFFFFF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072384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Estudio XGBoost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3072384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5b3ace9ece0223b8…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072384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50 ensayos · semilla 42 · GroupKFold(5)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621024"/>
            <a:ext cx="8275320" cy="576072"/>
          </a:xfrm>
          <a:prstGeom prst="rect">
            <a:avLst/>
          </a:prstGeom>
          <a:solidFill>
            <a:srgbClr val="F2F5F8"/>
          </a:solidFill>
          <a:ln w="7620">
            <a:solidFill>
              <a:srgbClr val="F2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694176"/>
            <a:ext cx="1874519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19" b="1">
                <a:solidFill>
                  <a:srgbClr val="5B6977"/>
                </a:solidFill>
                <a:latin typeface="Montserrat"/>
              </a:rPr>
              <a:t>Protocolo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3694176"/>
            <a:ext cx="242316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80" b="1">
                <a:solidFill>
                  <a:srgbClr val="0E2A47"/>
                </a:solidFill>
                <a:latin typeface="Montserrat"/>
              </a:rPr>
              <a:t>e1e66e5ab9a41273…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94176"/>
            <a:ext cx="3493008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90" b="0">
                <a:solidFill>
                  <a:srgbClr val="2D3034"/>
                </a:solidFill>
                <a:latin typeface="Montserrat"/>
              </a:rPr>
              <a:t>39 × 25 escenarios · staging sin etiquetas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389120"/>
            <a:ext cx="8183879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860" b="0">
                <a:solidFill>
                  <a:srgbClr val="5B6977"/>
                </a:solidFill>
                <a:latin typeface="Montserrat"/>
              </a:rPr>
              <a:t>Rutas y hashes completos en los manifiestos y la bitácora; las etiquetas de B no se guardan en SQLite.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46FF804-ED03-00B4-80BE-81E99A582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5754B4-F252-4673-A93E-AFAD19F3B91A}" type="slidenum">
              <a:rPr lang="en-US" noProof="0" smtClean="0"/>
              <a:t>44</a:t>
            </a:fld>
            <a:endParaRPr lang="en-US" noProof="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97E69F7-14D0-B481-4806-A4A180ACC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079500"/>
            <a:ext cx="7874000" cy="1905000"/>
          </a:xfrm>
        </p:spPr>
        <p:txBody>
          <a:bodyPr/>
          <a:lstStyle/>
          <a:p>
            <a:r>
              <a:t>Modelo de aprendizaje automático para predecir fallas hidráulicas</a:t>
            </a:r>
          </a:p>
          <a:p>
            <a:r>
              <a:t>en redes de alcantarillado pluvial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F2334C66-4D63-D716-251A-3E0420C2F0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Luis Fernando Fajardo Bravo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70B49F-1F4A-F2BB-8468-490BC5AB86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1418" y="4108392"/>
            <a:ext cx="1392079" cy="447813"/>
          </a:xfrm>
        </p:spPr>
        <p:txBody>
          <a:bodyPr/>
          <a:lstStyle/>
          <a:p>
            <a:r>
              <a:t>28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517127943"/>
      </p:ext>
    </p:extLst>
  </p:cSld>
  <p:clrMapOvr>
    <a:masterClrMapping/>
  </p:clrMapOvr>
</p:sld>
</file>

<file path=ppt/theme/theme1.xml><?xml version="1.0" encoding="utf-8"?>
<a:theme xmlns:a="http://schemas.openxmlformats.org/drawingml/2006/main" name="diap">
  <a:themeElements>
    <a:clrScheme name="Simple Light">
      <a:dk1>
        <a:srgbClr val="FFFFFF"/>
      </a:dk1>
      <a:lt1>
        <a:srgbClr val="0C2C45"/>
      </a:lt1>
      <a:dk2>
        <a:srgbClr val="8BC5FA"/>
      </a:dk2>
      <a:lt2>
        <a:srgbClr val="243C59"/>
      </a:lt2>
      <a:accent1>
        <a:srgbClr val="5083C2"/>
      </a:accent1>
      <a:accent2>
        <a:srgbClr val="355A84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ACUA">
      <a:majorFont>
        <a:latin typeface="Libre Baskerville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5B3C633-C8C3-46EC-A779-D84379177807}">
  <we:reference id="wa200010725" version="1.0.0.1" store="es-MX" storeType="OMEX"/>
  <we:alternateReferences>
    <we:reference id="WA200010725" version="1.0.0.1" store="" storeType="OMEX"/>
  </we:alternateReferences>
  <we:properties>
    <we:property name="claude.fileId" value="&quot;0e8703bd-6d4e-4448-859d-ea000cb375b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10184</TotalTime>
  <Words>11182</Words>
  <Application>Microsoft Office PowerPoint</Application>
  <PresentationFormat>Presentación en pantalla (16:9)</PresentationFormat>
  <Paragraphs>916</Paragraphs>
  <Slides>54</Slides>
  <Notes>33</Notes>
  <HiddenSlides>7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Zen Antique</vt:lpstr>
      <vt:lpstr>Montserrat</vt:lpstr>
      <vt:lpstr>Libre Baskerville</vt:lpstr>
      <vt:lpstr>diap</vt:lpstr>
      <vt:lpstr>Machine Learning Model for Hydraulic Failure Prediction in Stormwater Systems</vt:lpstr>
      <vt:lpstr>Thesis II Schedule</vt:lpstr>
      <vt:lpstr>Presentación de PowerPoint</vt:lpstr>
      <vt:lpstr>Presentación de PowerPoint</vt:lpstr>
      <vt:lpstr>Presentación de PowerPoint</vt:lpstr>
      <vt:lpstr>Presentación de PowerPoint</vt:lpstr>
      <vt:lpstr>Hydrograph 1</vt:lpstr>
      <vt:lpstr>Hydrograph 1</vt:lpstr>
      <vt:lpstr>Hydrograph 2</vt:lpstr>
      <vt:lpstr>Hydrograph 2</vt:lpstr>
      <vt:lpstr>Validation hydrographs</vt:lpstr>
      <vt:lpstr>Presentación de PowerPoint</vt:lpstr>
      <vt:lpstr>Presentación de PowerPoint</vt:lpstr>
      <vt:lpstr>Presentación de PowerPoint</vt:lpstr>
      <vt:lpstr>Data handling and model training workflow</vt:lpstr>
      <vt:lpstr>Example database – Node 75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Machine Learning Model for Hydraulic Failure Prediction in Stormwater Systems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Nitrogen Narcosis Caused by Diving Case Report</dc:title>
  <dc:creator>Maria Alejandra Gonzalez Molina</dc:creator>
  <cp:lastModifiedBy>Luis Fernando Fajardo Bravo</cp:lastModifiedBy>
  <cp:revision>78</cp:revision>
  <cp:lastPrinted>2026-07-30T02:50:58Z</cp:lastPrinted>
  <dcterms:modified xsi:type="dcterms:W3CDTF">2026-10-20T13:36:38Z</dcterms:modified>
</cp:coreProperties>
</file>