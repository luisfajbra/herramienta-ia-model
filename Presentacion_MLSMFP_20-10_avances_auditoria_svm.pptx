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5.xml" ContentType="application/vnd.openxmlformats-officedocument.presentationml.notesSlide+xml"/>
  <Override PartName="/ppt/charts/chart4.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56"/>
  </p:notesMasterIdLst>
  <p:handoutMasterIdLst>
    <p:handoutMasterId r:id="rId57"/>
  </p:handoutMasterIdLst>
  <p:sldIdLst>
    <p:sldId id="356" r:id="rId2"/>
    <p:sldId id="412" r:id="rId3"/>
    <p:sldId id="419" r:id="rId4"/>
    <p:sldId id="420" r:id="rId5"/>
    <p:sldId id="429" r:id="rId6"/>
    <p:sldId id="431" r:id="rId7"/>
    <p:sldId id="421" r:id="rId8"/>
    <p:sldId id="422" r:id="rId9"/>
    <p:sldId id="423" r:id="rId10"/>
    <p:sldId id="424" r:id="rId11"/>
    <p:sldId id="432" r:id="rId12"/>
    <p:sldId id="416" r:id="rId13"/>
    <p:sldId id="417" r:id="rId14"/>
    <p:sldId id="418" r:id="rId15"/>
    <p:sldId id="427" r:id="rId16"/>
    <p:sldId id="428"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31"/>
    <p:sldId id="447" r:id="rId32"/>
    <p:sldId id="448" r:id="rId33"/>
    <p:sldId id="449" r:id="rId34"/>
    <p:sldId id="450" r:id="rId35"/>
    <p:sldId id="451" r:id="rId36"/>
    <p:sldId id="452" r:id="rId37"/>
    <p:sldId id="453" r:id="rId38"/>
    <p:sldId id="454" r:id="rId39"/>
    <p:sldId id="455" r:id="rId40"/>
    <p:sldId id="456" r:id="rId41"/>
    <p:sldId id="457" r:id="rId42"/>
    <p:sldId id="458" r:id="rId43"/>
    <p:sldId id="459" r:id="rId44"/>
    <p:sldId id="470" r:id="rId45"/>
    <p:sldId id="460" r:id="rId46"/>
    <p:sldId id="461" r:id="rId47"/>
    <p:sldId id="462" r:id="rId48"/>
    <p:sldId id="463" r:id="rId49"/>
    <p:sldId id="464" r:id="rId50"/>
    <p:sldId id="466" r:id="rId51"/>
    <p:sldId id="467" r:id="rId52"/>
    <p:sldId id="468" r:id="rId53"/>
    <p:sldId id="469" r:id="rId54"/>
    <p:sldId id="465" r:id="rId55"/>
  </p:sldIdLst>
  <p:sldSz cx="9144000" cy="5143500" type="screen16x9"/>
  <p:notesSz cx="6858000" cy="9144000"/>
  <p:embeddedFontLst>
    <p:embeddedFont>
      <p:font typeface="Libre Baskerville" panose="020B0604020202020204" charset="0"/>
      <p:regular r:id="rId58"/>
      <p:bold r:id="rId59"/>
      <p:italic r:id="rId60"/>
    </p:embeddedFont>
    <p:embeddedFont>
      <p:font typeface="Montserrat" panose="00000500000000000000" pitchFamily="2"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A4FF9F"/>
    <a:srgbClr val="5E8CBE"/>
    <a:srgbClr val="867AB8"/>
    <a:srgbClr val="FF7C80"/>
    <a:srgbClr val="8BC5FA"/>
    <a:srgbClr val="31547B"/>
    <a:srgbClr val="355A84"/>
    <a:srgbClr val="93A6C1"/>
    <a:srgbClr val="508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0DF707-0B7A-4722-825E-A8C82910448D}">
  <a:tblStyle styleId="{B70DF707-0B7A-4722-825E-A8C8291044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62" autoAdjust="0"/>
    <p:restoredTop sz="94400" autoAdjust="0"/>
  </p:normalViewPr>
  <p:slideViewPr>
    <p:cSldViewPr snapToGrid="0">
      <p:cViewPr varScale="1">
        <p:scale>
          <a:sx n="141" d="100"/>
          <a:sy n="141" d="100"/>
        </p:scale>
        <p:origin x="852" y="-90"/>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4" d="100"/>
          <a:sy n="54" d="100"/>
        </p:scale>
        <p:origin x="2565"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6.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No-learning baseline</c:v>
                </c:pt>
              </c:strCache>
            </c:strRef>
          </c:tx>
          <c:spPr>
            <a:solidFill>
              <a:srgbClr val="F1CB83"/>
            </a:solidFill>
          </c:spPr>
          <c:invertIfNegative val="0"/>
          <c:dLbls>
            <c:dLbl>
              <c:idx val="0"/>
              <c:tx>
                <c:rich>
                  <a:bodyPr/>
                  <a:lstStyle/>
                  <a:p>
                    <a:r>
                      <a:rPr lang="es-CO" sz="1300" b="1">
                        <a:solidFill>
                          <a:srgbClr val="F7FAFE"/>
                        </a:solidFill>
                        <a:latin typeface="Montserrat"/>
                      </a:rPr>
                      <a:t>9.13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E04-438B-8280-AC3EF975BA0B}"/>
                </c:ext>
              </c:extLst>
            </c:dLbl>
            <c:dLbl>
              <c:idx val="1"/>
              <c:tx>
                <c:rich>
                  <a:bodyPr/>
                  <a:lstStyle/>
                  <a:p>
                    <a:r>
                      <a:rPr lang="es-CO" sz="1300" b="1">
                        <a:solidFill>
                          <a:srgbClr val="F7FAFE"/>
                        </a:solidFill>
                        <a:latin typeface="Montserrat"/>
                      </a:rPr>
                      <a:t>172.86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E04-438B-8280-AC3EF975BA0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LOSO</c:v>
                </c:pt>
                <c:pt idx="1">
                  <c:v>LeaveOneShapeOut</c:v>
                </c:pt>
              </c:strCache>
            </c:strRef>
          </c:cat>
          <c:val>
            <c:numRef>
              <c:f>Sheet1!$B$2:$B$3</c:f>
              <c:numCache>
                <c:formatCode>General</c:formatCode>
                <c:ptCount val="2"/>
                <c:pt idx="0">
                  <c:v>9.1300000000000008</c:v>
                </c:pt>
                <c:pt idx="1">
                  <c:v>172.86</c:v>
                </c:pt>
              </c:numCache>
            </c:numRef>
          </c:val>
          <c:extLst>
            <c:ext xmlns:c16="http://schemas.microsoft.com/office/drawing/2014/chart" uri="{C3380CC4-5D6E-409C-BE32-E72D297353CC}">
              <c16:uniqueId val="{00000002-EE04-438B-8280-AC3EF975BA0B}"/>
            </c:ext>
          </c:extLst>
        </c:ser>
        <c:ser>
          <c:idx val="1"/>
          <c:order val="1"/>
          <c:tx>
            <c:strRef>
              <c:f>Sheet1!$C$1</c:f>
              <c:strCache>
                <c:ptCount val="1"/>
                <c:pt idx="0">
                  <c:v>XGBoost</c:v>
                </c:pt>
              </c:strCache>
            </c:strRef>
          </c:tx>
          <c:spPr>
            <a:solidFill>
              <a:srgbClr val="8BC5FA"/>
            </a:solidFill>
          </c:spPr>
          <c:invertIfNegative val="0"/>
          <c:dLbls>
            <c:dLbl>
              <c:idx val="0"/>
              <c:tx>
                <c:rich>
                  <a:bodyPr/>
                  <a:lstStyle/>
                  <a:p>
                    <a:r>
                      <a:rPr lang="es-CO" sz="1300" b="1">
                        <a:solidFill>
                          <a:srgbClr val="F7FAFE"/>
                        </a:solidFill>
                        <a:latin typeface="Montserrat"/>
                      </a:rPr>
                      <a:t>57.89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E04-438B-8280-AC3EF975BA0B}"/>
                </c:ext>
              </c:extLst>
            </c:dLbl>
            <c:dLbl>
              <c:idx val="1"/>
              <c:tx>
                <c:rich>
                  <a:bodyPr/>
                  <a:lstStyle/>
                  <a:p>
                    <a:r>
                      <a:rPr lang="es-CO" sz="1300" b="1">
                        <a:solidFill>
                          <a:srgbClr val="F7FAFE"/>
                        </a:solidFill>
                        <a:latin typeface="Montserrat"/>
                      </a:rPr>
                      <a:t>106.21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E04-438B-8280-AC3EF975BA0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LOSO</c:v>
                </c:pt>
                <c:pt idx="1">
                  <c:v>LeaveOneShapeOut</c:v>
                </c:pt>
              </c:strCache>
            </c:strRef>
          </c:cat>
          <c:val>
            <c:numRef>
              <c:f>Sheet1!$C$2:$C$3</c:f>
              <c:numCache>
                <c:formatCode>General</c:formatCode>
                <c:ptCount val="2"/>
                <c:pt idx="0">
                  <c:v>57.89</c:v>
                </c:pt>
                <c:pt idx="1">
                  <c:v>106.21</c:v>
                </c:pt>
              </c:numCache>
            </c:numRef>
          </c:val>
          <c:extLst>
            <c:ext xmlns:c16="http://schemas.microsoft.com/office/drawing/2014/chart" uri="{C3380CC4-5D6E-409C-BE32-E72D297353CC}">
              <c16:uniqueId val="{00000005-EE04-438B-8280-AC3EF975BA0B}"/>
            </c:ext>
          </c:extLst>
        </c:ser>
        <c:dLbls>
          <c:showLegendKey val="0"/>
          <c:showVal val="0"/>
          <c:showCatName val="0"/>
          <c:showSerName val="0"/>
          <c:showPercent val="0"/>
          <c:showBubbleSize val="0"/>
        </c:dLbls>
        <c:gapWidth val="55"/>
        <c:overlap val="-8"/>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5E8CBE"/>
            </a:solidFill>
          </a:ln>
        </c:spPr>
        <c:txPr>
          <a:bodyPr/>
          <a:lstStyle/>
          <a:p>
            <a:pPr>
              <a:defRPr sz="1200">
                <a:solidFill>
                  <a:srgbClr val="F7FAFE"/>
                </a:solidFill>
                <a:latin typeface="Montserrat"/>
              </a:defRPr>
            </a:pPr>
            <a:endParaRPr lang="es-CO"/>
          </a:p>
        </c:txPr>
        <c:crossAx val="-2113994440"/>
        <c:crosses val="autoZero"/>
        <c:auto val="1"/>
        <c:lblAlgn val="ctr"/>
        <c:lblOffset val="100"/>
        <c:noMultiLvlLbl val="0"/>
      </c:catAx>
      <c:valAx>
        <c:axId val="-2113994440"/>
        <c:scaling>
          <c:orientation val="minMax"/>
          <c:max val="210.88920000000002"/>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200">
              <a:solidFill>
                <a:srgbClr val="F7FAFE"/>
              </a:solidFill>
              <a:latin typeface="Montserrat"/>
            </a:defRPr>
          </a:pPr>
          <a:endParaRPr lang="es-CO"/>
        </a:p>
      </c:txPr>
    </c:legend>
    <c:plotVisOnly val="1"/>
    <c:dispBlanksAs val="gap"/>
    <c:showDLblsOverMax val="1"/>
  </c:chart>
  <c:txPr>
    <a:bodyPr/>
    <a:lstStyle/>
    <a:p>
      <a:pPr>
        <a:defRPr sz="1200">
          <a:solidFill>
            <a:srgbClr val="F7FAFE"/>
          </a:solidFill>
          <a:latin typeface="Montserrat"/>
        </a:defRPr>
      </a:pPr>
      <a:endParaRPr lang="es-CO"/>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Default</c:v>
                </c:pt>
              </c:strCache>
            </c:strRef>
          </c:tx>
          <c:spPr>
            <a:solidFill>
              <a:srgbClr val="5E8CBE"/>
            </a:solidFill>
          </c:spPr>
          <c:invertIfNegative val="0"/>
          <c:dPt>
            <c:idx val="0"/>
            <c:invertIfNegative val="1"/>
            <c:bubble3D val="0"/>
            <c:extLst>
              <c:ext xmlns:c16="http://schemas.microsoft.com/office/drawing/2014/chart" uri="{C3380CC4-5D6E-409C-BE32-E72D297353CC}">
                <c16:uniqueId val="{00000001-4624-4DD3-A7A3-6B2A9199FF41}"/>
              </c:ext>
            </c:extLst>
          </c:dPt>
          <c:dPt>
            <c:idx val="1"/>
            <c:invertIfNegative val="1"/>
            <c:bubble3D val="0"/>
            <c:extLst>
              <c:ext xmlns:c16="http://schemas.microsoft.com/office/drawing/2014/chart" uri="{C3380CC4-5D6E-409C-BE32-E72D297353CC}">
                <c16:uniqueId val="{00000003-4624-4DD3-A7A3-6B2A9199FF41}"/>
              </c:ext>
            </c:extLst>
          </c:dPt>
          <c:dPt>
            <c:idx val="2"/>
            <c:invertIfNegative val="1"/>
            <c:bubble3D val="0"/>
            <c:spPr>
              <a:solidFill>
                <a:srgbClr val="3F5A78"/>
              </a:solidFill>
            </c:spPr>
            <c:extLst>
              <c:ext xmlns:c16="http://schemas.microsoft.com/office/drawing/2014/chart" uri="{C3380CC4-5D6E-409C-BE32-E72D297353CC}">
                <c16:uniqueId val="{00000005-4624-4DD3-A7A3-6B2A9199FF41}"/>
              </c:ext>
            </c:extLst>
          </c:dPt>
          <c:cat>
            <c:strRef>
              <c:f>Sheet1!$A$2:$A$4</c:f>
              <c:strCache>
                <c:ptCount val="3"/>
                <c:pt idx="0">
                  <c:v>XGBoost</c:v>
                </c:pt>
                <c:pt idx="1">
                  <c:v>MLP</c:v>
                </c:pt>
                <c:pt idx="2">
                  <c:v>Approximate SVM</c:v>
                </c:pt>
              </c:strCache>
            </c:strRef>
          </c:cat>
          <c:val>
            <c:numRef>
              <c:f>Sheet1!$B$2:$B$4</c:f>
              <c:numCache>
                <c:formatCode>General</c:formatCode>
                <c:ptCount val="3"/>
                <c:pt idx="0">
                  <c:v>112.803</c:v>
                </c:pt>
                <c:pt idx="1">
                  <c:v>114.383</c:v>
                </c:pt>
                <c:pt idx="2">
                  <c:v>222.45699999999999</c:v>
                </c:pt>
              </c:numCache>
            </c:numRef>
          </c:val>
          <c:extLst>
            <c:ext xmlns:c16="http://schemas.microsoft.com/office/drawing/2014/chart" uri="{C3380CC4-5D6E-409C-BE32-E72D297353CC}">
              <c16:uniqueId val="{00000006-4624-4DD3-A7A3-6B2A9199FF41}"/>
            </c:ext>
          </c:extLst>
        </c:ser>
        <c:ser>
          <c:idx val="1"/>
          <c:order val="1"/>
          <c:tx>
            <c:strRef>
              <c:f>Sheet1!$C$1</c:f>
              <c:strCache>
                <c:ptCount val="1"/>
                <c:pt idx="0">
                  <c:v>Tuned</c:v>
                </c:pt>
              </c:strCache>
            </c:strRef>
          </c:tx>
          <c:spPr>
            <a:solidFill>
              <a:srgbClr val="8BC5FA"/>
            </a:solidFill>
          </c:spPr>
          <c:invertIfNegative val="0"/>
          <c:dPt>
            <c:idx val="0"/>
            <c:invertIfNegative val="1"/>
            <c:bubble3D val="0"/>
            <c:extLst>
              <c:ext xmlns:c16="http://schemas.microsoft.com/office/drawing/2014/chart" uri="{C3380CC4-5D6E-409C-BE32-E72D297353CC}">
                <c16:uniqueId val="{00000008-4624-4DD3-A7A3-6B2A9199FF41}"/>
              </c:ext>
            </c:extLst>
          </c:dPt>
          <c:dPt>
            <c:idx val="1"/>
            <c:invertIfNegative val="1"/>
            <c:bubble3D val="0"/>
            <c:extLst>
              <c:ext xmlns:c16="http://schemas.microsoft.com/office/drawing/2014/chart" uri="{C3380CC4-5D6E-409C-BE32-E72D297353CC}">
                <c16:uniqueId val="{0000000A-4624-4DD3-A7A3-6B2A9199FF41}"/>
              </c:ext>
            </c:extLst>
          </c:dPt>
          <c:dPt>
            <c:idx val="2"/>
            <c:invertIfNegative val="1"/>
            <c:bubble3D val="0"/>
            <c:spPr>
              <a:solidFill>
                <a:srgbClr val="7A8FA6"/>
              </a:solidFill>
            </c:spPr>
            <c:extLst>
              <c:ext xmlns:c16="http://schemas.microsoft.com/office/drawing/2014/chart" uri="{C3380CC4-5D6E-409C-BE32-E72D297353CC}">
                <c16:uniqueId val="{0000000C-4624-4DD3-A7A3-6B2A9199FF41}"/>
              </c:ext>
            </c:extLst>
          </c:dPt>
          <c:dLbls>
            <c:dLbl>
              <c:idx val="0"/>
              <c:tx>
                <c:rich>
                  <a:bodyPr/>
                  <a:lstStyle/>
                  <a:p>
                    <a:r>
                      <a:rPr lang="en-US" sz="1100" b="1">
                        <a:solidFill>
                          <a:srgbClr val="F7FAFE"/>
                        </a:solidFill>
                        <a:latin typeface="Montserrat"/>
                      </a:rPr>
                      <a:t>69.64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4624-4DD3-A7A3-6B2A9199FF41}"/>
                </c:ext>
              </c:extLst>
            </c:dLbl>
            <c:dLbl>
              <c:idx val="1"/>
              <c:tx>
                <c:rich>
                  <a:bodyPr/>
                  <a:lstStyle/>
                  <a:p>
                    <a:r>
                      <a:rPr lang="en-US" sz="1100" b="1">
                        <a:solidFill>
                          <a:srgbClr val="F7FAFE"/>
                        </a:solidFill>
                        <a:latin typeface="Montserrat"/>
                      </a:rPr>
                      <a:t>101.12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4624-4DD3-A7A3-6B2A9199FF41}"/>
                </c:ext>
              </c:extLst>
            </c:dLbl>
            <c:dLbl>
              <c:idx val="2"/>
              <c:tx>
                <c:rich>
                  <a:bodyPr/>
                  <a:lstStyle/>
                  <a:p>
                    <a:r>
                      <a:rPr lang="en-US" sz="1100" b="1">
                        <a:solidFill>
                          <a:srgbClr val="F7FAFE"/>
                        </a:solidFill>
                        <a:latin typeface="Montserrat"/>
                      </a:rPr>
                      <a:t>214.87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4624-4DD3-A7A3-6B2A9199FF4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XGBoost</c:v>
                </c:pt>
                <c:pt idx="1">
                  <c:v>MLP</c:v>
                </c:pt>
                <c:pt idx="2">
                  <c:v>Approximate SVM</c:v>
                </c:pt>
              </c:strCache>
            </c:strRef>
          </c:cat>
          <c:val>
            <c:numRef>
              <c:f>Sheet1!$C$2:$C$4</c:f>
              <c:numCache>
                <c:formatCode>General</c:formatCode>
                <c:ptCount val="3"/>
                <c:pt idx="0">
                  <c:v>69.641999999999996</c:v>
                </c:pt>
                <c:pt idx="1">
                  <c:v>101.117</c:v>
                </c:pt>
                <c:pt idx="2">
                  <c:v>214.86799999999999</c:v>
                </c:pt>
              </c:numCache>
            </c:numRef>
          </c:val>
          <c:extLst>
            <c:ext xmlns:c16="http://schemas.microsoft.com/office/drawing/2014/chart" uri="{C3380CC4-5D6E-409C-BE32-E72D297353CC}">
              <c16:uniqueId val="{0000000D-4624-4DD3-A7A3-6B2A9199FF41}"/>
            </c:ext>
          </c:extLst>
        </c:ser>
        <c:dLbls>
          <c:showLegendKey val="0"/>
          <c:showVal val="0"/>
          <c:showCatName val="0"/>
          <c:showSerName val="0"/>
          <c:showPercent val="0"/>
          <c:showBubbleSize val="0"/>
        </c:dLbls>
        <c:gapWidth val="40"/>
        <c:overlap val="-8"/>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5E8CBE"/>
            </a:solidFill>
          </a:ln>
        </c:spPr>
        <c:txPr>
          <a:bodyPr/>
          <a:lstStyle/>
          <a:p>
            <a:pPr>
              <a:defRPr sz="1000">
                <a:solidFill>
                  <a:srgbClr val="F7FAFE"/>
                </a:solidFill>
                <a:latin typeface="Montserrat"/>
              </a:defRPr>
            </a:pPr>
            <a:endParaRPr lang="es-CO"/>
          </a:p>
        </c:txPr>
        <c:crossAx val="-2113994440"/>
        <c:crosses val="autoZero"/>
        <c:auto val="1"/>
        <c:lblAlgn val="ctr"/>
        <c:lblOffset val="100"/>
        <c:noMultiLvlLbl val="0"/>
      </c:catAx>
      <c:valAx>
        <c:axId val="-2113994440"/>
        <c:scaling>
          <c:orientation val="minMax"/>
          <c:max val="322.56264999999996"/>
          <c:min val="0"/>
        </c:scaling>
        <c:delete val="1"/>
        <c:axPos val="t"/>
        <c:numFmt formatCode="General" sourceLinked="1"/>
        <c:majorTickMark val="out"/>
        <c:minorTickMark val="none"/>
        <c:tickLblPos val="nextTo"/>
        <c:crossAx val="-2068027336"/>
        <c:crosses val="autoZero"/>
        <c:crossBetween val="between"/>
      </c:valAx>
    </c:plotArea>
    <c:legend>
      <c:legendPos val="b"/>
      <c:overlay val="0"/>
      <c:txPr>
        <a:bodyPr/>
        <a:lstStyle/>
        <a:p>
          <a:pPr>
            <a:defRPr sz="1000">
              <a:solidFill>
                <a:srgbClr val="F7FAFE"/>
              </a:solidFill>
              <a:latin typeface="Montserrat"/>
            </a:defRPr>
          </a:pPr>
          <a:endParaRPr lang="es-CO"/>
        </a:p>
      </c:txPr>
    </c:legend>
    <c:plotVisOnly val="1"/>
    <c:dispBlanksAs val="gap"/>
    <c:showDLblsOverMax val="1"/>
  </c:chart>
  <c:txPr>
    <a:bodyPr/>
    <a:lstStyle/>
    <a:p>
      <a:pPr>
        <a:defRPr sz="1000">
          <a:solidFill>
            <a:srgbClr val="F7FAFE"/>
          </a:solidFill>
          <a:latin typeface="Montserrat"/>
        </a:defRPr>
      </a:pPr>
      <a:endParaRPr lang="es-CO"/>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Default</c:v>
                </c:pt>
              </c:strCache>
            </c:strRef>
          </c:tx>
          <c:spPr>
            <a:solidFill>
              <a:srgbClr val="5E8CBE"/>
            </a:solidFill>
          </c:spPr>
          <c:invertIfNegative val="0"/>
          <c:dPt>
            <c:idx val="0"/>
            <c:invertIfNegative val="1"/>
            <c:bubble3D val="0"/>
            <c:spPr>
              <a:solidFill>
                <a:srgbClr val="5E8CBE"/>
              </a:solidFill>
            </c:spPr>
            <c:extLst>
              <c:ext xmlns:c16="http://schemas.microsoft.com/office/drawing/2014/chart" uri="{C3380CC4-5D6E-409C-BE32-E72D297353CC}">
                <c16:uniqueId val="{00000001-CF3A-4F65-9520-D9131DCEECD2}"/>
              </c:ext>
            </c:extLst>
          </c:dPt>
          <c:dPt>
            <c:idx val="1"/>
            <c:invertIfNegative val="1"/>
            <c:bubble3D val="0"/>
            <c:spPr>
              <a:solidFill>
                <a:srgbClr val="5E8CBE"/>
              </a:solidFill>
            </c:spPr>
            <c:extLst>
              <c:ext xmlns:c16="http://schemas.microsoft.com/office/drawing/2014/chart" uri="{C3380CC4-5D6E-409C-BE32-E72D297353CC}">
                <c16:uniqueId val="{00000003-CF3A-4F65-9520-D9131DCEECD2}"/>
              </c:ext>
            </c:extLst>
          </c:dPt>
          <c:dPt>
            <c:idx val="2"/>
            <c:invertIfNegative val="1"/>
            <c:bubble3D val="0"/>
            <c:spPr>
              <a:solidFill>
                <a:srgbClr val="3F5A78"/>
              </a:solidFill>
            </c:spPr>
            <c:extLst>
              <c:ext xmlns:c16="http://schemas.microsoft.com/office/drawing/2014/chart" uri="{C3380CC4-5D6E-409C-BE32-E72D297353CC}">
                <c16:uniqueId val="{00000005-CF3A-4F65-9520-D9131DCEECD2}"/>
              </c:ext>
            </c:extLst>
          </c:dPt>
          <c:cat>
            <c:strRef>
              <c:f>Sheet1!$A$2:$A$4</c:f>
              <c:strCache>
                <c:ptCount val="3"/>
                <c:pt idx="0">
                  <c:v>XGBoost</c:v>
                </c:pt>
                <c:pt idx="1">
                  <c:v>MLP</c:v>
                </c:pt>
                <c:pt idx="2">
                  <c:v>Approximate SVM</c:v>
                </c:pt>
              </c:strCache>
            </c:strRef>
          </c:cat>
          <c:val>
            <c:numRef>
              <c:f>Sheet1!$B$2:$B$4</c:f>
              <c:numCache>
                <c:formatCode>General</c:formatCode>
                <c:ptCount val="3"/>
                <c:pt idx="0">
                  <c:v>0.98153999999999997</c:v>
                </c:pt>
                <c:pt idx="1">
                  <c:v>0.97828999999999999</c:v>
                </c:pt>
                <c:pt idx="2">
                  <c:v>0.86246999999999996</c:v>
                </c:pt>
              </c:numCache>
            </c:numRef>
          </c:val>
          <c:extLst>
            <c:ext xmlns:c16="http://schemas.microsoft.com/office/drawing/2014/chart" uri="{C3380CC4-5D6E-409C-BE32-E72D297353CC}">
              <c16:uniqueId val="{00000006-CF3A-4F65-9520-D9131DCEECD2}"/>
            </c:ext>
          </c:extLst>
        </c:ser>
        <c:ser>
          <c:idx val="1"/>
          <c:order val="1"/>
          <c:tx>
            <c:strRef>
              <c:f>Sheet1!$C$1</c:f>
              <c:strCache>
                <c:ptCount val="1"/>
                <c:pt idx="0">
                  <c:v>Tuned</c:v>
                </c:pt>
              </c:strCache>
            </c:strRef>
          </c:tx>
          <c:spPr>
            <a:solidFill>
              <a:srgbClr val="8BC5FA"/>
            </a:solidFill>
          </c:spPr>
          <c:invertIfNegative val="0"/>
          <c:dPt>
            <c:idx val="0"/>
            <c:invertIfNegative val="1"/>
            <c:bubble3D val="0"/>
            <c:spPr>
              <a:solidFill>
                <a:srgbClr val="8BC5FA"/>
              </a:solidFill>
            </c:spPr>
            <c:extLst>
              <c:ext xmlns:c16="http://schemas.microsoft.com/office/drawing/2014/chart" uri="{C3380CC4-5D6E-409C-BE32-E72D297353CC}">
                <c16:uniqueId val="{00000008-CF3A-4F65-9520-D9131DCEECD2}"/>
              </c:ext>
            </c:extLst>
          </c:dPt>
          <c:dPt>
            <c:idx val="1"/>
            <c:invertIfNegative val="1"/>
            <c:bubble3D val="0"/>
            <c:spPr>
              <a:solidFill>
                <a:srgbClr val="8BC5FA"/>
              </a:solidFill>
            </c:spPr>
            <c:extLst>
              <c:ext xmlns:c16="http://schemas.microsoft.com/office/drawing/2014/chart" uri="{C3380CC4-5D6E-409C-BE32-E72D297353CC}">
                <c16:uniqueId val="{0000000A-CF3A-4F65-9520-D9131DCEECD2}"/>
              </c:ext>
            </c:extLst>
          </c:dPt>
          <c:dPt>
            <c:idx val="2"/>
            <c:invertIfNegative val="1"/>
            <c:bubble3D val="0"/>
            <c:spPr>
              <a:solidFill>
                <a:srgbClr val="7A8FA6"/>
              </a:solidFill>
            </c:spPr>
            <c:extLst>
              <c:ext xmlns:c16="http://schemas.microsoft.com/office/drawing/2014/chart" uri="{C3380CC4-5D6E-409C-BE32-E72D297353CC}">
                <c16:uniqueId val="{0000000C-CF3A-4F65-9520-D9131DCEECD2}"/>
              </c:ext>
            </c:extLst>
          </c:dPt>
          <c:dLbls>
            <c:dLbl>
              <c:idx val="0"/>
              <c:tx>
                <c:rich>
                  <a:bodyPr/>
                  <a:lstStyle/>
                  <a:p>
                    <a:r>
                      <a:rPr lang="en-US" sz="1100" b="1">
                        <a:solidFill>
                          <a:srgbClr val="F7FAFE"/>
                        </a:solidFill>
                        <a:latin typeface="Montserrat"/>
                      </a:rPr>
                      <a:t>0.9812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CF3A-4F65-9520-D9131DCEECD2}"/>
                </c:ext>
              </c:extLst>
            </c:dLbl>
            <c:dLbl>
              <c:idx val="1"/>
              <c:tx>
                <c:rich>
                  <a:bodyPr/>
                  <a:lstStyle/>
                  <a:p>
                    <a:r>
                      <a:rPr lang="en-US" sz="1100" b="1">
                        <a:solidFill>
                          <a:srgbClr val="F7FAFE"/>
                        </a:solidFill>
                        <a:latin typeface="Montserrat"/>
                      </a:rPr>
                      <a:t>0.9783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CF3A-4F65-9520-D9131DCEECD2}"/>
                </c:ext>
              </c:extLst>
            </c:dLbl>
            <c:dLbl>
              <c:idx val="2"/>
              <c:tx>
                <c:rich>
                  <a:bodyPr/>
                  <a:lstStyle/>
                  <a:p>
                    <a:r>
                      <a:rPr lang="en-US" sz="1100" b="1">
                        <a:solidFill>
                          <a:srgbClr val="F7FAFE"/>
                        </a:solidFill>
                        <a:latin typeface="Montserrat"/>
                      </a:rPr>
                      <a:t>0.8302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CF3A-4F65-9520-D9131DCEECD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XGBoost</c:v>
                </c:pt>
                <c:pt idx="1">
                  <c:v>MLP</c:v>
                </c:pt>
                <c:pt idx="2">
                  <c:v>Approximate SVM</c:v>
                </c:pt>
              </c:strCache>
            </c:strRef>
          </c:cat>
          <c:val>
            <c:numRef>
              <c:f>Sheet1!$C$2:$C$4</c:f>
              <c:numCache>
                <c:formatCode>General</c:formatCode>
                <c:ptCount val="3"/>
                <c:pt idx="0">
                  <c:v>0.98116000000000003</c:v>
                </c:pt>
                <c:pt idx="1">
                  <c:v>0.97833999999999999</c:v>
                </c:pt>
                <c:pt idx="2">
                  <c:v>0.83023000000000002</c:v>
                </c:pt>
              </c:numCache>
            </c:numRef>
          </c:val>
          <c:extLst>
            <c:ext xmlns:c16="http://schemas.microsoft.com/office/drawing/2014/chart" uri="{C3380CC4-5D6E-409C-BE32-E72D297353CC}">
              <c16:uniqueId val="{0000000D-CF3A-4F65-9520-D9131DCEECD2}"/>
            </c:ext>
          </c:extLst>
        </c:ser>
        <c:dLbls>
          <c:showLegendKey val="0"/>
          <c:showVal val="0"/>
          <c:showCatName val="0"/>
          <c:showSerName val="0"/>
          <c:showPercent val="0"/>
          <c:showBubbleSize val="0"/>
        </c:dLbls>
        <c:gapWidth val="40"/>
        <c:overlap val="-8"/>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5E8CBE"/>
            </a:solidFill>
          </a:ln>
        </c:spPr>
        <c:txPr>
          <a:bodyPr/>
          <a:lstStyle/>
          <a:p>
            <a:pPr>
              <a:defRPr sz="1000">
                <a:solidFill>
                  <a:srgbClr val="F7FAFE"/>
                </a:solidFill>
                <a:latin typeface="Montserrat"/>
              </a:defRPr>
            </a:pPr>
            <a:endParaRPr lang="es-CO"/>
          </a:p>
        </c:txPr>
        <c:crossAx val="-2113994440"/>
        <c:crosses val="autoZero"/>
        <c:auto val="1"/>
        <c:lblAlgn val="ctr"/>
        <c:lblOffset val="100"/>
        <c:noMultiLvlLbl val="0"/>
      </c:catAx>
      <c:valAx>
        <c:axId val="-2113994440"/>
        <c:scaling>
          <c:orientation val="minMax"/>
          <c:max val="1.423233"/>
          <c:min val="0"/>
        </c:scaling>
        <c:delete val="1"/>
        <c:axPos val="t"/>
        <c:numFmt formatCode="General" sourceLinked="1"/>
        <c:majorTickMark val="out"/>
        <c:minorTickMark val="none"/>
        <c:tickLblPos val="nextTo"/>
        <c:crossAx val="-2068027336"/>
        <c:crosses val="autoZero"/>
        <c:crossBetween val="between"/>
      </c:valAx>
    </c:plotArea>
    <c:legend>
      <c:legendPos val="b"/>
      <c:overlay val="0"/>
      <c:txPr>
        <a:bodyPr/>
        <a:lstStyle/>
        <a:p>
          <a:pPr>
            <a:defRPr sz="1000">
              <a:solidFill>
                <a:srgbClr val="F7FAFE"/>
              </a:solidFill>
              <a:latin typeface="Montserrat"/>
            </a:defRPr>
          </a:pPr>
          <a:endParaRPr lang="es-CO"/>
        </a:p>
      </c:txPr>
    </c:legend>
    <c:plotVisOnly val="1"/>
    <c:dispBlanksAs val="gap"/>
    <c:showDLblsOverMax val="1"/>
  </c:chart>
  <c:txPr>
    <a:bodyPr/>
    <a:lstStyle/>
    <a:p>
      <a:pPr>
        <a:defRPr sz="1000">
          <a:solidFill>
            <a:srgbClr val="F7FAFE"/>
          </a:solidFill>
          <a:latin typeface="Montserrat"/>
        </a:defRPr>
      </a:pPr>
      <a:endParaRPr lang="es-CO"/>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XGBoost</c:v>
                </c:pt>
              </c:strCache>
            </c:strRef>
          </c:tx>
          <c:spPr>
            <a:ln w="31750">
              <a:solidFill>
                <a:srgbClr val="8BC5FA"/>
              </a:solidFill>
            </a:ln>
          </c:spPr>
          <c:marker>
            <c:symbol val="none"/>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331.15</c:v>
                </c:pt>
                <c:pt idx="1">
                  <c:v>311.05</c:v>
                </c:pt>
                <c:pt idx="2">
                  <c:v>311.05</c:v>
                </c:pt>
                <c:pt idx="3">
                  <c:v>311.05</c:v>
                </c:pt>
                <c:pt idx="4">
                  <c:v>311.05</c:v>
                </c:pt>
                <c:pt idx="5">
                  <c:v>106.7</c:v>
                </c:pt>
                <c:pt idx="6">
                  <c:v>66.95</c:v>
                </c:pt>
                <c:pt idx="7">
                  <c:v>66.95</c:v>
                </c:pt>
                <c:pt idx="8">
                  <c:v>66.95</c:v>
                </c:pt>
                <c:pt idx="9">
                  <c:v>66.95</c:v>
                </c:pt>
                <c:pt idx="10">
                  <c:v>65.7</c:v>
                </c:pt>
                <c:pt idx="11">
                  <c:v>65.7</c:v>
                </c:pt>
                <c:pt idx="12">
                  <c:v>65.7</c:v>
                </c:pt>
                <c:pt idx="13">
                  <c:v>65.7</c:v>
                </c:pt>
                <c:pt idx="14">
                  <c:v>65.7</c:v>
                </c:pt>
                <c:pt idx="15">
                  <c:v>65.7</c:v>
                </c:pt>
                <c:pt idx="16">
                  <c:v>65.7</c:v>
                </c:pt>
                <c:pt idx="17">
                  <c:v>65.7</c:v>
                </c:pt>
                <c:pt idx="18">
                  <c:v>65.7</c:v>
                </c:pt>
                <c:pt idx="19">
                  <c:v>65.7</c:v>
                </c:pt>
              </c:numCache>
            </c:numRef>
          </c:val>
          <c:smooth val="0"/>
          <c:extLst>
            <c:ext xmlns:c16="http://schemas.microsoft.com/office/drawing/2014/chart" uri="{C3380CC4-5D6E-409C-BE32-E72D297353CC}">
              <c16:uniqueId val="{00000000-70BD-4A66-92DF-AD85172F970C}"/>
            </c:ext>
          </c:extLst>
        </c:ser>
        <c:ser>
          <c:idx val="1"/>
          <c:order val="1"/>
          <c:tx>
            <c:strRef>
              <c:f>Sheet1!$C$1</c:f>
              <c:strCache>
                <c:ptCount val="1"/>
                <c:pt idx="0">
                  <c:v>MLP</c:v>
                </c:pt>
              </c:strCache>
            </c:strRef>
          </c:tx>
          <c:spPr>
            <a:ln w="31750">
              <a:solidFill>
                <a:srgbClr val="A4FF9F"/>
              </a:solidFill>
            </a:ln>
          </c:spPr>
          <c:marker>
            <c:symbol val="none"/>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337.24</c:v>
                </c:pt>
                <c:pt idx="1">
                  <c:v>119.41</c:v>
                </c:pt>
                <c:pt idx="2">
                  <c:v>119.41</c:v>
                </c:pt>
                <c:pt idx="3">
                  <c:v>119.41</c:v>
                </c:pt>
                <c:pt idx="4">
                  <c:v>119.41</c:v>
                </c:pt>
                <c:pt idx="5">
                  <c:v>91.31</c:v>
                </c:pt>
                <c:pt idx="6">
                  <c:v>91.31</c:v>
                </c:pt>
                <c:pt idx="7">
                  <c:v>91.31</c:v>
                </c:pt>
                <c:pt idx="8">
                  <c:v>91.31</c:v>
                </c:pt>
                <c:pt idx="9">
                  <c:v>91.31</c:v>
                </c:pt>
                <c:pt idx="10">
                  <c:v>91.31</c:v>
                </c:pt>
                <c:pt idx="11">
                  <c:v>77.2</c:v>
                </c:pt>
                <c:pt idx="12">
                  <c:v>77.2</c:v>
                </c:pt>
                <c:pt idx="13">
                  <c:v>77.2</c:v>
                </c:pt>
                <c:pt idx="14">
                  <c:v>77.2</c:v>
                </c:pt>
                <c:pt idx="15">
                  <c:v>77.2</c:v>
                </c:pt>
                <c:pt idx="16">
                  <c:v>77.2</c:v>
                </c:pt>
                <c:pt idx="17">
                  <c:v>77.2</c:v>
                </c:pt>
                <c:pt idx="18">
                  <c:v>77.2</c:v>
                </c:pt>
                <c:pt idx="19">
                  <c:v>77.2</c:v>
                </c:pt>
              </c:numCache>
            </c:numRef>
          </c:val>
          <c:smooth val="0"/>
          <c:extLst>
            <c:ext xmlns:c16="http://schemas.microsoft.com/office/drawing/2014/chart" uri="{C3380CC4-5D6E-409C-BE32-E72D297353CC}">
              <c16:uniqueId val="{00000001-70BD-4A66-92DF-AD85172F970C}"/>
            </c:ext>
          </c:extLst>
        </c:ser>
        <c:ser>
          <c:idx val="2"/>
          <c:order val="2"/>
          <c:tx>
            <c:strRef>
              <c:f>Sheet1!$D$1</c:f>
              <c:strCache>
                <c:ptCount val="1"/>
                <c:pt idx="0">
                  <c:v>Approximate SVM</c:v>
                </c:pt>
              </c:strCache>
            </c:strRef>
          </c:tx>
          <c:spPr>
            <a:ln w="31750">
              <a:solidFill>
                <a:srgbClr val="F1CB83"/>
              </a:solidFill>
            </a:ln>
          </c:spPr>
          <c:marker>
            <c:symbol val="none"/>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224.44</c:v>
                </c:pt>
                <c:pt idx="1">
                  <c:v>224.44</c:v>
                </c:pt>
                <c:pt idx="2">
                  <c:v>211.76</c:v>
                </c:pt>
                <c:pt idx="3">
                  <c:v>207.73</c:v>
                </c:pt>
                <c:pt idx="4">
                  <c:v>207.73</c:v>
                </c:pt>
                <c:pt idx="5">
                  <c:v>207.73</c:v>
                </c:pt>
                <c:pt idx="6">
                  <c:v>207.73</c:v>
                </c:pt>
                <c:pt idx="7">
                  <c:v>207.73</c:v>
                </c:pt>
                <c:pt idx="8">
                  <c:v>207.73</c:v>
                </c:pt>
                <c:pt idx="9">
                  <c:v>207.73</c:v>
                </c:pt>
                <c:pt idx="10">
                  <c:v>207.73</c:v>
                </c:pt>
                <c:pt idx="11">
                  <c:v>207.73</c:v>
                </c:pt>
                <c:pt idx="12">
                  <c:v>207.73</c:v>
                </c:pt>
                <c:pt idx="13">
                  <c:v>207.73</c:v>
                </c:pt>
                <c:pt idx="14">
                  <c:v>207.73</c:v>
                </c:pt>
                <c:pt idx="15">
                  <c:v>207.73</c:v>
                </c:pt>
                <c:pt idx="16">
                  <c:v>207.73</c:v>
                </c:pt>
                <c:pt idx="17">
                  <c:v>202.4</c:v>
                </c:pt>
                <c:pt idx="18">
                  <c:v>202.4</c:v>
                </c:pt>
                <c:pt idx="19">
                  <c:v>202.4</c:v>
                </c:pt>
              </c:numCache>
            </c:numRef>
          </c:val>
          <c:smooth val="0"/>
          <c:extLst>
            <c:ext xmlns:c16="http://schemas.microsoft.com/office/drawing/2014/chart" uri="{C3380CC4-5D6E-409C-BE32-E72D297353CC}">
              <c16:uniqueId val="{00000002-70BD-4A66-92DF-AD85172F970C}"/>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5E8CBE"/>
            </a:solidFill>
          </a:ln>
        </c:spPr>
        <c:txPr>
          <a:bodyPr/>
          <a:lstStyle/>
          <a:p>
            <a:pPr>
              <a:defRPr sz="1000">
                <a:solidFill>
                  <a:srgbClr val="B7CBE0"/>
                </a:solidFill>
              </a:defRPr>
            </a:pPr>
            <a:endParaRPr lang="es-CO"/>
          </a:p>
        </c:txPr>
        <c:crossAx val="2140495176"/>
        <c:crosses val="autoZero"/>
        <c:auto val="1"/>
        <c:lblAlgn val="ctr"/>
        <c:lblOffset val="100"/>
        <c:noMultiLvlLbl val="0"/>
      </c:catAx>
      <c:valAx>
        <c:axId val="2140495176"/>
        <c:scaling>
          <c:orientation val="minMax"/>
          <c:min val="0"/>
        </c:scaling>
        <c:delete val="0"/>
        <c:axPos val="l"/>
        <c:majorGridlines>
          <c:spPr>
            <a:ln>
              <a:solidFill>
                <a:srgbClr val="2A4A6B"/>
              </a:solidFill>
            </a:ln>
          </c:spPr>
        </c:majorGridlines>
        <c:numFmt formatCode="0" sourceLinked="0"/>
        <c:majorTickMark val="out"/>
        <c:minorTickMark val="none"/>
        <c:tickLblPos val="nextTo"/>
        <c:spPr>
          <a:ln>
            <a:noFill/>
          </a:ln>
        </c:spPr>
        <c:txPr>
          <a:bodyPr/>
          <a:lstStyle/>
          <a:p>
            <a:pPr>
              <a:defRPr sz="1000">
                <a:solidFill>
                  <a:srgbClr val="B7CBE0"/>
                </a:solidFill>
              </a:defRPr>
            </a:pPr>
            <a:endParaRPr lang="es-CO"/>
          </a:p>
        </c:txPr>
        <c:crossAx val="2118791784"/>
        <c:crosses val="autoZero"/>
        <c:crossBetween val="between"/>
      </c:valAx>
    </c:plotArea>
    <c:legend>
      <c:legendPos val="b"/>
      <c:overlay val="0"/>
      <c:txPr>
        <a:bodyPr/>
        <a:lstStyle/>
        <a:p>
          <a:pPr>
            <a:defRPr sz="1100">
              <a:solidFill>
                <a:srgbClr val="F7FAFE"/>
              </a:solidFill>
            </a:defRPr>
          </a:pPr>
          <a:endParaRPr lang="es-CO"/>
        </a:p>
      </c:txPr>
    </c:legend>
    <c:plotVisOnly val="1"/>
    <c:dispBlanksAs val="gap"/>
    <c:showDLblsOverMax val="0"/>
  </c:chart>
  <c:txPr>
    <a:bodyPr/>
    <a:lstStyle/>
    <a:p>
      <a:pPr>
        <a:defRPr sz="1100">
          <a:solidFill>
            <a:srgbClr val="F7FAFE"/>
          </a:solidFill>
          <a:latin typeface="Montserrat"/>
        </a:defRPr>
      </a:pPr>
      <a:endParaRPr lang="es-CO"/>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1D31A96-AA36-E222-75CD-942A5EB991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88C89931-5FA1-104C-E402-96DD3FE88B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16F0B-887D-48C5-BC7E-1B58F2397D46}" type="datetimeFigureOut">
              <a:rPr lang="es-CO" smtClean="0"/>
              <a:t>20/10/2026</a:t>
            </a:fld>
            <a:endParaRPr lang="es-CO"/>
          </a:p>
        </p:txBody>
      </p:sp>
      <p:sp>
        <p:nvSpPr>
          <p:cNvPr id="4" name="Marcador de pie de página 3">
            <a:extLst>
              <a:ext uri="{FF2B5EF4-FFF2-40B4-BE49-F238E27FC236}">
                <a16:creationId xmlns:a16="http://schemas.microsoft.com/office/drawing/2014/main" id="{CCDE2FF6-00C1-28C4-B854-E31A77EFB5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D3F43366-C97E-5D30-6A61-70599CFB0E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8D6B6-0D79-4A52-B148-990ABCFC1EBF}" type="slidenum">
              <a:rPr lang="es-CO" smtClean="0"/>
              <a:t>‹Nº›</a:t>
            </a:fld>
            <a:endParaRPr lang="es-CO"/>
          </a:p>
        </p:txBody>
      </p:sp>
    </p:spTree>
    <p:extLst>
      <p:ext uri="{BB962C8B-B14F-4D97-AF65-F5344CB8AC3E}">
        <p14:creationId xmlns:p14="http://schemas.microsoft.com/office/powerpoint/2010/main" val="6301135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4:39:27.120"/>
    </inkml:context>
    <inkml:brush xml:id="br0">
      <inkml:brushProperty name="width" value="0.2" units="cm"/>
      <inkml:brushProperty name="height" value="0.2" units="cm"/>
      <inkml:brushProperty name="color" value="#FFFFFF"/>
    </inkml:brush>
  </inkml:definitions>
  <inkml:trace contextRef="#ctx0" brushRef="#br0">0 0 24461,'1039'19'0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69863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2ACD-391E-BFA8-4946-273C3C1B70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60AC92-FD3C-B5B1-9592-566E42FFD122}"/>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9F749602-211D-CC24-93A9-B99A4826DC3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2566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9AF-B256-F79D-01C0-DEE25CE617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FE2BDB-D1CD-9102-A167-9BEACBD2543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6A35544-7779-52CD-525A-C3F8424B76E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629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1033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8763-6BE7-3EED-06AF-187EA77AC4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DBBC01-22A6-4A87-E929-CC7F5841844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5E92510-A5BB-A530-B362-1E6107B3742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6553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E2EB-6CB3-7D3A-712B-258AC4F713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856E60-D474-CB55-D00C-240581A3C646}"/>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F8ECDF11-1B20-9101-FCCE-82BA35AEEE8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364884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Graph neural network-based surrogate modelling for real-time hydraulic prediction of urban drainage networks</a:t>
            </a:r>
          </a:p>
          <a:p>
            <a:r>
              <a:t>*Computational details are from the preprint; the peer-reviewed publication was verified. Cross-check against the publisher version before replicating.</a:t>
            </a:r>
          </a:p>
          <a:p>
            <a:r>
              <a:t>Source: https://arxiv.org/pdf/2404.10324</a:t>
            </a:r>
          </a:p>
          <a:p>
            <a:r>
              <a:t>Code: https://github.com/Zhiyu014/GNN-UDS</a:t>
            </a:r>
          </a:p>
          <a:p>
            <a:endParaRPr/>
          </a:p>
          <a:p>
            <a:r>
              <a:t>Extended English synthesis is an original paraphrase; consult the DOI for the publisher abstract.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Accelerating hydrodynamic simulations of urban drainage systems with physics-guided machine learning</a:t>
            </a:r>
          </a:p>
          <a:p>
            <a:r>
              <a:t>Published text, sections 2.3–2.6, 3.2, and 3.5. Its timings do not include our development and do not carry over to our network.</a:t>
            </a:r>
          </a:p>
          <a:p>
            <a:r>
              <a:t>Source: https://backend.orbit.dtu.dk/ws/portalfiles/portal/282620979/1_s2.0_S0043135422009198_main.pdf</a:t>
            </a:r>
          </a:p>
          <a:p>
            <a:r>
              <a:t>Code: </a:t>
            </a:r>
          </a:p>
          <a:p>
            <a:endParaRPr/>
          </a:p>
          <a:p>
            <a:r>
              <a:t>Extended English synthesis is an original paraphrase; consult the DOI for the publisher abstract.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Transferable and data efficient metamodeling of storm water system nodal depths using auto-regressive graph neural networks</a:t>
            </a:r>
          </a:p>
          <a:p>
            <a:r>
              <a:t>Published text, sections 2.1, 2.4, 4.3–4.4, and 6.2.3. Limited transfer and a different target from the thesis.</a:t>
            </a:r>
          </a:p>
          <a:p>
            <a:r>
              <a:t>Source: https://repository.tudelft.nl/file/File_82fef3ff-9a5f-4275-bd8f-6a4eb06c463d</a:t>
            </a:r>
          </a:p>
          <a:p>
            <a:r>
              <a:t>Code: https://github.com/alextremo0205/SWMM_GNN_Repository_Paper_version</a:t>
            </a:r>
          </a:p>
          <a:p>
            <a:endParaRPr/>
          </a:p>
          <a:p>
            <a:r>
              <a:t>Extended English synthesis is an original paraphrase; consult the DOI for the publisher abstract.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graph neural networks for urban drainage metamodeling: Key components and transferability analysis</a:t>
            </a:r>
          </a:p>
          <a:p>
            <a:r>
              <a:t>Published text, sections 3.3–3.6 and 5.3; code README. An A100 being used does not mean an A100 is required.</a:t>
            </a:r>
          </a:p>
          <a:p>
            <a:r>
              <a:t>Source: https://repository.tudelft.nl/file/File_1cf09147-d8d4-4be3-8b42-f2e508ab64a6</a:t>
            </a:r>
          </a:p>
          <a:p>
            <a:r>
              <a:t>Code: https://github.com/alextremo0205/SWMM_GNN_Component_Evaluation_and_Transferability_Analysis</a:t>
            </a:r>
          </a:p>
          <a:p>
            <a:endParaRPr/>
          </a:p>
          <a:p>
            <a:r>
              <a:t>Extended English synthesis is an original paraphrase; consult the DOI for the publisher abstract.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Artificial Neural Network Surrogate Models for Detention-Based Flood Control in Urban Areas</a:t>
            </a:r>
          </a:p>
          <a:p>
            <a:r>
              <a:t>Publisher abstract and affiliations only. Published online September 3, 2026; journal issue November 2026.</a:t>
            </a:r>
          </a:p>
          <a:p>
            <a:r>
              <a:t>Source: https://ascelibrary.org/doi/abs/10.1061/JWRMD5.WRENG-7598</a:t>
            </a:r>
          </a:p>
          <a:p>
            <a:r>
              <a:t>Code: </a:t>
            </a:r>
          </a:p>
          <a:p>
            <a:endParaRPr/>
          </a:p>
          <a:p>
            <a:r>
              <a:t>Extended English synthesis is an original paraphrase; consult the DOI for the publisher abstract.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a:t>
            </a:r>
          </a:p>
          <a:p>
            <a:r>
              <a:t>*Computational details are from the preprint; the peer-reviewed publication was verified. Cross-check against the publisher version before replicating.</a:t>
            </a:r>
          </a:p>
          <a:p>
            <a:r>
              <a:t>CONDITIONAL: useful if we need temporal dynamics; do not replace XGBoost merely for novelty.</a:t>
            </a:r>
          </a:p>
          <a:p>
            <a:r>
              <a:t>Source: https://arxiv.org/pdf/2404.10324</a:t>
            </a:r>
          </a:p>
          <a:p>
            <a:endParaRPr/>
          </a:p>
          <a:p>
            <a:r>
              <a:t>P2</a:t>
            </a:r>
          </a:p>
          <a:p>
            <a:r>
              <a:t>Published text, sections 2.3–2.6, 3.2, and 3.5. Its timings do not include our development and do not carry over to our network.</a:t>
            </a:r>
          </a:p>
          <a:p>
            <a:r>
              <a:t>USE THE IDEAS: extremes and volume errors. Full temporal implementation only with a demonstrated need.</a:t>
            </a:r>
          </a:p>
          <a:p>
            <a:r>
              <a:t>Source: https://backend.orbit.dtu.dk/ws/portalfiles/portal/282620979/1_s2.0_S0043135422009198_main.pdf</a:t>
            </a:r>
          </a:p>
          <a:p>
            <a:endParaRPr/>
          </a:p>
          <a:p>
            <a:r>
              <a:t>Estimated effort is specific to adapting the method to our target, not an author-reported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P3</a:t>
            </a:r>
          </a:p>
          <a:p>
            <a:r>
              <a:t>Published text, sections 2.1, 2.4, 4.3–4.4, and 6.2.3. Limited transfer and a different target from the thesis.</a:t>
            </a:r>
          </a:p>
          <a:p>
            <a:r>
              <a:t>SECOND STAGE: best reproducible candidate if topology adds measurable value over the MLP.</a:t>
            </a:r>
          </a:p>
          <a:p>
            <a:r>
              <a:t>Source: https://repository.tudelft.nl/file/File_82fef3ff-9a5f-4275-bd8f-6a4eb06c463d</a:t>
            </a:r>
          </a:p>
          <a:p>
            <a:endParaRPr/>
          </a:p>
          <a:p>
            <a:r>
              <a:t>P4</a:t>
            </a:r>
          </a:p>
          <a:p>
            <a:r>
              <a:t>Published text, sections 3.3–3.6 and 5.3; code README. An A100 being used does not mean an A100 is required.</a:t>
            </a:r>
          </a:p>
          <a:p>
            <a:r>
              <a:t>POSTPONE: high cost for the current objective. Prioritize when transfer becomes a central question of the thesis.</a:t>
            </a:r>
          </a:p>
          <a:p>
            <a:r>
              <a:t>Source: https://repository.tudelft.nl/file/File_1cf09147-d8d4-4be3-8b42-f2e508ab64a6</a:t>
            </a:r>
          </a:p>
          <a:p>
            <a:endParaRPr/>
          </a:p>
          <a:p>
            <a:r>
              <a:t>P5</a:t>
            </a:r>
          </a:p>
          <a:p>
            <a:r>
              <a:t>Publisher abstract and affiliations only. Published online September 3, 2026; journal issue November 2026.</a:t>
            </a:r>
          </a:p>
          <a:p>
            <a:r>
              <a:t>HIGH PRIORITY: scoped MLP pilot; consult the full text before attributing training details to it.</a:t>
            </a:r>
          </a:p>
          <a:p>
            <a:r>
              <a:t>Source: https://ascelibrary.org/doi/abs/10.1061/JWRMD5.WRENG-7598</a:t>
            </a:r>
          </a:p>
          <a:p>
            <a:endParaRPr/>
          </a:p>
          <a:p>
            <a:r>
              <a:t>Estimated effort is specific to adapting the method to our target, not an author-reported result.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 *Computational details are from the preprint; the peer-reviewed publication was verified. Cross-check against the publisher version before replicating.</a:t>
            </a:r>
          </a:p>
          <a:p>
            <a:r>
              <a:t>https://arxiv.org/pdf/2404.10324</a:t>
            </a:r>
          </a:p>
          <a:p>
            <a:r>
              <a:t>https://github.com/Zhiyu014/GNN-UDS</a:t>
            </a:r>
          </a:p>
          <a:p>
            <a:endParaRPr/>
          </a:p>
          <a:p>
            <a:r>
              <a:t>P2 Published text, sections 2.3–2.6, 3.2, and 3.5. Its timings do not include our development and do not carry over to our network.</a:t>
            </a:r>
          </a:p>
          <a:p>
            <a:r>
              <a:t>https://backend.orbit.dtu.dk/ws/portalfiles/portal/282620979/1_s2.0_S0043135422009198_main.pdf</a:t>
            </a:r>
          </a:p>
          <a:p>
            <a:endParaRPr/>
          </a:p>
          <a:p>
            <a:endParaRPr/>
          </a:p>
          <a:p>
            <a:r>
              <a:t>P3 Published text, sections 2.1, 2.4, 4.3–4.4, and 6.2.3. Limited transfer and a different target from the thesis.</a:t>
            </a:r>
          </a:p>
          <a:p>
            <a:r>
              <a:t>https://repository.tudelft.nl/file/File_82fef3ff-9a5f-4275-bd8f-6a4eb06c463d</a:t>
            </a:r>
          </a:p>
          <a:p>
            <a:r>
              <a:t>https://github.com/alextremo0205/SWMM_GNN_Repository_Paper_version</a:t>
            </a:r>
          </a:p>
          <a:p>
            <a:endParaRPr/>
          </a:p>
          <a:p>
            <a:r>
              <a:t>P4 Published text, sections 3.3–3.6 and 5.3; code README. An A100 being used does not mean an A100 is required.</a:t>
            </a:r>
          </a:p>
          <a:p>
            <a:r>
              <a:t>https://repository.tudelft.nl/file/File_1cf09147-d8d4-4be3-8b42-f2e508ab64a6</a:t>
            </a:r>
          </a:p>
          <a:p>
            <a:r>
              <a:t>https://github.com/alextremo0205/SWMM_GNN_Component_Evaluation_and_Transferability_Analysis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P5 Publisher abstract and affiliations only. Published online September 3, 2026; journal issue November 2026.</a:t>
            </a:r>
          </a:p>
          <a:p>
            <a:r>
              <a:t>https://ascelibrary.org/doi/abs/10.1061/JWRMD5.WRENG-7598</a:t>
            </a:r>
          </a:p>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Assets from outputs/maps/long_moderate/long_moderate_f2.000. Scenario totals: SWMM 12,738.0 m3; XGBoost 11,103.116974830627 m3; error −12.834691671921593%. Classification: TP=40, TN=120, FP=0, FN=0. Parity figure reports R2=0.953, MAE=14.36 m3, RMSE=52.04 m3.</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internal audit of the evaluation protocol found seven problems that affected how the results are read; this table summarizes each finding, its fix, and how it was verified. The most important is M-01: in LOSO a baseline that only interpolates between neighboring factors reaches a volume RMSE of 9.13 m³ against 57.89 m³ for XGBoost, so that protocol measures interpolation, not generalization. M-03 is about aggregation: averaging F1 per fold with zeros gave 0.7379 while the pooled F1 is 0.9667. Two items are not closed: M-02 remains open (a single shape concentrates 71.6% of the squared error) and D-04 awaits my decision between paths A and B. V-01 and M-07/V-04 are fixed only for the new figures and for predict_network; other loaders still lack verification.</a:t>
            </a:r>
          </a:p>
          <a:p>
            <a:endParaRPr/>
          </a:p>
          <a:p>
            <a:r>
              <a:t>Sources: docs/auditoria/correcciones/04-informe-consolidado.md (§1 status per finding, §2 before and after); datos/comparacion_protocolos.csv (rmse_vol_agregado_m3, f1_agregado, f1_media_por_fold_con_ceros, XGBoost and baseline_interpolacion_factor in LOSO); datos/por_forma.csv (71.6%: rmse_vol^2 x n_rows of shape_quasi_uniform_block over the total, XGBoost, LeaveOneShapeOut); 01-evaluacion-honesta.md §1-§3; 02-trazabilidad-y-seguridad.md §1-§3 (6 tests for V-01, 15 for verify_promotion); 03-resolucion-de-la-etiqueta.md §1.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Each protocol holds out a different group. In LOSO and GroupKFold5 intensity factors are held out and all shapes remain in training, so what is measured is interpolation between factors; in LeaveOneShapeOut a whole shape is held out and what is measured is generalization to unseen shapes. The proof that this matters: in LOSO the no-learning baseline has an RMSE of 9.13 m³ and XGBoost 57.89 m³, so winning in LOSO proves nothing. In LeaveOneShapeOut the order reverses: the nearest-shape baseline has 172.86 m³ and XGBoost 106.21 m³. That is why LeaveOneShapeOut is the headline figure of the whole comparison. With the 25-factor grid, GroupKFold5 is no more demanding than LOSO: no fold holds out two contiguous factors.</a:t>
            </a:r>
          </a:p>
          <a:p>
            <a:endParaRPr/>
          </a:p>
          <a:p>
            <a:r>
              <a:t>Sources: docs/auditoria/correcciones/datos/comparacion_protocolos.csv, column rmse_vol_agregado_m3 (baseline_interpolacion_factor/LOSO, xgboost/LOSO, baseline_forma_mas_cercana/LeaveOneShapeOut, xgboost/LeaveOneShapeOut); 01-evaluacion-honesta.md §0 (what each protocol measures) and §1; 04-informe-consolidado.md §3 and §11.</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pooled confusion matrix of default XGBoost when a whole hydrograph shape is held out, over 154,080 node-scenario cases. There are 45,845 true positives, 106,526 true negatives, 1,329 false positives, and 380 false negatives; from these come a recall of 0.9918, a precision of 0.9718, and an F1 of 0.9817. The takeaway: 333 of the 380 false negatives are nodes whose reported volume is 1 m³, the minimum the label counts as flooding; none exceeds 100 m³. In other words, the classification errors concentrate at the edge of the label and not on large floods. Excluding that band raises F1 from 0.9817 to 0.9847, but that is reported only as a sensitivity check, with asymmetric exclusion.</a:t>
            </a:r>
          </a:p>
          <a:p>
            <a:endParaRPr/>
          </a:p>
          <a:p>
            <a:r>
              <a:t>Sources: docs/auditoria/correcciones/datos/matriz_confusion.csv (xgboost, LeaveOneShapeOut: tn, fp, fn, tp); datos/comparacion_protocolos.csv (recall_agregado, precision_agregada, f1_agregado); datos/banda_limitrofe.csv (fn_total, fn_en_banda_1_2m3, fn_con_vol_ge_100m3); 04-informe-consolidado.md §3 and §4; 03-resolucion-de-la-etiqueta.md §1 point 6 (F1 0.9847 without the band).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flood label does not come directly from SWMM's continuous volume: the .rpt report prints it in 10⁶ L with three decimals, that is, at 1 m³ resolution, and the label is reported volume greater than or equal to 1 m³. In the control re-simulations this is equivalent to a continuous-volume threshold of about 0.5 m³, bounded between 0.4988 and 0.5002 m³ in 15 scenarios with per-node records, with no discrepancies in 2,400 node-scenario cases; it is a deterministic quantization, not noise. There are two paths: A, keep the resolution and threshold, state them as an assumption, and report the confusion matrix with the band separated; or B, re-simulate the 1000 runs, which costs about 17 to 20 minutes of SWMM but forces redoing the dataset, database, prep_id, benchmark, Optuna, and all figures. The recommendation is path A; the decision is mine and is still pending.</a:t>
            </a:r>
          </a:p>
          <a:p>
            <a:endParaRPr/>
          </a:p>
          <a:p>
            <a:r>
              <a:t>Sources: docs/auditoria/correcciones/03-resolucion-de-la-etiqueta.md §1 (points 1-8) and §2.1 (resolution chain); 04-informe-consolidado.md §4. The 0.4988-0.5002 m³ bound and the 2,400 cases: 03 §1 point 2; 17-20 min: 03 §1 point 5. That the decision remains open is also in 04 §11 (Pending).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original SVM used exact SVC and SVR with an RBF kernel, whose cost grows between n squared and n cubed; with about 154,000 rows the October 5 run accumulated more than a day and 15 hours of CPU (over 39 hours) without finishing and was cancelled. The alternative is an approximate SVM: the data are standardized, the RBF kernel is approximated with a Nystroem map of n_components components, and on that map a linear margin classifier with hinge loss is trained, calibrated with Platt scaling to obtain probabilities, together with a linear regressor with an ε-insensitive loss (linear SVR). The cost becomes linear in the number of rows and it has been measured: fit and predict take ~8 to 13 s per fold on 150,000 rows (default SVM 8 s; n_components 400, 13 s) and the full 20-trial study took about 14 minutes. It must be stated clearly: this is not an exact-kernel SVM, it is an approximate SVM, and it is documented as such in the preprocessing descriptor (svm_aproximado_nystroem).</a:t>
            </a:r>
          </a:p>
          <a:p>
            <a:endParaRPr/>
          </a:p>
          <a:p>
            <a:r>
              <a:t>Sources: docs/superpowers/specs/2026-10-12-parte2-svm-comparacion-justa-design.md §2 and §3.1; swmm_resilience/ml/bench/models/svm_family.py (docstring and build_classifier/build_regressor); docs/resultados/2026-10-06-handoff-svm.md §2 (more than 1 day and 15 h of CPU, cancelled, ~154,000 rows); docs/auditoria/correcciones/datos_parte2/resumen_afinacion.csv (family=svm, duration_s) and the part 2 cost study.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To compare the three families fairly, all use the same data (tabular_v4_21 contract, 154,080 rows), the same tuning budget with Optuna (same number of trials and the same inner CV by shape), the same evaluation protocol, LeaveOneShapeOut, and the same metrics. XGBoost and MLP are always presented; the approximate SVM enters as a third candidate with whatever result it obtains. The important caveat: hyperparameters are chosen using all shapes, so the LeaveOneShapeOut figure is optimistic equally for the three families. It serves to compare them with each other, not as independent confirmation; that is why it is declared a conditional exploratory estimate. A nested tuning by shape is left as future work.</a:t>
            </a:r>
          </a:p>
          <a:p>
            <a:endParaRPr/>
          </a:p>
          <a:p>
            <a:r>
              <a:t>Sources: docs/superpowers/specs/2026-10-12-parte2-svm-comparacion-justa-design.md §1, §3.2 and §3.3 (author decisions of 2026-10-12); 04-informe-consolidado.md header (prep_id ca706e27654e0cf5, 154,080 rows) and §5 point 1.</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006155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Results of the main protocol, LeaveOneShapeOut, with the same data, the same Optuna budget, and the same metrics for the three families. Tuned XGBoost is the best: volume RMSE of 69.64 m³, 38% lower than with its default parameters (112.80 m³). Tuned MLP comes second with 101.12 m³; both have an F1 close to 0.98 and an AUC close to 0.999. The approximate SVM falls below even the no-learning baseline (214.87 against 172.86 m³; F1 0.830 against 0.976). These are conditional exploratory estimates: the hyperparameters were chosen with all shapes, so they are optimistic equally for the three families. Note: the default XGBoost of this run does not match the one in the audit (106.21 m³ in datos/comparacion_protocolos.csv); they are different runs and are not compared with each other.</a:t>
            </a:r>
          </a:p>
          <a:p>
            <a:endParaRPr/>
          </a:p>
          <a:p>
            <a:r>
              <a:t>Source: docs/auditoria/correcciones/datos_parte2/comparacion_protocolos.csv (LeaveOneShapeOut rows; columns rmse_vol_agregado_m3, f1_agregado, auc_roc_agregado, nse_regresor_oracle); docs/superpowers/specs/2026-10-12-parte2-svm-comparacion-justa-design.md §3.2-§3.3.</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Each family received the same search: 20 Optuna trials on the same data and with the same inner CV by shape. The curve shows the best inner RMSE reached up to each trial: XGBoost ends at 65.7 m³ after 12.6 min; MLP ends at 77.2 m³ after 51.7 min; Approximate SVM ends at 202.4 m³ after 13.8 min. The approximate SVM stays far from the other two throughout the search. It is a conditional exploratory estimate: hyperparameters are chosen with all shapes, and the inner value is not the LeaveOneShapeOut one.</a:t>
            </a:r>
          </a:p>
          <a:p>
            <a:endParaRPr/>
          </a:p>
          <a:p>
            <a:r>
              <a:t>Sources: docs/auditoria/correcciones/datos_parte2/convergencia_afinacion.csv (family, trial, value; running minimum) and resumen_afinacion.csv (n_trials, best_value, duration_s, status).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Pooled matrices of the two families being presented, with tuned hyperparameters, holding out one whole hydrograph shape at a time. They classify almost the same; the difference lies in the false positives and in the few large false negatives. Tuned XGBoost: TN 106,472, FP 1,383, FN 378, TP 45,847; FN in the 1 m³ band: 333 of 378; FN with actual volume of 100 m³ or more: 0 | Tuned MLP: TN 106,302, FP 1,553, FN 473, TP 45,752; FN in the 1 m³ band: 354 of 473; FN with actual volume of 100 m³ or more: 4. Most false negatives are nodes with a reported volume of 1 m³, the minimum the label counts as flooding.</a:t>
            </a:r>
          </a:p>
          <a:p>
            <a:endParaRPr/>
          </a:p>
          <a:p>
            <a:r>
              <a:t>Sources: docs/auditoria/correcciones/datos_parte2/matriz_confusion.csv (tn, fp, fn, tp), comparacion_protocolos.csv (recall_agregado, precision_agregada, f1_agregado) and banda_limitrofe.csv (fn_total, fn_en_banda_1_2m3, fn_con_vol_ge_100m3).</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Each panel compares the predicted routed volume of every node-scenario row with the SWMM volume, for the three tuned models, always on shapes the model never saw. XGBoost and MLP hug the diagonal over four orders of magnitude; the pooled R² is 0.961 for XGBoost, 0.918 for the MLP and 0.628 for the approximate SVM, and the RMSE is 69.64, 101.12 and 214.87 m³. The SVM is visibly wider around the diagonal and has two failure strips: it misses 9,076 flooded rows (XGBoost 379) and predicts flooding on dry rows. RMSE is dominated by a few large-volume rows that the density plot hides, so quote it together with the scenario-level figure on the next slide. Caveat: the axes are log10(1 + volume), which makes small-volume errors look larger than they are in absolute terms.</a:t>
            </a:r>
          </a:p>
          <a:p>
            <a:endParaRPr/>
          </a:p>
          <a:p>
            <a:r>
              <a:t>Sources: docs/figures_part2/parity_nodes_3models.png; docs/figures_part2/INDEX.md (pooled summary table, section 1); docs/figures_part2/figure_numbers.json (pooled).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Here each marker is a whole scenario, and the distance to the dashed line is the relative error of its total flooded volume. All three models follow the diagonal from about 10 to 180,000 m³; the median absolute percentage error is 15.5% for XGBoost, 12.7% for the MLP and 30.4% for the SVM (90th percentile 59.9% / 51.5% / 156.6%). To be honest about it: at this level the MLP is slightly better than XGBoost on the median, even though XGBoost is clearly better on the pooled node RMSE; the two metrics answer different questions. The SVM saturates on the largest scenarios, all shape_quasi_uniform_block at factors 4 to 5, predicting about 67,000 to 75,000 m³ where SWMM gives 142,000 to 183,000 m³. Caveat: the median is taken over the 790 scenarios with SWMM total of at least 1 m³; values below 1 m³ are drawn at 1 m³.</a:t>
            </a:r>
          </a:p>
          <a:p>
            <a:endParaRPr/>
          </a:p>
          <a:p>
            <a:r>
              <a:t>Sources: docs/figures_part2/parity_scenario_totals_3models.png; docs/figures_part2/figure_numbers.json (scenario_median_ape_pct, scenario_p90_ape_pct, scenarios_swmm_ge_1m3); docs/figures_part2/INDEX.md (section 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one scenario, chosen by a documented rule and not by hand: largest XGBoost error of the 40 shapes, shape shape_quasi_uniform_block at factor 3.0. SWMM floods 61 nodes with 82,128 m³ in total; XGBoost 59,408 m³ (-27.7%), +0 false and −0 missed nodes, node RMSE 296.2 m³; MLP 51,643 m³ (-37.1%), +4 false and −0 missed nodes, node RMSE 473.3 m³; SVM 59,610 m³ (-27.4%), +13 false and −7 missed nodes, node RMSE 583.2 m³. The spatial pattern is right but the magnitude is systematically low for all three models. XGBoost finds the right set of 61 flooded nodes, with no false and no missed nodes, but underestimates the hot spots; the largest node, about 6,000 m³ in SWMM, is about 4,500 m³ in XGBoost. The SVM misclassifies 20 nodes. To read the map, compare the color and size of the same node across panels; an orange or green marker on a node that is grey in the SWMM panel is a false positive. The colors use a square-root scale shared by the four panels.</a:t>
            </a:r>
          </a:p>
          <a:p>
            <a:endParaRPr/>
          </a:p>
          <a:p>
            <a:r>
              <a:t>Sources: docs/figures_part2/flood_map_max_error_shape_quasi_uniform_block_f3.0.png (the matching per-node bar chart is docs/figures_part2/node_profile_max_error_shape_quasi_uniform_block_f3.0.png, not embedded); docs/figures_part2/figure_numbers.json (selected_scenarios, scenario_stats); docs/figures_part2/INDEX.md (section 4).</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one scenario, chosen by a documented rule and not by hand: median XGBoost error (position 21 of 40 shapes), shape shape_delayed_abrupt_peak at factor 3.0. SWMM floods 60 nodes with 12,718 m³ in total; XGBoost 14,108 m³ (+10.9%), +0 false and −0 missed nodes, node RMSE 20.1 m³; MLP 12,857 m³ (+1.1%), +0 false and −0 missed nodes, node RMSE 21.4 m³; SVM 11,576 m³ (-9.0%), +5 false and −10 missed nodes, node RMSE 89.4 m³. XGBoost and MLP reproduce the spatial pattern node by node: the same 60 flooded nodes and a node RMSE of about 20 m³. The SVM misses 10 flooded nodes, invents 5 and has a node RMSE about four times larger. To read the map, compare the color and size of the same node across panels; an orange or green marker on a node that is grey in the SWMM panel is a false positive. The colors use a square-root scale shared by the four panels.</a:t>
            </a:r>
          </a:p>
          <a:p>
            <a:endParaRPr/>
          </a:p>
          <a:p>
            <a:r>
              <a:t>Sources: docs/figures_part2/flood_map_median_error_shape_delayed_abrupt_peak_f3.0.png (the matching per-node bar chart is docs/figures_part2/node_profile_median_error_shape_delayed_abrupt_peak_f3.0.png, not embedded); docs/figures_part2/figure_numbers.json (selected_scenarios, scenario_stats); docs/figures_part2/INDEX.md (section 4).</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one scenario, chosen by a documented rule and not by hand: smallest XGBoost error (shapes with ≥ 20 flooded rows), shape shape_ultra_short_impulse at factor 3.0. SWMM floods 36 nodes with 283 m³ in total; XGBoost 423 m³ (+49.4%), +20 false and −1 missed nodes, node RMSE 2.2 m³; MLP 533 m³ (+88.3%), +23 false and −1 missed nodes, node RMSE 3.7 m³; SVM 1,499 m³ (+429.6%), +22 false and −4 missed nodes, node RMSE 16.3 m³. The squared error is low here and the volumes are tiny, 283 m³ in total; in relative terms it is not an easy scenario: every model over-predicts and flags 20 to 23 extra nodes. The rule picks the lowest absolute squared error, which tends to favor low-volume shapes, so this is not a typical good case. To read the map, compare the color and size of the same node across panels; an orange or green marker on a node that is grey in the SWMM panel is a false positive. The colors use a square-root scale shared by the four panels.</a:t>
            </a:r>
          </a:p>
          <a:p>
            <a:endParaRPr/>
          </a:p>
          <a:p>
            <a:r>
              <a:t>Sources: docs/figures_part2/flood_map_min_error_shape_ultra_short_impulse_f3.0.png (the matching per-node bar chart is docs/figures_part2/node_profile_min_error_shape_ultra_short_impulse_f3.0.png, not embedded); docs/figures_part2/figure_numbers.json (selected_scenarios, scenario_stats); docs/figures_part2/INDEX.md (section 4).</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Main message: tuned XGBoost is the best on pooled volume RMSE, 69.6 m³, 38% lower than with its default parameters, and on per-node parity (R² 0.96); tuned MLP comes second with 101.1 m³ and both have an F1 close to 0.98 and an AUC close to 0.999. At scenario level the MLP has the lower median error (12.7% vs 15.5% for XGBoost), so XGBoost does not win on every metric. The approximate SVM falls below even the no-learning baseline: 215 against 173 m³ and F1 0.83 against 0.976; the plausible causes are the approximate kernel, a limited search space, and Platt calibration neutralizing class_weight, but none was tested on the real data: only the Platt/class_weight effect was measured, on a toy problem (mean predicted probability 0.429 with scale_pos_weight 1 vs 0.426 with 8), and it is declared as a known bias. Scope: hyperparameters chosen with all shapes, one network, 963 of 1000 runs; MLP: 200 epochs, batch 1024 · XGBoost: n_jobs=1. Next steps: decide the label (I recommend A), nested tuning by shape, more trials or a wider search space for the SVM, a confusion matrix for the extreme shapes, propagating to per-family maps, and regenerating the base-deck pictures that still contain Spanish text.</a:t>
            </a:r>
          </a:p>
          <a:p>
            <a:endParaRPr/>
          </a:p>
          <a:p>
            <a:r>
              <a:t>To regenerate: Slide 5 (title picture whose shapes are not versioned) and slide 34 (four parity pictures with a Spanish run identifier in the title). Their English versions were not produced because the shapes in slide 5 are not in any versioned data file and the slide 34 parity plots need a full out-of-fold re-evaluation of each family.</a:t>
            </a:r>
          </a:p>
          <a:p>
            <a:endParaRPr/>
          </a:p>
          <a:p>
            <a:r>
              <a:t>Sources: docs/auditoria/correcciones/datos_parte2/comparacion_protocolos.csv, resumen_afinacion.csv (fixed_params), tables_provenance.json (n_runs, n_runs_full_grid); docs/figures_part2/figure_numbers.json and INDEX.md (R², median scenario error); docs/figures_en/INDEX.md (pictures to regenerate); docs/auditoria/correcciones/04-informe-consolidado.md §4 and §5; docs/auditoria/correcciones/05-bitacora-de-decisiones.md (P2-Task1 review: Platt vs class_weight on a toy problem; R22).</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This chart breaks the error down by hydrograph shape: bars to the right are over-prediction and to the left under-prediction, sorted by the absolute </a:t>
            </a:r>
            <a:r>
              <a:rPr dirty="0" err="1"/>
              <a:t>XGBoost</a:t>
            </a:r>
            <a:r>
              <a:rPr dirty="0"/>
              <a:t> error. The failures are concentrated in a few shapes rather than spread evenly: </a:t>
            </a:r>
            <a:r>
              <a:rPr dirty="0" err="1"/>
              <a:t>shape_quasi_uniform_block</a:t>
            </a:r>
            <a:r>
              <a:rPr dirty="0"/>
              <a:t> is under-predicted by all three models (-31.2% · -26.3% · -42.9% for </a:t>
            </a:r>
            <a:r>
              <a:rPr dirty="0" err="1"/>
              <a:t>XGBoost</a:t>
            </a:r>
            <a:r>
              <a:rPr dirty="0"/>
              <a:t>, MLP and SVM) and carries the largest SWMM volume of all shapes, 1.77 million m³; it also holds 61% of the </a:t>
            </a:r>
            <a:r>
              <a:rPr dirty="0" err="1"/>
              <a:t>XGBoost</a:t>
            </a:r>
            <a:r>
              <a:rPr dirty="0"/>
              <a:t> squared error summed over shapes (</a:t>
            </a:r>
            <a:r>
              <a:rPr dirty="0" err="1"/>
              <a:t>sse_xgboost</a:t>
            </a:r>
            <a:r>
              <a:rPr dirty="0"/>
              <a:t> in </a:t>
            </a:r>
            <a:r>
              <a:rPr dirty="0" err="1"/>
              <a:t>figure_numbers.json</a:t>
            </a:r>
            <a:r>
              <a:rPr dirty="0"/>
              <a:t>), so it weighs heavily in the pooled RMSE. </a:t>
            </a:r>
            <a:r>
              <a:rPr dirty="0" err="1"/>
              <a:t>common_bogota</a:t>
            </a:r>
            <a:r>
              <a:rPr dirty="0"/>
              <a:t> is over-predicted by all three (+33.0% · +61.6% · +93.6%), but it is a small-volume shape. The MLP has the smaller median shape error (10.5% vs 13.7% for </a:t>
            </a:r>
            <a:r>
              <a:rPr dirty="0" err="1"/>
              <a:t>XGBoost</a:t>
            </a:r>
            <a:r>
              <a:rPr dirty="0"/>
              <a:t>) but a larger worst case on </a:t>
            </a:r>
            <a:r>
              <a:rPr dirty="0" err="1"/>
              <a:t>common_bogota</a:t>
            </a:r>
            <a:r>
              <a:rPr dirty="0"/>
              <a:t>. Caveat: the error is pooled over all factors of a shape, so over- and under-prediction at different factors can cancel.</a:t>
            </a:r>
          </a:p>
          <a:p>
            <a:endParaRPr dirty="0"/>
          </a:p>
          <a:p>
            <a:r>
              <a:rPr dirty="0"/>
              <a:t>Sources: docs/figures_part2/error_by_shape.png; docs/figures_part2/</a:t>
            </a:r>
            <a:r>
              <a:rPr dirty="0" err="1"/>
              <a:t>figure_numbers.json</a:t>
            </a:r>
            <a:r>
              <a:rPr dirty="0"/>
              <a:t> (shapes: </a:t>
            </a:r>
            <a:r>
              <a:rPr dirty="0" err="1"/>
              <a:t>err_pct</a:t>
            </a:r>
            <a:r>
              <a:rPr dirty="0"/>
              <a:t>_*, </a:t>
            </a:r>
            <a:r>
              <a:rPr dirty="0" err="1"/>
              <a:t>vol_swmm</a:t>
            </a:r>
            <a:r>
              <a:rPr dirty="0"/>
              <a:t>); docs/figures_part2/INDEX.md (section 3).</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Portada">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3" y="0"/>
            <a:ext cx="9144000" cy="5143500"/>
          </a:xfrm>
          <a:prstGeom prst="rect">
            <a:avLst/>
          </a:prstGeom>
          <a:noFill/>
          <a:ln>
            <a:noFill/>
          </a:ln>
        </p:spPr>
      </p:pic>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2" name="Título 1">
            <a:extLst>
              <a:ext uri="{FF2B5EF4-FFF2-40B4-BE49-F238E27FC236}">
                <a16:creationId xmlns:a16="http://schemas.microsoft.com/office/drawing/2014/main" id="{1835F034-20D9-B4C5-8358-9688592E6032}"/>
              </a:ext>
            </a:extLst>
          </p:cNvPr>
          <p:cNvSpPr>
            <a:spLocks noGrp="1"/>
          </p:cNvSpPr>
          <p:nvPr>
            <p:ph type="title"/>
          </p:nvPr>
        </p:nvSpPr>
        <p:spPr>
          <a:xfrm>
            <a:off x="1230705" y="987873"/>
            <a:ext cx="6588199" cy="375821"/>
          </a:xfrm>
        </p:spPr>
        <p:txBody>
          <a:bodyPr/>
          <a:lstStyle>
            <a:lvl1pPr algn="ctr">
              <a:defRPr sz="3600"/>
            </a:lvl1pPr>
          </a:lstStyle>
          <a:p>
            <a:r>
              <a:rPr lang="es-ES" dirty="0"/>
              <a:t>Haga clic para modificar el estilo de título del patrón</a:t>
            </a:r>
            <a:endParaRPr lang="es-CO" dirty="0"/>
          </a:p>
        </p:txBody>
      </p:sp>
      <p:cxnSp>
        <p:nvCxnSpPr>
          <p:cNvPr id="3" name="Conector recto 2">
            <a:extLst>
              <a:ext uri="{FF2B5EF4-FFF2-40B4-BE49-F238E27FC236}">
                <a16:creationId xmlns:a16="http://schemas.microsoft.com/office/drawing/2014/main" id="{089B234E-DA3E-ADB7-C645-D2663C91D17A}"/>
              </a:ext>
            </a:extLst>
          </p:cNvPr>
          <p:cNvCxnSpPr/>
          <p:nvPr userDrawn="1"/>
        </p:nvCxnSpPr>
        <p:spPr>
          <a:xfrm>
            <a:off x="224175" y="3099830"/>
            <a:ext cx="8695649" cy="0"/>
          </a:xfrm>
          <a:prstGeom prst="line">
            <a:avLst/>
          </a:prstGeom>
          <a:ln w="19050"/>
        </p:spPr>
        <p:style>
          <a:lnRef idx="1">
            <a:schemeClr val="dk1"/>
          </a:lnRef>
          <a:fillRef idx="0">
            <a:schemeClr val="dk1"/>
          </a:fillRef>
          <a:effectRef idx="0">
            <a:schemeClr val="dk1"/>
          </a:effectRef>
          <a:fontRef idx="minor">
            <a:schemeClr val="tx1"/>
          </a:fontRef>
        </p:style>
      </p:cxnSp>
      <p:sp>
        <p:nvSpPr>
          <p:cNvPr id="5" name="Google Shape;11;p2">
            <a:extLst>
              <a:ext uri="{FF2B5EF4-FFF2-40B4-BE49-F238E27FC236}">
                <a16:creationId xmlns:a16="http://schemas.microsoft.com/office/drawing/2014/main" id="{46BD2D74-0A2E-C2B6-BEBB-A7A73007EDF2}"/>
              </a:ext>
            </a:extLst>
          </p:cNvPr>
          <p:cNvSpPr txBox="1">
            <a:spLocks noGrp="1"/>
          </p:cNvSpPr>
          <p:nvPr>
            <p:ph type="subTitle" idx="1"/>
          </p:nvPr>
        </p:nvSpPr>
        <p:spPr>
          <a:xfrm>
            <a:off x="2318445" y="3513265"/>
            <a:ext cx="4507107" cy="4056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7" name="Marcador de texto 6">
            <a:extLst>
              <a:ext uri="{FF2B5EF4-FFF2-40B4-BE49-F238E27FC236}">
                <a16:creationId xmlns:a16="http://schemas.microsoft.com/office/drawing/2014/main" id="{CBC81BF4-67AC-BF92-3B23-337A171E5C5F}"/>
              </a:ext>
            </a:extLst>
          </p:cNvPr>
          <p:cNvSpPr>
            <a:spLocks noGrp="1"/>
          </p:cNvSpPr>
          <p:nvPr>
            <p:ph type="body" sz="quarter" idx="10" hasCustomPrompt="1"/>
          </p:nvPr>
        </p:nvSpPr>
        <p:spPr>
          <a:xfrm>
            <a:off x="4010747" y="4108392"/>
            <a:ext cx="1122501" cy="447813"/>
          </a:xfrm>
        </p:spPr>
        <p:txBody>
          <a:bodyPr/>
          <a:lstStyle>
            <a:lvl1pPr marL="114300" indent="0">
              <a:buNone/>
              <a:defRPr sz="1400"/>
            </a:lvl1pPr>
          </a:lstStyle>
          <a:p>
            <a:pPr lvl="0"/>
            <a:r>
              <a:rPr lang="es-ES" dirty="0" err="1"/>
              <a:t>to</a:t>
            </a:r>
            <a:r>
              <a:rPr lang="es-ES" dirty="0"/>
              <a:t> nivel</a:t>
            </a:r>
            <a:endParaRPr lang="es-CO" dirty="0"/>
          </a:p>
        </p:txBody>
      </p:sp>
    </p:spTree>
    <p:extLst>
      <p:ext uri="{BB962C8B-B14F-4D97-AF65-F5344CB8AC3E}">
        <p14:creationId xmlns:p14="http://schemas.microsoft.com/office/powerpoint/2010/main" val="188936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1350" y="1423263"/>
            <a:ext cx="5405100" cy="1948500"/>
          </a:xfrm>
          <a:prstGeom prst="rect">
            <a:avLst/>
          </a:prstGeom>
          <a:noFill/>
        </p:spPr>
        <p:txBody>
          <a:bodyPr spcFirstLastPara="1" wrap="square" lIns="91425" tIns="91425" rIns="91425" bIns="91425" anchor="t" anchorCtr="0">
            <a:noAutofit/>
          </a:bodyPr>
          <a:lstStyle>
            <a:lvl1pPr lvl="0" rtl="0">
              <a:lnSpc>
                <a:spcPct val="90000"/>
              </a:lnSpc>
              <a:spcBef>
                <a:spcPts val="0"/>
              </a:spcBef>
              <a:spcAft>
                <a:spcPts val="0"/>
              </a:spcAft>
              <a:buSzPts val="5200"/>
              <a:buNone/>
              <a:defRPr sz="4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711350" y="3314625"/>
            <a:ext cx="5405100" cy="405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60950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12000"/>
          </a:blip>
          <a:stretch>
            <a:fillRect/>
          </a:stretch>
        </p:blipFill>
        <p:spPr>
          <a:xfrm>
            <a:off x="0" y="-22250"/>
            <a:ext cx="9144000" cy="5143500"/>
          </a:xfrm>
          <a:prstGeom prst="rect">
            <a:avLst/>
          </a:prstGeom>
          <a:noFill/>
          <a:ln>
            <a:noFill/>
          </a:ln>
        </p:spPr>
      </p:pic>
      <p:sp>
        <p:nvSpPr>
          <p:cNvPr id="16" name="Google Shape;16;p3"/>
          <p:cNvSpPr txBox="1">
            <a:spLocks noGrp="1"/>
          </p:cNvSpPr>
          <p:nvPr>
            <p:ph type="title"/>
          </p:nvPr>
        </p:nvSpPr>
        <p:spPr>
          <a:xfrm>
            <a:off x="1141350" y="2549500"/>
            <a:ext cx="6861300" cy="107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58700" y="1353788"/>
            <a:ext cx="1626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2331150" y="3627713"/>
            <a:ext cx="4481700" cy="38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D7D205FF-0CD9-CE2F-E2C1-83481A2B81DB}"/>
              </a:ext>
            </a:extLst>
          </p:cNvPr>
          <p:cNvSpPr>
            <a:spLocks noGrp="1"/>
          </p:cNvSpPr>
          <p:nvPr>
            <p:ph type="sldNum" sz="quarter" idx="4"/>
          </p:nvPr>
        </p:nvSpPr>
        <p:spPr>
          <a:xfrm>
            <a:off x="697395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19771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521092"/>
            <a:ext cx="7704000" cy="498300"/>
          </a:xfrm>
          <a:prstGeom prst="rect">
            <a:avLst/>
          </a:prstGeom>
        </p:spPr>
        <p:txBody>
          <a:bodyPr spcFirstLastPara="1" wrap="square" lIns="91425" tIns="91425" rIns="91425" bIns="91425" anchor="t" anchorCtr="0">
            <a:noAutofit/>
          </a:bodyPr>
          <a:lstStyle>
            <a:lvl1pPr marL="139700" lvl="0" indent="0" algn="l" rtl="0">
              <a:lnSpc>
                <a:spcPct val="100000"/>
              </a:lnSpc>
              <a:spcBef>
                <a:spcPts val="0"/>
              </a:spcBef>
              <a:spcAft>
                <a:spcPts val="0"/>
              </a:spcAft>
              <a:buSzPts val="1400"/>
              <a:buFontTx/>
              <a:buNone/>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61766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38"/>
        <p:cNvGrpSpPr/>
        <p:nvPr/>
      </p:nvGrpSpPr>
      <p:grpSpPr>
        <a:xfrm>
          <a:off x="0" y="0"/>
          <a:ext cx="0" cy="0"/>
          <a:chOff x="0" y="0"/>
          <a:chExt cx="0" cy="0"/>
        </a:xfrm>
      </p:grpSpPr>
      <p:pic>
        <p:nvPicPr>
          <p:cNvPr id="39" name="Google Shape;39;p6"/>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 name="Marcador de número de diapositiva 32">
            <a:extLst>
              <a:ext uri="{FF2B5EF4-FFF2-40B4-BE49-F238E27FC236}">
                <a16:creationId xmlns:a16="http://schemas.microsoft.com/office/drawing/2014/main" id="{1AF50676-8359-BE63-DD6F-3F783BB612C7}"/>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3" name="Google Shape;24;p4">
            <a:extLst>
              <a:ext uri="{FF2B5EF4-FFF2-40B4-BE49-F238E27FC236}">
                <a16:creationId xmlns:a16="http://schemas.microsoft.com/office/drawing/2014/main" id="{B7538562-B18C-A308-8992-A29375029CFE}"/>
              </a:ext>
            </a:extLst>
          </p:cNvPr>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Tree>
    <p:extLst>
      <p:ext uri="{BB962C8B-B14F-4D97-AF65-F5344CB8AC3E}">
        <p14:creationId xmlns:p14="http://schemas.microsoft.com/office/powerpoint/2010/main" val="344615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391583"/>
            <a:ext cx="7704000" cy="4983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1055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itulos">
    <p:spTree>
      <p:nvGrpSpPr>
        <p:cNvPr id="1" name=""/>
        <p:cNvGrpSpPr/>
        <p:nvPr/>
      </p:nvGrpSpPr>
      <p:grpSpPr>
        <a:xfrm>
          <a:off x="0" y="0"/>
          <a:ext cx="0" cy="0"/>
          <a:chOff x="0" y="0"/>
          <a:chExt cx="0" cy="0"/>
        </a:xfrm>
      </p:grpSpPr>
      <p:pic>
        <p:nvPicPr>
          <p:cNvPr id="6" name="Google Shape;22;p4">
            <a:extLst>
              <a:ext uri="{FF2B5EF4-FFF2-40B4-BE49-F238E27FC236}">
                <a16:creationId xmlns:a16="http://schemas.microsoft.com/office/drawing/2014/main" id="{4C5B8F73-FC8B-9241-7678-C4DDCD3019AE}"/>
              </a:ext>
            </a:extLst>
          </p:cNvPr>
          <p:cNvPicPr preferRelativeResize="0"/>
          <p:nvPr userDrawn="1"/>
        </p:nvPicPr>
        <p:blipFill>
          <a:blip r:embed="rId2">
            <a:alphaModFix amt="12000"/>
          </a:blip>
          <a:stretch>
            <a:fillRect/>
          </a:stretch>
        </p:blipFill>
        <p:spPr>
          <a:xfrm>
            <a:off x="0" y="0"/>
            <a:ext cx="9144000" cy="5143500"/>
          </a:xfrm>
          <a:prstGeom prst="rect">
            <a:avLst/>
          </a:prstGeom>
          <a:noFill/>
          <a:ln>
            <a:noFill/>
          </a:ln>
        </p:spPr>
      </p:pic>
      <p:sp>
        <p:nvSpPr>
          <p:cNvPr id="2" name="Título 1">
            <a:extLst>
              <a:ext uri="{FF2B5EF4-FFF2-40B4-BE49-F238E27FC236}">
                <a16:creationId xmlns:a16="http://schemas.microsoft.com/office/drawing/2014/main" id="{B3A07BA6-F4A9-9808-ED15-76AEE7C7AF26}"/>
              </a:ext>
            </a:extLst>
          </p:cNvPr>
          <p:cNvSpPr>
            <a:spLocks noGrp="1"/>
          </p:cNvSpPr>
          <p:nvPr>
            <p:ph type="title"/>
          </p:nvPr>
        </p:nvSpPr>
        <p:spPr/>
        <p:txBody>
          <a:bodyPr/>
          <a:lstStyle>
            <a:lvl1pPr algn="ctr">
              <a:defRPr sz="3300"/>
            </a:lvl1pPr>
          </a:lstStyle>
          <a:p>
            <a:r>
              <a:rPr lang="es-ES" dirty="0"/>
              <a:t>Haga clic para modificar</a:t>
            </a:r>
            <a:endParaRPr lang="es-CO" dirty="0"/>
          </a:p>
        </p:txBody>
      </p:sp>
      <p:sp>
        <p:nvSpPr>
          <p:cNvPr id="3" name="Marcador de número de diapositiva 2">
            <a:extLst>
              <a:ext uri="{FF2B5EF4-FFF2-40B4-BE49-F238E27FC236}">
                <a16:creationId xmlns:a16="http://schemas.microsoft.com/office/drawing/2014/main" id="{AD75B560-8E7C-D540-20BE-B237247E6F84}"/>
              </a:ext>
            </a:extLst>
          </p:cNvPr>
          <p:cNvSpPr>
            <a:spLocks noGrp="1"/>
          </p:cNvSpPr>
          <p:nvPr>
            <p:ph type="sldNum" sz="quarter" idx="10"/>
          </p:nvPr>
        </p:nvSpPr>
        <p:spPr/>
        <p:txBody>
          <a:bodyPr/>
          <a:lstStyle/>
          <a:p>
            <a:fld id="{2FE31968-4ACB-4FDC-A729-E0AFD0CA931C}" type="slidenum">
              <a:rPr lang="es-CO" smtClean="0"/>
              <a:t>‹Nº›</a:t>
            </a:fld>
            <a:endParaRPr lang="es-CO"/>
          </a:p>
        </p:txBody>
      </p:sp>
      <p:sp>
        <p:nvSpPr>
          <p:cNvPr id="5" name="Marcador de texto 4">
            <a:extLst>
              <a:ext uri="{FF2B5EF4-FFF2-40B4-BE49-F238E27FC236}">
                <a16:creationId xmlns:a16="http://schemas.microsoft.com/office/drawing/2014/main" id="{910C5ADD-74DF-90D3-03A8-63663869A774}"/>
              </a:ext>
            </a:extLst>
          </p:cNvPr>
          <p:cNvSpPr>
            <a:spLocks noGrp="1"/>
          </p:cNvSpPr>
          <p:nvPr>
            <p:ph type="body" sz="quarter" idx="11" hasCustomPrompt="1"/>
          </p:nvPr>
        </p:nvSpPr>
        <p:spPr>
          <a:xfrm>
            <a:off x="297555" y="1391915"/>
            <a:ext cx="6187177" cy="421861"/>
          </a:xfrm>
        </p:spPr>
        <p:txBody>
          <a:bodyPr/>
          <a:lstStyle>
            <a:lvl1pPr marL="114300" indent="0" algn="l">
              <a:buNone/>
              <a:defRPr lang="es-CO" sz="2400" b="1" i="0" u="none" strike="noStrike" cap="none" dirty="0">
                <a:solidFill>
                  <a:srgbClr val="FFFFB3"/>
                </a:solidFill>
                <a:latin typeface="Montserrat"/>
                <a:ea typeface="Montserrat"/>
                <a:cs typeface="Montserrat"/>
                <a:sym typeface="Montserrat"/>
              </a:defRPr>
            </a:lvl1pPr>
          </a:lstStyle>
          <a:p>
            <a:pPr lvl="0"/>
            <a:r>
              <a:rPr lang="es-ES" dirty="0"/>
              <a:t>Subtítulo</a:t>
            </a:r>
            <a:endParaRPr lang="es-CO" dirty="0"/>
          </a:p>
        </p:txBody>
      </p:sp>
    </p:spTree>
    <p:extLst>
      <p:ext uri="{BB962C8B-B14F-4D97-AF65-F5344CB8AC3E}">
        <p14:creationId xmlns:p14="http://schemas.microsoft.com/office/powerpoint/2010/main" val="26305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48"/>
        <p:cNvGrpSpPr/>
        <p:nvPr/>
      </p:nvGrpSpPr>
      <p:grpSpPr>
        <a:xfrm>
          <a:off x="0" y="0"/>
          <a:ext cx="0" cy="0"/>
          <a:chOff x="0" y="0"/>
          <a:chExt cx="0" cy="0"/>
        </a:xfrm>
      </p:grpSpPr>
      <p:pic>
        <p:nvPicPr>
          <p:cNvPr id="49" name="Google Shape;49;p7"/>
          <p:cNvPicPr preferRelativeResize="0"/>
          <p:nvPr/>
        </p:nvPicPr>
        <p:blipFill>
          <a:blip r:embed="rId2">
            <a:alphaModFix amt="12000"/>
          </a:blip>
          <a:stretch>
            <a:fillRect/>
          </a:stretch>
        </p:blipFill>
        <p:spPr>
          <a:xfrm>
            <a:off x="0" y="-20903"/>
            <a:ext cx="9144000" cy="5143500"/>
          </a:xfrm>
          <a:prstGeom prst="rect">
            <a:avLst/>
          </a:prstGeom>
          <a:noFill/>
          <a:ln>
            <a:noFill/>
          </a:ln>
        </p:spPr>
      </p:pic>
      <p:sp>
        <p:nvSpPr>
          <p:cNvPr id="50" name="Google Shape;50;p7"/>
          <p:cNvSpPr txBox="1">
            <a:spLocks noGrp="1"/>
          </p:cNvSpPr>
          <p:nvPr>
            <p:ph type="body" idx="1"/>
          </p:nvPr>
        </p:nvSpPr>
        <p:spPr>
          <a:xfrm>
            <a:off x="3562925" y="2238025"/>
            <a:ext cx="4864800" cy="193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tx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51" name="Google Shape;51;p7"/>
          <p:cNvSpPr txBox="1">
            <a:spLocks noGrp="1"/>
          </p:cNvSpPr>
          <p:nvPr>
            <p:ph type="title"/>
          </p:nvPr>
        </p:nvSpPr>
        <p:spPr>
          <a:xfrm>
            <a:off x="3562925" y="970775"/>
            <a:ext cx="48648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a:p>
        </p:txBody>
      </p:sp>
      <p:sp>
        <p:nvSpPr>
          <p:cNvPr id="2" name="Marcador de número de diapositiva 32">
            <a:extLst>
              <a:ext uri="{FF2B5EF4-FFF2-40B4-BE49-F238E27FC236}">
                <a16:creationId xmlns:a16="http://schemas.microsoft.com/office/drawing/2014/main" id="{F9367B2C-BBE5-04C5-44F7-3356491E6B6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5640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4" name="Google Shape;64;p9"/>
          <p:cNvSpPr txBox="1">
            <a:spLocks noGrp="1"/>
          </p:cNvSpPr>
          <p:nvPr>
            <p:ph type="title"/>
          </p:nvPr>
        </p:nvSpPr>
        <p:spPr>
          <a:xfrm>
            <a:off x="711350" y="1580150"/>
            <a:ext cx="51510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9"/>
          <p:cNvSpPr txBox="1">
            <a:spLocks noGrp="1"/>
          </p:cNvSpPr>
          <p:nvPr>
            <p:ph type="subTitle" idx="1"/>
          </p:nvPr>
        </p:nvSpPr>
        <p:spPr>
          <a:xfrm>
            <a:off x="711350" y="2340250"/>
            <a:ext cx="5151000" cy="12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E374F13D-0CE4-3400-4DA2-4B2131FFDD6A}"/>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2854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67"/>
        <p:cNvGrpSpPr/>
        <p:nvPr/>
      </p:nvGrpSpPr>
      <p:grpSpPr>
        <a:xfrm>
          <a:off x="0" y="0"/>
          <a:ext cx="0" cy="0"/>
          <a:chOff x="0" y="0"/>
          <a:chExt cx="0" cy="0"/>
        </a:xfrm>
      </p:grpSpPr>
      <p:pic>
        <p:nvPicPr>
          <p:cNvPr id="68" name="Google Shape;68;p10"/>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9" name="Google Shape;69;p10"/>
          <p:cNvSpPr txBox="1">
            <a:spLocks noGrp="1"/>
          </p:cNvSpPr>
          <p:nvPr>
            <p:ph type="title"/>
          </p:nvPr>
        </p:nvSpPr>
        <p:spPr>
          <a:xfrm>
            <a:off x="3560250" y="3291125"/>
            <a:ext cx="4626600" cy="117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A8B88258-C5B6-1041-8893-E62BA8F14BB0}"/>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30891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70"/>
        <p:cNvGrpSpPr/>
        <p:nvPr/>
      </p:nvGrpSpPr>
      <p:grpSpPr>
        <a:xfrm>
          <a:off x="0" y="0"/>
          <a:ext cx="0" cy="0"/>
          <a:chOff x="0" y="0"/>
          <a:chExt cx="0" cy="0"/>
        </a:xfrm>
      </p:grpSpPr>
      <p:pic>
        <p:nvPicPr>
          <p:cNvPr id="71" name="Google Shape;71;p11"/>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72" name="Google Shape;72;p11"/>
          <p:cNvSpPr txBox="1">
            <a:spLocks noGrp="1"/>
          </p:cNvSpPr>
          <p:nvPr>
            <p:ph type="title" hasCustomPrompt="1"/>
          </p:nvPr>
        </p:nvSpPr>
        <p:spPr>
          <a:xfrm>
            <a:off x="1670700" y="1580875"/>
            <a:ext cx="5802600" cy="151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73" name="Google Shape;73;p11"/>
          <p:cNvSpPr txBox="1">
            <a:spLocks noGrp="1"/>
          </p:cNvSpPr>
          <p:nvPr>
            <p:ph type="subTitle" idx="1"/>
          </p:nvPr>
        </p:nvSpPr>
        <p:spPr>
          <a:xfrm>
            <a:off x="1670700" y="3114124"/>
            <a:ext cx="5802600" cy="44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 name="Marcador de número de diapositiva 32">
            <a:extLst>
              <a:ext uri="{FF2B5EF4-FFF2-40B4-BE49-F238E27FC236}">
                <a16:creationId xmlns:a16="http://schemas.microsoft.com/office/drawing/2014/main" id="{8AC9DA0D-3DCA-DFC3-BE58-DCA1A78946E9}"/>
              </a:ext>
            </a:extLst>
          </p:cNvPr>
          <p:cNvSpPr>
            <a:spLocks noGrp="1"/>
          </p:cNvSpPr>
          <p:nvPr>
            <p:ph type="sldNum" sz="quarter" idx="4"/>
          </p:nvPr>
        </p:nvSpPr>
        <p:spPr>
          <a:xfrm>
            <a:off x="6960572"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77634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reserve="1">
  <p:cSld name="Table of contents">
    <p:spTree>
      <p:nvGrpSpPr>
        <p:cNvPr id="1" name="Shape 82"/>
        <p:cNvGrpSpPr/>
        <p:nvPr/>
      </p:nvGrpSpPr>
      <p:grpSpPr>
        <a:xfrm>
          <a:off x="0" y="0"/>
          <a:ext cx="0" cy="0"/>
          <a:chOff x="0" y="0"/>
          <a:chExt cx="0" cy="0"/>
        </a:xfrm>
      </p:grpSpPr>
      <p:pic>
        <p:nvPicPr>
          <p:cNvPr id="83" name="Google Shape;83;p13"/>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84" name="Google Shape;84;p13"/>
          <p:cNvSpPr txBox="1">
            <a:spLocks noGrp="1"/>
          </p:cNvSpPr>
          <p:nvPr>
            <p:ph type="title"/>
          </p:nvPr>
        </p:nvSpPr>
        <p:spPr>
          <a:xfrm>
            <a:off x="720000" y="757845"/>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85" name="Google Shape;85;p13"/>
          <p:cNvSpPr txBox="1">
            <a:spLocks noGrp="1"/>
          </p:cNvSpPr>
          <p:nvPr>
            <p:ph type="title" idx="2" hasCustomPrompt="1"/>
          </p:nvPr>
        </p:nvSpPr>
        <p:spPr>
          <a:xfrm>
            <a:off x="767145" y="1806480"/>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6" name="Google Shape;86;p13"/>
          <p:cNvSpPr txBox="1">
            <a:spLocks noGrp="1"/>
          </p:cNvSpPr>
          <p:nvPr>
            <p:ph type="subTitle" idx="1"/>
          </p:nvPr>
        </p:nvSpPr>
        <p:spPr>
          <a:xfrm>
            <a:off x="1444845" y="197170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3"/>
          <p:cNvSpPr txBox="1">
            <a:spLocks noGrp="1"/>
          </p:cNvSpPr>
          <p:nvPr>
            <p:ph type="title" idx="3" hasCustomPrompt="1"/>
          </p:nvPr>
        </p:nvSpPr>
        <p:spPr>
          <a:xfrm>
            <a:off x="4664695" y="2391672"/>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8" name="Google Shape;88;p13"/>
          <p:cNvSpPr txBox="1">
            <a:spLocks noGrp="1"/>
          </p:cNvSpPr>
          <p:nvPr>
            <p:ph type="subTitle" idx="4"/>
          </p:nvPr>
        </p:nvSpPr>
        <p:spPr>
          <a:xfrm>
            <a:off x="5342395" y="255769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3"/>
          <p:cNvSpPr txBox="1">
            <a:spLocks noGrp="1"/>
          </p:cNvSpPr>
          <p:nvPr>
            <p:ph type="title" idx="5" hasCustomPrompt="1"/>
          </p:nvPr>
        </p:nvSpPr>
        <p:spPr>
          <a:xfrm>
            <a:off x="767145" y="2976864"/>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0" name="Google Shape;90;p13"/>
          <p:cNvSpPr txBox="1">
            <a:spLocks noGrp="1"/>
          </p:cNvSpPr>
          <p:nvPr>
            <p:ph type="subTitle" idx="6"/>
          </p:nvPr>
        </p:nvSpPr>
        <p:spPr>
          <a:xfrm>
            <a:off x="1444845" y="3143681"/>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7" hasCustomPrompt="1"/>
          </p:nvPr>
        </p:nvSpPr>
        <p:spPr>
          <a:xfrm>
            <a:off x="4664695" y="3562056"/>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2" name="Google Shape;92;p13"/>
          <p:cNvSpPr txBox="1">
            <a:spLocks noGrp="1"/>
          </p:cNvSpPr>
          <p:nvPr>
            <p:ph type="subTitle" idx="8"/>
          </p:nvPr>
        </p:nvSpPr>
        <p:spPr>
          <a:xfrm>
            <a:off x="5342395" y="3729672"/>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9" hasCustomPrompt="1"/>
          </p:nvPr>
        </p:nvSpPr>
        <p:spPr>
          <a:xfrm>
            <a:off x="767145" y="4147248"/>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 name="Google Shape;94;p13"/>
          <p:cNvSpPr txBox="1">
            <a:spLocks noGrp="1"/>
          </p:cNvSpPr>
          <p:nvPr>
            <p:ph type="subTitle" idx="13"/>
          </p:nvPr>
        </p:nvSpPr>
        <p:spPr>
          <a:xfrm>
            <a:off x="1444845" y="4315663"/>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8" name="Google Shape;98;p13"/>
          <p:cNvSpPr txBox="1">
            <a:spLocks noGrp="1"/>
          </p:cNvSpPr>
          <p:nvPr>
            <p:ph type="subTitle" idx="14"/>
          </p:nvPr>
        </p:nvSpPr>
        <p:spPr>
          <a:xfrm>
            <a:off x="1444875" y="1646950"/>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99" name="Google Shape;99;p13"/>
          <p:cNvSpPr txBox="1">
            <a:spLocks noGrp="1"/>
          </p:cNvSpPr>
          <p:nvPr>
            <p:ph type="subTitle" idx="15"/>
          </p:nvPr>
        </p:nvSpPr>
        <p:spPr>
          <a:xfrm>
            <a:off x="1444875" y="2841512"/>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0" name="Google Shape;100;p13"/>
          <p:cNvSpPr txBox="1">
            <a:spLocks noGrp="1"/>
          </p:cNvSpPr>
          <p:nvPr>
            <p:ph type="subTitle" idx="16"/>
          </p:nvPr>
        </p:nvSpPr>
        <p:spPr>
          <a:xfrm>
            <a:off x="1444875" y="4036075"/>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1" name="Google Shape;101;p13"/>
          <p:cNvSpPr txBox="1">
            <a:spLocks noGrp="1"/>
          </p:cNvSpPr>
          <p:nvPr>
            <p:ph type="subTitle" idx="17"/>
          </p:nvPr>
        </p:nvSpPr>
        <p:spPr>
          <a:xfrm>
            <a:off x="5342400" y="3438794"/>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102" name="Google Shape;102;p13"/>
          <p:cNvSpPr txBox="1">
            <a:spLocks noGrp="1"/>
          </p:cNvSpPr>
          <p:nvPr>
            <p:ph type="subTitle" idx="18"/>
          </p:nvPr>
        </p:nvSpPr>
        <p:spPr>
          <a:xfrm>
            <a:off x="5342400" y="2244231"/>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2" name="Marcador de número de diapositiva 32">
            <a:extLst>
              <a:ext uri="{FF2B5EF4-FFF2-40B4-BE49-F238E27FC236}">
                <a16:creationId xmlns:a16="http://schemas.microsoft.com/office/drawing/2014/main" id="{A6A022A7-5EAA-EFCC-2C64-7193F2986839}"/>
              </a:ext>
            </a:extLst>
          </p:cNvPr>
          <p:cNvSpPr>
            <a:spLocks noGrp="1"/>
          </p:cNvSpPr>
          <p:nvPr>
            <p:ph type="sldNum" sz="quarter" idx="19"/>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8946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reserve="1">
  <p:cSld name="Quote">
    <p:spTree>
      <p:nvGrpSpPr>
        <p:cNvPr id="1" name="Shape 103"/>
        <p:cNvGrpSpPr/>
        <p:nvPr/>
      </p:nvGrpSpPr>
      <p:grpSpPr>
        <a:xfrm>
          <a:off x="0" y="0"/>
          <a:ext cx="0" cy="0"/>
          <a:chOff x="0" y="0"/>
          <a:chExt cx="0" cy="0"/>
        </a:xfrm>
      </p:grpSpPr>
      <p:pic>
        <p:nvPicPr>
          <p:cNvPr id="104" name="Google Shape;104;p1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5" name="Google Shape;105;p14"/>
          <p:cNvSpPr txBox="1">
            <a:spLocks noGrp="1"/>
          </p:cNvSpPr>
          <p:nvPr>
            <p:ph type="title"/>
          </p:nvPr>
        </p:nvSpPr>
        <p:spPr>
          <a:xfrm>
            <a:off x="2290050" y="3989413"/>
            <a:ext cx="45639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6" name="Google Shape;106;p14"/>
          <p:cNvSpPr txBox="1">
            <a:spLocks noGrp="1"/>
          </p:cNvSpPr>
          <p:nvPr>
            <p:ph type="subTitle" idx="1"/>
          </p:nvPr>
        </p:nvSpPr>
        <p:spPr>
          <a:xfrm>
            <a:off x="1458150" y="2816863"/>
            <a:ext cx="6227700" cy="1229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22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2" name="Marcador de número de diapositiva 32">
            <a:extLst>
              <a:ext uri="{FF2B5EF4-FFF2-40B4-BE49-F238E27FC236}">
                <a16:creationId xmlns:a16="http://schemas.microsoft.com/office/drawing/2014/main" id="{4E81FD6E-2FFF-28AE-374E-DDC20EFB91FF}"/>
              </a:ext>
            </a:extLst>
          </p:cNvPr>
          <p:cNvSpPr>
            <a:spLocks noGrp="1"/>
          </p:cNvSpPr>
          <p:nvPr>
            <p:ph type="sldNum" sz="quarter" idx="4"/>
          </p:nvPr>
        </p:nvSpPr>
        <p:spPr>
          <a:xfrm>
            <a:off x="6974084" y="4868702"/>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029443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reserve="1">
  <p:cSld name="Title and text">
    <p:spTree>
      <p:nvGrpSpPr>
        <p:cNvPr id="1" name="Shape 140"/>
        <p:cNvGrpSpPr/>
        <p:nvPr/>
      </p:nvGrpSpPr>
      <p:grpSpPr>
        <a:xfrm>
          <a:off x="0" y="0"/>
          <a:ext cx="0" cy="0"/>
          <a:chOff x="0" y="0"/>
          <a:chExt cx="0" cy="0"/>
        </a:xfrm>
      </p:grpSpPr>
      <p:pic>
        <p:nvPicPr>
          <p:cNvPr id="141" name="Google Shape;141;p18"/>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42" name="Google Shape;142;p18"/>
          <p:cNvSpPr txBox="1">
            <a:spLocks noGrp="1"/>
          </p:cNvSpPr>
          <p:nvPr>
            <p:ph type="subTitle" idx="1"/>
          </p:nvPr>
        </p:nvSpPr>
        <p:spPr>
          <a:xfrm>
            <a:off x="973797" y="3011475"/>
            <a:ext cx="4398300" cy="8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8"/>
          <p:cNvSpPr txBox="1">
            <a:spLocks noGrp="1"/>
          </p:cNvSpPr>
          <p:nvPr>
            <p:ph type="title"/>
          </p:nvPr>
        </p:nvSpPr>
        <p:spPr>
          <a:xfrm>
            <a:off x="973809" y="1270425"/>
            <a:ext cx="4398300" cy="1781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18"/>
          <p:cNvSpPr>
            <a:spLocks noGrp="1"/>
          </p:cNvSpPr>
          <p:nvPr>
            <p:ph type="pic" idx="2"/>
          </p:nvPr>
        </p:nvSpPr>
        <p:spPr>
          <a:xfrm>
            <a:off x="5327150" y="1080200"/>
            <a:ext cx="2983200" cy="2983200"/>
          </a:xfrm>
          <a:prstGeom prst="ellipse">
            <a:avLst/>
          </a:prstGeom>
          <a:noFill/>
          <a:ln w="38100" cap="flat" cmpd="sng">
            <a:solidFill>
              <a:schemeClr val="dk2"/>
            </a:solidFill>
            <a:prstDash val="solid"/>
            <a:round/>
            <a:headEnd type="none" w="sm" len="sm"/>
            <a:tailEnd type="none" w="sm" len="sm"/>
          </a:ln>
        </p:spPr>
      </p:sp>
      <p:sp>
        <p:nvSpPr>
          <p:cNvPr id="2" name="Marcador de número de diapositiva 32">
            <a:extLst>
              <a:ext uri="{FF2B5EF4-FFF2-40B4-BE49-F238E27FC236}">
                <a16:creationId xmlns:a16="http://schemas.microsoft.com/office/drawing/2014/main" id="{7011B3A5-BA18-77C0-B197-5934FE56912F}"/>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4601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reserve="1">
  <p:cSld name="Title and text 1">
    <p:spTree>
      <p:nvGrpSpPr>
        <p:cNvPr id="1" name="Shape 148"/>
        <p:cNvGrpSpPr/>
        <p:nvPr/>
      </p:nvGrpSpPr>
      <p:grpSpPr>
        <a:xfrm>
          <a:off x="0" y="0"/>
          <a:ext cx="0" cy="0"/>
          <a:chOff x="0" y="0"/>
          <a:chExt cx="0" cy="0"/>
        </a:xfrm>
      </p:grpSpPr>
      <p:pic>
        <p:nvPicPr>
          <p:cNvPr id="149" name="Google Shape;149;p19"/>
          <p:cNvPicPr preferRelativeResize="0"/>
          <p:nvPr/>
        </p:nvPicPr>
        <p:blipFill>
          <a:blip r:embed="rId2">
            <a:alphaModFix amt="12000"/>
          </a:blip>
          <a:stretch>
            <a:fillRect/>
          </a:stretch>
        </p:blipFill>
        <p:spPr>
          <a:xfrm>
            <a:off x="0" y="-13714"/>
            <a:ext cx="9144000" cy="5143500"/>
          </a:xfrm>
          <a:prstGeom prst="rect">
            <a:avLst/>
          </a:prstGeom>
          <a:noFill/>
          <a:ln>
            <a:noFill/>
          </a:ln>
        </p:spPr>
      </p:pic>
      <p:sp>
        <p:nvSpPr>
          <p:cNvPr id="150" name="Google Shape;150;p19"/>
          <p:cNvSpPr txBox="1">
            <a:spLocks noGrp="1"/>
          </p:cNvSpPr>
          <p:nvPr>
            <p:ph type="subTitle" idx="1"/>
          </p:nvPr>
        </p:nvSpPr>
        <p:spPr>
          <a:xfrm>
            <a:off x="1889400" y="3812150"/>
            <a:ext cx="5365200" cy="6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19"/>
          <p:cNvSpPr txBox="1">
            <a:spLocks noGrp="1"/>
          </p:cNvSpPr>
          <p:nvPr>
            <p:ph type="title"/>
          </p:nvPr>
        </p:nvSpPr>
        <p:spPr>
          <a:xfrm>
            <a:off x="1889550" y="3306875"/>
            <a:ext cx="5365200" cy="63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4C836EED-38EE-4930-F765-43666026257A}"/>
              </a:ext>
            </a:extLst>
          </p:cNvPr>
          <p:cNvSpPr>
            <a:spLocks noGrp="1"/>
          </p:cNvSpPr>
          <p:nvPr>
            <p:ph type="sldNum" sz="quarter" idx="4"/>
          </p:nvPr>
        </p:nvSpPr>
        <p:spPr>
          <a:xfrm>
            <a:off x="6965076" y="4855149"/>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99558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reserve="1">
  <p:cSld name="Title and text 2">
    <p:spTree>
      <p:nvGrpSpPr>
        <p:cNvPr id="1" name="Shape 153"/>
        <p:cNvGrpSpPr/>
        <p:nvPr/>
      </p:nvGrpSpPr>
      <p:grpSpPr>
        <a:xfrm>
          <a:off x="0" y="0"/>
          <a:ext cx="0" cy="0"/>
          <a:chOff x="0" y="0"/>
          <a:chExt cx="0" cy="0"/>
        </a:xfrm>
      </p:grpSpPr>
      <p:pic>
        <p:nvPicPr>
          <p:cNvPr id="154" name="Google Shape;154;p20"/>
          <p:cNvPicPr preferRelativeResize="0"/>
          <p:nvPr/>
        </p:nvPicPr>
        <p:blipFill>
          <a:blip r:embed="rId2">
            <a:alphaModFix amt="12000"/>
          </a:blip>
          <a:stretch>
            <a:fillRect/>
          </a:stretch>
        </p:blipFill>
        <p:spPr>
          <a:xfrm>
            <a:off x="31531" y="0"/>
            <a:ext cx="9144000" cy="5143500"/>
          </a:xfrm>
          <a:prstGeom prst="rect">
            <a:avLst/>
          </a:prstGeom>
          <a:noFill/>
          <a:ln>
            <a:noFill/>
          </a:ln>
        </p:spPr>
      </p:pic>
      <p:sp>
        <p:nvSpPr>
          <p:cNvPr id="155" name="Google Shape;155;p20"/>
          <p:cNvSpPr txBox="1">
            <a:spLocks noGrp="1"/>
          </p:cNvSpPr>
          <p:nvPr>
            <p:ph type="title"/>
          </p:nvPr>
        </p:nvSpPr>
        <p:spPr>
          <a:xfrm>
            <a:off x="720000" y="66710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56" name="Google Shape;156;p20"/>
          <p:cNvSpPr txBox="1">
            <a:spLocks noGrp="1"/>
          </p:cNvSpPr>
          <p:nvPr>
            <p:ph type="subTitle" idx="1"/>
          </p:nvPr>
        </p:nvSpPr>
        <p:spPr>
          <a:xfrm>
            <a:off x="719413" y="1383062"/>
            <a:ext cx="5347500" cy="174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2" name="Marcador de número de diapositiva 32">
            <a:extLst>
              <a:ext uri="{FF2B5EF4-FFF2-40B4-BE49-F238E27FC236}">
                <a16:creationId xmlns:a16="http://schemas.microsoft.com/office/drawing/2014/main" id="{75E61C1E-9234-A230-B547-BF54ADA7F1AE}"/>
              </a:ext>
            </a:extLst>
          </p:cNvPr>
          <p:cNvSpPr>
            <a:spLocks noGrp="1"/>
          </p:cNvSpPr>
          <p:nvPr>
            <p:ph type="sldNum" sz="quarter" idx="4"/>
          </p:nvPr>
        </p:nvSpPr>
        <p:spPr>
          <a:xfrm>
            <a:off x="6938049"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464999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reserve="1">
  <p:cSld name="Title and two columns 1">
    <p:spTree>
      <p:nvGrpSpPr>
        <p:cNvPr id="1" name="Shape 163"/>
        <p:cNvGrpSpPr/>
        <p:nvPr/>
      </p:nvGrpSpPr>
      <p:grpSpPr>
        <a:xfrm>
          <a:off x="0" y="0"/>
          <a:ext cx="0" cy="0"/>
          <a:chOff x="0" y="0"/>
          <a:chExt cx="0" cy="0"/>
        </a:xfrm>
      </p:grpSpPr>
      <p:pic>
        <p:nvPicPr>
          <p:cNvPr id="164" name="Google Shape;164;p21"/>
          <p:cNvPicPr preferRelativeResize="0"/>
          <p:nvPr/>
        </p:nvPicPr>
        <p:blipFill>
          <a:blip r:embed="rId2">
            <a:alphaModFix amt="12000"/>
          </a:blip>
          <a:stretch>
            <a:fillRect/>
          </a:stretch>
        </p:blipFill>
        <p:spPr>
          <a:xfrm>
            <a:off x="0" y="-14188"/>
            <a:ext cx="9144000" cy="5143500"/>
          </a:xfrm>
          <a:prstGeom prst="rect">
            <a:avLst/>
          </a:prstGeom>
          <a:noFill/>
          <a:ln>
            <a:noFill/>
          </a:ln>
        </p:spPr>
      </p:pic>
      <p:sp>
        <p:nvSpPr>
          <p:cNvPr id="165" name="Google Shape;165;p21"/>
          <p:cNvSpPr txBox="1">
            <a:spLocks noGrp="1"/>
          </p:cNvSpPr>
          <p:nvPr>
            <p:ph type="subTitle" idx="1"/>
          </p:nvPr>
        </p:nvSpPr>
        <p:spPr>
          <a:xfrm>
            <a:off x="1366805" y="1856906"/>
            <a:ext cx="30267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6" name="Google Shape;166;p21"/>
          <p:cNvSpPr txBox="1">
            <a:spLocks noGrp="1"/>
          </p:cNvSpPr>
          <p:nvPr>
            <p:ph type="subTitle" idx="2"/>
          </p:nvPr>
        </p:nvSpPr>
        <p:spPr>
          <a:xfrm>
            <a:off x="4706911" y="1895947"/>
            <a:ext cx="30231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7" name="Google Shape;167;p21"/>
          <p:cNvSpPr txBox="1">
            <a:spLocks noGrp="1"/>
          </p:cNvSpPr>
          <p:nvPr>
            <p:ph type="subTitle" idx="3"/>
          </p:nvPr>
        </p:nvSpPr>
        <p:spPr>
          <a:xfrm>
            <a:off x="1366805" y="2360869"/>
            <a:ext cx="3026700" cy="226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8" name="Google Shape;168;p21"/>
          <p:cNvSpPr txBox="1">
            <a:spLocks noGrp="1"/>
          </p:cNvSpPr>
          <p:nvPr>
            <p:ph type="subTitle" idx="4"/>
          </p:nvPr>
        </p:nvSpPr>
        <p:spPr>
          <a:xfrm>
            <a:off x="4706911" y="2362069"/>
            <a:ext cx="3023100" cy="226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9" name="Google Shape;169;p21"/>
          <p:cNvSpPr txBox="1">
            <a:spLocks noGrp="1"/>
          </p:cNvSpPr>
          <p:nvPr>
            <p:ph type="title"/>
          </p:nvPr>
        </p:nvSpPr>
        <p:spPr>
          <a:xfrm>
            <a:off x="720000" y="70318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A11EDC36-5F6C-7891-6A2B-41384387A3D2}"/>
              </a:ext>
            </a:extLst>
          </p:cNvPr>
          <p:cNvSpPr>
            <a:spLocks noGrp="1"/>
          </p:cNvSpPr>
          <p:nvPr>
            <p:ph type="sldNum" sz="quarter" idx="10"/>
          </p:nvPr>
        </p:nvSpPr>
        <p:spPr>
          <a:xfrm>
            <a:off x="6947058" y="485467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42142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reserve="1">
  <p:cSld name="Title and two columns 2">
    <p:spTree>
      <p:nvGrpSpPr>
        <p:cNvPr id="1" name="Shape 176"/>
        <p:cNvGrpSpPr/>
        <p:nvPr/>
      </p:nvGrpSpPr>
      <p:grpSpPr>
        <a:xfrm>
          <a:off x="0" y="0"/>
          <a:ext cx="0" cy="0"/>
          <a:chOff x="0" y="0"/>
          <a:chExt cx="0" cy="0"/>
        </a:xfrm>
      </p:grpSpPr>
      <p:pic>
        <p:nvPicPr>
          <p:cNvPr id="177" name="Google Shape;177;p22"/>
          <p:cNvPicPr preferRelativeResize="0"/>
          <p:nvPr/>
        </p:nvPicPr>
        <p:blipFill>
          <a:blip r:embed="rId2">
            <a:alphaModFix amt="12000"/>
          </a:blip>
          <a:stretch>
            <a:fillRect/>
          </a:stretch>
        </p:blipFill>
        <p:spPr>
          <a:xfrm>
            <a:off x="0" y="-9210"/>
            <a:ext cx="9144000" cy="5143500"/>
          </a:xfrm>
          <a:prstGeom prst="rect">
            <a:avLst/>
          </a:prstGeom>
          <a:noFill/>
          <a:ln>
            <a:noFill/>
          </a:ln>
        </p:spPr>
      </p:pic>
      <p:sp>
        <p:nvSpPr>
          <p:cNvPr id="178" name="Google Shape;178;p22"/>
          <p:cNvSpPr txBox="1">
            <a:spLocks noGrp="1"/>
          </p:cNvSpPr>
          <p:nvPr>
            <p:ph type="title"/>
          </p:nvPr>
        </p:nvSpPr>
        <p:spPr>
          <a:xfrm>
            <a:off x="720000" y="696921"/>
            <a:ext cx="7758665"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79" name="Google Shape;179;p22"/>
          <p:cNvSpPr txBox="1">
            <a:spLocks noGrp="1"/>
          </p:cNvSpPr>
          <p:nvPr>
            <p:ph type="subTitle" idx="1"/>
          </p:nvPr>
        </p:nvSpPr>
        <p:spPr>
          <a:xfrm>
            <a:off x="720000"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86" name="Google Shape;186;p22"/>
          <p:cNvSpPr txBox="1">
            <a:spLocks noGrp="1"/>
          </p:cNvSpPr>
          <p:nvPr>
            <p:ph type="subTitle" idx="2"/>
          </p:nvPr>
        </p:nvSpPr>
        <p:spPr>
          <a:xfrm>
            <a:off x="4626665"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 name="Marcador de número de diapositiva 32">
            <a:extLst>
              <a:ext uri="{FF2B5EF4-FFF2-40B4-BE49-F238E27FC236}">
                <a16:creationId xmlns:a16="http://schemas.microsoft.com/office/drawing/2014/main" id="{E6B8D90A-F721-5BFA-9520-C81330115A3C}"/>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695312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2" preserve="1">
  <p:cSld name="Background 2">
    <p:spTree>
      <p:nvGrpSpPr>
        <p:cNvPr id="1" name="Shape 305"/>
        <p:cNvGrpSpPr/>
        <p:nvPr/>
      </p:nvGrpSpPr>
      <p:grpSpPr>
        <a:xfrm>
          <a:off x="0" y="0"/>
          <a:ext cx="0" cy="0"/>
          <a:chOff x="0" y="0"/>
          <a:chExt cx="0" cy="0"/>
        </a:xfrm>
      </p:grpSpPr>
      <p:sp>
        <p:nvSpPr>
          <p:cNvPr id="2" name="Marcador de número de diapositiva 32">
            <a:extLst>
              <a:ext uri="{FF2B5EF4-FFF2-40B4-BE49-F238E27FC236}">
                <a16:creationId xmlns:a16="http://schemas.microsoft.com/office/drawing/2014/main" id="{E3CF2F18-9AEF-9045-E247-CDBA355811BF}"/>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pic>
        <p:nvPicPr>
          <p:cNvPr id="3" name="Google Shape;9;p2">
            <a:extLst>
              <a:ext uri="{FF2B5EF4-FFF2-40B4-BE49-F238E27FC236}">
                <a16:creationId xmlns:a16="http://schemas.microsoft.com/office/drawing/2014/main" id="{AD9A05E1-271E-DF86-855C-3402A37CE6EE}"/>
              </a:ext>
            </a:extLst>
          </p:cNvPr>
          <p:cNvPicPr preferRelativeResize="0"/>
          <p:nvPr userDrawn="1"/>
        </p:nvPicPr>
        <p:blipFill>
          <a:blip r:embed="rId2">
            <a:alphaModFix amt="12000"/>
          </a:blip>
          <a:stretch>
            <a:fillRect/>
          </a:stretch>
        </p:blipFill>
        <p:spPr>
          <a:xfrm>
            <a:off x="-3" y="0"/>
            <a:ext cx="9144000" cy="5143500"/>
          </a:xfrm>
          <a:prstGeom prst="rect">
            <a:avLst/>
          </a:prstGeom>
          <a:noFill/>
          <a:ln>
            <a:noFill/>
          </a:ln>
        </p:spPr>
      </p:pic>
    </p:spTree>
    <p:extLst>
      <p:ext uri="{BB962C8B-B14F-4D97-AF65-F5344CB8AC3E}">
        <p14:creationId xmlns:p14="http://schemas.microsoft.com/office/powerpoint/2010/main" val="3322039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seño personalizado">
    <p:bg>
      <p:bgRef idx="1001">
        <a:schemeClr val="bg1"/>
      </p:bgRef>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077D320-9EC5-A233-F3F1-072E9662FFBA}"/>
              </a:ext>
            </a:extLst>
          </p:cNvPr>
          <p:cNvSpPr>
            <a:spLocks noGrp="1"/>
          </p:cNvSpPr>
          <p:nvPr>
            <p:ph type="sldNum" sz="quarter" idx="10"/>
          </p:nvPr>
        </p:nvSpPr>
        <p:spPr/>
        <p:txBody>
          <a:bodyPr/>
          <a:lstStyle/>
          <a:p>
            <a:fld id="{2FE31968-4ACB-4FDC-A729-E0AFD0CA931C}" type="slidenum">
              <a:rPr lang="es-CO" smtClean="0"/>
              <a:t>‹Nº›</a:t>
            </a:fld>
            <a:endParaRPr lang="es-CO"/>
          </a:p>
        </p:txBody>
      </p:sp>
    </p:spTree>
    <p:extLst>
      <p:ext uri="{BB962C8B-B14F-4D97-AF65-F5344CB8AC3E}">
        <p14:creationId xmlns:p14="http://schemas.microsoft.com/office/powerpoint/2010/main" val="215275937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7555" y="711622"/>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1pPr>
            <a:lvl2pPr lvl="1">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2pPr>
            <a:lvl3pPr lvl="2">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3pPr>
            <a:lvl4pPr lvl="3">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4pPr>
            <a:lvl5pPr lvl="4">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5pPr>
            <a:lvl6pPr lvl="5">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6pPr>
            <a:lvl7pPr lvl="6">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7pPr>
            <a:lvl8pPr lvl="7">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8pPr>
            <a:lvl9pPr lvl="8">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9pPr>
          </a:lstStyle>
          <a:p>
            <a:endParaRPr dirty="0"/>
          </a:p>
        </p:txBody>
      </p:sp>
      <p:sp>
        <p:nvSpPr>
          <p:cNvPr id="7" name="Google Shape;7;p1"/>
          <p:cNvSpPr txBox="1">
            <a:spLocks noGrp="1"/>
          </p:cNvSpPr>
          <p:nvPr>
            <p:ph type="body" idx="1"/>
          </p:nvPr>
        </p:nvSpPr>
        <p:spPr>
          <a:xfrm>
            <a:off x="305585" y="1448419"/>
            <a:ext cx="8520600" cy="3184621"/>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Montserrat"/>
              <a:buChar char="●"/>
              <a:defRPr sz="1800">
                <a:solidFill>
                  <a:schemeClr val="dk1"/>
                </a:solidFill>
                <a:latin typeface="Montserrat"/>
                <a:ea typeface="Montserrat"/>
                <a:cs typeface="Montserrat"/>
                <a:sym typeface="Montserrat"/>
              </a:defRPr>
            </a:lvl1pPr>
            <a:lvl2pPr marL="914400" lvl="1"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dirty="0"/>
          </a:p>
        </p:txBody>
      </p:sp>
      <p:pic>
        <p:nvPicPr>
          <p:cNvPr id="4" name="Imagen 3">
            <a:extLst>
              <a:ext uri="{FF2B5EF4-FFF2-40B4-BE49-F238E27FC236}">
                <a16:creationId xmlns:a16="http://schemas.microsoft.com/office/drawing/2014/main" id="{60FC9AC8-8B9B-C356-BE60-A5E249FA5D4A}"/>
              </a:ext>
            </a:extLst>
          </p:cNvPr>
          <p:cNvPicPr>
            <a:picLocks noChangeAspect="1"/>
          </p:cNvPicPr>
          <p:nvPr userDrawn="1"/>
        </p:nvPicPr>
        <p:blipFill rotWithShape="1">
          <a:blip r:embed="rId22">
            <a:duotone>
              <a:schemeClr val="accent3">
                <a:shade val="45000"/>
                <a:satMod val="135000"/>
              </a:schemeClr>
              <a:prstClr val="white"/>
            </a:duotone>
            <a:extLst>
              <a:ext uri="{BEBA8EAE-BF5A-486C-A8C5-ECC9F3942E4B}">
                <a14:imgProps xmlns:a14="http://schemas.microsoft.com/office/drawing/2010/main">
                  <a14:imgLayer r:embed="rId23">
                    <a14:imgEffect>
                      <a14:backgroundRemoval t="9896" b="89974" l="2344" r="97461">
                        <a14:foregroundMark x1="54297" y1="27474" x2="42578" y2="19531"/>
                        <a14:foregroundMark x1="42578" y1="19531" x2="54688" y2="27734"/>
                        <a14:foregroundMark x1="54688" y1="27734" x2="96875" y2="39714"/>
                        <a14:foregroundMark x1="94336" y1="55990" x2="86328" y2="65885"/>
                        <a14:foregroundMark x1="86328" y1="65885" x2="24609" y2="80469"/>
                        <a14:foregroundMark x1="24609" y1="80469" x2="25586" y2="67057"/>
                        <a14:foregroundMark x1="25586" y1="67057" x2="48047" y2="49089"/>
                        <a14:foregroundMark x1="48047" y1="49089" x2="43945" y2="37891"/>
                        <a14:foregroundMark x1="43945" y1="37891" x2="17578" y2="22396"/>
                        <a14:foregroundMark x1="17578" y1="22396" x2="2344" y2="32031"/>
                        <a14:foregroundMark x1="2344" y1="32031" x2="11914" y2="67448"/>
                        <a14:foregroundMark x1="11914" y1="67448" x2="37305" y2="45964"/>
                        <a14:foregroundMark x1="89453" y1="71484" x2="96094" y2="68490"/>
                        <a14:foregroundMark x1="88672" y1="72526" x2="97461" y2="68620"/>
                        <a14:foregroundMark x1="45508" y1="80339" x2="48438" y2="78125"/>
                      </a14:backgroundRemoval>
                    </a14:imgEffect>
                    <a14:imgEffect>
                      <a14:saturation sat="112000"/>
                    </a14:imgEffect>
                  </a14:imgLayer>
                </a14:imgProps>
              </a:ext>
            </a:extLst>
          </a:blip>
          <a:srcRect t="60775" r="7281" b="27471"/>
          <a:stretch/>
        </p:blipFill>
        <p:spPr>
          <a:xfrm>
            <a:off x="6443128" y="-6955"/>
            <a:ext cx="2700872" cy="572700"/>
          </a:xfrm>
          <a:prstGeom prst="rect">
            <a:avLst/>
          </a:prstGeom>
          <a:gradFill>
            <a:gsLst>
              <a:gs pos="19000">
                <a:srgbClr val="0E2A47">
                  <a:alpha val="59000"/>
                  <a:lumMod val="100000"/>
                </a:srgbClr>
              </a:gs>
              <a:gs pos="33000">
                <a:schemeClr val="accent2">
                  <a:lumMod val="10000"/>
                  <a:lumOff val="90000"/>
                </a:schemeClr>
              </a:gs>
              <a:gs pos="77000">
                <a:schemeClr val="accent2">
                  <a:lumMod val="25000"/>
                  <a:lumOff val="75000"/>
                </a:schemeClr>
              </a:gs>
              <a:gs pos="100000">
                <a:schemeClr val="accent3">
                  <a:lumMod val="60000"/>
                  <a:lumOff val="40000"/>
                </a:schemeClr>
              </a:gs>
            </a:gsLst>
            <a:lin ang="10800000" scaled="1"/>
          </a:gradFill>
          <a:ln>
            <a:noFill/>
          </a:ln>
          <a:effectLst>
            <a:softEdge rad="0"/>
          </a:effectLst>
        </p:spPr>
      </p:pic>
      <p:pic>
        <p:nvPicPr>
          <p:cNvPr id="9" name="Google Shape;28;p4">
            <a:extLst>
              <a:ext uri="{FF2B5EF4-FFF2-40B4-BE49-F238E27FC236}">
                <a16:creationId xmlns:a16="http://schemas.microsoft.com/office/drawing/2014/main" id="{C838CF9F-1988-524C-8E01-03AB6CF3D3E1}"/>
              </a:ext>
            </a:extLst>
          </p:cNvPr>
          <p:cNvPicPr preferRelativeResize="0"/>
          <p:nvPr userDrawn="1"/>
        </p:nvPicPr>
        <p:blipFill>
          <a:blip r:embed="rId24">
            <a:alphaModFix amt="70000"/>
          </a:blip>
          <a:stretch>
            <a:fillRect/>
          </a:stretch>
        </p:blipFill>
        <p:spPr>
          <a:xfrm>
            <a:off x="8420241" y="4668168"/>
            <a:ext cx="911641" cy="950664"/>
          </a:xfrm>
          <a:prstGeom prst="rect">
            <a:avLst/>
          </a:prstGeom>
          <a:noFill/>
          <a:ln>
            <a:noFill/>
          </a:ln>
        </p:spPr>
      </p:pic>
      <p:pic>
        <p:nvPicPr>
          <p:cNvPr id="10" name="Imagen 9">
            <a:extLst>
              <a:ext uri="{FF2B5EF4-FFF2-40B4-BE49-F238E27FC236}">
                <a16:creationId xmlns:a16="http://schemas.microsoft.com/office/drawing/2014/main" id="{E968E9F5-C031-8916-0772-8842EBF6AC4A}"/>
              </a:ext>
            </a:extLst>
          </p:cNvPr>
          <p:cNvPicPr>
            <a:picLocks noChangeAspect="1"/>
          </p:cNvPicPr>
          <p:nvPr userDrawn="1"/>
        </p:nvPicPr>
        <p:blipFill rotWithShape="1">
          <a:blip r:embed="rId25"/>
          <a:srcRect l="1" r="57412"/>
          <a:stretch/>
        </p:blipFill>
        <p:spPr>
          <a:xfrm>
            <a:off x="213505" y="11159"/>
            <a:ext cx="1161848" cy="556689"/>
          </a:xfrm>
          <a:prstGeom prst="rect">
            <a:avLst/>
          </a:prstGeom>
        </p:spPr>
      </p:pic>
      <p:sp>
        <p:nvSpPr>
          <p:cNvPr id="24" name="CuadroTexto 23">
            <a:extLst>
              <a:ext uri="{FF2B5EF4-FFF2-40B4-BE49-F238E27FC236}">
                <a16:creationId xmlns:a16="http://schemas.microsoft.com/office/drawing/2014/main" id="{1B677341-6345-4681-C896-F97AE06C9832}"/>
              </a:ext>
            </a:extLst>
          </p:cNvPr>
          <p:cNvSpPr txBox="1"/>
          <p:nvPr userDrawn="1"/>
        </p:nvSpPr>
        <p:spPr>
          <a:xfrm>
            <a:off x="8606436" y="4864819"/>
            <a:ext cx="269626" cy="276999"/>
          </a:xfrm>
          <a:prstGeom prst="rect">
            <a:avLst/>
          </a:prstGeom>
          <a:noFill/>
        </p:spPr>
        <p:txBody>
          <a:bodyPr wrap="none" rtlCol="0">
            <a:spAutoFit/>
          </a:bodyPr>
          <a:lstStyle/>
          <a:p>
            <a:r>
              <a:rPr lang="es-CO" sz="1200" dirty="0">
                <a:solidFill>
                  <a:schemeClr val="bg1"/>
                </a:solidFill>
              </a:rPr>
              <a:t>1</a:t>
            </a:r>
            <a:endParaRPr lang="es-ES" sz="1200" dirty="0">
              <a:solidFill>
                <a:schemeClr val="bg1"/>
              </a:solidFill>
            </a:endParaRPr>
          </a:p>
        </p:txBody>
      </p:sp>
      <p:sp>
        <p:nvSpPr>
          <p:cNvPr id="27" name="Rectángulo: esquinas redondeadas 26">
            <a:extLst>
              <a:ext uri="{FF2B5EF4-FFF2-40B4-BE49-F238E27FC236}">
                <a16:creationId xmlns:a16="http://schemas.microsoft.com/office/drawing/2014/main" id="{03C48C39-10AC-00E1-8439-5BCADFB10EA4}"/>
              </a:ext>
            </a:extLst>
          </p:cNvPr>
          <p:cNvSpPr/>
          <p:nvPr userDrawn="1"/>
        </p:nvSpPr>
        <p:spPr>
          <a:xfrm>
            <a:off x="2700873" y="-3427"/>
            <a:ext cx="6481958" cy="569172"/>
          </a:xfrm>
          <a:prstGeom prst="roundRect">
            <a:avLst/>
          </a:prstGeom>
          <a:gradFill flip="none" rotWithShape="1">
            <a:gsLst>
              <a:gs pos="19000">
                <a:srgbClr val="0E2A47">
                  <a:alpha val="59000"/>
                  <a:lumMod val="100000"/>
                </a:srgbClr>
              </a:gs>
              <a:gs pos="43000">
                <a:schemeClr val="accent2">
                  <a:lumMod val="10000"/>
                  <a:lumOff val="90000"/>
                </a:schemeClr>
              </a:gs>
              <a:gs pos="69000">
                <a:schemeClr val="accent2">
                  <a:lumMod val="25000"/>
                  <a:lumOff val="75000"/>
                </a:schemeClr>
              </a:gs>
              <a:gs pos="98230">
                <a:srgbClr val="0E2A47"/>
              </a:gs>
              <a:gs pos="84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E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4" name="Marcador de número de diapositiva 33">
            <a:extLst>
              <a:ext uri="{FF2B5EF4-FFF2-40B4-BE49-F238E27FC236}">
                <a16:creationId xmlns:a16="http://schemas.microsoft.com/office/drawing/2014/main" id="{882642BA-E753-0526-0DB1-979EB663AD8D}"/>
              </a:ext>
            </a:extLst>
          </p:cNvPr>
          <p:cNvSpPr>
            <a:spLocks noGrp="1"/>
          </p:cNvSpPr>
          <p:nvPr>
            <p:ph type="sldNum" sz="quarter" idx="4"/>
          </p:nvPr>
        </p:nvSpPr>
        <p:spPr>
          <a:xfrm>
            <a:off x="6964577"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FE31968-4ACB-4FDC-A729-E0AFD0CA931C}" type="slidenum">
              <a:rPr lang="es-CO" smtClean="0"/>
              <a:t>‹Nº›</a:t>
            </a:fld>
            <a:endParaRPr lang="es-CO"/>
          </a:p>
        </p:txBody>
      </p:sp>
      <p:pic>
        <p:nvPicPr>
          <p:cNvPr id="5" name="Imagen 4" descr="Imagen que contiene señal&#10;&#10;Descripción generada automáticamente">
            <a:extLst>
              <a:ext uri="{FF2B5EF4-FFF2-40B4-BE49-F238E27FC236}">
                <a16:creationId xmlns:a16="http://schemas.microsoft.com/office/drawing/2014/main" id="{AA992F98-CF33-2388-CD15-8BE6A34588BE}"/>
              </a:ext>
            </a:extLst>
          </p:cNvPr>
          <p:cNvPicPr>
            <a:picLocks noChangeAspect="1"/>
          </p:cNvPicPr>
          <p:nvPr userDrawn="1"/>
        </p:nvPicPr>
        <p:blipFill>
          <a:blip r:embed="rId26"/>
          <a:stretch>
            <a:fillRect/>
          </a:stretch>
        </p:blipFill>
        <p:spPr>
          <a:xfrm>
            <a:off x="3375481" y="11159"/>
            <a:ext cx="356259" cy="540000"/>
          </a:xfrm>
          <a:prstGeom prst="rect">
            <a:avLst/>
          </a:prstGeom>
        </p:spPr>
      </p:pic>
      <p:sp>
        <p:nvSpPr>
          <p:cNvPr id="2" name="Rectángulo 1">
            <a:extLst>
              <a:ext uri="{FF2B5EF4-FFF2-40B4-BE49-F238E27FC236}">
                <a16:creationId xmlns:a16="http://schemas.microsoft.com/office/drawing/2014/main" id="{9C7EBD3B-61F3-6418-1C94-41562CE9B0D7}"/>
              </a:ext>
            </a:extLst>
          </p:cNvPr>
          <p:cNvSpPr/>
          <p:nvPr userDrawn="1"/>
        </p:nvSpPr>
        <p:spPr>
          <a:xfrm>
            <a:off x="3777571" y="98234"/>
            <a:ext cx="4572000" cy="369332"/>
          </a:xfrm>
          <a:prstGeom prst="rect">
            <a:avLst/>
          </a:prstGeom>
        </p:spPr>
        <p:txBody>
          <a:bodyPr>
            <a:spAutoFit/>
          </a:bodyPr>
          <a:lstStyle/>
          <a:p>
            <a:r>
              <a:rPr lang="en-US" sz="900" noProof="0" dirty="0">
                <a:solidFill>
                  <a:srgbClr val="0E2A47"/>
                </a:solidFill>
              </a:rPr>
              <a:t>Department of Civil and Environmental Engineering </a:t>
            </a:r>
          </a:p>
          <a:p>
            <a:r>
              <a:rPr lang="en-US" sz="900" noProof="0" dirty="0">
                <a:solidFill>
                  <a:srgbClr val="0E2A47"/>
                </a:solidFill>
              </a:rPr>
              <a:t>Water Supply and Sewers Systems Research Center</a:t>
            </a:r>
          </a:p>
        </p:txBody>
      </p:sp>
    </p:spTree>
    <p:extLst>
      <p:ext uri="{BB962C8B-B14F-4D97-AF65-F5344CB8AC3E}">
        <p14:creationId xmlns:p14="http://schemas.microsoft.com/office/powerpoint/2010/main" val="4011355625"/>
      </p:ext>
    </p:extLst>
  </p:cSld>
  <p:clrMap bg1="lt1" tx1="dk1" bg2="lt2" tx2="dk2" accent1="accent1" accent2="accent2" accent3="accent3" accent4="accent4" accent5="accent5" accent6="accent6" hlink="hlink" folHlink="folHlink"/>
  <p:sldLayoutIdLst>
    <p:sldLayoutId id="2147483716" r:id="rId1"/>
    <p:sldLayoutId id="2147483684" r:id="rId2"/>
    <p:sldLayoutId id="2147483685" r:id="rId3"/>
    <p:sldLayoutId id="2147483686" r:id="rId4"/>
    <p:sldLayoutId id="2147483688" r:id="rId5"/>
    <p:sldLayoutId id="2147483718" r:id="rId6"/>
    <p:sldLayoutId id="2147483719" r:id="rId7"/>
    <p:sldLayoutId id="2147483689" r:id="rId8"/>
    <p:sldLayoutId id="2147483691" r:id="rId9"/>
    <p:sldLayoutId id="2147483692" r:id="rId10"/>
    <p:sldLayoutId id="2147483693" r:id="rId11"/>
    <p:sldLayoutId id="2147483695" r:id="rId12"/>
    <p:sldLayoutId id="2147483696" r:id="rId13"/>
    <p:sldLayoutId id="2147483700" r:id="rId14"/>
    <p:sldLayoutId id="2147483701" r:id="rId15"/>
    <p:sldLayoutId id="2147483702" r:id="rId16"/>
    <p:sldLayoutId id="2147483703" r:id="rId17"/>
    <p:sldLayoutId id="2147483704" r:id="rId18"/>
    <p:sldLayoutId id="2147483714" r:id="rId19"/>
    <p:sldLayoutId id="214748371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016/j.watres.2024.122142"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16/j.watres.2022.118972"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16/j.watres.2024.122396"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16/j.watres.2025.125079"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61/JWRMD5.WRENG-7598"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16/j.watres.2024.122142"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s://doi.org/10.1016/j.watres.2025.125079" TargetMode="External"/><Relationship Id="rId5" Type="http://schemas.openxmlformats.org/officeDocument/2006/relationships/hyperlink" Target="https://doi.org/10.1016/j.watres.2024.122396" TargetMode="External"/><Relationship Id="rId4" Type="http://schemas.openxmlformats.org/officeDocument/2006/relationships/hyperlink" Target="https://doi.org/10.1016/j.watres.2022.118972"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61/JWRMD5.WRENG-7598"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chart" Target="../charts/chart3.xml"/></Relationships>
</file>

<file path=ppt/slides/_rels/slide4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46FF804-ED03-00B4-80BE-81E99A582D04}"/>
              </a:ext>
            </a:extLst>
          </p:cNvPr>
          <p:cNvSpPr>
            <a:spLocks noGrp="1"/>
          </p:cNvSpPr>
          <p:nvPr>
            <p:ph type="sldNum" sz="quarter" idx="4"/>
          </p:nvPr>
        </p:nvSpPr>
        <p:spPr/>
        <p:txBody>
          <a:bodyPr/>
          <a:lstStyle/>
          <a:p>
            <a:fld id="{585754B4-F252-4673-A93E-AFAD19F3B91A}" type="slidenum">
              <a:rPr lang="en-US" noProof="0" smtClean="0"/>
              <a:t>1</a:t>
            </a:fld>
            <a:endParaRPr lang="en-US" noProof="0" dirty="0"/>
          </a:p>
        </p:txBody>
      </p:sp>
      <p:sp>
        <p:nvSpPr>
          <p:cNvPr id="3" name="Título 2">
            <a:extLst>
              <a:ext uri="{FF2B5EF4-FFF2-40B4-BE49-F238E27FC236}">
                <a16:creationId xmlns:a16="http://schemas.microsoft.com/office/drawing/2014/main" id="{A97E69F7-14D0-B481-4806-A4A180ACC0E8}"/>
              </a:ext>
            </a:extLst>
          </p:cNvPr>
          <p:cNvSpPr>
            <a:spLocks noGrp="1"/>
          </p:cNvSpPr>
          <p:nvPr>
            <p:ph type="title"/>
          </p:nvPr>
        </p:nvSpPr>
        <p:spPr>
          <a:xfrm>
            <a:off x="635000" y="1079500"/>
            <a:ext cx="7874000" cy="1905000"/>
          </a:xfrm>
        </p:spPr>
        <p:txBody>
          <a:bodyPr/>
          <a:lstStyle/>
          <a:p>
            <a:r>
              <a:rPr lang="en-US" noProof="0" dirty="0"/>
              <a:t>Machine Learning Model for Hydraulic Failure Prediction in Stormwater Systems</a:t>
            </a:r>
          </a:p>
        </p:txBody>
      </p:sp>
      <p:sp>
        <p:nvSpPr>
          <p:cNvPr id="4" name="Subtítulo 3">
            <a:extLst>
              <a:ext uri="{FF2B5EF4-FFF2-40B4-BE49-F238E27FC236}">
                <a16:creationId xmlns:a16="http://schemas.microsoft.com/office/drawing/2014/main" id="{F2334C66-4D63-D716-251A-3E0420C2F0DE}"/>
              </a:ext>
            </a:extLst>
          </p:cNvPr>
          <p:cNvSpPr>
            <a:spLocks noGrp="1"/>
          </p:cNvSpPr>
          <p:nvPr>
            <p:ph type="subTitle" idx="1"/>
          </p:nvPr>
        </p:nvSpPr>
        <p:spPr/>
        <p:txBody>
          <a:bodyPr/>
          <a:lstStyle/>
          <a:p>
            <a:r>
              <a:rPr lang="en-US" noProof="0" dirty="0"/>
              <a:t>Luis Fernando Fajardo Bravo</a:t>
            </a:r>
          </a:p>
        </p:txBody>
      </p:sp>
      <p:sp>
        <p:nvSpPr>
          <p:cNvPr id="5" name="Marcador de texto 4">
            <a:extLst>
              <a:ext uri="{FF2B5EF4-FFF2-40B4-BE49-F238E27FC236}">
                <a16:creationId xmlns:a16="http://schemas.microsoft.com/office/drawing/2014/main" id="{F370B49F-1F4A-F2BB-8468-490BC5AB86CC}"/>
              </a:ext>
            </a:extLst>
          </p:cNvPr>
          <p:cNvSpPr>
            <a:spLocks noGrp="1"/>
          </p:cNvSpPr>
          <p:nvPr>
            <p:ph type="body" sz="quarter" idx="10"/>
          </p:nvPr>
        </p:nvSpPr>
        <p:spPr>
          <a:xfrm>
            <a:off x="3971418" y="4108392"/>
            <a:ext cx="1392079" cy="447813"/>
          </a:xfrm>
        </p:spPr>
        <p:txBody>
          <a:bodyPr/>
          <a:lstStyle/>
          <a:p>
            <a:r>
              <a:rPr lang="en-US" dirty="0"/>
              <a:t>2026-09-15</a:t>
            </a:r>
          </a:p>
        </p:txBody>
      </p:sp>
    </p:spTree>
    <p:extLst>
      <p:ext uri="{BB962C8B-B14F-4D97-AF65-F5344CB8AC3E}">
        <p14:creationId xmlns:p14="http://schemas.microsoft.com/office/powerpoint/2010/main" val="291627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9CAFC-5177-D67A-6614-34FBD698874E}"/>
              </a:ext>
            </a:extLst>
          </p:cNvPr>
          <p:cNvSpPr>
            <a:spLocks noGrp="1"/>
          </p:cNvSpPr>
          <p:nvPr>
            <p:ph type="ctrTitle"/>
          </p:nvPr>
        </p:nvSpPr>
        <p:spPr>
          <a:xfrm>
            <a:off x="579732" y="629031"/>
            <a:ext cx="8259468" cy="682937"/>
          </a:xfrm>
        </p:spPr>
        <p:txBody>
          <a:bodyPr/>
          <a:lstStyle/>
          <a:p>
            <a:pPr algn="ctr"/>
            <a:r>
              <a:rPr lang="en-US" sz="3600" dirty="0"/>
              <a:t>Thesis II Schedule</a:t>
            </a:r>
          </a:p>
        </p:txBody>
      </p:sp>
      <p:sp>
        <p:nvSpPr>
          <p:cNvPr id="4" name="Marcador de número de diapositiva 3">
            <a:extLst>
              <a:ext uri="{FF2B5EF4-FFF2-40B4-BE49-F238E27FC236}">
                <a16:creationId xmlns:a16="http://schemas.microsoft.com/office/drawing/2014/main" id="{BAA8C51F-8A78-1D8A-B04C-3F51073EB7EC}"/>
              </a:ext>
            </a:extLst>
          </p:cNvPr>
          <p:cNvSpPr>
            <a:spLocks noGrp="1"/>
          </p:cNvSpPr>
          <p:nvPr>
            <p:ph type="sldNum" sz="quarter" idx="4"/>
          </p:nvPr>
        </p:nvSpPr>
        <p:spPr/>
        <p:txBody>
          <a:bodyPr/>
          <a:lstStyle/>
          <a:p>
            <a:fld id="{585754B4-F252-4673-A93E-AFAD19F3B91A}" type="slidenum">
              <a:rPr lang="es-CO" smtClean="0"/>
              <a:t>2</a:t>
            </a:fld>
            <a:endParaRPr lang="es-CO"/>
          </a:p>
        </p:txBody>
      </p:sp>
      <p:sp>
        <p:nvSpPr>
          <p:cNvPr id="3" name="AutoShape 2" descr="Updated schedule">
            <a:extLst>
              <a:ext uri="{FF2B5EF4-FFF2-40B4-BE49-F238E27FC236}">
                <a16:creationId xmlns:a16="http://schemas.microsoft.com/office/drawing/2014/main" id="{391512BD-75DB-46B7-9427-7D00345A21F8}"/>
              </a:ext>
            </a:extLst>
          </p:cNvPr>
          <p:cNvSpPr>
            <a:spLocks noChangeAspect="1" noChangeArrowheads="1"/>
          </p:cNvSpPr>
          <p:nvPr/>
        </p:nvSpPr>
        <p:spPr bwMode="auto">
          <a:xfrm>
            <a:off x="4419600" y="2419350"/>
            <a:ext cx="3358308" cy="33583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A7D4184A-46BC-4EFA-BF41-F2D33FE988AF}"/>
              </a:ext>
            </a:extLst>
          </p:cNvPr>
          <p:cNvPicPr>
            <a:picLocks noChangeAspect="1"/>
          </p:cNvPicPr>
          <p:nvPr/>
        </p:nvPicPr>
        <p:blipFill rotWithShape="1">
          <a:blip r:embed="rId2"/>
          <a:stretch/>
        </p:blipFill>
        <p:spPr>
          <a:xfrm>
            <a:off x="272162" y="1150000"/>
            <a:ext cx="8595676" cy="3980000"/>
          </a:xfrm>
          <a:prstGeom prst="rect">
            <a:avLst/>
          </a:prstGeom>
        </p:spPr>
      </p:pic>
    </p:spTree>
    <p:extLst>
      <p:ext uri="{BB962C8B-B14F-4D97-AF65-F5344CB8AC3E}">
        <p14:creationId xmlns:p14="http://schemas.microsoft.com/office/powerpoint/2010/main" val="238470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4FA5-8482-AF15-2C20-2ECA027AAF8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CAB1E0C-009F-75F6-A7E1-8E163B3B0C9A}"/>
              </a:ext>
            </a:extLst>
          </p:cNvPr>
          <p:cNvSpPr>
            <a:spLocks noGrp="1"/>
          </p:cNvSpPr>
          <p:nvPr>
            <p:ph type="sldNum" sz="quarter" idx="4"/>
          </p:nvPr>
        </p:nvSpPr>
        <p:spPr/>
        <p:txBody>
          <a:bodyPr/>
          <a:lstStyle/>
          <a:p>
            <a:fld id="{585754B4-F252-4673-A93E-AFAD19F3B91A}" type="slidenum">
              <a:rPr lang="es-CO" smtClean="0"/>
              <a:t>3</a:t>
            </a:fld>
            <a:endParaRPr lang="es-CO"/>
          </a:p>
        </p:txBody>
      </p:sp>
      <p:pic>
        <p:nvPicPr>
          <p:cNvPr id="3" name="Imagen 2">
            <a:extLst>
              <a:ext uri="{FF2B5EF4-FFF2-40B4-BE49-F238E27FC236}">
                <a16:creationId xmlns:a16="http://schemas.microsoft.com/office/drawing/2014/main" id="{571CD7F5-D937-D25E-8F98-B9EE4D4689DC}"/>
              </a:ext>
            </a:extLst>
          </p:cNvPr>
          <p:cNvPicPr>
            <a:picLocks noChangeAspect="1"/>
          </p:cNvPicPr>
          <p:nvPr/>
        </p:nvPicPr>
        <p:blipFill>
          <a:blip r:embed="rId3"/>
          <a:srcRect t="4823" b="57003"/>
          <a:stretch>
            <a:fillRect/>
          </a:stretch>
        </p:blipFill>
        <p:spPr>
          <a:xfrm>
            <a:off x="498517" y="1375143"/>
            <a:ext cx="8146966" cy="2764465"/>
          </a:xfrm>
          <a:prstGeom prst="rect">
            <a:avLst/>
          </a:prstGeom>
        </p:spPr>
      </p:pic>
    </p:spTree>
    <p:extLst>
      <p:ext uri="{BB962C8B-B14F-4D97-AF65-F5344CB8AC3E}">
        <p14:creationId xmlns:p14="http://schemas.microsoft.com/office/powerpoint/2010/main" val="334200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315B-EC17-2E0E-77A8-7C956F9AD02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E387F3A-E029-914C-63E6-E3BA7A18477E}"/>
              </a:ext>
            </a:extLst>
          </p:cNvPr>
          <p:cNvSpPr>
            <a:spLocks noGrp="1"/>
          </p:cNvSpPr>
          <p:nvPr>
            <p:ph type="sldNum" sz="quarter" idx="4"/>
          </p:nvPr>
        </p:nvSpPr>
        <p:spPr/>
        <p:txBody>
          <a:bodyPr/>
          <a:lstStyle/>
          <a:p>
            <a:fld id="{585754B4-F252-4673-A93E-AFAD19F3B91A}" type="slidenum">
              <a:rPr lang="es-CO" smtClean="0"/>
              <a:t>4</a:t>
            </a:fld>
            <a:endParaRPr lang="es-CO"/>
          </a:p>
        </p:txBody>
      </p:sp>
      <p:pic>
        <p:nvPicPr>
          <p:cNvPr id="5" name="Imagen 4">
            <a:extLst>
              <a:ext uri="{FF2B5EF4-FFF2-40B4-BE49-F238E27FC236}">
                <a16:creationId xmlns:a16="http://schemas.microsoft.com/office/drawing/2014/main" id="{8AA93BC3-14B7-9383-36AF-D772AA33648F}"/>
              </a:ext>
            </a:extLst>
          </p:cNvPr>
          <p:cNvPicPr>
            <a:picLocks noChangeAspect="1"/>
          </p:cNvPicPr>
          <p:nvPr/>
        </p:nvPicPr>
        <p:blipFill>
          <a:blip r:embed="rId3"/>
          <a:srcRect t="42309"/>
          <a:stretch>
            <a:fillRect/>
          </a:stretch>
        </p:blipFill>
        <p:spPr>
          <a:xfrm>
            <a:off x="587753" y="886046"/>
            <a:ext cx="7968493" cy="4086360"/>
          </a:xfrm>
          <a:prstGeom prst="rect">
            <a:avLst/>
          </a:prstGeom>
        </p:spPr>
      </p:pic>
    </p:spTree>
    <p:extLst>
      <p:ext uri="{BB962C8B-B14F-4D97-AF65-F5344CB8AC3E}">
        <p14:creationId xmlns:p14="http://schemas.microsoft.com/office/powerpoint/2010/main" val="1590020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5</a:t>
            </a:fld>
            <a:endParaRPr lang="es-CO"/>
          </a:p>
        </p:txBody>
      </p:sp>
      <p:pic>
        <p:nvPicPr>
          <p:cNvPr id="6" name="Imagen 5">
            <a:extLst>
              <a:ext uri="{FF2B5EF4-FFF2-40B4-BE49-F238E27FC236}">
                <a16:creationId xmlns:a16="http://schemas.microsoft.com/office/drawing/2014/main" id="{EA65B0F5-20CF-5338-0942-2661BEFF455B}"/>
              </a:ext>
            </a:extLst>
          </p:cNvPr>
          <p:cNvPicPr>
            <a:picLocks noChangeAspect="1"/>
          </p:cNvPicPr>
          <p:nvPr/>
        </p:nvPicPr>
        <p:blipFill>
          <a:blip r:embed="rId2"/>
          <a:srcRect t="5791" b="47331"/>
          <a:stretch>
            <a:fillRect/>
          </a:stretch>
        </p:blipFill>
        <p:spPr>
          <a:xfrm>
            <a:off x="95497" y="1525227"/>
            <a:ext cx="4408714" cy="2411195"/>
          </a:xfrm>
          <a:prstGeom prst="rect">
            <a:avLst/>
          </a:prstGeom>
        </p:spPr>
      </p:pic>
      <p:pic>
        <p:nvPicPr>
          <p:cNvPr id="8" name="Imagen 7">
            <a:extLst>
              <a:ext uri="{FF2B5EF4-FFF2-40B4-BE49-F238E27FC236}">
                <a16:creationId xmlns:a16="http://schemas.microsoft.com/office/drawing/2014/main" id="{92E36C39-D4F6-88C7-C127-2DA81F3BA7D2}"/>
              </a:ext>
            </a:extLst>
          </p:cNvPr>
          <p:cNvPicPr>
            <a:picLocks noChangeAspect="1"/>
          </p:cNvPicPr>
          <p:nvPr/>
        </p:nvPicPr>
        <p:blipFill>
          <a:blip r:embed="rId2"/>
          <a:srcRect t="53121"/>
          <a:stretch>
            <a:fillRect/>
          </a:stretch>
        </p:blipFill>
        <p:spPr>
          <a:xfrm>
            <a:off x="4572000" y="1525227"/>
            <a:ext cx="4408714" cy="2411195"/>
          </a:xfrm>
          <a:prstGeom prst="rect">
            <a:avLst/>
          </a:prstGeom>
        </p:spPr>
      </p:pic>
    </p:spTree>
    <p:extLst>
      <p:ext uri="{BB962C8B-B14F-4D97-AF65-F5344CB8AC3E}">
        <p14:creationId xmlns:p14="http://schemas.microsoft.com/office/powerpoint/2010/main" val="2527305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6</a:t>
            </a:fld>
            <a:endParaRPr lang="es-CO"/>
          </a:p>
        </p:txBody>
      </p:sp>
      <p:pic>
        <p:nvPicPr>
          <p:cNvPr id="3" name="Imagen 2">
            <a:extLst>
              <a:ext uri="{FF2B5EF4-FFF2-40B4-BE49-F238E27FC236}">
                <a16:creationId xmlns:a16="http://schemas.microsoft.com/office/drawing/2014/main" id="{F77ED31B-0E71-4B15-A5DD-D678D0230B3E}"/>
              </a:ext>
            </a:extLst>
          </p:cNvPr>
          <p:cNvPicPr>
            <a:picLocks noChangeAspect="1"/>
          </p:cNvPicPr>
          <p:nvPr/>
        </p:nvPicPr>
        <p:blipFill rotWithShape="1">
          <a:blip r:embed="rId2"/>
          <a:srcRect t="6516"/>
          <a:stretch/>
        </p:blipFill>
        <p:spPr>
          <a:xfrm>
            <a:off x="0" y="1140178"/>
            <a:ext cx="9144000" cy="3077660"/>
          </a:xfrm>
          <a:prstGeom prst="rect">
            <a:avLst/>
          </a:prstGeom>
        </p:spPr>
      </p:pic>
    </p:spTree>
    <p:extLst>
      <p:ext uri="{BB962C8B-B14F-4D97-AF65-F5344CB8AC3E}">
        <p14:creationId xmlns:p14="http://schemas.microsoft.com/office/powerpoint/2010/main" val="202889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626DB37-67F3-8520-E2D7-FBB1D39F3C65}"/>
              </a:ext>
            </a:extLst>
          </p:cNvPr>
          <p:cNvSpPr>
            <a:spLocks noGrp="1"/>
          </p:cNvSpPr>
          <p:nvPr>
            <p:ph type="sldNum" sz="quarter" idx="4"/>
          </p:nvPr>
        </p:nvSpPr>
        <p:spPr/>
        <p:txBody>
          <a:bodyPr/>
          <a:lstStyle/>
          <a:p>
            <a:fld id="{585754B4-F252-4673-A93E-AFAD19F3B91A}" type="slidenum">
              <a:rPr lang="es-CO" smtClean="0"/>
              <a:t>7</a:t>
            </a:fld>
            <a:endParaRPr lang="es-CO"/>
          </a:p>
        </p:txBody>
      </p:sp>
      <p:sp>
        <p:nvSpPr>
          <p:cNvPr id="11" name="Título 1">
            <a:extLst>
              <a:ext uri="{FF2B5EF4-FFF2-40B4-BE49-F238E27FC236}">
                <a16:creationId xmlns:a16="http://schemas.microsoft.com/office/drawing/2014/main" id="{CDCDC6EB-0825-9C8C-45AB-5F5ABC780E40}"/>
              </a:ext>
            </a:extLst>
          </p:cNvPr>
          <p:cNvSpPr>
            <a:spLocks noGrp="1"/>
          </p:cNvSpPr>
          <p:nvPr>
            <p:ph type="ctrTitle"/>
          </p:nvPr>
        </p:nvSpPr>
        <p:spPr>
          <a:xfrm>
            <a:off x="579732" y="629031"/>
            <a:ext cx="8259468" cy="682937"/>
          </a:xfrm>
        </p:spPr>
        <p:txBody>
          <a:bodyPr/>
          <a:lstStyle/>
          <a:p>
            <a:pPr algn="ctr"/>
            <a:r>
              <a:rPr lang="en-US" sz="3600" dirty="0"/>
              <a:t>Hydrograph 1</a:t>
            </a:r>
          </a:p>
        </p:txBody>
      </p:sp>
      <p:pic>
        <p:nvPicPr>
          <p:cNvPr id="3" name="Imagen 2">
            <a:extLst>
              <a:ext uri="{FF2B5EF4-FFF2-40B4-BE49-F238E27FC236}">
                <a16:creationId xmlns:a16="http://schemas.microsoft.com/office/drawing/2014/main" id="{AB2179FF-67EB-4C0B-A271-9679AEDCCDB9}"/>
              </a:ext>
            </a:extLst>
          </p:cNvPr>
          <p:cNvPicPr>
            <a:picLocks noChangeAspect="1"/>
          </p:cNvPicPr>
          <p:nvPr/>
        </p:nvPicPr>
        <p:blipFill>
          <a:blip r:embed="rId2"/>
          <a:stretch>
            <a:fillRect/>
          </a:stretch>
        </p:blipFill>
        <p:spPr>
          <a:xfrm>
            <a:off x="4587624" y="1393341"/>
            <a:ext cx="4541693" cy="2838264"/>
          </a:xfrm>
          <a:prstGeom prst="rect">
            <a:avLst/>
          </a:prstGeom>
        </p:spPr>
      </p:pic>
      <p:pic>
        <p:nvPicPr>
          <p:cNvPr id="6" name="Imagen 5">
            <a:extLst>
              <a:ext uri="{FF2B5EF4-FFF2-40B4-BE49-F238E27FC236}">
                <a16:creationId xmlns:a16="http://schemas.microsoft.com/office/drawing/2014/main" id="{97322B59-3F9B-4B7A-AD0A-C2520D144A6E}"/>
              </a:ext>
            </a:extLst>
          </p:cNvPr>
          <p:cNvPicPr>
            <a:picLocks noChangeAspect="1"/>
          </p:cNvPicPr>
          <p:nvPr/>
        </p:nvPicPr>
        <p:blipFill>
          <a:blip r:embed="rId3"/>
          <a:stretch>
            <a:fillRect/>
          </a:stretch>
        </p:blipFill>
        <p:spPr>
          <a:xfrm>
            <a:off x="-85883" y="1393341"/>
            <a:ext cx="4541693" cy="2838264"/>
          </a:xfrm>
          <a:prstGeom prst="rect">
            <a:avLst/>
          </a:prstGeom>
        </p:spPr>
      </p:pic>
    </p:spTree>
    <p:extLst>
      <p:ext uri="{BB962C8B-B14F-4D97-AF65-F5344CB8AC3E}">
        <p14:creationId xmlns:p14="http://schemas.microsoft.com/office/powerpoint/2010/main" val="24480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9D52-9E34-0926-C8C1-47AA7E4EB92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BF823F5-67D7-B033-4B55-AA60FBF0B977}"/>
              </a:ext>
            </a:extLst>
          </p:cNvPr>
          <p:cNvSpPr>
            <a:spLocks noGrp="1"/>
          </p:cNvSpPr>
          <p:nvPr>
            <p:ph type="sldNum" sz="quarter" idx="4"/>
          </p:nvPr>
        </p:nvSpPr>
        <p:spPr/>
        <p:txBody>
          <a:bodyPr/>
          <a:lstStyle/>
          <a:p>
            <a:fld id="{585754B4-F252-4673-A93E-AFAD19F3B91A}" type="slidenum">
              <a:rPr lang="es-CO" smtClean="0"/>
              <a:t>8</a:t>
            </a:fld>
            <a:endParaRPr lang="es-CO"/>
          </a:p>
        </p:txBody>
      </p:sp>
      <p:sp>
        <p:nvSpPr>
          <p:cNvPr id="11" name="Título 1">
            <a:extLst>
              <a:ext uri="{FF2B5EF4-FFF2-40B4-BE49-F238E27FC236}">
                <a16:creationId xmlns:a16="http://schemas.microsoft.com/office/drawing/2014/main" id="{96B9EDD6-4D4B-372B-3595-7F663CA86EDA}"/>
              </a:ext>
            </a:extLst>
          </p:cNvPr>
          <p:cNvSpPr>
            <a:spLocks noGrp="1"/>
          </p:cNvSpPr>
          <p:nvPr>
            <p:ph type="ctrTitle"/>
          </p:nvPr>
        </p:nvSpPr>
        <p:spPr>
          <a:xfrm>
            <a:off x="579732" y="629031"/>
            <a:ext cx="8259468" cy="682937"/>
          </a:xfrm>
        </p:spPr>
        <p:txBody>
          <a:bodyPr/>
          <a:lstStyle/>
          <a:p>
            <a:pPr algn="ctr"/>
            <a:r>
              <a:rPr lang="en-US" sz="3600" dirty="0"/>
              <a:t>Hydrograph 1</a:t>
            </a:r>
          </a:p>
        </p:txBody>
      </p:sp>
      <p:pic>
        <p:nvPicPr>
          <p:cNvPr id="5" name="Imagen 4">
            <a:extLst>
              <a:ext uri="{FF2B5EF4-FFF2-40B4-BE49-F238E27FC236}">
                <a16:creationId xmlns:a16="http://schemas.microsoft.com/office/drawing/2014/main" id="{4CBD982C-AC36-4772-9DED-E98FCBBEFF41}"/>
              </a:ext>
            </a:extLst>
          </p:cNvPr>
          <p:cNvPicPr>
            <a:picLocks noChangeAspect="1"/>
          </p:cNvPicPr>
          <p:nvPr/>
        </p:nvPicPr>
        <p:blipFill>
          <a:blip r:embed="rId2"/>
          <a:stretch>
            <a:fillRect/>
          </a:stretch>
        </p:blipFill>
        <p:spPr>
          <a:xfrm>
            <a:off x="3130955" y="1457216"/>
            <a:ext cx="3157021" cy="3266398"/>
          </a:xfrm>
          <a:prstGeom prst="rect">
            <a:avLst/>
          </a:prstGeom>
        </p:spPr>
      </p:pic>
    </p:spTree>
    <p:extLst>
      <p:ext uri="{BB962C8B-B14F-4D97-AF65-F5344CB8AC3E}">
        <p14:creationId xmlns:p14="http://schemas.microsoft.com/office/powerpoint/2010/main" val="132455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FDE7-4805-3429-7AB8-8450B869FF8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F2EBCF-B505-5B79-3BEF-C3568754B25C}"/>
              </a:ext>
            </a:extLst>
          </p:cNvPr>
          <p:cNvSpPr>
            <a:spLocks noGrp="1"/>
          </p:cNvSpPr>
          <p:nvPr>
            <p:ph type="sldNum" sz="quarter" idx="4"/>
          </p:nvPr>
        </p:nvSpPr>
        <p:spPr/>
        <p:txBody>
          <a:bodyPr/>
          <a:lstStyle/>
          <a:p>
            <a:fld id="{585754B4-F252-4673-A93E-AFAD19F3B91A}" type="slidenum">
              <a:rPr lang="es-CO" smtClean="0"/>
              <a:t>9</a:t>
            </a:fld>
            <a:endParaRPr lang="es-CO"/>
          </a:p>
        </p:txBody>
      </p:sp>
      <p:sp>
        <p:nvSpPr>
          <p:cNvPr id="11" name="Título 1">
            <a:extLst>
              <a:ext uri="{FF2B5EF4-FFF2-40B4-BE49-F238E27FC236}">
                <a16:creationId xmlns:a16="http://schemas.microsoft.com/office/drawing/2014/main" id="{09339CA4-DF15-7763-E093-853AF320FD65}"/>
              </a:ext>
            </a:extLst>
          </p:cNvPr>
          <p:cNvSpPr>
            <a:spLocks noGrp="1"/>
          </p:cNvSpPr>
          <p:nvPr>
            <p:ph type="ctrTitle"/>
          </p:nvPr>
        </p:nvSpPr>
        <p:spPr>
          <a:xfrm>
            <a:off x="579732" y="629031"/>
            <a:ext cx="8259468" cy="682937"/>
          </a:xfrm>
        </p:spPr>
        <p:txBody>
          <a:bodyPr/>
          <a:lstStyle/>
          <a:p>
            <a:pPr algn="ctr"/>
            <a:r>
              <a:rPr lang="en-US" sz="3600" dirty="0"/>
              <a:t>Hydrograph 2</a:t>
            </a:r>
          </a:p>
        </p:txBody>
      </p:sp>
      <p:pic>
        <p:nvPicPr>
          <p:cNvPr id="3" name="Imagen 2">
            <a:extLst>
              <a:ext uri="{FF2B5EF4-FFF2-40B4-BE49-F238E27FC236}">
                <a16:creationId xmlns:a16="http://schemas.microsoft.com/office/drawing/2014/main" id="{142DFF09-AE1F-459C-ADE1-1A31CBCDC5ED}"/>
              </a:ext>
            </a:extLst>
          </p:cNvPr>
          <p:cNvPicPr>
            <a:picLocks noChangeAspect="1"/>
          </p:cNvPicPr>
          <p:nvPr/>
        </p:nvPicPr>
        <p:blipFill>
          <a:blip r:embed="rId2"/>
          <a:stretch>
            <a:fillRect/>
          </a:stretch>
        </p:blipFill>
        <p:spPr>
          <a:xfrm>
            <a:off x="265513" y="1498681"/>
            <a:ext cx="4306487" cy="2655630"/>
          </a:xfrm>
          <a:prstGeom prst="rect">
            <a:avLst/>
          </a:prstGeom>
        </p:spPr>
      </p:pic>
      <p:pic>
        <p:nvPicPr>
          <p:cNvPr id="7" name="Imagen 6">
            <a:extLst>
              <a:ext uri="{FF2B5EF4-FFF2-40B4-BE49-F238E27FC236}">
                <a16:creationId xmlns:a16="http://schemas.microsoft.com/office/drawing/2014/main" id="{D9529BE3-4746-4F1F-A4F7-5B5C00D0B122}"/>
              </a:ext>
            </a:extLst>
          </p:cNvPr>
          <p:cNvPicPr>
            <a:picLocks noChangeAspect="1"/>
          </p:cNvPicPr>
          <p:nvPr/>
        </p:nvPicPr>
        <p:blipFill>
          <a:blip r:embed="rId3"/>
          <a:stretch>
            <a:fillRect/>
          </a:stretch>
        </p:blipFill>
        <p:spPr>
          <a:xfrm>
            <a:off x="4799982" y="1498681"/>
            <a:ext cx="4226998" cy="2606612"/>
          </a:xfrm>
          <a:prstGeom prst="rect">
            <a:avLst/>
          </a:prstGeom>
        </p:spPr>
      </p:pic>
    </p:spTree>
    <p:extLst>
      <p:ext uri="{BB962C8B-B14F-4D97-AF65-F5344CB8AC3E}">
        <p14:creationId xmlns:p14="http://schemas.microsoft.com/office/powerpoint/2010/main" val="195235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76CB-76A9-EEB9-D917-4A2C0EEBF1D0}"/>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F27D437-394F-8E4A-0B83-E4EDE5652BD6}"/>
              </a:ext>
            </a:extLst>
          </p:cNvPr>
          <p:cNvSpPr>
            <a:spLocks noGrp="1"/>
          </p:cNvSpPr>
          <p:nvPr>
            <p:ph type="sldNum" sz="quarter" idx="4"/>
          </p:nvPr>
        </p:nvSpPr>
        <p:spPr/>
        <p:txBody>
          <a:bodyPr/>
          <a:lstStyle/>
          <a:p>
            <a:fld id="{585754B4-F252-4673-A93E-AFAD19F3B91A}" type="slidenum">
              <a:rPr lang="es-CO" smtClean="0"/>
              <a:t>10</a:t>
            </a:fld>
            <a:endParaRPr lang="es-CO"/>
          </a:p>
        </p:txBody>
      </p:sp>
      <p:sp>
        <p:nvSpPr>
          <p:cNvPr id="11" name="Título 1">
            <a:extLst>
              <a:ext uri="{FF2B5EF4-FFF2-40B4-BE49-F238E27FC236}">
                <a16:creationId xmlns:a16="http://schemas.microsoft.com/office/drawing/2014/main" id="{4E7BB490-16C1-CBEF-4A70-93F0E7D40F3B}"/>
              </a:ext>
            </a:extLst>
          </p:cNvPr>
          <p:cNvSpPr>
            <a:spLocks noGrp="1"/>
          </p:cNvSpPr>
          <p:nvPr>
            <p:ph type="ctrTitle"/>
          </p:nvPr>
        </p:nvSpPr>
        <p:spPr>
          <a:xfrm>
            <a:off x="579732" y="629031"/>
            <a:ext cx="8259468" cy="682937"/>
          </a:xfrm>
        </p:spPr>
        <p:txBody>
          <a:bodyPr/>
          <a:lstStyle/>
          <a:p>
            <a:pPr algn="ctr"/>
            <a:r>
              <a:rPr lang="en-US" sz="3600" dirty="0"/>
              <a:t>Hydrograph 2</a:t>
            </a:r>
          </a:p>
        </p:txBody>
      </p:sp>
      <p:pic>
        <p:nvPicPr>
          <p:cNvPr id="3" name="Imagen 2">
            <a:extLst>
              <a:ext uri="{FF2B5EF4-FFF2-40B4-BE49-F238E27FC236}">
                <a16:creationId xmlns:a16="http://schemas.microsoft.com/office/drawing/2014/main" id="{CA5BF9FC-2F24-4D51-BE15-55CEC2DA68B0}"/>
              </a:ext>
            </a:extLst>
          </p:cNvPr>
          <p:cNvPicPr>
            <a:picLocks noChangeAspect="1"/>
          </p:cNvPicPr>
          <p:nvPr/>
        </p:nvPicPr>
        <p:blipFill>
          <a:blip r:embed="rId2"/>
          <a:stretch>
            <a:fillRect/>
          </a:stretch>
        </p:blipFill>
        <p:spPr>
          <a:xfrm>
            <a:off x="2659149" y="1174648"/>
            <a:ext cx="3825701" cy="3831533"/>
          </a:xfrm>
          <a:prstGeom prst="rect">
            <a:avLst/>
          </a:prstGeom>
        </p:spPr>
      </p:pic>
    </p:spTree>
    <p:extLst>
      <p:ext uri="{BB962C8B-B14F-4D97-AF65-F5344CB8AC3E}">
        <p14:creationId xmlns:p14="http://schemas.microsoft.com/office/powerpoint/2010/main" val="26350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FB974-508E-4911-A51E-8A1258E6DCB0}"/>
              </a:ext>
            </a:extLst>
          </p:cNvPr>
          <p:cNvSpPr>
            <a:spLocks noGrp="1"/>
          </p:cNvSpPr>
          <p:nvPr>
            <p:ph type="ctrTitle"/>
          </p:nvPr>
        </p:nvSpPr>
        <p:spPr>
          <a:xfrm>
            <a:off x="753684" y="712063"/>
            <a:ext cx="6728028" cy="1948500"/>
          </a:xfrm>
        </p:spPr>
        <p:txBody>
          <a:bodyPr/>
          <a:lstStyle/>
          <a:p>
            <a:r>
              <a:rPr lang="en-US" sz="2400" dirty="0"/>
              <a:t>Validation hydrographs</a:t>
            </a:r>
          </a:p>
        </p:txBody>
      </p:sp>
      <p:sp>
        <p:nvSpPr>
          <p:cNvPr id="4" name="Marcador de número de diapositiva 3">
            <a:extLst>
              <a:ext uri="{FF2B5EF4-FFF2-40B4-BE49-F238E27FC236}">
                <a16:creationId xmlns:a16="http://schemas.microsoft.com/office/drawing/2014/main" id="{D677A189-3140-48BF-983E-8EAC48737321}"/>
              </a:ext>
            </a:extLst>
          </p:cNvPr>
          <p:cNvSpPr>
            <a:spLocks noGrp="1"/>
          </p:cNvSpPr>
          <p:nvPr>
            <p:ph type="sldNum" sz="quarter" idx="4"/>
          </p:nvPr>
        </p:nvSpPr>
        <p:spPr/>
        <p:txBody>
          <a:bodyPr/>
          <a:lstStyle/>
          <a:p>
            <a:fld id="{585754B4-F252-4673-A93E-AFAD19F3B91A}" type="slidenum">
              <a:rPr lang="es-CO" smtClean="0"/>
              <a:t>11</a:t>
            </a:fld>
            <a:endParaRPr lang="es-CO"/>
          </a:p>
        </p:txBody>
      </p:sp>
      <p:pic>
        <p:nvPicPr>
          <p:cNvPr id="6" name="Imagen 5">
            <a:extLst>
              <a:ext uri="{FF2B5EF4-FFF2-40B4-BE49-F238E27FC236}">
                <a16:creationId xmlns:a16="http://schemas.microsoft.com/office/drawing/2014/main" id="{28B79CF2-DA30-4611-B391-F0715A55DA2E}"/>
              </a:ext>
            </a:extLst>
          </p:cNvPr>
          <p:cNvPicPr>
            <a:picLocks noChangeAspect="1"/>
          </p:cNvPicPr>
          <p:nvPr/>
        </p:nvPicPr>
        <p:blipFill rotWithShape="1">
          <a:blip r:embed="rId2"/>
          <a:srcRect t="6816"/>
          <a:stretch/>
        </p:blipFill>
        <p:spPr>
          <a:xfrm>
            <a:off x="169112" y="1185334"/>
            <a:ext cx="8805775" cy="3584770"/>
          </a:xfrm>
          <a:prstGeom prst="rect">
            <a:avLst/>
          </a:prstGeom>
        </p:spPr>
      </p:pic>
    </p:spTree>
    <p:extLst>
      <p:ext uri="{BB962C8B-B14F-4D97-AF65-F5344CB8AC3E}">
        <p14:creationId xmlns:p14="http://schemas.microsoft.com/office/powerpoint/2010/main" val="1628622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43497D6-9EFC-5C3C-3D97-5839F30B0410}"/>
              </a:ext>
            </a:extLst>
          </p:cNvPr>
          <p:cNvSpPr>
            <a:spLocks noGrp="1"/>
          </p:cNvSpPr>
          <p:nvPr>
            <p:ph type="sldNum" sz="quarter" idx="4"/>
          </p:nvPr>
        </p:nvSpPr>
        <p:spPr/>
        <p:txBody>
          <a:bodyPr/>
          <a:lstStyle/>
          <a:p>
            <a:fld id="{585754B4-F252-4673-A93E-AFAD19F3B91A}" type="slidenum">
              <a:rPr lang="es-CO" smtClean="0"/>
              <a:t>12</a:t>
            </a:fld>
            <a:endParaRPr lang="es-CO"/>
          </a:p>
        </p:txBody>
      </p:sp>
      <p:graphicFrame>
        <p:nvGraphicFramePr>
          <p:cNvPr id="7" name="Tabla 9">
            <a:extLst>
              <a:ext uri="{FF2B5EF4-FFF2-40B4-BE49-F238E27FC236}">
                <a16:creationId xmlns:a16="http://schemas.microsoft.com/office/drawing/2014/main" id="{AB3D8465-6913-E28D-A772-257D3B80A86F}"/>
              </a:ext>
            </a:extLst>
          </p:cNvPr>
          <p:cNvGraphicFramePr>
            <a:graphicFrameLocks noGrp="1"/>
          </p:cNvGraphicFramePr>
          <p:nvPr>
            <p:extLst>
              <p:ext uri="{D42A27DB-BD31-4B8C-83A1-F6EECF244321}">
                <p14:modId xmlns:p14="http://schemas.microsoft.com/office/powerpoint/2010/main" val="4119193712"/>
              </p:ext>
            </p:extLst>
          </p:nvPr>
        </p:nvGraphicFramePr>
        <p:xfrm>
          <a:off x="341208" y="1018309"/>
          <a:ext cx="8269391" cy="3539482"/>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n-US" sz="1000" dirty="0">
                          <a:solidFill>
                            <a:srgbClr val="FFFFFF"/>
                          </a:solidFill>
                        </a:rPr>
                        <a:t>Observations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1</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Substantially expand the simulation set: generate more training information before concluding that the model architecture needs to change.</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solidFill>
                            <a:schemeClr val="bg1"/>
                          </a:solidFill>
                        </a:rPr>
                        <a:t>All</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2</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Increase the diversity of the training scenarios: incorporate extreme events, infrequent combinations, and conditions outside the range currently considered.</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solidFill>
                            <a:schemeClr val="bg1"/>
                          </a:solidFill>
                        </a:rPr>
                        <a:t>All</a:t>
                      </a:r>
                    </a:p>
                  </a:txBody>
                  <a:tcPr>
                    <a:solidFill>
                      <a:srgbClr val="FFFFB3"/>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3</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Explain the binary classification clearly: describe the criterion used to decide whether a node floods or not and how the classes are assigned.</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Examine in more depth the information that drives the classification: analyze which variables and hydraulic conditions lead the model to predict flooding or no flooding.</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Clarify the terminology of the hydraulic variables: define precisely the difference between incoming discharge, inflow, and the variables related to flow magnitude or scaling.</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Ensure a fair comparison between models: state explicitly that all were trained and evaluated with the same data, splits, metrics, and validation procedures.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chemeClr val="bg1"/>
                          </a:solidFill>
                        </a:rPr>
                        <a:t>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Incorporate temporal, spatial, and topological information: include descriptors of the event evolution, of the prior hydraulic state, and of the relationships between neighboring, upstream, and downstream nodes.</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 Alejandra Tabares</a:t>
                      </a:r>
                    </a:p>
                  </a:txBody>
                  <a:tcPr>
                    <a:solidFill>
                      <a:srgbClr val="FFFFB3"/>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13914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294EAF-EDC7-1E8C-E44E-837C2B6FC7B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FA138E4-B0F9-7A69-20CB-7E01BE5FC2ED}"/>
              </a:ext>
            </a:extLst>
          </p:cNvPr>
          <p:cNvSpPr>
            <a:spLocks noGrp="1"/>
          </p:cNvSpPr>
          <p:nvPr>
            <p:ph type="sldNum" sz="quarter" idx="4"/>
          </p:nvPr>
        </p:nvSpPr>
        <p:spPr/>
        <p:txBody>
          <a:bodyPr/>
          <a:lstStyle/>
          <a:p>
            <a:fld id="{585754B4-F252-4673-A93E-AFAD19F3B91A}" type="slidenum">
              <a:rPr lang="es-CO" smtClean="0"/>
              <a:t>13</a:t>
            </a:fld>
            <a:endParaRPr lang="es-CO"/>
          </a:p>
        </p:txBody>
      </p:sp>
      <p:graphicFrame>
        <p:nvGraphicFramePr>
          <p:cNvPr id="7" name="Tabla 9">
            <a:extLst>
              <a:ext uri="{FF2B5EF4-FFF2-40B4-BE49-F238E27FC236}">
                <a16:creationId xmlns:a16="http://schemas.microsoft.com/office/drawing/2014/main" id="{99180F23-7B54-B0E8-E28E-651F0632C479}"/>
              </a:ext>
            </a:extLst>
          </p:cNvPr>
          <p:cNvGraphicFramePr>
            <a:graphicFrameLocks noGrp="1"/>
          </p:cNvGraphicFramePr>
          <p:nvPr>
            <p:extLst>
              <p:ext uri="{D42A27DB-BD31-4B8C-83A1-F6EECF244321}">
                <p14:modId xmlns:p14="http://schemas.microsoft.com/office/powerpoint/2010/main" val="417949955"/>
              </p:ext>
            </p:extLst>
          </p:nvPr>
        </p:nvGraphicFramePr>
        <p:xfrm>
          <a:off x="341208" y="1018309"/>
          <a:ext cx="8269391" cy="400620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n-US" sz="1000" dirty="0">
                          <a:solidFill>
                            <a:srgbClr val="FFFFFF"/>
                          </a:solidFill>
                        </a:rPr>
                        <a:t>Observations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8</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Implement a systematic hyperparameter search: explain the automated procedure clearly and use Bayesian optimization, for example with Optuna.</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Alejandra Tabares, Raziyeh Farmani</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9</a:t>
                      </a:r>
                    </a:p>
                  </a:txBody>
                  <a:tcPr>
                    <a:solidFill>
                      <a:srgbClr val="A4FF9F"/>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Redefine the main research objective: specify whether the purpose is to develop a surrogate model to speed up hydraulic simulations, to support real-time decisions, or to combine both scopes.</a:t>
                      </a:r>
                    </a:p>
                  </a:txBody>
                  <a:tcPr marL="9525" marR="9525" marT="9525" marB="0" anchor="ctr">
                    <a:solidFill>
                      <a:srgbClr val="A4FF9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A4FF9F"/>
                    </a:solidFill>
                  </a:tcPr>
                </a:tc>
                <a:extLst>
                  <a:ext uri="{0D108BD9-81ED-4DB2-BD59-A6C34878D82A}">
                    <a16:rowId xmlns:a16="http://schemas.microsoft.com/office/drawing/2014/main" val="1759192205"/>
                  </a:ext>
                </a:extLst>
              </a:tr>
              <a:tr h="370840">
                <a:tc>
                  <a:txBody>
                    <a:bodyPr/>
                    <a:lstStyle/>
                    <a:p>
                      <a:r>
                        <a:rPr lang="es-CO" sz="1000" dirty="0">
                          <a:solidFill>
                            <a:srgbClr val="FFFFFF"/>
                          </a:solidFill>
                        </a:rPr>
                        <a:t>10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Explain the overall model architecture more clearly: identify the input variables, the predicted outputs, and the relationship between them.</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60357366"/>
                  </a:ext>
                </a:extLst>
              </a:tr>
              <a:tr h="370840">
                <a:tc>
                  <a:txBody>
                    <a:bodyPr/>
                    <a:lstStyle/>
                    <a:p>
                      <a:r>
                        <a:rPr lang="es-CO" sz="1000" dirty="0">
                          <a:solidFill>
                            <a:srgbClr val="FFFFFF"/>
                          </a:solidFill>
                        </a:rPr>
                        <a:t>11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Improve the interpretation of variable importance: explain how importance is computed and how it should be interpreted from a hydraulic perspective.</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906638111"/>
                  </a:ext>
                </a:extLst>
              </a:tr>
              <a:tr h="370840">
                <a:tc>
                  <a:txBody>
                    <a:bodyPr/>
                    <a:lstStyle/>
                    <a:p>
                      <a:r>
                        <a:rPr lang="es-CO" sz="1000" dirty="0">
                          <a:solidFill>
                            <a:srgbClr val="FFFFFF"/>
                          </a:solidFill>
                        </a:rPr>
                        <a:t>12</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Assess the sufficiency and representativeness of the dataset: justify whether the number and diversity of simulations are adequate to train the models and to evaluate their generalization capacity.</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189397800"/>
                  </a:ext>
                </a:extLst>
              </a:tr>
              <a:tr h="370840">
                <a:tc>
                  <a:txBody>
                    <a:bodyPr/>
                    <a:lstStyle/>
                    <a:p>
                      <a:r>
                        <a:rPr lang="es-CO" sz="1000" dirty="0">
                          <a:solidFill>
                            <a:srgbClr val="FFFFFF"/>
                          </a:solidFill>
                        </a:rPr>
                        <a:t>13</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Justify the choice of algorithms in more depth: explain why linear models, support vector machines, and XGBoost were evaluated, including their advantages and limitations.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380875798"/>
                  </a:ext>
                </a:extLst>
              </a:tr>
              <a:tr h="370840">
                <a:tc>
                  <a:txBody>
                    <a:bodyPr/>
                    <a:lstStyle/>
                    <a:p>
                      <a:r>
                        <a:rPr lang="es-CO" sz="1000" dirty="0">
                          <a:solidFill>
                            <a:srgbClr val="FFFFFF"/>
                          </a:solidFill>
                        </a:rPr>
                        <a:t>14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Analyze the influence of the main hyperparameters: evaluate how parameters such as maximum depth, number of trees, learning rate, and subsampling affect performance.</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03816403"/>
                  </a:ext>
                </a:extLst>
              </a:tr>
              <a:tr h="370840">
                <a:tc>
                  <a:txBody>
                    <a:bodyPr/>
                    <a:lstStyle/>
                    <a:p>
                      <a:r>
                        <a:rPr lang="es-CO" sz="1000" dirty="0">
                          <a:solidFill>
                            <a:srgbClr val="FFFFFF"/>
                          </a:solidFill>
                        </a:rPr>
                        <a:t>15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Extend the validation to new scenarios: evaluate the model's ability to extrapolate beyond the training range and identify the conditions under which its predictions stop being reliable.</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171465059"/>
                  </a:ext>
                </a:extLst>
              </a:tr>
            </a:tbl>
          </a:graphicData>
        </a:graphic>
      </p:graphicFrame>
    </p:spTree>
    <p:extLst>
      <p:ext uri="{BB962C8B-B14F-4D97-AF65-F5344CB8AC3E}">
        <p14:creationId xmlns:p14="http://schemas.microsoft.com/office/powerpoint/2010/main" val="111864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36966B-BBD8-9949-C49D-F6AA6FB942D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5310A4D-EBE8-B1B7-336E-5751D0F0E21D}"/>
              </a:ext>
            </a:extLst>
          </p:cNvPr>
          <p:cNvSpPr>
            <a:spLocks noGrp="1"/>
          </p:cNvSpPr>
          <p:nvPr>
            <p:ph type="sldNum" sz="quarter" idx="4"/>
          </p:nvPr>
        </p:nvSpPr>
        <p:spPr/>
        <p:txBody>
          <a:bodyPr/>
          <a:lstStyle/>
          <a:p>
            <a:fld id="{585754B4-F252-4673-A93E-AFAD19F3B91A}" type="slidenum">
              <a:rPr lang="es-CO" smtClean="0"/>
              <a:t>14</a:t>
            </a:fld>
            <a:endParaRPr lang="es-CO"/>
          </a:p>
        </p:txBody>
      </p:sp>
      <p:graphicFrame>
        <p:nvGraphicFramePr>
          <p:cNvPr id="7" name="Tabla 9">
            <a:extLst>
              <a:ext uri="{FF2B5EF4-FFF2-40B4-BE49-F238E27FC236}">
                <a16:creationId xmlns:a16="http://schemas.microsoft.com/office/drawing/2014/main" id="{810318F4-2DEB-026B-FE1D-3ACA7ADECB88}"/>
              </a:ext>
            </a:extLst>
          </p:cNvPr>
          <p:cNvGraphicFramePr>
            <a:graphicFrameLocks noGrp="1"/>
          </p:cNvGraphicFramePr>
          <p:nvPr>
            <p:extLst>
              <p:ext uri="{D42A27DB-BD31-4B8C-83A1-F6EECF244321}">
                <p14:modId xmlns:p14="http://schemas.microsoft.com/office/powerpoint/2010/main" val="4123426406"/>
              </p:ext>
            </p:extLst>
          </p:nvPr>
        </p:nvGraphicFramePr>
        <p:xfrm>
          <a:off x="341208" y="1018309"/>
          <a:ext cx="8269391" cy="322515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n-US" sz="1000" dirty="0">
                          <a:solidFill>
                            <a:srgbClr val="FFFFFF"/>
                          </a:solidFill>
                        </a:rPr>
                        <a:t>Observations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rgbClr val="FFFFFF"/>
                          </a:solidFill>
                        </a:rPr>
                        <a:t>16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Deepen the technical discussion of the results: interpret performance from a hydraulic perspective, analyze the causes of the errors, and discuss limitations and practical implications.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17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chemeClr val="bg1"/>
                          </a:solidFill>
                          <a:latin typeface="+mn-lt"/>
                          <a:ea typeface="+mn-ea"/>
                          <a:cs typeface="+mn-cs"/>
                          <a:sym typeface="Arial"/>
                        </a:rPr>
                        <a:t>Strengthen the literature review: broaden and update the state of the art, specify the research gap, and explain how the work contributes to addressing it.</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18</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Reinforce methodological rigor and reproducibility: justify methodological decisions, document the procedures, and support them with scientific literature.</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19</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Explore spatiotemporal neural architectures: after expanding the data and improving the variables, evaluate an RNN and CNN combination to represent temporal evolution and relationships between nodes.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20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Evaluate an uncalibrated hydraulic network as a complementary analysis: analyze how model performance changes and study the uncertainty associated with the simulations.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rgbClr val="FFFFFF"/>
                          </a:solidFill>
                        </a:rPr>
                        <a:t>21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n-US" sz="1000" b="0" i="0" u="none" strike="noStrike" cap="none" dirty="0">
                          <a:solidFill>
                            <a:srgbClr val="FFFFFF"/>
                          </a:solidFill>
                          <a:latin typeface="+mn-lt"/>
                          <a:ea typeface="+mn-ea"/>
                          <a:cs typeface="+mn-cs"/>
                          <a:sym typeface="Arial"/>
                        </a:rPr>
                        <a:t>Define state variables for multi-peak events: incorporate information such as the volume stored before each pulse to represent the residual storage of the network.</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Jaime Plazas</a:t>
                      </a:r>
                    </a:p>
                  </a:txBody>
                  <a:tcPr>
                    <a:solidFill>
                      <a:srgbClr val="5E8CBE"/>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340386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30F5E-BA68-202E-7B0A-48C9A641F754}"/>
              </a:ext>
            </a:extLst>
          </p:cNvPr>
          <p:cNvSpPr>
            <a:spLocks noGrp="1"/>
          </p:cNvSpPr>
          <p:nvPr>
            <p:ph type="ctrTitle"/>
          </p:nvPr>
        </p:nvSpPr>
        <p:spPr>
          <a:xfrm>
            <a:off x="511234" y="591410"/>
            <a:ext cx="3277985" cy="554763"/>
          </a:xfrm>
        </p:spPr>
        <p:txBody>
          <a:bodyPr/>
          <a:lstStyle/>
          <a:p>
            <a:r>
              <a:rPr lang="en-US" sz="1600" dirty="0"/>
              <a:t>Data handling and model training workflow</a:t>
            </a:r>
          </a:p>
        </p:txBody>
      </p:sp>
      <p:sp>
        <p:nvSpPr>
          <p:cNvPr id="4" name="Marcador de número de diapositiva 3">
            <a:extLst>
              <a:ext uri="{FF2B5EF4-FFF2-40B4-BE49-F238E27FC236}">
                <a16:creationId xmlns:a16="http://schemas.microsoft.com/office/drawing/2014/main" id="{EF69496C-9079-71F3-0908-C0C85CA72F64}"/>
              </a:ext>
            </a:extLst>
          </p:cNvPr>
          <p:cNvSpPr>
            <a:spLocks noGrp="1"/>
          </p:cNvSpPr>
          <p:nvPr>
            <p:ph type="sldNum" sz="quarter" idx="4"/>
          </p:nvPr>
        </p:nvSpPr>
        <p:spPr/>
        <p:txBody>
          <a:bodyPr/>
          <a:lstStyle/>
          <a:p>
            <a:fld id="{585754B4-F252-4673-A93E-AFAD19F3B91A}" type="slidenum">
              <a:rPr lang="es-CO" smtClean="0"/>
              <a:t>15</a:t>
            </a:fld>
            <a:endParaRPr lang="es-CO"/>
          </a:p>
        </p:txBody>
      </p:sp>
      <p:pic>
        <p:nvPicPr>
          <p:cNvPr id="5" name="Imagen 4">
            <a:extLst>
              <a:ext uri="{FF2B5EF4-FFF2-40B4-BE49-F238E27FC236}">
                <a16:creationId xmlns:a16="http://schemas.microsoft.com/office/drawing/2014/main" id="{5A080E53-A15F-1798-2E61-46485B05DE72}"/>
              </a:ext>
            </a:extLst>
          </p:cNvPr>
          <p:cNvPicPr>
            <a:picLocks noChangeAspect="1"/>
          </p:cNvPicPr>
          <p:nvPr/>
        </p:nvPicPr>
        <p:blipFill>
          <a:blip r:embed="rId2"/>
          <a:srcRect l="4332" t="3160" r="9775" b="6049"/>
          <a:stretch>
            <a:fillRect/>
          </a:stretch>
        </p:blipFill>
        <p:spPr bwMode="auto">
          <a:xfrm>
            <a:off x="581891" y="1146173"/>
            <a:ext cx="2909454" cy="3917664"/>
          </a:xfrm>
          <a:prstGeom prst="rect">
            <a:avLst/>
          </a:prstGeom>
        </p:spPr>
      </p:pic>
      <p:sp>
        <p:nvSpPr>
          <p:cNvPr id="12" name="Título 1">
            <a:extLst>
              <a:ext uri="{FF2B5EF4-FFF2-40B4-BE49-F238E27FC236}">
                <a16:creationId xmlns:a16="http://schemas.microsoft.com/office/drawing/2014/main" id="{FE4015AE-274D-F04E-C156-503874D2BFD4}"/>
              </a:ext>
            </a:extLst>
          </p:cNvPr>
          <p:cNvSpPr txBox="1">
            <a:spLocks/>
          </p:cNvSpPr>
          <p:nvPr/>
        </p:nvSpPr>
        <p:spPr>
          <a:xfrm>
            <a:off x="5020889" y="646828"/>
            <a:ext cx="3277985" cy="5547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2"/>
              </a:buClr>
              <a:buSzPts val="5200"/>
              <a:buFont typeface="Libre Baskerville"/>
              <a:buNone/>
              <a:defRPr sz="4200" b="1" i="0" u="none" strike="noStrike" cap="none">
                <a:solidFill>
                  <a:schemeClr val="dk2"/>
                </a:solidFill>
                <a:latin typeface="Libre Baskerville"/>
                <a:ea typeface="Libre Baskerville"/>
                <a:cs typeface="Libre Baskerville"/>
                <a:sym typeface="Libre Baskerville"/>
              </a:defRPr>
            </a:lvl1pPr>
            <a:lvl2pPr marR="0" lvl="1"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2pPr>
            <a:lvl3pPr marR="0" lvl="2"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3pPr>
            <a:lvl4pPr marR="0" lvl="3"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4pPr>
            <a:lvl5pPr marR="0" lvl="4"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5pPr>
            <a:lvl6pPr marR="0" lvl="5"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6pPr>
            <a:lvl7pPr marR="0" lvl="6"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7pPr>
            <a:lvl8pPr marR="0" lvl="7"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8pPr>
            <a:lvl9pPr marR="0" lvl="8"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9pPr>
          </a:lstStyle>
          <a:p>
            <a:r>
              <a:rPr lang="en-US" sz="1600" dirty="0"/>
              <a:t>Model validation workflow</a:t>
            </a:r>
          </a:p>
        </p:txBody>
      </p:sp>
      <p:pic>
        <p:nvPicPr>
          <p:cNvPr id="13" name="Imagen 12">
            <a:extLst>
              <a:ext uri="{FF2B5EF4-FFF2-40B4-BE49-F238E27FC236}">
                <a16:creationId xmlns:a16="http://schemas.microsoft.com/office/drawing/2014/main" id="{798B8C84-083F-6C4E-9CAD-8BD78F63DA02}"/>
              </a:ext>
            </a:extLst>
          </p:cNvPr>
          <p:cNvPicPr>
            <a:picLocks noChangeAspect="1"/>
          </p:cNvPicPr>
          <p:nvPr/>
        </p:nvPicPr>
        <p:blipFill>
          <a:blip r:embed="rId3"/>
          <a:srcRect l="9957" t="3197" r="5357" b="5036"/>
          <a:stretch>
            <a:fillRect/>
          </a:stretch>
        </p:blipFill>
        <p:spPr bwMode="auto">
          <a:xfrm>
            <a:off x="4821382" y="1324696"/>
            <a:ext cx="3243813" cy="3233450"/>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Entrada de lápiz 17">
                <a:extLst>
                  <a:ext uri="{FF2B5EF4-FFF2-40B4-BE49-F238E27FC236}">
                    <a16:creationId xmlns:a16="http://schemas.microsoft.com/office/drawing/2014/main" id="{5AB56417-6C2E-26EF-424B-C4227955EC5B}"/>
                  </a:ext>
                </a:extLst>
              </p14:cNvPr>
              <p14:cNvContentPartPr/>
              <p14:nvPr/>
            </p14:nvContentPartPr>
            <p14:xfrm>
              <a:off x="5333738" y="2105640"/>
              <a:ext cx="374400" cy="7200"/>
            </p14:xfrm>
          </p:contentPart>
        </mc:Choice>
        <mc:Fallback xmlns="">
          <p:pic>
            <p:nvPicPr>
              <p:cNvPr id="18" name="Entrada de lápiz 17">
                <a:extLst>
                  <a:ext uri="{FF2B5EF4-FFF2-40B4-BE49-F238E27FC236}">
                    <a16:creationId xmlns:a16="http://schemas.microsoft.com/office/drawing/2014/main" id="{5AB56417-6C2E-26EF-424B-C4227955EC5B}"/>
                  </a:ext>
                </a:extLst>
              </p:cNvPr>
              <p:cNvPicPr/>
              <p:nvPr/>
            </p:nvPicPr>
            <p:blipFill>
              <a:blip r:embed="rId5"/>
              <a:stretch>
                <a:fillRect/>
              </a:stretch>
            </p:blipFill>
            <p:spPr>
              <a:xfrm>
                <a:off x="5297738" y="2069640"/>
                <a:ext cx="446040" cy="78840"/>
              </a:xfrm>
              <a:prstGeom prst="rect">
                <a:avLst/>
              </a:prstGeom>
            </p:spPr>
          </p:pic>
        </mc:Fallback>
      </mc:AlternateContent>
    </p:spTree>
    <p:extLst>
      <p:ext uri="{BB962C8B-B14F-4D97-AF65-F5344CB8AC3E}">
        <p14:creationId xmlns:p14="http://schemas.microsoft.com/office/powerpoint/2010/main" val="3064627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BF259-65CE-D3EB-286B-F1391FBE046F}"/>
              </a:ext>
            </a:extLst>
          </p:cNvPr>
          <p:cNvSpPr>
            <a:spLocks noGrp="1"/>
          </p:cNvSpPr>
          <p:nvPr>
            <p:ph type="ctrTitle"/>
          </p:nvPr>
        </p:nvSpPr>
        <p:spPr>
          <a:xfrm>
            <a:off x="535784" y="695900"/>
            <a:ext cx="8072432" cy="405600"/>
          </a:xfrm>
        </p:spPr>
        <p:txBody>
          <a:bodyPr/>
          <a:lstStyle/>
          <a:p>
            <a:r>
              <a:rPr lang="en-US" sz="2000" dirty="0"/>
              <a:t>Example database – Node 75</a:t>
            </a:r>
          </a:p>
        </p:txBody>
      </p:sp>
      <p:sp>
        <p:nvSpPr>
          <p:cNvPr id="4" name="Marcador de número de diapositiva 3">
            <a:extLst>
              <a:ext uri="{FF2B5EF4-FFF2-40B4-BE49-F238E27FC236}">
                <a16:creationId xmlns:a16="http://schemas.microsoft.com/office/drawing/2014/main" id="{9F1B04AC-391E-C7FC-2E4F-9C47FB322689}"/>
              </a:ext>
            </a:extLst>
          </p:cNvPr>
          <p:cNvSpPr>
            <a:spLocks noGrp="1"/>
          </p:cNvSpPr>
          <p:nvPr>
            <p:ph type="sldNum" sz="quarter" idx="4"/>
          </p:nvPr>
        </p:nvSpPr>
        <p:spPr/>
        <p:txBody>
          <a:bodyPr/>
          <a:lstStyle/>
          <a:p>
            <a:fld id="{585754B4-F252-4673-A93E-AFAD19F3B91A}" type="slidenum">
              <a:rPr lang="es-CO" smtClean="0"/>
              <a:t>16</a:t>
            </a:fld>
            <a:endParaRPr lang="es-CO"/>
          </a:p>
        </p:txBody>
      </p:sp>
      <p:pic>
        <p:nvPicPr>
          <p:cNvPr id="7" name="Imagen 6">
            <a:extLst>
              <a:ext uri="{FF2B5EF4-FFF2-40B4-BE49-F238E27FC236}">
                <a16:creationId xmlns:a16="http://schemas.microsoft.com/office/drawing/2014/main" id="{6E68C9FC-8E88-4A1F-8146-1AA60470AF1F}"/>
              </a:ext>
            </a:extLst>
          </p:cNvPr>
          <p:cNvPicPr>
            <a:picLocks noChangeAspect="1"/>
          </p:cNvPicPr>
          <p:nvPr/>
        </p:nvPicPr>
        <p:blipFill>
          <a:blip r:embed="rId2"/>
          <a:stretch>
            <a:fillRect/>
          </a:stretch>
        </p:blipFill>
        <p:spPr>
          <a:xfrm>
            <a:off x="197427" y="1573366"/>
            <a:ext cx="8749145" cy="1456961"/>
          </a:xfrm>
          <a:prstGeom prst="rect">
            <a:avLst/>
          </a:prstGeom>
        </p:spPr>
      </p:pic>
      <p:sp>
        <p:nvSpPr>
          <p:cNvPr id="8" name="CuadroTexto 7">
            <a:extLst>
              <a:ext uri="{FF2B5EF4-FFF2-40B4-BE49-F238E27FC236}">
                <a16:creationId xmlns:a16="http://schemas.microsoft.com/office/drawing/2014/main" id="{5C0F9941-C470-694D-AE62-C375EA5DBADB}"/>
              </a:ext>
            </a:extLst>
          </p:cNvPr>
          <p:cNvSpPr txBox="1"/>
          <p:nvPr/>
        </p:nvSpPr>
        <p:spPr>
          <a:xfrm>
            <a:off x="443345" y="3463636"/>
            <a:ext cx="8503227" cy="523220"/>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n-US" dirty="0">
                <a:solidFill>
                  <a:schemeClr val="tx1"/>
                </a:solidFill>
              </a:rPr>
              <a:t>Green: Identifiers and response values; they are not model inputs</a:t>
            </a:r>
          </a:p>
          <a:p>
            <a:pPr marL="342900" indent="-342900">
              <a:buClr>
                <a:schemeClr val="tx1"/>
              </a:buClr>
              <a:buFont typeface="Arial" panose="020B0604020202020204" pitchFamily="34" charset="0"/>
              <a:buChar char="•"/>
            </a:pPr>
            <a:r>
              <a:rPr lang="en-US" dirty="0">
                <a:solidFill>
                  <a:schemeClr val="tx1"/>
                </a:solidFill>
              </a:rPr>
              <a:t>Purple: Input variables or features, the values and information the model takes as input</a:t>
            </a:r>
          </a:p>
        </p:txBody>
      </p:sp>
    </p:spTree>
    <p:extLst>
      <p:ext uri="{BB962C8B-B14F-4D97-AF65-F5344CB8AC3E}">
        <p14:creationId xmlns:p14="http://schemas.microsoft.com/office/powerpoint/2010/main" val="179913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Is it worth replacing XGBoost?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Target: flooding and total volume per node. Additional complexity requires a demonstrated gain.</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Route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Indicative effort*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Decision for the thesis</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Keep and strengthen XGBoost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Diverse data + validation by shape family</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PRIORITY 1. It is the reference that already works; test where it fails.</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Existing tabular MLP</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30–60 h · 1–2 weeks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PRIORITY 2. Controlled neural comparison with the same 17 inputs.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GNN / temporal model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120–240 h · 4–8 weeks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CONDITIONAL. Only if it improves extremes, topology, or required dynamics.</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Transfer between networks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180–300 h · 6–10 weeks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SECOND STAGE. Requires other networks and testing on the target.</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What we have and what remains to be measured</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Local data inspected: Chico Sur; one network, SWMM labels, and synthetic scenarios.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18</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Aspect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Status / implication</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200" b="1">
                          <a:solidFill>
                            <a:srgbClr val="8BC5FA"/>
                          </a:solidFill>
                          <a:latin typeface="Montserrat"/>
                        </a:rPr>
                        <a:t>Current data</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160 nodes and 160 pipes; no subcatchments or rain gauges. Hydrograph inputs; 17 tabular features.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200" b="1">
                          <a:solidFill>
                            <a:srgbClr val="8BC5FA"/>
                          </a:solidFill>
                          <a:latin typeface="Montserrat"/>
                        </a:rPr>
                        <a:t>Additional variables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Geometry and connectivity: recover the INP. State and flow series: prepare/export. Rainfall–runoff: new hydrological scope.</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200" b="1">
                          <a:solidFill>
                            <a:srgbClr val="8BC5FA"/>
                          </a:solidFill>
                          <a:latin typeface="Montserrat"/>
                        </a:rPr>
                        <a:t>Locally available GPU</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NVIDIA T400, 4 GB. A larger GPU used in a paper is not a demonstrated minimum requirement. Test memory and time first.</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200" b="1">
                          <a:solidFill>
                            <a:srgbClr val="8BC5FA"/>
                          </a:solidFill>
                          <a:latin typeface="Montserrat"/>
                        </a:rPr>
                        <a:t>Cost assumptions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One person with Python/SWMM; 30 h/week. Includes data, adaptation, and validation; excludes waiting, licenses, and training from scratch.</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200" b="1">
                          <a:solidFill>
                            <a:srgbClr val="8BC5FA"/>
                          </a:solidFill>
                          <a:latin typeface="Montserrat"/>
                        </a:rPr>
                        <a:t>What we cannot promise</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Local simulation/training times not yet benchmarked. Synthetic labels demonstrate SWMM emulation, not accuracy against field data.</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P1 · Zhang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19</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Physics-based drainage simulators are often too slow for online prediction. This study develops a graph-neural surrogate for hydraulic routing in urban drainage networks, using recent hydraulic states as initial conditions and future runoff and control actions as boundary conditions. The model represents the network through node–pipe relationships and adds physics-guided mechanisms that constrain predictions through flow-balance and flooding-occurrence relationships. In a stormwater case study, the GNN surrogate was more accurate and more cost-effective than a fully connected neural network after the same training budget. The physical constraints reduced errors and improved interpretability. The authors present the approach as a fast, interpretable alternative for real-time hydraulic prediction relative to a physics-based simulator.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263, 122142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CityU Hong Kong (institutional repository)</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NOT demonstrated for another network. One case study; new storms are not equivalent to a new topology.</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High hydraulic proximity. Study flood classification and balance; adopting the whole model widens the temporal scope.</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10.1016/j.watres.2024.122142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120–210 h / 4–7 wk. Data 40–70 h; GNN and validation 80–140 h. Decision: conditional.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P2 · Palmitessa et al. (2022)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20</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work demonstrates physics-guided machine learning as a fast surrogate for urban-drainage hydraulics. The neural surrogate is trained from a limited collection of high-fidelity hydrodynamic simulations and preserves distributed predictions of water levels, pipe flows, and surcharge flows across all nodes and links. It is formulated autoregressively, with runoff as a boundary input and physical constraints that retain plausible states. In the reported cases, surrogate runs are one to two orders of magnitude faster than the high-fidelity model while time-series agreement is around R² = 0.9; training takes approximately one hour. The authors identify interactive design, real-time use, and future extension to other water systems as application areas, while noting that transfer learning and GNNs remain future opportunities rather than demonstrated cross-network transfer.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223, 118972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Technical University of Denmark</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Does NOT prove weight transfer. Two systems evaluate the methodology; they do not demonstrate a universal model without retraining.</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Very useful for per-node volume, extremes, and physical constraints. Replacing MIKE 1D with SWMM would be an adaptation.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10.1016/j.watres.2022.118972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120–180 h / 4–6 wk. Data 30–60 h; adaptation/testing 90–120 h. Decision: use the ideas, do not replicate yet.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P3 · Garzón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21</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proposes an autoregressive GNN metamodel of EPA SWMM to estimate hydraulic heads in stormwater networks. It addresses the data cost of conventional fully connected neural networks by incorporating temporal, physical, and graph-relational inductive biases. The model uses topology, pipe information, runoff histories, and recent states to predict future nodal heads, then feeds predictions back through time. The study reports that the GNN reaches high accuracy and speed-up using fewer examples than fully connected baselines. Its transfer test applies the model to an unseen section of the same drainage network and obtains accurate head predictions. The contribution is therefore important for data-efficient topology-aware modelling, but it does not establish zero-shot generalization to a different city or independently designed network, and its output is hydraulic head rather than event-total overflow volume.</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266, 122396</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PARTIAL: zero-shot to an unseen subnetwork of the same system. It does not demonstrate transfer to another city or an independent network.</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Public code and data. Good GNN starting point; predicting levels does not by itself solve our overflow volume.</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10.1016/j.watres.2024.122396</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120–240 h / 4–8 wk. Data 30–60 h; GNN and volume output 90–180 h. Decision: second stage.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P4 · Garzón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22</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study systematically evaluates GNN components for urban-drainage metamodels: graph-layer type, processor depth, and multi-step prediction window. It also tests transfer across two hydraulically distinct Dutch drainage networks and across tasks, from hydraulic-head prediction to flow prediction. Moderate depth and ten-step windows achieved accurate heads and flows, while GPU-parallel simulations produced large speed-ups relative to SWMM. Crucially for this thesis, direct zero-shot transfer is not presented as sufficient: normalization and full fine-tuning on the target are required for cross-domain adaptation. Joint training across the two networks learns useful shared representations, but it is not proof of performance on a third unseen network. The paper gives a concrete protocol for comparing pretraining, zero-shot use, and fine-tuning instead of treating them as equivalent.</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290, 125079</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YES, WITH ADAPTATION between two networks. Zero-shot was poor; fine-tuning recovers performance. Joint training does not prove performance on a third unseen network.</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Reference for a future transfer. It requires several networks and adapts heads/flows, not flood volume directly.</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10.1016/j.watres.2025.125079</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180–300 h / 6–10 wk, not counting obtaining networks. Data 60–100 h; transfer 120–200 h. Decision: postpone.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P5 · Brazão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23</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evaluates MLP surrogate models trained from SWMM simulations to estimate total flood volume and maximum outflow for decentralized detention-system design. The models include detention capacity, outlet dimensions, spatial distribution of storage units, and rainfall descriptors, addressing design variables omitted by earlier end-of-pipe studies. A real urban catchment is simulated under multiple detention and rainfall scenarios; the authors evaluate dataset size and network architecture before embedding the models in multiobjective optimization. Reported errors are below 4% MAPE for maximum outflow in all rainfall scenarios and below 15% MAPE for total flood volume in most scenarios. Moving from 20,000 to 50,000 samples gave only marginal gains, whereas deeper MLPs improved accuracy until overfitting appeared. The surrogate optimization reduced computational time by about 98.4% against equivalent SWMM optimization.</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J. Water Resources Planning and Management (ASCE), 152(11)</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Federal University of Paraíba / University of Brasília</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NOT documented in the available abstract. Total volume reported; do not confirm per-node output or transfer without the full text.</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Supports an inexpensive MLP comparator. It does not establish that an MLP outperforms XGBoost on our same inputs and splits.</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10.1061/JWRMD5.WRENG-7598</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30–60 h / 1–2 wk. Data 6–12 h; MLP and testing 24–48 h. Decision: priority pilot.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Data, resources, and effort · P1–P2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REPORTED = evidence consulted. ESTIMATED = planning for our thesis, not a benchmark or a schedule promise.</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24</a:t>
            </a:r>
          </a:p>
        </p:txBody>
      </p:sp>
      <p:graphicFrame>
        <p:nvGraphicFramePr>
          <p:cNvPr id="8" name="Table 7"/>
          <p:cNvGraphicFramePr>
            <a:graphicFrameLocks noGrp="1"/>
          </p:cNvGraphicFramePr>
          <p:nvPr/>
        </p:nvGraphicFramePr>
        <p:xfrm>
          <a:off x="292608" y="1051560"/>
          <a:ext cx="8549640" cy="3401568"/>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1490472">
                <a:tc>
                  <a:txBody>
                    <a:bodyPr/>
                    <a:lstStyle/>
                    <a:p>
                      <a:pPr>
                        <a:lnSpc>
                          <a:spcPct val="102000"/>
                        </a:lnSpc>
                        <a:spcBef>
                          <a:spcPts val="0"/>
                        </a:spcBef>
                        <a:spcAft>
                          <a:spcPts val="300"/>
                        </a:spcAft>
                      </a:pPr>
                      <a:r>
                        <a:rPr sz="985" b="1">
                          <a:solidFill>
                            <a:srgbClr val="8BC5FA"/>
                          </a:solidFill>
                          <a:latin typeface="Montserrat"/>
                        </a:rPr>
                        <a:t>P1 · Zhang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Still to prepare: h(t), Q(t), inflow/outflow, and flooding(t). Connectivity: recoverable from the INP. Define the initial states available at inference.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REPORTED*: RTX A5000 24 GB; GNN ≈2.14 h per training run (20,000 epochs). Not a required minimum nor a local time.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120–210 h / 4–7 wk. Data 40–70 h; GNN and validation 80–140 h. Decision: conditional.</a:t>
                      </a:r>
                    </a:p>
                  </a:txBody>
                  <a:tcPr marT="64008" marB="64008">
                    <a:solidFill>
                      <a:srgbClr val="193A58"/>
                    </a:solidFill>
                  </a:tcPr>
                </a:tc>
                <a:extLst>
                  <a:ext uri="{0D108BD9-81ED-4DB2-BD59-A6C34878D82A}">
                    <a16:rowId xmlns:a16="http://schemas.microsoft.com/office/drawing/2014/main" val="10001"/>
                  </a:ext>
                </a:extLst>
              </a:tr>
              <a:tr h="1490472">
                <a:tc>
                  <a:txBody>
                    <a:bodyPr/>
                    <a:lstStyle/>
                    <a:p>
                      <a:pPr>
                        <a:lnSpc>
                          <a:spcPct val="102000"/>
                        </a:lnSpc>
                        <a:spcBef>
                          <a:spcPts val="0"/>
                        </a:spcBef>
                        <a:spcAft>
                          <a:spcPts val="300"/>
                        </a:spcAft>
                      </a:pPr>
                      <a:r>
                        <a:rPr sz="985" b="1">
                          <a:solidFill>
                            <a:srgbClr val="8BC5FA"/>
                          </a:solidFill>
                          <a:latin typeface="Montserrat"/>
                        </a:rPr>
                        <a:t>P2 · Palmitessa et al. (2022)</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A temporal dataset of levels, flows, and overflows is missing. Geometry: INP. Exact reproduction: MIKE 1D access/license; a SWMM adaptation avoids that dependency.</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REPORTED: i9 CPU, 32 GB RAM; 0.5–2 h of training. The GPU did not speed up the autoregressive simulation in their implementation.</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120–180 h / 4–6 wk. Data 30–60 h; adaptation/testing 90–120 h. Decision: use the ideas, do not replicate yet.</a:t>
                      </a:r>
                    </a:p>
                  </a:txBody>
                  <a:tcPr marT="64008" marB="64008">
                    <a:solidFill>
                      <a:srgbClr val="234560"/>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Data, resources, and effort · P3–P4–P5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REPORTED = evidence consulted. ESTIMATED = planning for our thesis, not a benchmark or a schedule promise.</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25</a:t>
            </a:r>
          </a:p>
        </p:txBody>
      </p:sp>
      <p:graphicFrame>
        <p:nvGraphicFramePr>
          <p:cNvPr id="8" name="Table 7"/>
          <p:cNvGraphicFramePr>
            <a:graphicFrameLocks noGrp="1"/>
          </p:cNvGraphicFramePr>
          <p:nvPr/>
        </p:nvGraphicFramePr>
        <p:xfrm>
          <a:off x="292608" y="1051560"/>
          <a:ext cx="8549640" cy="3484245"/>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993648">
                <a:tc>
                  <a:txBody>
                    <a:bodyPr/>
                    <a:lstStyle/>
                    <a:p>
                      <a:pPr>
                        <a:lnSpc>
                          <a:spcPct val="102000"/>
                        </a:lnSpc>
                        <a:spcBef>
                          <a:spcPts val="0"/>
                        </a:spcBef>
                        <a:spcAft>
                          <a:spcPts val="300"/>
                        </a:spcAft>
                      </a:pPr>
                      <a:r>
                        <a:rPr sz="985" b="1">
                          <a:solidFill>
                            <a:srgbClr val="8BC5FA"/>
                          </a:solidFill>
                          <a:latin typeface="Montserrat"/>
                        </a:rPr>
                        <a:t>P3 · Garzón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Connectivity, elevations, and lengths: recover the INP. Prepare inflows and temporal levels. Add an overflow label/output for our target.</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REPORTED: DelftBlue, V100S 32 GB GPUs for experiments/search. 100 epochs, AdamW. It does not state that size as a minimum.</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120–240 h / 4–8 wk. Data 30–60 h; GNN and volume output 90–180 h. Decision: second stage.</a:t>
                      </a:r>
                    </a:p>
                  </a:txBody>
                  <a:tcPr marT="64008" marB="64008">
                    <a:solidFill>
                      <a:srgbClr val="193A58"/>
                    </a:solidFill>
                  </a:tcPr>
                </a:tc>
                <a:extLst>
                  <a:ext uri="{0D108BD9-81ED-4DB2-BD59-A6C34878D82A}">
                    <a16:rowId xmlns:a16="http://schemas.microsoft.com/office/drawing/2014/main" val="10001"/>
                  </a:ext>
                </a:extLst>
              </a:tr>
              <a:tr h="993648">
                <a:tc>
                  <a:txBody>
                    <a:bodyPr/>
                    <a:lstStyle/>
                    <a:p>
                      <a:pPr>
                        <a:lnSpc>
                          <a:spcPct val="102000"/>
                        </a:lnSpc>
                        <a:spcBef>
                          <a:spcPts val="0"/>
                        </a:spcBef>
                        <a:spcAft>
                          <a:spcPts val="300"/>
                        </a:spcAft>
                      </a:pPr>
                      <a:r>
                        <a:rPr sz="985" b="1">
                          <a:solidFill>
                            <a:srgbClr val="8BC5FA"/>
                          </a:solidFill>
                          <a:latin typeface="Montserrat"/>
                        </a:rPr>
                        <a:t>P4 · Garzón et al. (2026)</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Other networks and state/flow series; review the rainfall input. Current INP has no subcatchments/rain gauges. Review offsets, parallel edges, and special structures.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REPORTED: GPU experiments; performance on an A100 80 GB. Huber/AdamW, 25 epochs. The repository has restrictions on hydraulic elements.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180–300 h / 6–10 wk, not counting obtaining networks. Data 60–100 h; transfer 120–200 h. Decision: postpone.</a:t>
                      </a:r>
                    </a:p>
                  </a:txBody>
                  <a:tcPr marT="64008" marB="64008">
                    <a:solidFill>
                      <a:srgbClr val="234560"/>
                    </a:solidFill>
                  </a:tcPr>
                </a:tc>
                <a:extLst>
                  <a:ext uri="{0D108BD9-81ED-4DB2-BD59-A6C34878D82A}">
                    <a16:rowId xmlns:a16="http://schemas.microsoft.com/office/drawing/2014/main" val="10002"/>
                  </a:ext>
                </a:extLst>
              </a:tr>
              <a:tr h="993648">
                <a:tc>
                  <a:txBody>
                    <a:bodyPr/>
                    <a:lstStyle/>
                    <a:p>
                      <a:pPr>
                        <a:lnSpc>
                          <a:spcPct val="102000"/>
                        </a:lnSpc>
                        <a:spcBef>
                          <a:spcPts val="0"/>
                        </a:spcBef>
                        <a:spcAft>
                          <a:spcPts val="300"/>
                        </a:spcAft>
                      </a:pPr>
                      <a:r>
                        <a:rPr sz="985" b="1">
                          <a:solidFill>
                            <a:srgbClr val="8BC5FA"/>
                          </a:solidFill>
                          <a:latin typeface="Montserrat"/>
                        </a:rPr>
                        <a:t>P5 · Brazão et al. (2026)</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Node–event adaptation: reuse the 17 features. Replicate the detention design: capacity, outlets, location, and rainfall; those scenarios are not in our INP.</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NOT VERIFIED: hardware/time not available in the abstract. There is no basis for requiring a large GPU.</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30–60 h / 1–2 wk. Data 6–12 h; MLP and testing 24–48 h. Decision: priority pilot.</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Criteria for investing more time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Own recommendation: first close a small, comparable experiment; decide with held-out results.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26</a:t>
            </a:r>
          </a:p>
        </p:txBody>
      </p:sp>
      <p:graphicFrame>
        <p:nvGraphicFramePr>
          <p:cNvPr id="8" name="Table 7"/>
          <p:cNvGraphicFramePr>
            <a:graphicFrameLocks noGrp="1"/>
          </p:cNvGraphicFramePr>
          <p:nvPr/>
        </p:nvGraphicFramePr>
        <p:xfrm>
          <a:off x="292608" y="1051560"/>
          <a:ext cx="8549640" cy="34747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Step</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What is done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Condition to continue</a:t>
                      </a:r>
                    </a:p>
                  </a:txBody>
                  <a:tcPr marT="64008" marB="64008">
                    <a:solidFill>
                      <a:srgbClr val="355A84"/>
                    </a:solidFill>
                  </a:tcPr>
                </a:tc>
                <a:extLst>
                  <a:ext uri="{0D108BD9-81ED-4DB2-BD59-A6C34878D82A}">
                    <a16:rowId xmlns:a16="http://schemas.microsoft.com/office/drawing/2014/main" val="10000"/>
                  </a:ext>
                </a:extLst>
              </a:tr>
              <a:tr h="763524">
                <a:tc>
                  <a:txBody>
                    <a:bodyPr/>
                    <a:lstStyle/>
                    <a:p>
                      <a:pPr>
                        <a:lnSpc>
                          <a:spcPct val="102000"/>
                        </a:lnSpc>
                        <a:spcBef>
                          <a:spcPts val="0"/>
                        </a:spcBef>
                        <a:spcAft>
                          <a:spcPts val="300"/>
                        </a:spcAft>
                      </a:pPr>
                      <a:r>
                        <a:rPr sz="1140" b="1">
                          <a:solidFill>
                            <a:srgbClr val="8BC5FA"/>
                          </a:solidFill>
                          <a:latin typeface="Montserrat"/>
                        </a:rPr>
                        <a:t>1 · MLP pilot</a:t>
                      </a:r>
                    </a:p>
                    <a:p>
                      <a:pPr>
                        <a:lnSpc>
                          <a:spcPct val="102000"/>
                        </a:lnSpc>
                        <a:spcBef>
                          <a:spcPts val="0"/>
                        </a:spcBef>
                        <a:spcAft>
                          <a:spcPts val="300"/>
                        </a:spcAft>
                      </a:pPr>
                      <a:r>
                        <a:rPr sz="1140" b="0">
                          <a:solidFill>
                            <a:srgbClr val="8BC5FA"/>
                          </a:solidFill>
                          <a:latin typeface="Montserrat"/>
                        </a:rPr>
                        <a:t>30–60 h</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Same inputs and events; inner tuning and epoch selection; several seeds.</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Predefined practical improvement in volume, extremes, or false negatives. Do not decide on training performance.</a:t>
                      </a:r>
                    </a:p>
                  </a:txBody>
                  <a:tcPr marT="64008" marB="64008">
                    <a:solidFill>
                      <a:srgbClr val="193A58"/>
                    </a:solidFill>
                  </a:tcPr>
                </a:tc>
                <a:extLst>
                  <a:ext uri="{0D108BD9-81ED-4DB2-BD59-A6C34878D82A}">
                    <a16:rowId xmlns:a16="http://schemas.microsoft.com/office/drawing/2014/main" val="10001"/>
                  </a:ext>
                </a:extLst>
              </a:tr>
              <a:tr h="763524">
                <a:tc>
                  <a:txBody>
                    <a:bodyPr/>
                    <a:lstStyle/>
                    <a:p>
                      <a:pPr>
                        <a:lnSpc>
                          <a:spcPct val="102000"/>
                        </a:lnSpc>
                        <a:spcBef>
                          <a:spcPts val="0"/>
                        </a:spcBef>
                        <a:spcAft>
                          <a:spcPts val="300"/>
                        </a:spcAft>
                      </a:pPr>
                      <a:r>
                        <a:rPr sz="1140" b="1">
                          <a:solidFill>
                            <a:srgbClr val="8BC5FA"/>
                          </a:solidFill>
                          <a:latin typeface="Montserrat"/>
                        </a:rPr>
                        <a:t>2 · Data before architecture</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Hold out hydrograph families, multi-peak events, and extremes. Measure XGBoost and MLP.</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If both fail the same way, review coverage and descriptors; more layers do not recover missing information.</a:t>
                      </a:r>
                    </a:p>
                  </a:txBody>
                  <a:tcPr marT="64008" marB="64008">
                    <a:solidFill>
                      <a:srgbClr val="234560"/>
                    </a:solidFill>
                  </a:tcPr>
                </a:tc>
                <a:extLst>
                  <a:ext uri="{0D108BD9-81ED-4DB2-BD59-A6C34878D82A}">
                    <a16:rowId xmlns:a16="http://schemas.microsoft.com/office/drawing/2014/main" val="10002"/>
                  </a:ext>
                </a:extLst>
              </a:tr>
              <a:tr h="763524">
                <a:tc>
                  <a:txBody>
                    <a:bodyPr/>
                    <a:lstStyle/>
                    <a:p>
                      <a:pPr>
                        <a:lnSpc>
                          <a:spcPct val="102000"/>
                        </a:lnSpc>
                        <a:spcBef>
                          <a:spcPts val="0"/>
                        </a:spcBef>
                        <a:spcAft>
                          <a:spcPts val="300"/>
                        </a:spcAft>
                      </a:pPr>
                      <a:r>
                        <a:rPr sz="1140" b="1">
                          <a:solidFill>
                            <a:srgbClr val="8BC5FA"/>
                          </a:solidFill>
                          <a:latin typeface="Montserrat"/>
                        </a:rPr>
                        <a:t>3 · GNN pilot</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Test a sample, small batches, and peak memory before renting a GPU.</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Continue if there is a clear topological hypothesis and temporal/target data are available.</a:t>
                      </a:r>
                    </a:p>
                  </a:txBody>
                  <a:tcPr marT="64008" marB="64008">
                    <a:solidFill>
                      <a:srgbClr val="193A58"/>
                    </a:solidFill>
                  </a:tcPr>
                </a:tc>
                <a:extLst>
                  <a:ext uri="{0D108BD9-81ED-4DB2-BD59-A6C34878D82A}">
                    <a16:rowId xmlns:a16="http://schemas.microsoft.com/office/drawing/2014/main" val="10003"/>
                  </a:ext>
                </a:extLst>
              </a:tr>
              <a:tr h="763524">
                <a:tc>
                  <a:txBody>
                    <a:bodyPr/>
                    <a:lstStyle/>
                    <a:p>
                      <a:pPr>
                        <a:lnSpc>
                          <a:spcPct val="102000"/>
                        </a:lnSpc>
                        <a:spcBef>
                          <a:spcPts val="0"/>
                        </a:spcBef>
                        <a:spcAft>
                          <a:spcPts val="300"/>
                        </a:spcAft>
                      </a:pPr>
                      <a:r>
                        <a:rPr sz="1140" b="1">
                          <a:solidFill>
                            <a:srgbClr val="8BC5FA"/>
                          </a:solidFill>
                          <a:latin typeface="Montserrat"/>
                        </a:rPr>
                        <a:t>4 · Transfer</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Compare from scratch, zero-shot, and fine-tuning with an equal target-data budget.</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Target events held out. Do not call joint training on already-seen networks “extrapolation”.</a:t>
                      </a:r>
                    </a:p>
                  </a:txBody>
                  <a:tcPr marT="64008" marB="64008">
                    <a:solidFill>
                      <a:srgbClr val="234560"/>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5760" y="4608576"/>
            <a:ext cx="8229600" cy="182880"/>
          </a:xfrm>
          <a:prstGeom prst="rect">
            <a:avLst/>
          </a:prstGeom>
          <a:noFill/>
        </p:spPr>
        <p:txBody>
          <a:bodyPr wrap="square" lIns="0" tIns="0" rIns="0" bIns="0">
            <a:spAutoFit/>
          </a:bodyPr>
          <a:lstStyle/>
          <a:p>
            <a:pPr>
              <a:lnSpc>
                <a:spcPct val="106000"/>
              </a:lnSpc>
              <a:spcBef>
                <a:spcPts val="0"/>
              </a:spcBef>
              <a:spcAft>
                <a:spcPts val="300"/>
              </a:spcAft>
            </a:pPr>
            <a:r>
              <a:rPr sz="950" b="1">
                <a:solidFill>
                  <a:srgbClr val="F1CB83"/>
                </a:solidFill>
                <a:latin typeface="Montserrat"/>
              </a:rPr>
              <a:t>None of these works guarantees outperforming our XGBoost with the same target, data, and validation.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Computational budget: measure first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Separate development person-hours, training machine-hours, and the time to generate labels.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27</a:t>
            </a:r>
          </a:p>
        </p:txBody>
      </p:sp>
      <p:graphicFrame>
        <p:nvGraphicFramePr>
          <p:cNvPr id="8" name="Table 7"/>
          <p:cNvGraphicFramePr>
            <a:graphicFrameLocks noGrp="1"/>
          </p:cNvGraphicFramePr>
          <p:nvPr/>
        </p:nvGraphicFramePr>
        <p:xfrm>
          <a:off x="292608" y="1051560"/>
          <a:ext cx="8549640" cy="360117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Cost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How to estimate it for this network</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160" b="1">
                          <a:solidFill>
                            <a:srgbClr val="8BC5FA"/>
                          </a:solidFill>
                          <a:latin typeface="Montserrat"/>
                        </a:rPr>
                        <a:t>Simulations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Time 20 representative events. Time ≈ N × median per event / effective parallelism; also check slow extremes.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160" b="1">
                          <a:solidFill>
                            <a:srgbClr val="8BC5FA"/>
                          </a:solidFill>
                          <a:latin typeface="Montserrat"/>
                        </a:rPr>
                        <a:t>Model search</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Time ≈ configurations × folds × seeds × duration of one fit. Do not confuse “one 2 h training run” with the whole search.</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160" b="1">
                          <a:solidFill>
                            <a:srgbClr val="8BC5FA"/>
                          </a:solidFill>
                          <a:latin typeface="Montserrat"/>
                        </a:rPr>
                        <a:t>Temporal data</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Own example: 1,000 events × 1,440 steps × (160×3 + 160×2 variables) × 4 bytes ≈ 4.6 GB raw; without duplicated windows or caches.</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160" b="1">
                          <a:solidFill>
                            <a:srgbClr val="8BC5FA"/>
                          </a:solidFill>
                          <a:latin typeface="Montserrat"/>
                        </a:rPr>
                        <a:t>GPU memory</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Depends on batches, window, layers, and gradients; not on the CSV size. T400 4 GB: pilot. If it does not fit, consider a 16–24 GB GPU; do not buy one because of the paper.</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160" b="1">
                          <a:solidFill>
                            <a:srgbClr val="8BC5FA"/>
                          </a:solidFill>
                          <a:latin typeface="Montserrat"/>
                        </a:rPr>
                        <a:t>Scope decision</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With an event-level target and a solid XGBoost: MLP first. For GNN/transfer, reserve additional weeks only after demonstrating a need.</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References and access level · 1/2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Full titles and clickable DOIs. The table notes contain links to texts and repositories.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28</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P1</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Zhang et al. (2024) · Graph neural network-based surrogate modelling for real-time hydraulic prediction of urban drainage networks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Water Research 263, 122142 | DOI 10.1016/j.watres.2024.122142</a:t>
            </a:r>
          </a:p>
        </p:txBody>
      </p:sp>
      <p:sp>
        <p:nvSpPr>
          <p:cNvPr id="11" name="TextBox 10"/>
          <p:cNvSpPr txBox="1"/>
          <p:nvPr/>
        </p:nvSpPr>
        <p:spPr>
          <a:xfrm>
            <a:off x="384048" y="1911095"/>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P2</a:t>
            </a:r>
          </a:p>
        </p:txBody>
      </p:sp>
      <p:sp>
        <p:nvSpPr>
          <p:cNvPr id="12" name="TextBox 11"/>
          <p:cNvSpPr txBox="1"/>
          <p:nvPr/>
        </p:nvSpPr>
        <p:spPr>
          <a:xfrm>
            <a:off x="886968" y="1911095"/>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4"/>
              </a:rPr>
              <a:t>Palmitessa et al. (2022) · Accelerating hydrodynamic simulations of urban drainage systems with physics-guided machine learning</a:t>
            </a:r>
          </a:p>
        </p:txBody>
      </p:sp>
      <p:sp>
        <p:nvSpPr>
          <p:cNvPr id="13" name="TextBox 12"/>
          <p:cNvSpPr txBox="1"/>
          <p:nvPr/>
        </p:nvSpPr>
        <p:spPr>
          <a:xfrm>
            <a:off x="886968" y="2386584"/>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4"/>
              </a:rPr>
              <a:t>Water Research 223, 118972 | DOI 10.1016/j.watres.2022.118972</a:t>
            </a:r>
          </a:p>
        </p:txBody>
      </p:sp>
      <p:sp>
        <p:nvSpPr>
          <p:cNvPr id="14" name="TextBox 13"/>
          <p:cNvSpPr txBox="1"/>
          <p:nvPr/>
        </p:nvSpPr>
        <p:spPr>
          <a:xfrm>
            <a:off x="384048" y="2770632"/>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P3</a:t>
            </a:r>
          </a:p>
        </p:txBody>
      </p:sp>
      <p:sp>
        <p:nvSpPr>
          <p:cNvPr id="15" name="TextBox 14"/>
          <p:cNvSpPr txBox="1"/>
          <p:nvPr/>
        </p:nvSpPr>
        <p:spPr>
          <a:xfrm>
            <a:off x="886968" y="2770632"/>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5"/>
              </a:rPr>
              <a:t>Garzón et al. (2024) · Transferable and data efficient metamodeling of storm water system nodal depths using auto-regressive graph neural networks</a:t>
            </a:r>
          </a:p>
        </p:txBody>
      </p:sp>
      <p:sp>
        <p:nvSpPr>
          <p:cNvPr id="16" name="TextBox 15"/>
          <p:cNvSpPr txBox="1"/>
          <p:nvPr/>
        </p:nvSpPr>
        <p:spPr>
          <a:xfrm>
            <a:off x="886968" y="3246120"/>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5"/>
              </a:rPr>
              <a:t>Water Research 266, 122396 | DOI 10.1016/j.watres.2024.122396</a:t>
            </a:r>
          </a:p>
        </p:txBody>
      </p:sp>
      <p:sp>
        <p:nvSpPr>
          <p:cNvPr id="17" name="TextBox 16"/>
          <p:cNvSpPr txBox="1"/>
          <p:nvPr/>
        </p:nvSpPr>
        <p:spPr>
          <a:xfrm>
            <a:off x="384048" y="3630168"/>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P4</a:t>
            </a:r>
          </a:p>
        </p:txBody>
      </p:sp>
      <p:sp>
        <p:nvSpPr>
          <p:cNvPr id="18" name="TextBox 17"/>
          <p:cNvSpPr txBox="1"/>
          <p:nvPr/>
        </p:nvSpPr>
        <p:spPr>
          <a:xfrm>
            <a:off x="886968" y="3630168"/>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6"/>
              </a:rPr>
              <a:t>Garzón et al. (2026) · Evaluation of graph neural networks for urban drainage metamodeling: Key components and transferability analysis</a:t>
            </a:r>
          </a:p>
        </p:txBody>
      </p:sp>
      <p:sp>
        <p:nvSpPr>
          <p:cNvPr id="19" name="TextBox 18"/>
          <p:cNvSpPr txBox="1"/>
          <p:nvPr/>
        </p:nvSpPr>
        <p:spPr>
          <a:xfrm>
            <a:off x="886968" y="4105656"/>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6"/>
              </a:rPr>
              <a:t>Water Research 290, 125079 | DOI 10.1016/j.watres.2025.125079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References and access level · 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Full titles and clickable DOIs. The table notes contain links to texts and repositories.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Critical literature review  |  September 22,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29</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P5</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Brazão et al. (2026) · Evaluation of Artificial Neural Network Surrogate Models for Detention-Based Flood Control in Urban Areas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J. Water Resources Planning and Management (ASCE), 152(11) | DOI 10.1061/JWRMD5.WRENG-7598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100" b="1">
                <a:solidFill>
                  <a:srgbClr val="8BC5FA"/>
                </a:solidFill>
                <a:latin typeface="Montserrat"/>
              </a:rPr>
              <a:t>Single-scenario result: shape, maps, and parity</a:t>
            </a:r>
          </a:p>
        </p:txBody>
      </p:sp>
      <p:sp>
        <p:nvSpPr>
          <p:cNvPr id="5" name="TextBox 4"/>
          <p:cNvSpPr txBox="1"/>
          <p:nvPr/>
        </p:nvSpPr>
        <p:spPr>
          <a:xfrm>
            <a:off x="429768" y="658368"/>
            <a:ext cx="8229600" cy="256032"/>
          </a:xfrm>
          <a:prstGeom prst="rect">
            <a:avLst/>
          </a:prstGeom>
          <a:noFill/>
        </p:spPr>
        <p:txBody>
          <a:bodyPr wrap="square" lIns="0" tIns="0" rIns="0" bIns="0">
            <a:spAutoFit/>
          </a:bodyPr>
          <a:lstStyle/>
          <a:p>
            <a:pPr>
              <a:lnSpc>
                <a:spcPct val="100000"/>
              </a:lnSpc>
              <a:spcAft>
                <a:spcPts val="200"/>
              </a:spcAft>
            </a:pPr>
            <a:r>
              <a:rPr sz="969" b="0">
                <a:solidFill>
                  <a:srgbClr val="B7CBE0"/>
                </a:solidFill>
                <a:latin typeface="Montserrat"/>
              </a:rPr>
              <a:t>Synthetic scenario long_moderate · flow factor 2.00 · cumulative flood volume per node and event</a:t>
            </a:r>
          </a:p>
        </p:txBody>
      </p:sp>
      <p:pic>
        <p:nvPicPr>
          <p:cNvPr id="6" name="Picture 5" descr="hydrograph_long_moderate_f2.000.png"/>
          <p:cNvPicPr>
            <a:picLocks noChangeAspect="1"/>
          </p:cNvPicPr>
          <p:nvPr/>
        </p:nvPicPr>
        <p:blipFill>
          <a:blip r:embed="rId3"/>
          <a:stretch>
            <a:fillRect/>
          </a:stretch>
        </p:blipFill>
        <p:spPr>
          <a:xfrm>
            <a:off x="310896" y="1051560"/>
            <a:ext cx="3657600" cy="2033289"/>
          </a:xfrm>
          <a:prstGeom prst="rect">
            <a:avLst/>
          </a:prstGeom>
        </p:spPr>
      </p:pic>
      <p:sp>
        <p:nvSpPr>
          <p:cNvPr id="7" name="TextBox 6"/>
          <p:cNvSpPr txBox="1"/>
          <p:nvPr/>
        </p:nvSpPr>
        <p:spPr>
          <a:xfrm>
            <a:off x="4709160" y="1069848"/>
            <a:ext cx="1938528" cy="237744"/>
          </a:xfrm>
          <a:prstGeom prst="rect">
            <a:avLst/>
          </a:prstGeom>
          <a:noFill/>
        </p:spPr>
        <p:txBody>
          <a:bodyPr wrap="square" lIns="0" tIns="0" rIns="0" bIns="0">
            <a:spAutoFit/>
          </a:bodyPr>
          <a:lstStyle/>
          <a:p>
            <a:pPr>
              <a:lnSpc>
                <a:spcPct val="100000"/>
              </a:lnSpc>
              <a:spcAft>
                <a:spcPts val="200"/>
              </a:spcAft>
            </a:pPr>
            <a:r>
              <a:rPr sz="1100" b="1">
                <a:solidFill>
                  <a:srgbClr val="8BC5FA"/>
                </a:solidFill>
                <a:latin typeface="Montserrat"/>
              </a:rPr>
              <a:t>Hydrograph shape</a:t>
            </a:r>
          </a:p>
        </p:txBody>
      </p:sp>
      <p:sp>
        <p:nvSpPr>
          <p:cNvPr id="8" name="TextBox 7"/>
          <p:cNvSpPr txBox="1"/>
          <p:nvPr/>
        </p:nvSpPr>
        <p:spPr>
          <a:xfrm>
            <a:off x="4709160" y="1353312"/>
            <a:ext cx="1938528" cy="603504"/>
          </a:xfrm>
          <a:prstGeom prst="rect">
            <a:avLst/>
          </a:prstGeom>
          <a:noFill/>
        </p:spPr>
        <p:txBody>
          <a:bodyPr wrap="square" lIns="0" tIns="0" rIns="0" bIns="0">
            <a:spAutoFit/>
          </a:bodyPr>
          <a:lstStyle/>
          <a:p>
            <a:pPr>
              <a:lnSpc>
                <a:spcPct val="100000"/>
              </a:lnSpc>
              <a:spcAft>
                <a:spcPts val="200"/>
              </a:spcAft>
            </a:pPr>
            <a:r>
              <a:rPr sz="1010" b="0">
                <a:solidFill>
                  <a:srgbClr val="F7FAFE"/>
                </a:solidFill>
                <a:latin typeface="Montserrat"/>
              </a:rPr>
              <a:t>long_moderate</a:t>
            </a:r>
          </a:p>
          <a:p>
            <a:pPr>
              <a:lnSpc>
                <a:spcPct val="100000"/>
              </a:lnSpc>
              <a:spcAft>
                <a:spcPts val="200"/>
              </a:spcAft>
            </a:pPr>
            <a:r>
              <a:rPr sz="1010" b="0">
                <a:solidFill>
                  <a:srgbClr val="F7FAFE"/>
                </a:solidFill>
                <a:latin typeface="Montserrat"/>
              </a:rPr>
              <a:t>Gradual rise, late peak, and prolonged recession.</a:t>
            </a:r>
          </a:p>
        </p:txBody>
      </p:sp>
      <p:sp>
        <p:nvSpPr>
          <p:cNvPr id="9" name="TextBox 8"/>
          <p:cNvSpPr txBox="1"/>
          <p:nvPr/>
        </p:nvSpPr>
        <p:spPr>
          <a:xfrm>
            <a:off x="4709160" y="2084831"/>
            <a:ext cx="1938528" cy="210312"/>
          </a:xfrm>
          <a:prstGeom prst="rect">
            <a:avLst/>
          </a:prstGeom>
          <a:noFill/>
        </p:spPr>
        <p:txBody>
          <a:bodyPr wrap="square" lIns="0" tIns="0" rIns="0" bIns="0">
            <a:spAutoFit/>
          </a:bodyPr>
          <a:lstStyle/>
          <a:p>
            <a:pPr>
              <a:lnSpc>
                <a:spcPct val="100000"/>
              </a:lnSpc>
              <a:spcAft>
                <a:spcPts val="200"/>
              </a:spcAft>
            </a:pPr>
            <a:r>
              <a:rPr sz="1100" b="1">
                <a:solidFill>
                  <a:srgbClr val="8BC5FA"/>
                </a:solidFill>
                <a:latin typeface="Montserrat"/>
              </a:rPr>
              <a:t>Aggregate result</a:t>
            </a:r>
          </a:p>
        </p:txBody>
      </p:sp>
      <p:sp>
        <p:nvSpPr>
          <p:cNvPr id="10" name="TextBox 9"/>
          <p:cNvSpPr txBox="1"/>
          <p:nvPr/>
        </p:nvSpPr>
        <p:spPr>
          <a:xfrm>
            <a:off x="4709160" y="2350008"/>
            <a:ext cx="1938528" cy="877824"/>
          </a:xfrm>
          <a:prstGeom prst="rect">
            <a:avLst/>
          </a:prstGeom>
          <a:noFill/>
        </p:spPr>
        <p:txBody>
          <a:bodyPr wrap="square" lIns="0" tIns="0" rIns="0" bIns="0">
            <a:spAutoFit/>
          </a:bodyPr>
          <a:lstStyle/>
          <a:p>
            <a:pPr>
              <a:lnSpc>
                <a:spcPct val="100000"/>
              </a:lnSpc>
              <a:spcAft>
                <a:spcPts val="200"/>
              </a:spcAft>
            </a:pPr>
            <a:r>
              <a:rPr sz="1000" b="0">
                <a:solidFill>
                  <a:srgbClr val="F7FAFE"/>
                </a:solidFill>
                <a:latin typeface="Montserrat"/>
              </a:rPr>
              <a:t>SWMM: 12,738 m³</a:t>
            </a:r>
          </a:p>
          <a:p>
            <a:pPr>
              <a:lnSpc>
                <a:spcPct val="100000"/>
              </a:lnSpc>
              <a:spcAft>
                <a:spcPts val="200"/>
              </a:spcAft>
            </a:pPr>
            <a:r>
              <a:rPr sz="1000" b="0">
                <a:solidFill>
                  <a:srgbClr val="F7FAFE"/>
                </a:solidFill>
                <a:latin typeface="Montserrat"/>
              </a:rPr>
              <a:t>XGBoost: 11,103 m³</a:t>
            </a:r>
          </a:p>
          <a:p>
            <a:pPr>
              <a:lnSpc>
                <a:spcPct val="100000"/>
              </a:lnSpc>
              <a:spcAft>
                <a:spcPts val="200"/>
              </a:spcAft>
            </a:pPr>
            <a:r>
              <a:rPr sz="1000" b="0">
                <a:solidFill>
                  <a:srgbClr val="F7FAFE"/>
                </a:solidFill>
                <a:latin typeface="Montserrat"/>
              </a:rPr>
              <a:t>Error: −12.8%</a:t>
            </a:r>
          </a:p>
          <a:p>
            <a:pPr>
              <a:lnSpc>
                <a:spcPct val="100000"/>
              </a:lnSpc>
              <a:spcAft>
                <a:spcPts val="200"/>
              </a:spcAft>
            </a:pPr>
            <a:r>
              <a:rPr sz="1000" b="0">
                <a:solidFill>
                  <a:srgbClr val="F7FAFE"/>
                </a:solidFill>
                <a:latin typeface="Montserrat"/>
              </a:rPr>
              <a:t>40 nodes flooded in SWMM</a:t>
            </a:r>
          </a:p>
        </p:txBody>
      </p:sp>
      <p:sp>
        <p:nvSpPr>
          <p:cNvPr id="11" name="TextBox 10"/>
          <p:cNvSpPr txBox="1"/>
          <p:nvPr/>
        </p:nvSpPr>
        <p:spPr>
          <a:xfrm>
            <a:off x="6876288" y="1069848"/>
            <a:ext cx="1828800" cy="219456"/>
          </a:xfrm>
          <a:prstGeom prst="rect">
            <a:avLst/>
          </a:prstGeom>
          <a:noFill/>
        </p:spPr>
        <p:txBody>
          <a:bodyPr wrap="square" lIns="0" tIns="0" rIns="0" bIns="0">
            <a:spAutoFit/>
          </a:bodyPr>
          <a:lstStyle/>
          <a:p>
            <a:pPr>
              <a:lnSpc>
                <a:spcPct val="100000"/>
              </a:lnSpc>
              <a:spcAft>
                <a:spcPts val="200"/>
              </a:spcAft>
            </a:pPr>
            <a:r>
              <a:rPr sz="1100" b="1">
                <a:solidFill>
                  <a:srgbClr val="8BC5FA"/>
                </a:solidFill>
                <a:latin typeface="Montserrat"/>
              </a:rPr>
              <a:t>Per-node parity</a:t>
            </a:r>
          </a:p>
        </p:txBody>
      </p:sp>
      <p:pic>
        <p:nvPicPr>
          <p:cNvPr id="12" name="Picture 11" descr="parity_nodes_symlog_long_moderate_f2.000.png"/>
          <p:cNvPicPr>
            <a:picLocks noChangeAspect="1"/>
          </p:cNvPicPr>
          <p:nvPr/>
        </p:nvPicPr>
        <p:blipFill>
          <a:blip r:embed="rId4"/>
          <a:stretch>
            <a:fillRect/>
          </a:stretch>
        </p:blipFill>
        <p:spPr>
          <a:xfrm>
            <a:off x="6922008" y="1353312"/>
            <a:ext cx="1572768" cy="1599466"/>
          </a:xfrm>
          <a:prstGeom prst="rect">
            <a:avLst/>
          </a:prstGeom>
        </p:spPr>
      </p:pic>
      <p:sp>
        <p:nvSpPr>
          <p:cNvPr id="13" name="TextBox 12"/>
          <p:cNvSpPr txBox="1"/>
          <p:nvPr/>
        </p:nvSpPr>
        <p:spPr>
          <a:xfrm>
            <a:off x="6876288" y="2990088"/>
            <a:ext cx="1856231" cy="329184"/>
          </a:xfrm>
          <a:prstGeom prst="rect">
            <a:avLst/>
          </a:prstGeom>
          <a:noFill/>
        </p:spPr>
        <p:txBody>
          <a:bodyPr wrap="square" lIns="0" tIns="0" rIns="0" bIns="0">
            <a:spAutoFit/>
          </a:bodyPr>
          <a:lstStyle/>
          <a:p>
            <a:pPr>
              <a:lnSpc>
                <a:spcPct val="100000"/>
              </a:lnSpc>
              <a:spcAft>
                <a:spcPts val="200"/>
              </a:spcAft>
            </a:pPr>
            <a:r>
              <a:rPr sz="819" b="0">
                <a:solidFill>
                  <a:srgbClr val="B7CBE0"/>
                </a:solidFill>
                <a:latin typeface="Montserrat"/>
              </a:rPr>
              <a:t>R² = 0.953 · MAE = 14.36 m³</a:t>
            </a:r>
          </a:p>
          <a:p>
            <a:pPr>
              <a:lnSpc>
                <a:spcPct val="100000"/>
              </a:lnSpc>
              <a:spcAft>
                <a:spcPts val="200"/>
              </a:spcAft>
            </a:pPr>
            <a:r>
              <a:rPr sz="819" b="0">
                <a:solidFill>
                  <a:srgbClr val="B7CBE0"/>
                </a:solidFill>
                <a:latin typeface="Montserrat"/>
              </a:rPr>
              <a:t>RMSE = 52.04 m³ · n = 160</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SWMM map · reference</a:t>
            </a:r>
          </a:p>
        </p:txBody>
      </p:sp>
      <p:pic>
        <p:nvPicPr>
          <p:cNvPr id="15" name="Picture 14" descr="flood_map_swmm_long_moderate_f2.000.png"/>
          <p:cNvPicPr>
            <a:picLocks noChangeAspect="1"/>
          </p:cNvPicPr>
          <p:nvPr/>
        </p:nvPicPr>
        <p:blipFill>
          <a:blip r:embed="rId5"/>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XGBoost map · prediction</a:t>
            </a:r>
          </a:p>
        </p:txBody>
      </p:sp>
      <p:pic>
        <p:nvPicPr>
          <p:cNvPr id="17" name="Picture 16" descr="flood_map_ml_long_moderate_f2.000.png"/>
          <p:cNvPicPr>
            <a:picLocks noChangeAspect="1"/>
          </p:cNvPicPr>
          <p:nvPr/>
        </p:nvPicPr>
        <p:blipFill>
          <a:blip r:embed="rId6"/>
          <a:stretch>
            <a:fillRect/>
          </a:stretch>
        </p:blipFill>
        <p:spPr>
          <a:xfrm>
            <a:off x="2880360" y="3282696"/>
            <a:ext cx="2468880" cy="1522455"/>
          </a:xfrm>
          <a:prstGeom prst="rect">
            <a:avLst/>
          </a:prstGeom>
        </p:spPr>
      </p:pic>
      <p:sp>
        <p:nvSpPr>
          <p:cNvPr id="18" name="TextBox 17"/>
          <p:cNvSpPr txBox="1"/>
          <p:nvPr/>
        </p:nvSpPr>
        <p:spPr>
          <a:xfrm>
            <a:off x="310896" y="4882896"/>
            <a:ext cx="7863840" cy="128016"/>
          </a:xfrm>
          <a:prstGeom prst="rect">
            <a:avLst/>
          </a:prstGeom>
          <a:noFill/>
        </p:spPr>
        <p:txBody>
          <a:bodyPr wrap="square" lIns="0" tIns="0" rIns="0" bIns="0">
            <a:spAutoFit/>
          </a:bodyPr>
          <a:lstStyle/>
          <a:p>
            <a:pPr>
              <a:lnSpc>
                <a:spcPct val="100000"/>
              </a:lnSpc>
              <a:spcAft>
                <a:spcPts val="200"/>
              </a:spcAft>
            </a:pPr>
            <a:r>
              <a:rPr sz="760" b="0">
                <a:solidFill>
                  <a:srgbClr val="B7CBE0"/>
                </a:solidFill>
                <a:latin typeface="Montserrat"/>
              </a:rPr>
              <a:t>MLSMFP  |  Current results · SWMM vs XGBoost  |  Scenario long_moderate_f2.000</a:t>
            </a:r>
          </a:p>
        </p:txBody>
      </p:sp>
      <p:sp>
        <p:nvSpPr>
          <p:cNvPr id="19" name="TextBox 18"/>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First real end-to-end run (2026-10-05)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39 shapes × 25 factors + base = 1000 SWMM runs, 160 nodes, 160,000 rows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31</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Metric</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Value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Note</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SWMM runs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1000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39 shapes × 25 factors + base</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Rows in dataset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160,000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1000 runs × 160 nodes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Scenarios not drained</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Phase C2: the retry with extension was never triggered</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Errors / crashes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Complete pipeline, 0 failures</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Routing continuity exclusion — Phase C2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37 of 1000 runs (3.7%) exceed the 5% SWMM continuity error</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32</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Scenario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Factor</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Continuity error</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shape_ultra_short_impulse</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12.38% (worst case)</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rare_extreme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11.72%</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common_bogota</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10.57%</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base (base shape)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5.17% — confirms the base-shape fix</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Fair benchmark — 5 families, LeaveOneShapeOut protocol</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154,080 rows evaluated (after continuity exclusion) · 46,225 flooded</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33</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Family</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Volume RMSE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Classifier F1</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XGBoost (winner)</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78.04</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0.979</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MLP</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99.61</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0.977</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Random Forest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185.46</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0.890</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Linear</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201.18</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0.817</a:t>
                      </a:r>
                    </a:p>
                  </a:txBody>
                  <a:tcPr marT="64008" marB="64008">
                    <a:solidFill>
                      <a:srgbClr val="234560"/>
                    </a:solidFill>
                  </a:tcPr>
                </a:tc>
                <a:extLst>
                  <a:ext uri="{0D108BD9-81ED-4DB2-BD59-A6C34878D82A}">
                    <a16:rowId xmlns:a16="http://schemas.microsoft.com/office/drawing/2014/main" val="10004"/>
                  </a:ext>
                </a:extLst>
              </a:tr>
              <a:tr h="724662">
                <a:tc>
                  <a:txBody>
                    <a:bodyPr/>
                    <a:lstStyle/>
                    <a:p>
                      <a:pPr>
                        <a:lnSpc>
                          <a:spcPct val="102000"/>
                        </a:lnSpc>
                        <a:spcBef>
                          <a:spcPts val="0"/>
                        </a:spcBef>
                        <a:spcAft>
                          <a:spcPts val="300"/>
                        </a:spcAft>
                      </a:pPr>
                      <a:r>
                        <a:rPr sz="1220" b="1">
                          <a:solidFill>
                            <a:srgbClr val="8BC5FA"/>
                          </a:solidFill>
                          <a:latin typeface="Montserrat"/>
                        </a:rPr>
                        <a:t>SVM</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pending — excluded due to scale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234560"/>
                    </a:solidFill>
                  </a:tcPr>
                </a:tc>
                <a:extLst>
                  <a:ext uri="{0D108BD9-81ED-4DB2-BD59-A6C34878D82A}">
                    <a16:rowId xmlns:a16="http://schemas.microsoft.com/office/drawing/2014/main" val="3329512156"/>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SWMM vs. prediction parity, by family (OOF)</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Same out-of-fold predictions as the ranking — not an optimistic fit</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34</a:t>
            </a:r>
          </a:p>
        </p:txBody>
      </p:sp>
      <p:pic>
        <p:nvPicPr>
          <p:cNvPr id="8" name="Picture 7" descr="parity_nodes_linear_todas_las_corridas.png"/>
          <p:cNvPicPr>
            <a:picLocks noChangeAspect="1"/>
          </p:cNvPicPr>
          <p:nvPr/>
        </p:nvPicPr>
        <p:blipFill>
          <a:blip r:embed="rId2"/>
          <a:stretch>
            <a:fillRect/>
          </a:stretch>
        </p:blipFill>
        <p:spPr>
          <a:xfrm>
            <a:off x="350000" y="1050000"/>
            <a:ext cx="1533473" cy="1571750"/>
          </a:xfrm>
          <a:prstGeom prst="rect">
            <a:avLst/>
          </a:prstGeom>
        </p:spPr>
      </p:pic>
      <p:sp>
        <p:nvSpPr>
          <p:cNvPr id="9" name="TextBox 8"/>
          <p:cNvSpPr txBox="1"/>
          <p:nvPr/>
        </p:nvSpPr>
        <p:spPr>
          <a:xfrm>
            <a:off x="350000" y="1000000"/>
            <a:ext cx="4172000" cy="300000"/>
          </a:xfrm>
          <a:prstGeom prst="rect">
            <a:avLst/>
          </a:prstGeom>
          <a:noFill/>
        </p:spPr>
        <p:txBody>
          <a:bodyPr wrap="none">
            <a:spAutoFit/>
          </a:bodyPr>
          <a:lstStyle/>
          <a:p>
            <a:r>
              <a:rPr sz="1400" b="1"/>
              <a:t>XGBoost</a:t>
            </a:r>
          </a:p>
        </p:txBody>
      </p:sp>
      <p:pic>
        <p:nvPicPr>
          <p:cNvPr id="10" name="Picture 9" descr="parity_nodes_linear_todas_las_corridas.png"/>
          <p:cNvPicPr>
            <a:picLocks noChangeAspect="1"/>
          </p:cNvPicPr>
          <p:nvPr/>
        </p:nvPicPr>
        <p:blipFill>
          <a:blip r:embed="rId3"/>
          <a:stretch>
            <a:fillRect/>
          </a:stretch>
        </p:blipFill>
        <p:spPr>
          <a:xfrm>
            <a:off x="4622000" y="1050000"/>
            <a:ext cx="1533473" cy="1571750"/>
          </a:xfrm>
          <a:prstGeom prst="rect">
            <a:avLst/>
          </a:prstGeom>
        </p:spPr>
      </p:pic>
      <p:sp>
        <p:nvSpPr>
          <p:cNvPr id="11" name="TextBox 10"/>
          <p:cNvSpPr txBox="1"/>
          <p:nvPr/>
        </p:nvSpPr>
        <p:spPr>
          <a:xfrm>
            <a:off x="4622000" y="1000000"/>
            <a:ext cx="4172000" cy="300000"/>
          </a:xfrm>
          <a:prstGeom prst="rect">
            <a:avLst/>
          </a:prstGeom>
          <a:noFill/>
        </p:spPr>
        <p:txBody>
          <a:bodyPr wrap="none">
            <a:spAutoFit/>
          </a:bodyPr>
          <a:lstStyle/>
          <a:p>
            <a:r>
              <a:rPr sz="1400" b="1"/>
              <a:t>Random Forest</a:t>
            </a:r>
          </a:p>
        </p:txBody>
      </p:sp>
      <p:pic>
        <p:nvPicPr>
          <p:cNvPr id="12" name="Picture 11" descr="parity_nodes_linear_todas_las_corridas.png"/>
          <p:cNvPicPr>
            <a:picLocks noChangeAspect="1"/>
          </p:cNvPicPr>
          <p:nvPr/>
        </p:nvPicPr>
        <p:blipFill>
          <a:blip r:embed="rId4"/>
          <a:stretch>
            <a:fillRect/>
          </a:stretch>
        </p:blipFill>
        <p:spPr>
          <a:xfrm>
            <a:off x="350000" y="2971750"/>
            <a:ext cx="1533473" cy="1571750"/>
          </a:xfrm>
          <a:prstGeom prst="rect">
            <a:avLst/>
          </a:prstGeom>
        </p:spPr>
      </p:pic>
      <p:sp>
        <p:nvSpPr>
          <p:cNvPr id="13" name="TextBox 12"/>
          <p:cNvSpPr txBox="1"/>
          <p:nvPr/>
        </p:nvSpPr>
        <p:spPr>
          <a:xfrm>
            <a:off x="350000" y="2921750"/>
            <a:ext cx="4172000" cy="300000"/>
          </a:xfrm>
          <a:prstGeom prst="rect">
            <a:avLst/>
          </a:prstGeom>
          <a:noFill/>
        </p:spPr>
        <p:txBody>
          <a:bodyPr wrap="none">
            <a:spAutoFit/>
          </a:bodyPr>
          <a:lstStyle/>
          <a:p>
            <a:r>
              <a:rPr sz="1400" b="1"/>
              <a:t>Linear</a:t>
            </a:r>
          </a:p>
        </p:txBody>
      </p:sp>
      <p:pic>
        <p:nvPicPr>
          <p:cNvPr id="14" name="Picture 13" descr="parity_nodes_linear_todas_las_corridas.png"/>
          <p:cNvPicPr>
            <a:picLocks noChangeAspect="1"/>
          </p:cNvPicPr>
          <p:nvPr/>
        </p:nvPicPr>
        <p:blipFill>
          <a:blip r:embed="rId5"/>
          <a:stretch>
            <a:fillRect/>
          </a:stretch>
        </p:blipFill>
        <p:spPr>
          <a:xfrm>
            <a:off x="4622000" y="2971750"/>
            <a:ext cx="1533473" cy="1571750"/>
          </a:xfrm>
          <a:prstGeom prst="rect">
            <a:avLst/>
          </a:prstGeom>
        </p:spPr>
      </p:pic>
      <p:sp>
        <p:nvSpPr>
          <p:cNvPr id="15" name="TextBox 14"/>
          <p:cNvSpPr txBox="1"/>
          <p:nvPr/>
        </p:nvSpPr>
        <p:spPr>
          <a:xfrm>
            <a:off x="4622000" y="2921750"/>
            <a:ext cx="4172000" cy="300000"/>
          </a:xfrm>
          <a:prstGeom prst="rect">
            <a:avLst/>
          </a:prstGeom>
          <a:noFill/>
        </p:spPr>
        <p:txBody>
          <a:bodyPr wrap="none">
            <a:spAutoFit/>
          </a:bodyPr>
          <a:lstStyle/>
          <a:p>
            <a:r>
              <a:rPr sz="1400" b="1"/>
              <a:t>MLP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Optuna on XGBoost (winning family) — exploratory estimate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50 trials · inner GroupKFold(5) by shape_id · NOT confirmatory (spec §12)</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35</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Hyperparameter</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Default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Best trial (#47/50)</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Classifier max_depth / lr / n_est.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6 / 0.05 / 200</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5 / 0.136 / 313</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Regressor max_depth / lr / n_est.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6 / 0.05 / 200</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8 / 0.199 / 421</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Objective (RMSE, inner fold)</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108.84</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Status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conditional exploratory estimate</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Are the tributary features worth it? — YES, validated</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LeaveOneGroupOut by shape, same 150,240 rows, with and without the 6 new columns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36</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Feature set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RMSE end-to-end</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Improvement</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tabular_v3_17 (17 current features)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81.95</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tabular_v4_21 (17 + 6 tributary)</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59.07</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+27.9%</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Conclusion</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Real, large improvement, not marginal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Migrating the contract is worth it</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Next steps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What remains on the work list after this run</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Phase C2 results · 5-family benchmark  |  October 5,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37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Pending item</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Origin</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1</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Migrate to tabular_v4_21 for real: merge into the dataset, retrain, rerun the benchmark, reconnect ScenarioPredictor</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Validated today (+27.9%)</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2</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Configure the SVM for this scale and add it to the ranking</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Benchmark</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3</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Integration decision (merge into the real branch)</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Postponed</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Audit: what was found and what was fixed</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Seven findings from the October 10 audit · default XGBoost, 154,080 rows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38</a:t>
            </a:r>
          </a:p>
        </p:txBody>
      </p:sp>
      <p:graphicFrame>
        <p:nvGraphicFramePr>
          <p:cNvPr id="8" name="Table 7"/>
          <p:cNvGraphicFramePr>
            <a:graphicFrameLocks noGrp="1"/>
          </p:cNvGraphicFramePr>
          <p:nvPr/>
        </p:nvGraphicFramePr>
        <p:xfrm>
          <a:off x="292608" y="1030000"/>
          <a:ext cx="8550000" cy="3700000"/>
        </p:xfrm>
        <a:graphic>
          <a:graphicData uri="http://schemas.openxmlformats.org/drawingml/2006/table">
            <a:tbl>
              <a:tblPr firstRow="1" bandRow="1">
                <a:tableStyleId>{5C22544A-7EE6-4342-B048-85BDC9FD1C3A}</a:tableStyleId>
              </a:tblPr>
              <a:tblGrid>
                <a:gridCol w="225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2650000">
                  <a:extLst>
                    <a:ext uri="{9D8B030D-6E8A-4147-A177-3AD203B41FA5}">
                      <a16:colId xmlns:a16="http://schemas.microsoft.com/office/drawing/2014/main" val="20002"/>
                    </a:ext>
                  </a:extLst>
                </a:gridCol>
                <a:gridCol w="1250000">
                  <a:extLst>
                    <a:ext uri="{9D8B030D-6E8A-4147-A177-3AD203B41FA5}">
                      <a16:colId xmlns:a16="http://schemas.microsoft.com/office/drawing/2014/main" val="20003"/>
                    </a:ext>
                  </a:extLst>
                </a:gridCol>
              </a:tblGrid>
              <a:tr h="340000">
                <a:tc>
                  <a:txBody>
                    <a:bodyPr/>
                    <a:lstStyle/>
                    <a:p>
                      <a:pPr algn="l">
                        <a:lnSpc>
                          <a:spcPct val="100000"/>
                        </a:lnSpc>
                        <a:spcBef>
                          <a:spcPts val="0"/>
                        </a:spcBef>
                        <a:spcAft>
                          <a:spcPts val="0"/>
                        </a:spcAft>
                      </a:pPr>
                      <a:r>
                        <a:rPr sz="1200" b="1">
                          <a:solidFill>
                            <a:srgbClr val="F7FAFE"/>
                          </a:solidFill>
                          <a:latin typeface="Montserrat"/>
                        </a:rPr>
                        <a:t>Finding</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Fix</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Verification</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Status</a:t>
                      </a:r>
                    </a:p>
                  </a:txBody>
                  <a:tcPr anchor="ctr">
                    <a:solidFill>
                      <a:srgbClr val="355A84"/>
                    </a:solidFill>
                  </a:tcPr>
                </a:tc>
                <a:extLst>
                  <a:ext uri="{0D108BD9-81ED-4DB2-BD59-A6C34878D82A}">
                    <a16:rowId xmlns:a16="http://schemas.microsoft.com/office/drawing/2014/main" val="10000"/>
                  </a:ext>
                </a:extLst>
              </a:tr>
              <a:tr h="480000">
                <a:tc>
                  <a:txBody>
                    <a:bodyPr/>
                    <a:lstStyle/>
                    <a:p>
                      <a:pPr algn="l">
                        <a:lnSpc>
                          <a:spcPct val="100000"/>
                        </a:lnSpc>
                        <a:spcBef>
                          <a:spcPts val="0"/>
                        </a:spcBef>
                        <a:spcAft>
                          <a:spcPts val="0"/>
                        </a:spcAft>
                      </a:pPr>
                      <a:r>
                        <a:rPr sz="1200" b="1">
                          <a:solidFill>
                            <a:srgbClr val="8BC5FA"/>
                          </a:solidFill>
                          <a:latin typeface="Montserrat"/>
                        </a:rPr>
                        <a:t>M-01  </a:t>
                      </a:r>
                      <a:r>
                        <a:rPr sz="1200" b="0">
                          <a:solidFill>
                            <a:srgbClr val="F7FAFE"/>
                          </a:solidFill>
                          <a:latin typeface="Montserrat"/>
                        </a:rPr>
                        <a:t>No baselines</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Two no-learning baselines added to the benchmark</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LOSO: baseline 9.13 m³ vs XGBoost 57.89 m³</a:t>
                      </a:r>
                    </a:p>
                  </a:txBody>
                  <a:tcPr anchor="ctr">
                    <a:solidFill>
                      <a:srgbClr val="193A58"/>
                    </a:solidFill>
                  </a:tcPr>
                </a:tc>
                <a:tc>
                  <a:txBody>
                    <a:bodyPr/>
                    <a:lstStyle/>
                    <a:p>
                      <a:pPr algn="l">
                        <a:lnSpc>
                          <a:spcPct val="100000"/>
                        </a:lnSpc>
                        <a:spcBef>
                          <a:spcPts val="0"/>
                        </a:spcBef>
                        <a:spcAft>
                          <a:spcPts val="0"/>
                        </a:spcAft>
                      </a:pPr>
                      <a:r>
                        <a:rPr sz="1200" b="1">
                          <a:solidFill>
                            <a:srgbClr val="A4FF9F"/>
                          </a:solidFill>
                          <a:latin typeface="Montserrat"/>
                        </a:rPr>
                        <a:t>Fixed</a:t>
                      </a:r>
                    </a:p>
                  </a:txBody>
                  <a:tcPr anchor="ctr">
                    <a:solidFill>
                      <a:srgbClr val="193A58"/>
                    </a:solidFill>
                  </a:tcPr>
                </a:tc>
                <a:extLst>
                  <a:ext uri="{0D108BD9-81ED-4DB2-BD59-A6C34878D82A}">
                    <a16:rowId xmlns:a16="http://schemas.microsoft.com/office/drawing/2014/main" val="10001"/>
                  </a:ext>
                </a:extLst>
              </a:tr>
              <a:tr h="480000">
                <a:tc>
                  <a:txBody>
                    <a:bodyPr/>
                    <a:lstStyle/>
                    <a:p>
                      <a:pPr algn="l">
                        <a:lnSpc>
                          <a:spcPct val="100000"/>
                        </a:lnSpc>
                        <a:spcBef>
                          <a:spcPts val="0"/>
                        </a:spcBef>
                        <a:spcAft>
                          <a:spcPts val="0"/>
                        </a:spcAft>
                      </a:pPr>
                      <a:r>
                        <a:rPr sz="1200" b="1">
                          <a:solidFill>
                            <a:srgbClr val="8BC5FA"/>
                          </a:solidFill>
                          <a:latin typeface="Montserrat"/>
                        </a:rPr>
                        <a:t>M-02  </a:t>
                      </a:r>
                      <a:r>
                        <a:rPr sz="1200" b="0">
                          <a:solidFill>
                            <a:srgbClr val="F7FAFE"/>
                          </a:solidFill>
                          <a:latin typeface="Montserrat"/>
                        </a:rPr>
                        <a:t>Shape volume</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Per-shape measurement; the model is unchanged</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One shape = 71.6% of the squared error</a:t>
                      </a:r>
                    </a:p>
                  </a:txBody>
                  <a:tcPr anchor="ctr">
                    <a:solidFill>
                      <a:srgbClr val="234560"/>
                    </a:solidFill>
                  </a:tcPr>
                </a:tc>
                <a:tc>
                  <a:txBody>
                    <a:bodyPr/>
                    <a:lstStyle/>
                    <a:p>
                      <a:pPr algn="l">
                        <a:lnSpc>
                          <a:spcPct val="100000"/>
                        </a:lnSpc>
                        <a:spcBef>
                          <a:spcPts val="0"/>
                        </a:spcBef>
                        <a:spcAft>
                          <a:spcPts val="0"/>
                        </a:spcAft>
                      </a:pPr>
                      <a:r>
                        <a:rPr sz="1200" b="1">
                          <a:solidFill>
                            <a:srgbClr val="F1CB83"/>
                          </a:solidFill>
                          <a:latin typeface="Montserrat"/>
                        </a:rPr>
                        <a:t>Open</a:t>
                      </a:r>
                    </a:p>
                  </a:txBody>
                  <a:tcPr anchor="ctr">
                    <a:solidFill>
                      <a:srgbClr val="234560"/>
                    </a:solidFill>
                  </a:tcPr>
                </a:tc>
                <a:extLst>
                  <a:ext uri="{0D108BD9-81ED-4DB2-BD59-A6C34878D82A}">
                    <a16:rowId xmlns:a16="http://schemas.microsoft.com/office/drawing/2014/main" val="10002"/>
                  </a:ext>
                </a:extLst>
              </a:tr>
              <a:tr h="480000">
                <a:tc>
                  <a:txBody>
                    <a:bodyPr/>
                    <a:lstStyle/>
                    <a:p>
                      <a:pPr algn="l">
                        <a:lnSpc>
                          <a:spcPct val="100000"/>
                        </a:lnSpc>
                        <a:spcBef>
                          <a:spcPts val="0"/>
                        </a:spcBef>
                        <a:spcAft>
                          <a:spcPts val="0"/>
                        </a:spcAft>
                      </a:pPr>
                      <a:r>
                        <a:rPr sz="1200" b="1">
                          <a:solidFill>
                            <a:srgbClr val="8BC5FA"/>
                          </a:solidFill>
                          <a:latin typeface="Montserrat"/>
                        </a:rPr>
                        <a:t>M-03  </a:t>
                      </a:r>
                      <a:r>
                        <a:rPr sz="1200" b="0">
                          <a:solidFill>
                            <a:srgbClr val="F7FAFE"/>
                          </a:solidFill>
                          <a:latin typeface="Montserrat"/>
                        </a:rPr>
                        <a:t>Averaged F1</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Pooled F1 from the confusion matrix</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LOSO: F1 0.7379 → 0.9667</a:t>
                      </a:r>
                    </a:p>
                  </a:txBody>
                  <a:tcPr anchor="ctr">
                    <a:solidFill>
                      <a:srgbClr val="193A58"/>
                    </a:solidFill>
                  </a:tcPr>
                </a:tc>
                <a:tc>
                  <a:txBody>
                    <a:bodyPr/>
                    <a:lstStyle/>
                    <a:p>
                      <a:pPr algn="l">
                        <a:lnSpc>
                          <a:spcPct val="100000"/>
                        </a:lnSpc>
                        <a:spcBef>
                          <a:spcPts val="0"/>
                        </a:spcBef>
                        <a:spcAft>
                          <a:spcPts val="0"/>
                        </a:spcAft>
                      </a:pPr>
                      <a:r>
                        <a:rPr sz="1200" b="1">
                          <a:solidFill>
                            <a:srgbClr val="A4FF9F"/>
                          </a:solidFill>
                          <a:latin typeface="Montserrat"/>
                        </a:rPr>
                        <a:t>Fixed</a:t>
                      </a:r>
                    </a:p>
                  </a:txBody>
                  <a:tcPr anchor="ctr">
                    <a:solidFill>
                      <a:srgbClr val="193A58"/>
                    </a:solidFill>
                  </a:tcPr>
                </a:tc>
                <a:extLst>
                  <a:ext uri="{0D108BD9-81ED-4DB2-BD59-A6C34878D82A}">
                    <a16:rowId xmlns:a16="http://schemas.microsoft.com/office/drawing/2014/main" val="10003"/>
                  </a:ext>
                </a:extLst>
              </a:tr>
              <a:tr h="480000">
                <a:tc>
                  <a:txBody>
                    <a:bodyPr/>
                    <a:lstStyle/>
                    <a:p>
                      <a:pPr algn="l">
                        <a:lnSpc>
                          <a:spcPct val="100000"/>
                        </a:lnSpc>
                        <a:spcBef>
                          <a:spcPts val="0"/>
                        </a:spcBef>
                        <a:spcAft>
                          <a:spcPts val="0"/>
                        </a:spcAft>
                      </a:pPr>
                      <a:r>
                        <a:rPr sz="1200" b="1">
                          <a:solidFill>
                            <a:srgbClr val="8BC5FA"/>
                          </a:solidFill>
                          <a:latin typeface="Montserrat"/>
                        </a:rPr>
                        <a:t>V-01  </a:t>
                      </a:r>
                      <a:r>
                        <a:rPr sz="1200" b="0">
                          <a:solidFill>
                            <a:srgbClr val="F7FAFE"/>
                          </a:solidFill>
                          <a:latin typeface="Montserrat"/>
                        </a:rPr>
                        <a:t>In-sample figures</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“In-sample” footnote on the new figures</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6 tests; old figures not regenerated</a:t>
                      </a:r>
                    </a:p>
                  </a:txBody>
                  <a:tcPr anchor="ctr">
                    <a:solidFill>
                      <a:srgbClr val="234560"/>
                    </a:solidFill>
                  </a:tcPr>
                </a:tc>
                <a:tc>
                  <a:txBody>
                    <a:bodyPr/>
                    <a:lstStyle/>
                    <a:p>
                      <a:pPr algn="l">
                        <a:lnSpc>
                          <a:spcPct val="100000"/>
                        </a:lnSpc>
                        <a:spcBef>
                          <a:spcPts val="0"/>
                        </a:spcBef>
                        <a:spcAft>
                          <a:spcPts val="0"/>
                        </a:spcAft>
                      </a:pPr>
                      <a:r>
                        <a:rPr sz="1200" b="1">
                          <a:solidFill>
                            <a:srgbClr val="F1CB83"/>
                          </a:solidFill>
                          <a:latin typeface="Montserrat"/>
                        </a:rPr>
                        <a:t>Partial</a:t>
                      </a:r>
                    </a:p>
                  </a:txBody>
                  <a:tcPr anchor="ctr">
                    <a:solidFill>
                      <a:srgbClr val="234560"/>
                    </a:solidFill>
                  </a:tcPr>
                </a:tc>
                <a:extLst>
                  <a:ext uri="{0D108BD9-81ED-4DB2-BD59-A6C34878D82A}">
                    <a16:rowId xmlns:a16="http://schemas.microsoft.com/office/drawing/2014/main" val="10004"/>
                  </a:ext>
                </a:extLst>
              </a:tr>
              <a:tr h="480000">
                <a:tc>
                  <a:txBody>
                    <a:bodyPr/>
                    <a:lstStyle/>
                    <a:p>
                      <a:pPr algn="l">
                        <a:lnSpc>
                          <a:spcPct val="100000"/>
                        </a:lnSpc>
                        <a:spcBef>
                          <a:spcPts val="0"/>
                        </a:spcBef>
                        <a:spcAft>
                          <a:spcPts val="0"/>
                        </a:spcAft>
                      </a:pPr>
                      <a:r>
                        <a:rPr sz="1200" b="1">
                          <a:solidFill>
                            <a:srgbClr val="8BC5FA"/>
                          </a:solidFill>
                          <a:latin typeface="Montserrat"/>
                        </a:rPr>
                        <a:t>V-07  </a:t>
                      </a:r>
                      <a:r>
                        <a:rPr sz="1200" b="0">
                          <a:solidFill>
                            <a:srgbClr val="F7FAFE"/>
                          </a:solidFill>
                          <a:latin typeface="Montserrat"/>
                        </a:rPr>
                        <a:t>Script overwrote the .inp</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No side effects on import; requires --force</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Does not overwrite without ‑‑force (tests)</a:t>
                      </a:r>
                    </a:p>
                  </a:txBody>
                  <a:tcPr anchor="ctr">
                    <a:solidFill>
                      <a:srgbClr val="193A58"/>
                    </a:solidFill>
                  </a:tcPr>
                </a:tc>
                <a:tc>
                  <a:txBody>
                    <a:bodyPr/>
                    <a:lstStyle/>
                    <a:p>
                      <a:pPr algn="l">
                        <a:lnSpc>
                          <a:spcPct val="100000"/>
                        </a:lnSpc>
                        <a:spcBef>
                          <a:spcPts val="0"/>
                        </a:spcBef>
                        <a:spcAft>
                          <a:spcPts val="0"/>
                        </a:spcAft>
                      </a:pPr>
                      <a:r>
                        <a:rPr sz="1200" b="1">
                          <a:solidFill>
                            <a:srgbClr val="A4FF9F"/>
                          </a:solidFill>
                          <a:latin typeface="Montserrat"/>
                        </a:rPr>
                        <a:t>Fixed</a:t>
                      </a:r>
                    </a:p>
                  </a:txBody>
                  <a:tcPr anchor="ctr">
                    <a:solidFill>
                      <a:srgbClr val="193A58"/>
                    </a:solidFill>
                  </a:tcPr>
                </a:tc>
                <a:extLst>
                  <a:ext uri="{0D108BD9-81ED-4DB2-BD59-A6C34878D82A}">
                    <a16:rowId xmlns:a16="http://schemas.microsoft.com/office/drawing/2014/main" val="10005"/>
                  </a:ext>
                </a:extLst>
              </a:tr>
              <a:tr h="480000">
                <a:tc>
                  <a:txBody>
                    <a:bodyPr/>
                    <a:lstStyle/>
                    <a:p>
                      <a:pPr algn="l">
                        <a:lnSpc>
                          <a:spcPct val="100000"/>
                        </a:lnSpc>
                        <a:spcBef>
                          <a:spcPts val="0"/>
                        </a:spcBef>
                        <a:spcAft>
                          <a:spcPts val="0"/>
                        </a:spcAft>
                      </a:pPr>
                      <a:r>
                        <a:rPr sz="1200" b="1">
                          <a:solidFill>
                            <a:srgbClr val="8BC5FA"/>
                          </a:solidFill>
                          <a:latin typeface="Montserrat"/>
                        </a:rPr>
                        <a:t>M-07 / V-04  </a:t>
                      </a:r>
                      <a:r>
                        <a:rPr sz="1200" b="0">
                          <a:solidFill>
                            <a:srgbClr val="F7FAFE"/>
                          </a:solidFill>
                          <a:latin typeface="Montserrat"/>
                        </a:rPr>
                        <a:t>Model ≠ promotion.json</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predict_network checks the SHA-256 hashes</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Stops if they differ (15 tests)</a:t>
                      </a:r>
                    </a:p>
                  </a:txBody>
                  <a:tcPr anchor="ctr">
                    <a:solidFill>
                      <a:srgbClr val="234560"/>
                    </a:solidFill>
                  </a:tcPr>
                </a:tc>
                <a:tc>
                  <a:txBody>
                    <a:bodyPr/>
                    <a:lstStyle/>
                    <a:p>
                      <a:pPr algn="l">
                        <a:lnSpc>
                          <a:spcPct val="100000"/>
                        </a:lnSpc>
                        <a:spcBef>
                          <a:spcPts val="0"/>
                        </a:spcBef>
                        <a:spcAft>
                          <a:spcPts val="0"/>
                        </a:spcAft>
                      </a:pPr>
                      <a:r>
                        <a:rPr sz="1200" b="1">
                          <a:solidFill>
                            <a:srgbClr val="F1CB83"/>
                          </a:solidFill>
                          <a:latin typeface="Montserrat"/>
                        </a:rPr>
                        <a:t>Partial</a:t>
                      </a:r>
                    </a:p>
                  </a:txBody>
                  <a:tcPr anchor="ctr">
                    <a:solidFill>
                      <a:srgbClr val="234560"/>
                    </a:solidFill>
                  </a:tcPr>
                </a:tc>
                <a:extLst>
                  <a:ext uri="{0D108BD9-81ED-4DB2-BD59-A6C34878D82A}">
                    <a16:rowId xmlns:a16="http://schemas.microsoft.com/office/drawing/2014/main" val="10006"/>
                  </a:ext>
                </a:extLst>
              </a:tr>
              <a:tr h="480000">
                <a:tc>
                  <a:txBody>
                    <a:bodyPr/>
                    <a:lstStyle/>
                    <a:p>
                      <a:pPr algn="l">
                        <a:lnSpc>
                          <a:spcPct val="100000"/>
                        </a:lnSpc>
                        <a:spcBef>
                          <a:spcPts val="0"/>
                        </a:spcBef>
                        <a:spcAft>
                          <a:spcPts val="0"/>
                        </a:spcAft>
                      </a:pPr>
                      <a:r>
                        <a:rPr sz="1200" b="1">
                          <a:solidFill>
                            <a:srgbClr val="8BC5FA"/>
                          </a:solidFill>
                          <a:latin typeface="Montserrat"/>
                        </a:rPr>
                        <a:t>D-04  </a:t>
                      </a:r>
                      <a:r>
                        <a:rPr sz="1200" b="0">
                          <a:solidFill>
                            <a:srgbClr val="F7FAFE"/>
                          </a:solidFill>
                          <a:latin typeface="Montserrat"/>
                        </a:rPr>
                        <a:t>Label resolution</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Spike: effective threshold ≈ 0.5 m³</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A/B decision pending; I recommend A</a:t>
                      </a:r>
                    </a:p>
                  </a:txBody>
                  <a:tcPr anchor="ctr">
                    <a:solidFill>
                      <a:srgbClr val="193A58"/>
                    </a:solidFill>
                  </a:tcPr>
                </a:tc>
                <a:tc>
                  <a:txBody>
                    <a:bodyPr/>
                    <a:lstStyle/>
                    <a:p>
                      <a:pPr algn="l">
                        <a:lnSpc>
                          <a:spcPct val="100000"/>
                        </a:lnSpc>
                        <a:spcBef>
                          <a:spcPts val="0"/>
                        </a:spcBef>
                        <a:spcAft>
                          <a:spcPts val="0"/>
                        </a:spcAft>
                      </a:pPr>
                      <a:r>
                        <a:rPr sz="1200" b="1">
                          <a:solidFill>
                            <a:srgbClr val="F1CB83"/>
                          </a:solidFill>
                          <a:latin typeface="Montserrat"/>
                        </a:rPr>
                        <a:t>Pending</a:t>
                      </a:r>
                    </a:p>
                  </a:txBody>
                  <a:tcPr anchor="ctr">
                    <a:solidFill>
                      <a:srgbClr val="193A58"/>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What each protocol measures (and why it matters)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Pooled volume RMSE: default XGBoost vs a baseline that does not learn</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39</a:t>
            </a:r>
          </a:p>
        </p:txBody>
      </p:sp>
      <p:sp>
        <p:nvSpPr>
          <p:cNvPr id="8" name="Rounded Rectangle 7"/>
          <p:cNvSpPr/>
          <p:nvPr/>
        </p:nvSpPr>
        <p:spPr>
          <a:xfrm>
            <a:off x="292608" y="1050000"/>
            <a:ext cx="3950000" cy="133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300"/>
              </a:spcAft>
            </a:pPr>
            <a:r>
              <a:rPr sz="1400" b="1">
                <a:solidFill>
                  <a:srgbClr val="F7FAFE"/>
                </a:solidFill>
                <a:latin typeface="Montserrat"/>
              </a:rPr>
              <a:t>LOSO and GroupKFold5</a:t>
            </a:r>
          </a:p>
          <a:p>
            <a:pPr algn="l">
              <a:lnSpc>
                <a:spcPct val="100000"/>
              </a:lnSpc>
              <a:spcBef>
                <a:spcPts val="0"/>
              </a:spcBef>
              <a:spcAft>
                <a:spcPts val="500"/>
              </a:spcAft>
            </a:pPr>
            <a:r>
              <a:rPr sz="1200" b="0">
                <a:solidFill>
                  <a:srgbClr val="B7CBE0"/>
                </a:solidFill>
                <a:latin typeface="Montserrat"/>
              </a:rPr>
              <a:t>Intensity factors are held out</a:t>
            </a:r>
          </a:p>
          <a:p>
            <a:pPr algn="l">
              <a:lnSpc>
                <a:spcPct val="100000"/>
              </a:lnSpc>
              <a:spcBef>
                <a:spcPts val="0"/>
              </a:spcBef>
              <a:spcAft>
                <a:spcPts val="300"/>
              </a:spcAft>
            </a:pPr>
            <a:r>
              <a:rPr sz="1400" b="1">
                <a:solidFill>
                  <a:srgbClr val="F1CB83"/>
                </a:solidFill>
                <a:latin typeface="Montserrat"/>
              </a:rPr>
              <a:t>Interpolation between factors</a:t>
            </a:r>
          </a:p>
          <a:p>
            <a:pPr algn="l">
              <a:lnSpc>
                <a:spcPct val="100000"/>
              </a:lnSpc>
              <a:spcBef>
                <a:spcPts val="0"/>
              </a:spcBef>
              <a:spcAft>
                <a:spcPts val="0"/>
              </a:spcAft>
            </a:pPr>
            <a:r>
              <a:rPr sz="1200" b="0">
                <a:solidFill>
                  <a:srgbClr val="B7CBE0"/>
                </a:solidFill>
                <a:latin typeface="Montserrat"/>
              </a:rPr>
              <a:t>All shapes were already seen</a:t>
            </a:r>
          </a:p>
        </p:txBody>
      </p:sp>
      <p:sp>
        <p:nvSpPr>
          <p:cNvPr id="9" name="Rounded Rectangle 8"/>
          <p:cNvSpPr/>
          <p:nvPr/>
        </p:nvSpPr>
        <p:spPr>
          <a:xfrm>
            <a:off x="292608" y="2510000"/>
            <a:ext cx="3950000" cy="1330000"/>
          </a:xfrm>
          <a:prstGeom prst="roundRect">
            <a:avLst>
              <a:gd name="adj" fmla="val 10000"/>
            </a:avLst>
          </a:prstGeom>
          <a:solidFill>
            <a:srgbClr val="234560"/>
          </a:solidFill>
          <a:ln w="28575">
            <a:solidFill>
              <a:srgbClr val="8BC5FA"/>
            </a:solidFill>
          </a:ln>
        </p:spPr>
        <p:txBody>
          <a:bodyPr wrap="square" lIns="110000" tIns="60000" rIns="110000" bIns="60000" rtlCol="0" anchor="ctr"/>
          <a:lstStyle/>
          <a:p>
            <a:pPr algn="l">
              <a:lnSpc>
                <a:spcPct val="100000"/>
              </a:lnSpc>
              <a:spcBef>
                <a:spcPts val="0"/>
              </a:spcBef>
              <a:spcAft>
                <a:spcPts val="300"/>
              </a:spcAft>
            </a:pPr>
            <a:r>
              <a:rPr sz="1400" b="1">
                <a:solidFill>
                  <a:srgbClr val="F7FAFE"/>
                </a:solidFill>
                <a:latin typeface="Montserrat"/>
              </a:rPr>
              <a:t>LeaveOneShapeOut</a:t>
            </a:r>
          </a:p>
          <a:p>
            <a:pPr algn="l">
              <a:lnSpc>
                <a:spcPct val="100000"/>
              </a:lnSpc>
              <a:spcBef>
                <a:spcPts val="0"/>
              </a:spcBef>
              <a:spcAft>
                <a:spcPts val="500"/>
              </a:spcAft>
            </a:pPr>
            <a:r>
              <a:rPr sz="1200" b="0">
                <a:solidFill>
                  <a:srgbClr val="B7CBE0"/>
                </a:solidFill>
                <a:latin typeface="Montserrat"/>
              </a:rPr>
              <a:t>One whole hydrograph shape is held out</a:t>
            </a:r>
          </a:p>
          <a:p>
            <a:pPr algn="l">
              <a:lnSpc>
                <a:spcPct val="100000"/>
              </a:lnSpc>
              <a:spcBef>
                <a:spcPts val="0"/>
              </a:spcBef>
              <a:spcAft>
                <a:spcPts val="300"/>
              </a:spcAft>
            </a:pPr>
            <a:r>
              <a:rPr sz="1400" b="1">
                <a:solidFill>
                  <a:srgbClr val="8BC5FA"/>
                </a:solidFill>
                <a:latin typeface="Montserrat"/>
              </a:rPr>
              <a:t>Unseen hydrograph shapes</a:t>
            </a:r>
          </a:p>
          <a:p>
            <a:pPr algn="l">
              <a:lnSpc>
                <a:spcPct val="100000"/>
              </a:lnSpc>
              <a:spcBef>
                <a:spcPts val="0"/>
              </a:spcBef>
              <a:spcAft>
                <a:spcPts val="0"/>
              </a:spcAft>
            </a:pPr>
            <a:r>
              <a:rPr sz="1200" b="0">
                <a:solidFill>
                  <a:srgbClr val="B7CBE0"/>
                </a:solidFill>
                <a:latin typeface="Montserrat"/>
              </a:rPr>
              <a:t>40 folds: the main test</a:t>
            </a:r>
          </a:p>
        </p:txBody>
      </p:sp>
      <p:sp>
        <p:nvSpPr>
          <p:cNvPr id="10" name="TextBox 9"/>
          <p:cNvSpPr txBox="1"/>
          <p:nvPr/>
        </p:nvSpPr>
        <p:spPr>
          <a:xfrm>
            <a:off x="4442608" y="1030000"/>
            <a:ext cx="4399640" cy="260000"/>
          </a:xfrm>
          <a:prstGeom prst="rect">
            <a:avLst/>
          </a:prstGeom>
          <a:noFill/>
        </p:spPr>
        <p:txBody>
          <a:bodyPr wrap="square" lIns="0" tIns="0" rIns="0" bIns="0" anchor="t">
            <a:spAutoFit/>
          </a:bodyPr>
          <a:lstStyle/>
          <a:p>
            <a:pPr algn="l">
              <a:lnSpc>
                <a:spcPct val="100000"/>
              </a:lnSpc>
              <a:spcBef>
                <a:spcPts val="0"/>
              </a:spcBef>
              <a:spcAft>
                <a:spcPts val="0"/>
              </a:spcAft>
            </a:pPr>
            <a:r>
              <a:rPr sz="1100" b="0">
                <a:solidFill>
                  <a:srgbClr val="B7CBE0"/>
                </a:solidFill>
                <a:latin typeface="Montserrat"/>
              </a:rPr>
              <a:t>Pooled volume RMSE (m³): lower is better</a:t>
            </a:r>
          </a:p>
        </p:txBody>
      </p:sp>
      <p:graphicFrame>
        <p:nvGraphicFramePr>
          <p:cNvPr id="11" name="Chart 10"/>
          <p:cNvGraphicFramePr>
            <a:graphicFrameLocks noGrp="1"/>
          </p:cNvGraphicFramePr>
          <p:nvPr/>
        </p:nvGraphicFramePr>
        <p:xfrm>
          <a:off x="4442608" y="1280000"/>
          <a:ext cx="4399640" cy="2560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4442608" y="3830000"/>
            <a:ext cx="4399640" cy="200000"/>
          </a:xfrm>
          <a:prstGeom prst="rect">
            <a:avLst/>
          </a:prstGeom>
          <a:noFill/>
        </p:spPr>
        <p:txBody>
          <a:bodyPr wrap="square" lIns="0" tIns="0" rIns="0" bIns="0" anchor="t">
            <a:spAutoFit/>
          </a:bodyPr>
          <a:lstStyle/>
          <a:p>
            <a:pPr algn="l">
              <a:lnSpc>
                <a:spcPct val="100000"/>
              </a:lnSpc>
              <a:spcBef>
                <a:spcPts val="0"/>
              </a:spcBef>
              <a:spcAft>
                <a:spcPts val="0"/>
              </a:spcAft>
            </a:pPr>
            <a:r>
              <a:rPr sz="1000" b="0">
                <a:solidFill>
                  <a:srgbClr val="B7CBE0"/>
                </a:solidFill>
                <a:latin typeface="Montserrat"/>
              </a:rPr>
              <a:t>Baseline: factor interpolation (left), nearest shape (right)</a:t>
            </a:r>
          </a:p>
        </p:txBody>
      </p:sp>
      <p:sp>
        <p:nvSpPr>
          <p:cNvPr id="13" name="Rounded Rectangle 12"/>
          <p:cNvSpPr/>
          <p:nvPr/>
        </p:nvSpPr>
        <p:spPr>
          <a:xfrm>
            <a:off x="292608" y="4080000"/>
            <a:ext cx="8549640" cy="650000"/>
          </a:xfrm>
          <a:prstGeom prst="roundRect">
            <a:avLst>
              <a:gd name="adj" fmla="val 10000"/>
            </a:avLst>
          </a:prstGeom>
          <a:solidFill>
            <a:srgbClr val="355A84"/>
          </a:solidFill>
          <a:ln>
            <a:noFill/>
          </a:ln>
        </p:spPr>
        <p:txBody>
          <a:bodyPr wrap="square" lIns="150000" tIns="40000" rIns="150000" bIns="40000" rtlCol="0" anchor="ctr"/>
          <a:lstStyle/>
          <a:p>
            <a:pPr algn="l">
              <a:lnSpc>
                <a:spcPct val="100000"/>
              </a:lnSpc>
              <a:spcBef>
                <a:spcPts val="0"/>
              </a:spcBef>
              <a:spcAft>
                <a:spcPts val="200"/>
              </a:spcAft>
            </a:pPr>
            <a:r>
              <a:rPr sz="1800" b="1">
                <a:solidFill>
                  <a:srgbClr val="F7FAFE"/>
                </a:solidFill>
                <a:latin typeface="Montserrat"/>
              </a:rPr>
              <a:t>LeaveOneShapeOut is the headline figure</a:t>
            </a:r>
          </a:p>
          <a:p>
            <a:pPr algn="l">
              <a:lnSpc>
                <a:spcPct val="100000"/>
              </a:lnSpc>
              <a:spcBef>
                <a:spcPts val="0"/>
              </a:spcBef>
              <a:spcAft>
                <a:spcPts val="0"/>
              </a:spcAft>
            </a:pPr>
            <a:r>
              <a:rPr sz="1200" b="0">
                <a:solidFill>
                  <a:srgbClr val="B7CBE0"/>
                </a:solidFill>
                <a:latin typeface="Montserrat"/>
              </a:rPr>
              <a:t>In LOSO the no-learning baseline wins: that protocol only measures interpolation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XGBoost confusion matrix on unseen shapes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LeaveOneShapeOut · 154,080 node-scenarios · label: volume ≥ 1 m³</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40</a:t>
            </a:r>
          </a:p>
        </p:txBody>
      </p:sp>
      <p:sp>
        <p:nvSpPr>
          <p:cNvPr id="8" name="TextBox 7"/>
          <p:cNvSpPr txBox="1"/>
          <p:nvPr/>
        </p:nvSpPr>
        <p:spPr>
          <a:xfrm>
            <a:off x="1592608" y="1050000"/>
            <a:ext cx="1900000" cy="400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B7CBE0"/>
                </a:solidFill>
                <a:latin typeface="Montserrat"/>
              </a:rPr>
              <a:t>PREDICTED</a:t>
            </a:r>
          </a:p>
          <a:p>
            <a:pPr algn="l">
              <a:lnSpc>
                <a:spcPct val="100000"/>
              </a:lnSpc>
              <a:spcBef>
                <a:spcPts val="0"/>
              </a:spcBef>
              <a:spcAft>
                <a:spcPts val="0"/>
              </a:spcAft>
            </a:pPr>
            <a:r>
              <a:rPr sz="1400" b="1">
                <a:solidFill>
                  <a:srgbClr val="F7FAFE"/>
                </a:solidFill>
                <a:latin typeface="Montserrat"/>
              </a:rPr>
              <a:t>no flood</a:t>
            </a:r>
          </a:p>
        </p:txBody>
      </p:sp>
      <p:sp>
        <p:nvSpPr>
          <p:cNvPr id="9" name="TextBox 8"/>
          <p:cNvSpPr txBox="1"/>
          <p:nvPr/>
        </p:nvSpPr>
        <p:spPr>
          <a:xfrm>
            <a:off x="3542608" y="1050000"/>
            <a:ext cx="1900000" cy="400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B7CBE0"/>
                </a:solidFill>
                <a:latin typeface="Montserrat"/>
              </a:rPr>
              <a:t>PREDICTED</a:t>
            </a:r>
          </a:p>
          <a:p>
            <a:pPr algn="l">
              <a:lnSpc>
                <a:spcPct val="100000"/>
              </a:lnSpc>
              <a:spcBef>
                <a:spcPts val="0"/>
              </a:spcBef>
              <a:spcAft>
                <a:spcPts val="0"/>
              </a:spcAft>
            </a:pPr>
            <a:r>
              <a:rPr sz="1400" b="1">
                <a:solidFill>
                  <a:srgbClr val="F7FAFE"/>
                </a:solidFill>
                <a:latin typeface="Montserrat"/>
              </a:rPr>
              <a:t>flood</a:t>
            </a:r>
          </a:p>
        </p:txBody>
      </p:sp>
      <p:sp>
        <p:nvSpPr>
          <p:cNvPr id="10" name="TextBox 9"/>
          <p:cNvSpPr txBox="1"/>
          <p:nvPr/>
        </p:nvSpPr>
        <p:spPr>
          <a:xfrm>
            <a:off x="292608" y="1500000"/>
            <a:ext cx="1250000" cy="980000"/>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B7CBE0"/>
                </a:solidFill>
                <a:latin typeface="Montserrat"/>
              </a:rPr>
              <a:t>ACTUAL</a:t>
            </a:r>
          </a:p>
          <a:p>
            <a:pPr algn="l">
              <a:lnSpc>
                <a:spcPct val="100000"/>
              </a:lnSpc>
              <a:spcBef>
                <a:spcPts val="0"/>
              </a:spcBef>
              <a:spcAft>
                <a:spcPts val="0"/>
              </a:spcAft>
            </a:pPr>
            <a:r>
              <a:rPr sz="1400" b="1">
                <a:solidFill>
                  <a:srgbClr val="F7FAFE"/>
                </a:solidFill>
                <a:latin typeface="Montserrat"/>
              </a:rPr>
              <a:t>no flood</a:t>
            </a:r>
          </a:p>
        </p:txBody>
      </p:sp>
      <p:sp>
        <p:nvSpPr>
          <p:cNvPr id="11" name="TextBox 10"/>
          <p:cNvSpPr txBox="1"/>
          <p:nvPr/>
        </p:nvSpPr>
        <p:spPr>
          <a:xfrm>
            <a:off x="292608" y="2530000"/>
            <a:ext cx="1250000" cy="980000"/>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B7CBE0"/>
                </a:solidFill>
                <a:latin typeface="Montserrat"/>
              </a:rPr>
              <a:t>ACTUAL</a:t>
            </a:r>
          </a:p>
          <a:p>
            <a:pPr algn="l">
              <a:lnSpc>
                <a:spcPct val="100000"/>
              </a:lnSpc>
              <a:spcBef>
                <a:spcPts val="0"/>
              </a:spcBef>
              <a:spcAft>
                <a:spcPts val="0"/>
              </a:spcAft>
            </a:pPr>
            <a:r>
              <a:rPr sz="1400" b="1">
                <a:solidFill>
                  <a:srgbClr val="F7FAFE"/>
                </a:solidFill>
                <a:latin typeface="Montserrat"/>
              </a:rPr>
              <a:t>flood</a:t>
            </a:r>
          </a:p>
        </p:txBody>
      </p:sp>
      <p:sp>
        <p:nvSpPr>
          <p:cNvPr id="12" name="Rounded Rectangle 11"/>
          <p:cNvSpPr/>
          <p:nvPr/>
        </p:nvSpPr>
        <p:spPr>
          <a:xfrm>
            <a:off x="1592608" y="1500000"/>
            <a:ext cx="1900000" cy="980000"/>
          </a:xfrm>
          <a:prstGeom prst="roundRect">
            <a:avLst>
              <a:gd name="adj" fmla="val 10000"/>
            </a:avLst>
          </a:prstGeom>
          <a:solidFill>
            <a:srgbClr val="234560"/>
          </a:solidFill>
          <a:ln w="12700">
            <a:solidFill>
              <a:srgbClr val="5E8CBE"/>
            </a:solidFill>
          </a:ln>
        </p:spPr>
        <p:txBody>
          <a:bodyPr wrap="square" lIns="130000" tIns="90000" rIns="100000" bIns="40000" rtlCol="0" anchor="t"/>
          <a:lstStyle/>
          <a:p>
            <a:pPr algn="l">
              <a:lnSpc>
                <a:spcPct val="100000"/>
              </a:lnSpc>
              <a:spcBef>
                <a:spcPts val="0"/>
              </a:spcBef>
              <a:spcAft>
                <a:spcPts val="200"/>
              </a:spcAft>
            </a:pPr>
            <a:r>
              <a:rPr sz="2400" b="1">
                <a:solidFill>
                  <a:srgbClr val="F7FAFE"/>
                </a:solidFill>
                <a:latin typeface="Montserrat"/>
              </a:rPr>
              <a:t>106,526</a:t>
            </a:r>
          </a:p>
          <a:p>
            <a:pPr algn="l">
              <a:lnSpc>
                <a:spcPct val="100000"/>
              </a:lnSpc>
              <a:spcBef>
                <a:spcPts val="0"/>
              </a:spcBef>
              <a:spcAft>
                <a:spcPts val="0"/>
              </a:spcAft>
            </a:pPr>
            <a:r>
              <a:rPr sz="1200" b="0">
                <a:solidFill>
                  <a:srgbClr val="B7CBE0"/>
                </a:solidFill>
                <a:latin typeface="Montserrat"/>
              </a:rPr>
              <a:t>TN · true negatives</a:t>
            </a:r>
          </a:p>
        </p:txBody>
      </p:sp>
      <p:sp>
        <p:nvSpPr>
          <p:cNvPr id="13" name="Rounded Rectangle 12"/>
          <p:cNvSpPr/>
          <p:nvPr/>
        </p:nvSpPr>
        <p:spPr>
          <a:xfrm>
            <a:off x="3542608" y="1500000"/>
            <a:ext cx="1900000" cy="980000"/>
          </a:xfrm>
          <a:prstGeom prst="roundRect">
            <a:avLst>
              <a:gd name="adj" fmla="val 10000"/>
            </a:avLst>
          </a:prstGeom>
          <a:solidFill>
            <a:srgbClr val="193A58"/>
          </a:solidFill>
          <a:ln w="12700">
            <a:solidFill>
              <a:srgbClr val="F1CB83"/>
            </a:solidFill>
          </a:ln>
        </p:spPr>
        <p:txBody>
          <a:bodyPr wrap="square" lIns="130000" tIns="90000" rIns="100000" bIns="40000" rtlCol="0" anchor="t"/>
          <a:lstStyle/>
          <a:p>
            <a:pPr algn="l">
              <a:lnSpc>
                <a:spcPct val="100000"/>
              </a:lnSpc>
              <a:spcBef>
                <a:spcPts val="0"/>
              </a:spcBef>
              <a:spcAft>
                <a:spcPts val="200"/>
              </a:spcAft>
            </a:pPr>
            <a:r>
              <a:rPr sz="2400" b="1">
                <a:solidFill>
                  <a:srgbClr val="F1CB83"/>
                </a:solidFill>
                <a:latin typeface="Montserrat"/>
              </a:rPr>
              <a:t>1,329</a:t>
            </a:r>
          </a:p>
          <a:p>
            <a:pPr algn="l">
              <a:lnSpc>
                <a:spcPct val="100000"/>
              </a:lnSpc>
              <a:spcBef>
                <a:spcPts val="0"/>
              </a:spcBef>
              <a:spcAft>
                <a:spcPts val="0"/>
              </a:spcAft>
            </a:pPr>
            <a:r>
              <a:rPr sz="1200" b="0">
                <a:solidFill>
                  <a:srgbClr val="B7CBE0"/>
                </a:solidFill>
                <a:latin typeface="Montserrat"/>
              </a:rPr>
              <a:t>FP · false positives</a:t>
            </a:r>
          </a:p>
        </p:txBody>
      </p:sp>
      <p:sp>
        <p:nvSpPr>
          <p:cNvPr id="14" name="Rounded Rectangle 13"/>
          <p:cNvSpPr/>
          <p:nvPr/>
        </p:nvSpPr>
        <p:spPr>
          <a:xfrm>
            <a:off x="1592608" y="2530000"/>
            <a:ext cx="1900000" cy="980000"/>
          </a:xfrm>
          <a:prstGeom prst="roundRect">
            <a:avLst>
              <a:gd name="adj" fmla="val 10000"/>
            </a:avLst>
          </a:prstGeom>
          <a:solidFill>
            <a:srgbClr val="193A58"/>
          </a:solidFill>
          <a:ln w="38100">
            <a:solidFill>
              <a:srgbClr val="F1CB83"/>
            </a:solidFill>
          </a:ln>
        </p:spPr>
        <p:txBody>
          <a:bodyPr wrap="square" lIns="130000" tIns="90000" rIns="100000" bIns="40000" rtlCol="0" anchor="t"/>
          <a:lstStyle/>
          <a:p>
            <a:pPr algn="l">
              <a:lnSpc>
                <a:spcPct val="100000"/>
              </a:lnSpc>
              <a:spcBef>
                <a:spcPts val="0"/>
              </a:spcBef>
              <a:spcAft>
                <a:spcPts val="200"/>
              </a:spcAft>
            </a:pPr>
            <a:r>
              <a:rPr sz="2400" b="1">
                <a:solidFill>
                  <a:srgbClr val="F1CB83"/>
                </a:solidFill>
                <a:latin typeface="Montserrat"/>
              </a:rPr>
              <a:t>380</a:t>
            </a:r>
          </a:p>
          <a:p>
            <a:pPr algn="l">
              <a:lnSpc>
                <a:spcPct val="100000"/>
              </a:lnSpc>
              <a:spcBef>
                <a:spcPts val="0"/>
              </a:spcBef>
              <a:spcAft>
                <a:spcPts val="0"/>
              </a:spcAft>
            </a:pPr>
            <a:r>
              <a:rPr sz="1200" b="0">
                <a:solidFill>
                  <a:srgbClr val="B7CBE0"/>
                </a:solidFill>
                <a:latin typeface="Montserrat"/>
              </a:rPr>
              <a:t>FN · false negatives</a:t>
            </a:r>
          </a:p>
        </p:txBody>
      </p:sp>
      <p:sp>
        <p:nvSpPr>
          <p:cNvPr id="15" name="Rounded Rectangle 14"/>
          <p:cNvSpPr/>
          <p:nvPr/>
        </p:nvSpPr>
        <p:spPr>
          <a:xfrm>
            <a:off x="3542608" y="2530000"/>
            <a:ext cx="1900000" cy="980000"/>
          </a:xfrm>
          <a:prstGeom prst="roundRect">
            <a:avLst>
              <a:gd name="adj" fmla="val 10000"/>
            </a:avLst>
          </a:prstGeom>
          <a:solidFill>
            <a:srgbClr val="355A84"/>
          </a:solidFill>
          <a:ln w="19050">
            <a:solidFill>
              <a:srgbClr val="8BC5FA"/>
            </a:solidFill>
          </a:ln>
        </p:spPr>
        <p:txBody>
          <a:bodyPr wrap="square" lIns="130000" tIns="90000" rIns="100000" bIns="40000" rtlCol="0" anchor="t"/>
          <a:lstStyle/>
          <a:p>
            <a:pPr algn="l">
              <a:lnSpc>
                <a:spcPct val="100000"/>
              </a:lnSpc>
              <a:spcBef>
                <a:spcPts val="0"/>
              </a:spcBef>
              <a:spcAft>
                <a:spcPts val="200"/>
              </a:spcAft>
            </a:pPr>
            <a:r>
              <a:rPr sz="2400" b="1">
                <a:solidFill>
                  <a:srgbClr val="F7FAFE"/>
                </a:solidFill>
                <a:latin typeface="Montserrat"/>
              </a:rPr>
              <a:t>45,845</a:t>
            </a:r>
          </a:p>
          <a:p>
            <a:pPr algn="l">
              <a:lnSpc>
                <a:spcPct val="100000"/>
              </a:lnSpc>
              <a:spcBef>
                <a:spcPts val="0"/>
              </a:spcBef>
              <a:spcAft>
                <a:spcPts val="0"/>
              </a:spcAft>
            </a:pPr>
            <a:r>
              <a:rPr sz="1200" b="0">
                <a:solidFill>
                  <a:srgbClr val="B7CBE0"/>
                </a:solidFill>
                <a:latin typeface="Montserrat"/>
              </a:rPr>
              <a:t>TP · true positives</a:t>
            </a:r>
          </a:p>
        </p:txBody>
      </p:sp>
      <p:sp>
        <p:nvSpPr>
          <p:cNvPr id="16" name="Rounded Rectangle 15"/>
          <p:cNvSpPr/>
          <p:nvPr/>
        </p:nvSpPr>
        <p:spPr>
          <a:xfrm>
            <a:off x="5692608" y="1050000"/>
            <a:ext cx="3149640" cy="7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100"/>
              </a:spcAft>
            </a:pPr>
            <a:r>
              <a:rPr sz="1200" b="0">
                <a:solidFill>
                  <a:srgbClr val="B7CBE0"/>
                </a:solidFill>
                <a:latin typeface="Montserrat"/>
              </a:rPr>
              <a:t>Recall</a:t>
            </a:r>
          </a:p>
          <a:p>
            <a:pPr algn="l">
              <a:lnSpc>
                <a:spcPct val="100000"/>
              </a:lnSpc>
              <a:spcBef>
                <a:spcPts val="0"/>
              </a:spcBef>
              <a:spcAft>
                <a:spcPts val="0"/>
              </a:spcAft>
            </a:pPr>
            <a:r>
              <a:rPr sz="2200" b="1">
                <a:solidFill>
                  <a:srgbClr val="8BC5FA"/>
                </a:solidFill>
                <a:latin typeface="Montserrat"/>
              </a:rPr>
              <a:t>0.9918</a:t>
            </a:r>
          </a:p>
        </p:txBody>
      </p:sp>
      <p:sp>
        <p:nvSpPr>
          <p:cNvPr id="17" name="Rounded Rectangle 16"/>
          <p:cNvSpPr/>
          <p:nvPr/>
        </p:nvSpPr>
        <p:spPr>
          <a:xfrm>
            <a:off x="5692608" y="1890000"/>
            <a:ext cx="3149640" cy="7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100"/>
              </a:spcAft>
            </a:pPr>
            <a:r>
              <a:rPr sz="1200" b="0">
                <a:solidFill>
                  <a:srgbClr val="B7CBE0"/>
                </a:solidFill>
                <a:latin typeface="Montserrat"/>
              </a:rPr>
              <a:t>Precision</a:t>
            </a:r>
          </a:p>
          <a:p>
            <a:pPr algn="l">
              <a:lnSpc>
                <a:spcPct val="100000"/>
              </a:lnSpc>
              <a:spcBef>
                <a:spcPts val="0"/>
              </a:spcBef>
              <a:spcAft>
                <a:spcPts val="0"/>
              </a:spcAft>
            </a:pPr>
            <a:r>
              <a:rPr sz="2200" b="1">
                <a:solidFill>
                  <a:srgbClr val="8BC5FA"/>
                </a:solidFill>
                <a:latin typeface="Montserrat"/>
              </a:rPr>
              <a:t>0.9718</a:t>
            </a:r>
          </a:p>
        </p:txBody>
      </p:sp>
      <p:sp>
        <p:nvSpPr>
          <p:cNvPr id="18" name="Rounded Rectangle 17"/>
          <p:cNvSpPr/>
          <p:nvPr/>
        </p:nvSpPr>
        <p:spPr>
          <a:xfrm>
            <a:off x="5692608" y="2730000"/>
            <a:ext cx="3149640" cy="7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100"/>
              </a:spcAft>
            </a:pPr>
            <a:r>
              <a:rPr sz="1200" b="0">
                <a:solidFill>
                  <a:srgbClr val="B7CBE0"/>
                </a:solidFill>
                <a:latin typeface="Montserrat"/>
              </a:rPr>
              <a:t>Pooled F1</a:t>
            </a:r>
          </a:p>
          <a:p>
            <a:pPr algn="l">
              <a:lnSpc>
                <a:spcPct val="100000"/>
              </a:lnSpc>
              <a:spcBef>
                <a:spcPts val="0"/>
              </a:spcBef>
              <a:spcAft>
                <a:spcPts val="0"/>
              </a:spcAft>
            </a:pPr>
            <a:r>
              <a:rPr sz="2200" b="1">
                <a:solidFill>
                  <a:srgbClr val="F7FAFE"/>
                </a:solidFill>
                <a:latin typeface="Montserrat"/>
              </a:rPr>
              <a:t>0.9817</a:t>
            </a:r>
          </a:p>
        </p:txBody>
      </p:sp>
      <p:sp>
        <p:nvSpPr>
          <p:cNvPr id="19" name="Rounded Rectangle 18"/>
          <p:cNvSpPr/>
          <p:nvPr/>
        </p:nvSpPr>
        <p:spPr>
          <a:xfrm>
            <a:off x="292608" y="3680000"/>
            <a:ext cx="8549640" cy="950000"/>
          </a:xfrm>
          <a:prstGeom prst="roundRect">
            <a:avLst>
              <a:gd name="adj" fmla="val 10000"/>
            </a:avLst>
          </a:prstGeom>
          <a:solidFill>
            <a:srgbClr val="193A58"/>
          </a:solidFill>
          <a:ln w="25400">
            <a:solidFill>
              <a:srgbClr val="F1CB83"/>
            </a:solidFill>
          </a:ln>
        </p:spPr>
        <p:txBody>
          <a:bodyPr wrap="square" rtlCol="0" anchor="ctr"/>
          <a:lstStyle/>
          <a:p>
            <a:pPr algn="l">
              <a:lnSpc>
                <a:spcPct val="100000"/>
              </a:lnSpc>
              <a:spcBef>
                <a:spcPts val="0"/>
              </a:spcBef>
              <a:spcAft>
                <a:spcPts val="0"/>
              </a:spcAft>
            </a:pPr>
            <a:endParaRPr/>
          </a:p>
        </p:txBody>
      </p:sp>
      <p:sp>
        <p:nvSpPr>
          <p:cNvPr id="20" name="TextBox 19"/>
          <p:cNvSpPr txBox="1"/>
          <p:nvPr/>
        </p:nvSpPr>
        <p:spPr>
          <a:xfrm>
            <a:off x="442608" y="3680000"/>
            <a:ext cx="2900000" cy="950000"/>
          </a:xfrm>
          <a:prstGeom prst="rect">
            <a:avLst/>
          </a:prstGeom>
          <a:noFill/>
        </p:spPr>
        <p:txBody>
          <a:bodyPr wrap="square" lIns="0" tIns="0" rIns="0" bIns="0" anchor="ctr">
            <a:spAutoFit/>
          </a:bodyPr>
          <a:lstStyle/>
          <a:p>
            <a:pPr algn="l">
              <a:lnSpc>
                <a:spcPct val="100000"/>
              </a:lnSpc>
              <a:spcBef>
                <a:spcPts val="0"/>
              </a:spcBef>
              <a:spcAft>
                <a:spcPts val="0"/>
              </a:spcAft>
            </a:pPr>
            <a:r>
              <a:rPr sz="3000" b="1">
                <a:solidFill>
                  <a:srgbClr val="F1CB83"/>
                </a:solidFill>
                <a:latin typeface="Montserrat"/>
              </a:rPr>
              <a:t>333 of 380</a:t>
            </a:r>
          </a:p>
        </p:txBody>
      </p:sp>
      <p:sp>
        <p:nvSpPr>
          <p:cNvPr id="21" name="TextBox 20"/>
          <p:cNvSpPr txBox="1"/>
          <p:nvPr/>
        </p:nvSpPr>
        <p:spPr>
          <a:xfrm>
            <a:off x="3442608" y="3680000"/>
            <a:ext cx="5249640" cy="950000"/>
          </a:xfrm>
          <a:prstGeom prst="rect">
            <a:avLst/>
          </a:prstGeom>
          <a:noFill/>
        </p:spPr>
        <p:txBody>
          <a:bodyPr wrap="square" lIns="0" tIns="0" rIns="0" bIns="0" anchor="ctr">
            <a:spAutoFit/>
          </a:bodyPr>
          <a:lstStyle/>
          <a:p>
            <a:pPr algn="l">
              <a:lnSpc>
                <a:spcPct val="100000"/>
              </a:lnSpc>
              <a:spcBef>
                <a:spcPts val="0"/>
              </a:spcBef>
              <a:spcAft>
                <a:spcPts val="300"/>
              </a:spcAft>
            </a:pPr>
            <a:r>
              <a:rPr sz="1400" b="1">
                <a:solidFill>
                  <a:srgbClr val="F7FAFE"/>
                </a:solidFill>
                <a:latin typeface="Montserrat"/>
              </a:rPr>
              <a:t>false negatives have a reported volume of 1 m³</a:t>
            </a:r>
          </a:p>
          <a:p>
            <a:pPr algn="l">
              <a:lnSpc>
                <a:spcPct val="100000"/>
              </a:lnSpc>
              <a:spcBef>
                <a:spcPts val="0"/>
              </a:spcBef>
              <a:spcAft>
                <a:spcPts val="0"/>
              </a:spcAft>
            </a:pPr>
            <a:r>
              <a:rPr sz="1200" b="0">
                <a:solidFill>
                  <a:srgbClr val="B7CBE0"/>
                </a:solidFill>
                <a:latin typeface="Montserrat"/>
              </a:rPr>
              <a:t>the minimum that counts as flooding; none exceeds 100 m³</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The flood label and its resolution</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From SWMM to the .rpt to the label: the report prints volume at 1 m³ resolution</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41</a:t>
            </a:r>
          </a:p>
        </p:txBody>
      </p:sp>
      <p:sp>
        <p:nvSpPr>
          <p:cNvPr id="8" name="Rounded Rectangle 7"/>
          <p:cNvSpPr/>
          <p:nvPr/>
        </p:nvSpPr>
        <p:spPr>
          <a:xfrm>
            <a:off x="292608" y="1050000"/>
            <a:ext cx="2500000" cy="1000000"/>
          </a:xfrm>
          <a:prstGeom prst="roundRect">
            <a:avLst>
              <a:gd name="adj" fmla="val 10000"/>
            </a:avLst>
          </a:prstGeom>
          <a:solidFill>
            <a:srgbClr val="193A58"/>
          </a:solidFill>
          <a:ln w="12700">
            <a:solidFill>
              <a:srgbClr val="5E8CBE"/>
            </a:solidFill>
          </a:ln>
        </p:spPr>
        <p:txBody>
          <a:bodyPr wrap="square" lIns="110000" tIns="60000" rIns="110000" bIns="60000" rtlCol="0" anchor="t"/>
          <a:lstStyle/>
          <a:p>
            <a:pPr algn="l">
              <a:lnSpc>
                <a:spcPct val="100000"/>
              </a:lnSpc>
              <a:spcBef>
                <a:spcPts val="0"/>
              </a:spcBef>
              <a:spcAft>
                <a:spcPts val="400"/>
              </a:spcAft>
            </a:pPr>
            <a:r>
              <a:rPr sz="1400" b="1">
                <a:solidFill>
                  <a:srgbClr val="8BC5FA"/>
                </a:solidFill>
                <a:latin typeface="Montserrat"/>
              </a:rPr>
              <a:t>1 · SWMM</a:t>
            </a:r>
          </a:p>
          <a:p>
            <a:pPr algn="l">
              <a:lnSpc>
                <a:spcPct val="100000"/>
              </a:lnSpc>
              <a:spcBef>
                <a:spcPts val="0"/>
              </a:spcBef>
              <a:spcAft>
                <a:spcPts val="0"/>
              </a:spcAft>
            </a:pPr>
            <a:r>
              <a:rPr sz="1300" b="0">
                <a:solidFill>
                  <a:srgbClr val="F7FAFE"/>
                </a:solidFill>
                <a:latin typeface="Montserrat"/>
              </a:rPr>
              <a:t>Continuous overflow volume (floating point)</a:t>
            </a:r>
          </a:p>
        </p:txBody>
      </p:sp>
      <p:sp>
        <p:nvSpPr>
          <p:cNvPr id="9" name="Right Arrow 8"/>
          <p:cNvSpPr/>
          <p:nvPr/>
        </p:nvSpPr>
        <p:spPr>
          <a:xfrm>
            <a:off x="2862608" y="1400000"/>
            <a:ext cx="384820" cy="300000"/>
          </a:xfrm>
          <a:prstGeom prst="rightArrow">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10" name="Rounded Rectangle 9"/>
          <p:cNvSpPr/>
          <p:nvPr/>
        </p:nvSpPr>
        <p:spPr>
          <a:xfrm>
            <a:off x="3317428" y="1050000"/>
            <a:ext cx="2500000" cy="1000000"/>
          </a:xfrm>
          <a:prstGeom prst="roundRect">
            <a:avLst>
              <a:gd name="adj" fmla="val 10000"/>
            </a:avLst>
          </a:prstGeom>
          <a:solidFill>
            <a:srgbClr val="234560"/>
          </a:solidFill>
          <a:ln w="25400">
            <a:solidFill>
              <a:srgbClr val="F1CB83"/>
            </a:solidFill>
          </a:ln>
        </p:spPr>
        <p:txBody>
          <a:bodyPr wrap="square" lIns="110000" tIns="60000" rIns="110000" bIns="60000" rtlCol="0" anchor="t"/>
          <a:lstStyle/>
          <a:p>
            <a:pPr algn="l">
              <a:lnSpc>
                <a:spcPct val="100000"/>
              </a:lnSpc>
              <a:spcBef>
                <a:spcPts val="0"/>
              </a:spcBef>
              <a:spcAft>
                <a:spcPts val="400"/>
              </a:spcAft>
            </a:pPr>
            <a:r>
              <a:rPr sz="1400" b="1">
                <a:solidFill>
                  <a:srgbClr val="8BC5FA"/>
                </a:solidFill>
                <a:latin typeface="Montserrat"/>
              </a:rPr>
              <a:t>2 · .rpt report</a:t>
            </a:r>
          </a:p>
          <a:p>
            <a:pPr algn="l">
              <a:lnSpc>
                <a:spcPct val="100000"/>
              </a:lnSpc>
              <a:spcBef>
                <a:spcPts val="0"/>
              </a:spcBef>
              <a:spcAft>
                <a:spcPts val="0"/>
              </a:spcAft>
            </a:pPr>
            <a:r>
              <a:rPr sz="1300" b="0">
                <a:solidFill>
                  <a:srgbClr val="F7FAFE"/>
                </a:solidFill>
                <a:latin typeface="Montserrat"/>
              </a:rPr>
              <a:t>10⁶ L with 3 decimals: 1 m³ resolution</a:t>
            </a:r>
          </a:p>
        </p:txBody>
      </p:sp>
      <p:sp>
        <p:nvSpPr>
          <p:cNvPr id="11" name="Right Arrow 10"/>
          <p:cNvSpPr/>
          <p:nvPr/>
        </p:nvSpPr>
        <p:spPr>
          <a:xfrm>
            <a:off x="5887428" y="1400000"/>
            <a:ext cx="384820" cy="300000"/>
          </a:xfrm>
          <a:prstGeom prst="rightArrow">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12" name="Rounded Rectangle 11"/>
          <p:cNvSpPr/>
          <p:nvPr/>
        </p:nvSpPr>
        <p:spPr>
          <a:xfrm>
            <a:off x="6342248" y="1050000"/>
            <a:ext cx="2500000" cy="1000000"/>
          </a:xfrm>
          <a:prstGeom prst="roundRect">
            <a:avLst>
              <a:gd name="adj" fmla="val 10000"/>
            </a:avLst>
          </a:prstGeom>
          <a:solidFill>
            <a:srgbClr val="193A58"/>
          </a:solidFill>
          <a:ln w="12700">
            <a:solidFill>
              <a:srgbClr val="5E8CBE"/>
            </a:solidFill>
          </a:ln>
        </p:spPr>
        <p:txBody>
          <a:bodyPr wrap="square" lIns="110000" tIns="60000" rIns="110000" bIns="60000" rtlCol="0" anchor="t"/>
          <a:lstStyle/>
          <a:p>
            <a:pPr algn="l">
              <a:lnSpc>
                <a:spcPct val="100000"/>
              </a:lnSpc>
              <a:spcBef>
                <a:spcPts val="0"/>
              </a:spcBef>
              <a:spcAft>
                <a:spcPts val="400"/>
              </a:spcAft>
            </a:pPr>
            <a:r>
              <a:rPr sz="1400" b="1">
                <a:solidFill>
                  <a:srgbClr val="8BC5FA"/>
                </a:solidFill>
                <a:latin typeface="Montserrat"/>
              </a:rPr>
              <a:t>3 · Label</a:t>
            </a:r>
          </a:p>
          <a:p>
            <a:pPr algn="l">
              <a:lnSpc>
                <a:spcPct val="100000"/>
              </a:lnSpc>
              <a:spcBef>
                <a:spcPts val="0"/>
              </a:spcBef>
              <a:spcAft>
                <a:spcPts val="0"/>
              </a:spcAft>
            </a:pPr>
            <a:r>
              <a:rPr sz="1300" b="0">
                <a:solidFill>
                  <a:srgbClr val="F7FAFE"/>
                </a:solidFill>
                <a:latin typeface="Montserrat"/>
              </a:rPr>
              <a:t>flood = 1 if V_rpt ≥ 1 m³</a:t>
            </a:r>
          </a:p>
        </p:txBody>
      </p:sp>
      <p:sp>
        <p:nvSpPr>
          <p:cNvPr id="13" name="Rounded Rectangle 12"/>
          <p:cNvSpPr/>
          <p:nvPr/>
        </p:nvSpPr>
        <p:spPr>
          <a:xfrm>
            <a:off x="292608" y="2200000"/>
            <a:ext cx="8549640" cy="800000"/>
          </a:xfrm>
          <a:prstGeom prst="roundRect">
            <a:avLst>
              <a:gd name="adj" fmla="val 10000"/>
            </a:avLst>
          </a:prstGeom>
          <a:solidFill>
            <a:srgbClr val="355A84"/>
          </a:solidFill>
          <a:ln>
            <a:noFill/>
          </a:ln>
        </p:spPr>
        <p:txBody>
          <a:bodyPr wrap="square" lIns="150000" tIns="40000" rIns="150000" bIns="40000" rtlCol="0" anchor="ctr"/>
          <a:lstStyle/>
          <a:p>
            <a:pPr algn="l">
              <a:lnSpc>
                <a:spcPct val="100000"/>
              </a:lnSpc>
              <a:spcBef>
                <a:spcPts val="0"/>
              </a:spcBef>
              <a:spcAft>
                <a:spcPts val="300"/>
              </a:spcAft>
            </a:pPr>
            <a:r>
              <a:rPr sz="1800" b="1">
                <a:solidFill>
                  <a:srgbClr val="F7FAFE"/>
                </a:solidFill>
                <a:latin typeface="Montserrat"/>
              </a:rPr>
              <a:t>label ≈ continuous volume ≥ 0.5 m³</a:t>
            </a:r>
          </a:p>
          <a:p>
            <a:pPr algn="l">
              <a:lnSpc>
                <a:spcPct val="100000"/>
              </a:lnSpc>
              <a:spcBef>
                <a:spcPts val="0"/>
              </a:spcBef>
              <a:spcAft>
                <a:spcPts val="0"/>
              </a:spcAft>
            </a:pPr>
            <a:r>
              <a:rPr sz="1200" b="0">
                <a:solidFill>
                  <a:srgbClr val="B7CBE0"/>
                </a:solidFill>
                <a:latin typeface="Montserrat"/>
              </a:rPr>
              <a:t>bounded to 0.4988–0.5002 m³ in 15 control scenarios (2,400 node-scenario cases)</a:t>
            </a:r>
          </a:p>
        </p:txBody>
      </p:sp>
      <p:sp>
        <p:nvSpPr>
          <p:cNvPr id="14" name="TextBox 13"/>
          <p:cNvSpPr txBox="1"/>
          <p:nvPr/>
        </p:nvSpPr>
        <p:spPr>
          <a:xfrm>
            <a:off x="292608" y="3110000"/>
            <a:ext cx="8549640" cy="200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B7CBE0"/>
                </a:solidFill>
                <a:latin typeface="Montserrat"/>
              </a:rPr>
              <a:t>PENDING DECISION (AUTHOR)</a:t>
            </a:r>
          </a:p>
        </p:txBody>
      </p:sp>
      <p:sp>
        <p:nvSpPr>
          <p:cNvPr id="15" name="Rounded Rectangle 14"/>
          <p:cNvSpPr/>
          <p:nvPr/>
        </p:nvSpPr>
        <p:spPr>
          <a:xfrm>
            <a:off x="292608" y="3450000"/>
            <a:ext cx="4199820" cy="1150000"/>
          </a:xfrm>
          <a:prstGeom prst="roundRect">
            <a:avLst>
              <a:gd name="adj" fmla="val 10000"/>
            </a:avLst>
          </a:prstGeom>
          <a:solidFill>
            <a:srgbClr val="234560"/>
          </a:solidFill>
          <a:ln w="28575">
            <a:solidFill>
              <a:srgbClr val="F1CB83"/>
            </a:solidFill>
          </a:ln>
        </p:spPr>
        <p:txBody>
          <a:bodyPr wrap="square" lIns="110000" tIns="60000" rIns="110000" bIns="60000" rtlCol="0" anchor="ctr"/>
          <a:lstStyle/>
          <a:p>
            <a:pPr algn="l">
              <a:lnSpc>
                <a:spcPct val="100000"/>
              </a:lnSpc>
              <a:spcBef>
                <a:spcPts val="0"/>
              </a:spcBef>
              <a:spcAft>
                <a:spcPts val="400"/>
              </a:spcAft>
            </a:pPr>
            <a:r>
              <a:rPr sz="1400" b="1">
                <a:solidFill>
                  <a:srgbClr val="8BC5FA"/>
                </a:solidFill>
                <a:latin typeface="Montserrat"/>
              </a:rPr>
              <a:t>A · State the assumption</a:t>
            </a:r>
          </a:p>
          <a:p>
            <a:pPr algn="l">
              <a:lnSpc>
                <a:spcPct val="100000"/>
              </a:lnSpc>
              <a:spcBef>
                <a:spcPts val="0"/>
              </a:spcBef>
              <a:spcAft>
                <a:spcPts val="0"/>
              </a:spcAft>
            </a:pPr>
            <a:r>
              <a:rPr sz="1200" b="0">
                <a:solidFill>
                  <a:srgbClr val="F7FAFE"/>
                </a:solidFill>
                <a:latin typeface="Montserrat"/>
              </a:rPr>
              <a:t>Keep the data and report the confusion matrix with the 1 m³ band separated</a:t>
            </a:r>
          </a:p>
        </p:txBody>
      </p:sp>
      <p:sp>
        <p:nvSpPr>
          <p:cNvPr id="16" name="Rounded Rectangle 15"/>
          <p:cNvSpPr/>
          <p:nvPr/>
        </p:nvSpPr>
        <p:spPr>
          <a:xfrm>
            <a:off x="2342428" y="3340000"/>
            <a:ext cx="2050000" cy="240000"/>
          </a:xfrm>
          <a:prstGeom prst="roundRect">
            <a:avLst>
              <a:gd name="adj" fmla="val 50000"/>
            </a:avLst>
          </a:prstGeom>
          <a:solidFill>
            <a:srgbClr val="F1CB83"/>
          </a:solidFill>
          <a:ln>
            <a:noFill/>
          </a:ln>
        </p:spPr>
        <p:txBody>
          <a:bodyPr wrap="none" lIns="110000" tIns="0" rIns="110000" bIns="0" rtlCol="0" anchor="ctr"/>
          <a:lstStyle/>
          <a:p>
            <a:pPr algn="l">
              <a:lnSpc>
                <a:spcPct val="100000"/>
              </a:lnSpc>
              <a:spcBef>
                <a:spcPts val="0"/>
              </a:spcBef>
              <a:spcAft>
                <a:spcPts val="0"/>
              </a:spcAft>
            </a:pPr>
            <a:r>
              <a:rPr sz="1000" b="1">
                <a:solidFill>
                  <a:srgbClr val="0E2A47"/>
                </a:solidFill>
                <a:latin typeface="Montserrat"/>
              </a:rPr>
              <a:t>RECOMMENDATION: A</a:t>
            </a:r>
          </a:p>
        </p:txBody>
      </p:sp>
      <p:sp>
        <p:nvSpPr>
          <p:cNvPr id="17" name="Rounded Rectangle 16"/>
          <p:cNvSpPr/>
          <p:nvPr/>
        </p:nvSpPr>
        <p:spPr>
          <a:xfrm>
            <a:off x="4642428" y="3450000"/>
            <a:ext cx="4199820" cy="115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400"/>
              </a:spcAft>
            </a:pPr>
            <a:r>
              <a:rPr sz="1400" b="1">
                <a:solidFill>
                  <a:srgbClr val="8BC5FA"/>
                </a:solidFill>
                <a:latin typeface="Montserrat"/>
              </a:rPr>
              <a:t>B · Re-simulate the 1000 runs</a:t>
            </a:r>
          </a:p>
          <a:p>
            <a:pPr algn="l">
              <a:lnSpc>
                <a:spcPct val="100000"/>
              </a:lnSpc>
              <a:spcBef>
                <a:spcPts val="0"/>
              </a:spcBef>
              <a:spcAft>
                <a:spcPts val="0"/>
              </a:spcAft>
            </a:pPr>
            <a:r>
              <a:rPr sz="1200" b="0">
                <a:solidFill>
                  <a:srgbClr val="F7FAFE"/>
                </a:solidFill>
                <a:latin typeface="Montserrat"/>
              </a:rPr>
              <a:t>≈ 17–20 min of SWMM, but the dataset, DB, benchmark, Optuna and all figures are redone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Approximate SVM: architecture change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The exact RBF kernel does not scale to 154,080 rows; it is approximated with a Nystroem map</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42</a:t>
            </a:r>
          </a:p>
        </p:txBody>
      </p:sp>
      <p:sp>
        <p:nvSpPr>
          <p:cNvPr id="8" name="Rounded Rectangle 7"/>
          <p:cNvSpPr/>
          <p:nvPr/>
        </p:nvSpPr>
        <p:spPr>
          <a:xfrm>
            <a:off x="292608" y="1030000"/>
            <a:ext cx="2400000" cy="250000"/>
          </a:xfrm>
          <a:prstGeom prst="roundRect">
            <a:avLst>
              <a:gd name="adj" fmla="val 50000"/>
            </a:avLst>
          </a:prstGeom>
          <a:solidFill>
            <a:srgbClr val="F1CB83"/>
          </a:solidFill>
          <a:ln>
            <a:noFill/>
          </a:ln>
        </p:spPr>
        <p:txBody>
          <a:bodyPr wrap="none" lIns="110000" tIns="0" rIns="110000" bIns="0" rtlCol="0" anchor="ctr"/>
          <a:lstStyle/>
          <a:p>
            <a:pPr algn="l">
              <a:lnSpc>
                <a:spcPct val="100000"/>
              </a:lnSpc>
              <a:spcBef>
                <a:spcPts val="0"/>
              </a:spcBef>
              <a:spcAft>
                <a:spcPts val="0"/>
              </a:spcAft>
            </a:pPr>
            <a:r>
              <a:rPr sz="1000" b="1">
                <a:solidFill>
                  <a:srgbClr val="0E2A47"/>
                </a:solidFill>
                <a:latin typeface="Montserrat"/>
              </a:rPr>
              <a:t>BEFORE · EXACT KERNEL</a:t>
            </a:r>
          </a:p>
        </p:txBody>
      </p:sp>
      <p:sp>
        <p:nvSpPr>
          <p:cNvPr id="9" name="Rounded Rectangle 8"/>
          <p:cNvSpPr/>
          <p:nvPr/>
        </p:nvSpPr>
        <p:spPr>
          <a:xfrm>
            <a:off x="292608" y="1320000"/>
            <a:ext cx="1000000" cy="80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400" b="1">
                <a:solidFill>
                  <a:srgbClr val="F7FAFE"/>
                </a:solidFill>
                <a:latin typeface="Montserrat"/>
              </a:rPr>
              <a:t>Data</a:t>
            </a:r>
          </a:p>
        </p:txBody>
      </p:sp>
      <p:sp>
        <p:nvSpPr>
          <p:cNvPr id="10" name="Rounded Rectangle 9"/>
          <p:cNvSpPr/>
          <p:nvPr/>
        </p:nvSpPr>
        <p:spPr>
          <a:xfrm>
            <a:off x="1482608" y="1320000"/>
            <a:ext cx="1900000" cy="80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400" b="1">
                <a:solidFill>
                  <a:srgbClr val="F7FAFE"/>
                </a:solidFill>
                <a:latin typeface="Montserrat"/>
              </a:rPr>
              <a:t>StandardScaler</a:t>
            </a:r>
          </a:p>
        </p:txBody>
      </p:sp>
      <p:sp>
        <p:nvSpPr>
          <p:cNvPr id="11" name="Rounded Rectangle 10"/>
          <p:cNvSpPr/>
          <p:nvPr/>
        </p:nvSpPr>
        <p:spPr>
          <a:xfrm>
            <a:off x="3572608" y="1320000"/>
            <a:ext cx="5269640" cy="800000"/>
          </a:xfrm>
          <a:prstGeom prst="roundRect">
            <a:avLst>
              <a:gd name="adj" fmla="val 10000"/>
            </a:avLst>
          </a:prstGeom>
          <a:solidFill>
            <a:srgbClr val="234560"/>
          </a:solidFill>
          <a:ln w="25400">
            <a:solidFill>
              <a:srgbClr val="F1CB83"/>
            </a:solidFill>
          </a:ln>
        </p:spPr>
        <p:txBody>
          <a:bodyPr wrap="square" lIns="110000" tIns="60000" rIns="110000" bIns="60000" rtlCol="0" anchor="ctr"/>
          <a:lstStyle/>
          <a:p>
            <a:pPr algn="l">
              <a:lnSpc>
                <a:spcPct val="100000"/>
              </a:lnSpc>
              <a:spcBef>
                <a:spcPts val="0"/>
              </a:spcBef>
              <a:spcAft>
                <a:spcPts val="300"/>
              </a:spcAft>
            </a:pPr>
            <a:r>
              <a:rPr sz="1400" b="1">
                <a:solidFill>
                  <a:srgbClr val="F7FAFE"/>
                </a:solidFill>
                <a:latin typeface="Montserrat"/>
              </a:rPr>
              <a:t>SVC / SVR with exact RBF kernel</a:t>
            </a:r>
          </a:p>
          <a:p>
            <a:pPr algn="l">
              <a:lnSpc>
                <a:spcPct val="100000"/>
              </a:lnSpc>
              <a:spcBef>
                <a:spcPts val="0"/>
              </a:spcBef>
              <a:spcAft>
                <a:spcPts val="0"/>
              </a:spcAft>
            </a:pPr>
            <a:r>
              <a:rPr sz="1200" b="0">
                <a:solidFill>
                  <a:srgbClr val="B7CBE0"/>
                </a:solidFill>
                <a:latin typeface="Montserrat"/>
              </a:rPr>
              <a:t>Cost O(n²) to O(n³) with ~154,000 rows</a:t>
            </a:r>
          </a:p>
        </p:txBody>
      </p:sp>
      <p:sp>
        <p:nvSpPr>
          <p:cNvPr id="12" name="Right Arrow 11"/>
          <p:cNvSpPr/>
          <p:nvPr/>
        </p:nvSpPr>
        <p:spPr>
          <a:xfrm>
            <a:off x="1317608" y="1610000"/>
            <a:ext cx="140000" cy="220000"/>
          </a:xfrm>
          <a:prstGeom prst="rightArrow">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13" name="Right Arrow 12"/>
          <p:cNvSpPr/>
          <p:nvPr/>
        </p:nvSpPr>
        <p:spPr>
          <a:xfrm>
            <a:off x="3407608" y="1610000"/>
            <a:ext cx="140000" cy="220000"/>
          </a:xfrm>
          <a:prstGeom prst="rightArrow">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14" name="TextBox 13"/>
          <p:cNvSpPr txBox="1"/>
          <p:nvPr/>
        </p:nvSpPr>
        <p:spPr>
          <a:xfrm>
            <a:off x="292608" y="2160000"/>
            <a:ext cx="8549640" cy="280000"/>
          </a:xfrm>
          <a:prstGeom prst="rect">
            <a:avLst/>
          </a:prstGeom>
          <a:noFill/>
        </p:spPr>
        <p:txBody>
          <a:bodyPr wrap="square" lIns="0" tIns="0" rIns="0" bIns="0" anchor="t">
            <a:spAutoFit/>
          </a:bodyPr>
          <a:lstStyle/>
          <a:p>
            <a:pPr algn="l">
              <a:lnSpc>
                <a:spcPct val="100000"/>
              </a:lnSpc>
              <a:spcBef>
                <a:spcPts val="0"/>
              </a:spcBef>
              <a:spcAft>
                <a:spcPts val="0"/>
              </a:spcAft>
            </a:pPr>
            <a:r>
              <a:rPr sz="1300" b="1">
                <a:solidFill>
                  <a:srgbClr val="F1CB83"/>
                </a:solidFill>
                <a:latin typeface="Montserrat"/>
              </a:rPr>
              <a:t>Did not finish: over 39 h of accumulated CPU; cancelled</a:t>
            </a:r>
          </a:p>
        </p:txBody>
      </p:sp>
      <p:sp>
        <p:nvSpPr>
          <p:cNvPr id="15" name="Rounded Rectangle 14"/>
          <p:cNvSpPr/>
          <p:nvPr/>
        </p:nvSpPr>
        <p:spPr>
          <a:xfrm>
            <a:off x="292608" y="2570000"/>
            <a:ext cx="2400000" cy="250000"/>
          </a:xfrm>
          <a:prstGeom prst="roundRect">
            <a:avLst>
              <a:gd name="adj" fmla="val 50000"/>
            </a:avLst>
          </a:prstGeom>
          <a:solidFill>
            <a:srgbClr val="8BC5FA"/>
          </a:solidFill>
          <a:ln>
            <a:noFill/>
          </a:ln>
        </p:spPr>
        <p:txBody>
          <a:bodyPr wrap="none" lIns="110000" tIns="0" rIns="110000" bIns="0" rtlCol="0" anchor="ctr"/>
          <a:lstStyle/>
          <a:p>
            <a:pPr algn="l">
              <a:lnSpc>
                <a:spcPct val="100000"/>
              </a:lnSpc>
              <a:spcBef>
                <a:spcPts val="0"/>
              </a:spcBef>
              <a:spcAft>
                <a:spcPts val="0"/>
              </a:spcAft>
            </a:pPr>
            <a:r>
              <a:rPr sz="1000" b="1">
                <a:solidFill>
                  <a:srgbClr val="0E2A47"/>
                </a:solidFill>
                <a:latin typeface="Montserrat"/>
              </a:rPr>
              <a:t>AFTER · APPROXIMATE SVM</a:t>
            </a:r>
          </a:p>
        </p:txBody>
      </p:sp>
      <p:sp>
        <p:nvSpPr>
          <p:cNvPr id="16" name="Rounded Rectangle 15"/>
          <p:cNvSpPr/>
          <p:nvPr/>
        </p:nvSpPr>
        <p:spPr>
          <a:xfrm>
            <a:off x="292608" y="2860000"/>
            <a:ext cx="1000000" cy="95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400" b="1">
                <a:solidFill>
                  <a:srgbClr val="F7FAFE"/>
                </a:solidFill>
                <a:latin typeface="Montserrat"/>
              </a:rPr>
              <a:t>Data</a:t>
            </a:r>
          </a:p>
        </p:txBody>
      </p:sp>
      <p:sp>
        <p:nvSpPr>
          <p:cNvPr id="17" name="Rounded Rectangle 16"/>
          <p:cNvSpPr/>
          <p:nvPr/>
        </p:nvSpPr>
        <p:spPr>
          <a:xfrm>
            <a:off x="1482608" y="2860000"/>
            <a:ext cx="1900000" cy="95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400" b="1">
                <a:solidFill>
                  <a:srgbClr val="F7FAFE"/>
                </a:solidFill>
                <a:latin typeface="Montserrat"/>
              </a:rPr>
              <a:t>StandardScaler</a:t>
            </a:r>
          </a:p>
        </p:txBody>
      </p:sp>
      <p:sp>
        <p:nvSpPr>
          <p:cNvPr id="18" name="Rounded Rectangle 17"/>
          <p:cNvSpPr/>
          <p:nvPr/>
        </p:nvSpPr>
        <p:spPr>
          <a:xfrm>
            <a:off x="3572608" y="2860000"/>
            <a:ext cx="2250000" cy="950000"/>
          </a:xfrm>
          <a:prstGeom prst="roundRect">
            <a:avLst>
              <a:gd name="adj" fmla="val 10000"/>
            </a:avLst>
          </a:prstGeom>
          <a:solidFill>
            <a:srgbClr val="234560"/>
          </a:solidFill>
          <a:ln w="25400">
            <a:solidFill>
              <a:srgbClr val="8BC5FA"/>
            </a:solidFill>
          </a:ln>
        </p:spPr>
        <p:txBody>
          <a:bodyPr wrap="square" lIns="110000" tIns="60000" rIns="110000" bIns="60000" rtlCol="0" anchor="ctr"/>
          <a:lstStyle/>
          <a:p>
            <a:pPr algn="l">
              <a:lnSpc>
                <a:spcPct val="100000"/>
              </a:lnSpc>
              <a:spcBef>
                <a:spcPts val="0"/>
              </a:spcBef>
              <a:spcAft>
                <a:spcPts val="300"/>
              </a:spcAft>
            </a:pPr>
            <a:r>
              <a:rPr sz="1400" b="1">
                <a:solidFill>
                  <a:srgbClr val="F7FAFE"/>
                </a:solidFill>
                <a:latin typeface="Montserrat"/>
              </a:rPr>
              <a:t>Nystroem map</a:t>
            </a:r>
          </a:p>
          <a:p>
            <a:pPr algn="l">
              <a:lnSpc>
                <a:spcPct val="100000"/>
              </a:lnSpc>
              <a:spcBef>
                <a:spcPts val="0"/>
              </a:spcBef>
              <a:spcAft>
                <a:spcPts val="0"/>
              </a:spcAft>
            </a:pPr>
            <a:r>
              <a:rPr sz="1200" b="0">
                <a:solidFill>
                  <a:srgbClr val="B7CBE0"/>
                </a:solidFill>
                <a:latin typeface="Montserrat"/>
              </a:rPr>
              <a:t>RBF, n_components</a:t>
            </a:r>
          </a:p>
        </p:txBody>
      </p:sp>
      <p:sp>
        <p:nvSpPr>
          <p:cNvPr id="19" name="Rounded Rectangle 18"/>
          <p:cNvSpPr/>
          <p:nvPr/>
        </p:nvSpPr>
        <p:spPr>
          <a:xfrm>
            <a:off x="6012608" y="2860000"/>
            <a:ext cx="2829640" cy="950000"/>
          </a:xfrm>
          <a:prstGeom prst="roundRect">
            <a:avLst>
              <a:gd name="adj" fmla="val 10000"/>
            </a:avLst>
          </a:prstGeom>
          <a:solidFill>
            <a:srgbClr val="234560"/>
          </a:solidFill>
          <a:ln w="25400">
            <a:solidFill>
              <a:srgbClr val="8BC5FA"/>
            </a:solidFill>
          </a:ln>
        </p:spPr>
        <p:txBody>
          <a:bodyPr wrap="square" lIns="110000" tIns="60000" rIns="110000" bIns="60000" rtlCol="0" anchor="ctr"/>
          <a:lstStyle/>
          <a:p>
            <a:pPr algn="l">
              <a:lnSpc>
                <a:spcPct val="100000"/>
              </a:lnSpc>
              <a:spcBef>
                <a:spcPts val="0"/>
              </a:spcBef>
              <a:spcAft>
                <a:spcPts val="400"/>
              </a:spcAft>
            </a:pPr>
            <a:r>
              <a:rPr sz="1200" b="1">
                <a:solidFill>
                  <a:srgbClr val="8BC5FA"/>
                </a:solidFill>
                <a:latin typeface="Montserrat"/>
              </a:rPr>
              <a:t>Classifier: </a:t>
            </a:r>
            <a:r>
              <a:rPr sz="1200" b="0">
                <a:solidFill>
                  <a:srgbClr val="F7FAFE"/>
                </a:solidFill>
                <a:latin typeface="Montserrat"/>
              </a:rPr>
              <a:t>linear SVM (hinge loss) + Platt calibration</a:t>
            </a:r>
          </a:p>
          <a:p>
            <a:pPr algn="l">
              <a:lnSpc>
                <a:spcPct val="100000"/>
              </a:lnSpc>
              <a:spcBef>
                <a:spcPts val="0"/>
              </a:spcBef>
              <a:spcAft>
                <a:spcPts val="0"/>
              </a:spcAft>
            </a:pPr>
            <a:r>
              <a:rPr sz="1200" b="1">
                <a:solidFill>
                  <a:srgbClr val="8BC5FA"/>
                </a:solidFill>
                <a:latin typeface="Montserrat"/>
              </a:rPr>
              <a:t>Regressor: </a:t>
            </a:r>
            <a:r>
              <a:rPr sz="1200" b="0">
                <a:solidFill>
                  <a:srgbClr val="F7FAFE"/>
                </a:solidFill>
                <a:latin typeface="Montserrat"/>
              </a:rPr>
              <a:t>linear ε-insensitive SVR</a:t>
            </a:r>
          </a:p>
        </p:txBody>
      </p:sp>
      <p:sp>
        <p:nvSpPr>
          <p:cNvPr id="20" name="Right Arrow 19"/>
          <p:cNvSpPr/>
          <p:nvPr/>
        </p:nvSpPr>
        <p:spPr>
          <a:xfrm>
            <a:off x="1317608" y="3225000"/>
            <a:ext cx="140000" cy="220000"/>
          </a:xfrm>
          <a:prstGeom prst="rightArrow">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21" name="Right Arrow 20"/>
          <p:cNvSpPr/>
          <p:nvPr/>
        </p:nvSpPr>
        <p:spPr>
          <a:xfrm>
            <a:off x="3407608" y="3225000"/>
            <a:ext cx="140000" cy="220000"/>
          </a:xfrm>
          <a:prstGeom prst="rightArrow">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22" name="Right Arrow 21"/>
          <p:cNvSpPr/>
          <p:nvPr/>
        </p:nvSpPr>
        <p:spPr>
          <a:xfrm>
            <a:off x="5847608" y="3225000"/>
            <a:ext cx="140000" cy="220000"/>
          </a:xfrm>
          <a:prstGeom prst="rightArrow">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23" name="TextBox 22"/>
          <p:cNvSpPr txBox="1"/>
          <p:nvPr/>
        </p:nvSpPr>
        <p:spPr>
          <a:xfrm>
            <a:off x="292608" y="3850000"/>
            <a:ext cx="8549640" cy="280000"/>
          </a:xfrm>
          <a:prstGeom prst="rect">
            <a:avLst/>
          </a:prstGeom>
          <a:noFill/>
        </p:spPr>
        <p:txBody>
          <a:bodyPr wrap="square" lIns="0" tIns="0" rIns="0" bIns="0" anchor="t">
            <a:spAutoFit/>
          </a:bodyPr>
          <a:lstStyle/>
          <a:p>
            <a:pPr algn="l">
              <a:lnSpc>
                <a:spcPct val="100000"/>
              </a:lnSpc>
              <a:spcBef>
                <a:spcPts val="0"/>
              </a:spcBef>
              <a:spcAft>
                <a:spcPts val="0"/>
              </a:spcAft>
            </a:pPr>
            <a:r>
              <a:rPr sz="1300" b="1">
                <a:solidFill>
                  <a:srgbClr val="A4FF9F"/>
                </a:solidFill>
                <a:latin typeface="Montserrat"/>
              </a:rPr>
              <a:t>Linear cost in n: ~8–13 s per fold on 150,000 rows; 20-trial study in ~14 min</a:t>
            </a:r>
          </a:p>
        </p:txBody>
      </p:sp>
      <p:sp>
        <p:nvSpPr>
          <p:cNvPr id="24" name="Rounded Rectangle 23"/>
          <p:cNvSpPr/>
          <p:nvPr/>
        </p:nvSpPr>
        <p:spPr>
          <a:xfrm>
            <a:off x="292608" y="4280000"/>
            <a:ext cx="8549640" cy="440000"/>
          </a:xfrm>
          <a:prstGeom prst="roundRect">
            <a:avLst>
              <a:gd name="adj" fmla="val 10000"/>
            </a:avLst>
          </a:prstGeom>
          <a:noFill/>
          <a:ln w="25400">
            <a:solidFill>
              <a:srgbClr val="F1CB83"/>
            </a:solidFill>
          </a:ln>
        </p:spPr>
        <p:txBody>
          <a:bodyPr wrap="square" lIns="150000" tIns="30000" rIns="150000" bIns="30000" rtlCol="0" anchor="ctr"/>
          <a:lstStyle/>
          <a:p>
            <a:pPr algn="l">
              <a:lnSpc>
                <a:spcPct val="100000"/>
              </a:lnSpc>
              <a:spcBef>
                <a:spcPts val="0"/>
              </a:spcBef>
              <a:spcAft>
                <a:spcPts val="0"/>
              </a:spcAft>
            </a:pPr>
            <a:r>
              <a:rPr sz="1400" b="1">
                <a:solidFill>
                  <a:srgbClr val="F1CB83"/>
                </a:solidFill>
                <a:latin typeface="Montserrat"/>
              </a:rPr>
              <a:t>Approximate SVM (approximate kernel), not an exact-kernel SVM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How the fair comparison is run</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Three families under the same conditions; only the model changes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  ·  results on the following slides</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43</a:t>
            </a:r>
          </a:p>
        </p:txBody>
      </p:sp>
      <p:sp>
        <p:nvSpPr>
          <p:cNvPr id="8" name="Rounded Rectangle 7"/>
          <p:cNvSpPr/>
          <p:nvPr/>
        </p:nvSpPr>
        <p:spPr>
          <a:xfrm>
            <a:off x="292608" y="1050000"/>
            <a:ext cx="2750000" cy="930000"/>
          </a:xfrm>
          <a:prstGeom prst="roundRect">
            <a:avLst>
              <a:gd name="adj" fmla="val 10000"/>
            </a:avLst>
          </a:prstGeom>
          <a:solidFill>
            <a:srgbClr val="234560"/>
          </a:solidFill>
          <a:ln w="25400">
            <a:solidFill>
              <a:srgbClr val="8BC5FA"/>
            </a:solidFill>
          </a:ln>
        </p:spPr>
        <p:txBody>
          <a:bodyPr wrap="square" lIns="110000" tIns="60000" rIns="110000" bIns="60000" rtlCol="0" anchor="ctr"/>
          <a:lstStyle/>
          <a:p>
            <a:pPr algn="l">
              <a:lnSpc>
                <a:spcPct val="100000"/>
              </a:lnSpc>
              <a:spcBef>
                <a:spcPts val="0"/>
              </a:spcBef>
              <a:spcAft>
                <a:spcPts val="200"/>
              </a:spcAft>
            </a:pPr>
            <a:r>
              <a:rPr sz="1600" b="1">
                <a:solidFill>
                  <a:srgbClr val="8BC5FA"/>
                </a:solidFill>
                <a:latin typeface="Montserrat"/>
              </a:rPr>
              <a:t>XGBoost</a:t>
            </a:r>
          </a:p>
          <a:p>
            <a:pPr algn="l">
              <a:lnSpc>
                <a:spcPct val="100000"/>
              </a:lnSpc>
              <a:spcBef>
                <a:spcPts val="0"/>
              </a:spcBef>
              <a:spcAft>
                <a:spcPts val="200"/>
              </a:spcAft>
            </a:pPr>
            <a:r>
              <a:rPr sz="1200" b="0">
                <a:solidFill>
                  <a:srgbClr val="B7CBE0"/>
                </a:solidFill>
                <a:latin typeface="Montserrat"/>
              </a:rPr>
              <a:t>Gradient-boosted trees</a:t>
            </a:r>
          </a:p>
          <a:p>
            <a:pPr algn="l">
              <a:lnSpc>
                <a:spcPct val="100000"/>
              </a:lnSpc>
              <a:spcBef>
                <a:spcPts val="0"/>
              </a:spcBef>
              <a:spcAft>
                <a:spcPts val="0"/>
              </a:spcAft>
            </a:pPr>
            <a:r>
              <a:rPr sz="1100" b="1">
                <a:solidFill>
                  <a:srgbClr val="8BC5FA"/>
                </a:solidFill>
                <a:latin typeface="Montserrat"/>
              </a:rPr>
              <a:t>Always presented</a:t>
            </a:r>
          </a:p>
        </p:txBody>
      </p:sp>
      <p:sp>
        <p:nvSpPr>
          <p:cNvPr id="9" name="Down Arrow 8"/>
          <p:cNvSpPr/>
          <p:nvPr/>
        </p:nvSpPr>
        <p:spPr>
          <a:xfrm>
            <a:off x="1517608" y="2020000"/>
            <a:ext cx="300000" cy="230000"/>
          </a:xfrm>
          <a:prstGeom prst="downArrow">
            <a:avLst/>
          </a:prstGeom>
          <a:solidFill>
            <a:srgbClr val="5E8CBE"/>
          </a:solidFill>
          <a:ln>
            <a:noFill/>
          </a:ln>
        </p:spPr>
        <p:txBody>
          <a:bodyPr wrap="square" rtlCol="0" anchor="ctr"/>
          <a:lstStyle/>
          <a:p>
            <a:pPr algn="l">
              <a:lnSpc>
                <a:spcPct val="100000"/>
              </a:lnSpc>
              <a:spcBef>
                <a:spcPts val="0"/>
              </a:spcBef>
              <a:spcAft>
                <a:spcPts val="0"/>
              </a:spcAft>
            </a:pPr>
            <a:endParaRPr/>
          </a:p>
        </p:txBody>
      </p:sp>
      <p:sp>
        <p:nvSpPr>
          <p:cNvPr id="10" name="Rounded Rectangle 9"/>
          <p:cNvSpPr/>
          <p:nvPr/>
        </p:nvSpPr>
        <p:spPr>
          <a:xfrm>
            <a:off x="3192608" y="1050000"/>
            <a:ext cx="2750000" cy="930000"/>
          </a:xfrm>
          <a:prstGeom prst="roundRect">
            <a:avLst>
              <a:gd name="adj" fmla="val 10000"/>
            </a:avLst>
          </a:prstGeom>
          <a:solidFill>
            <a:srgbClr val="234560"/>
          </a:solidFill>
          <a:ln w="25400">
            <a:solidFill>
              <a:srgbClr val="8BC5FA"/>
            </a:solidFill>
          </a:ln>
        </p:spPr>
        <p:txBody>
          <a:bodyPr wrap="square" lIns="110000" tIns="60000" rIns="110000" bIns="60000" rtlCol="0" anchor="ctr"/>
          <a:lstStyle/>
          <a:p>
            <a:pPr algn="l">
              <a:lnSpc>
                <a:spcPct val="100000"/>
              </a:lnSpc>
              <a:spcBef>
                <a:spcPts val="0"/>
              </a:spcBef>
              <a:spcAft>
                <a:spcPts val="200"/>
              </a:spcAft>
            </a:pPr>
            <a:r>
              <a:rPr sz="1600" b="1">
                <a:solidFill>
                  <a:srgbClr val="8BC5FA"/>
                </a:solidFill>
                <a:latin typeface="Montserrat"/>
              </a:rPr>
              <a:t>MLP</a:t>
            </a:r>
          </a:p>
          <a:p>
            <a:pPr algn="l">
              <a:lnSpc>
                <a:spcPct val="100000"/>
              </a:lnSpc>
              <a:spcBef>
                <a:spcPts val="0"/>
              </a:spcBef>
              <a:spcAft>
                <a:spcPts val="200"/>
              </a:spcAft>
            </a:pPr>
            <a:r>
              <a:rPr sz="1200" b="0">
                <a:solidFill>
                  <a:srgbClr val="B7CBE0"/>
                </a:solidFill>
                <a:latin typeface="Montserrat"/>
              </a:rPr>
              <a:t>Neural network</a:t>
            </a:r>
          </a:p>
          <a:p>
            <a:pPr algn="l">
              <a:lnSpc>
                <a:spcPct val="100000"/>
              </a:lnSpc>
              <a:spcBef>
                <a:spcPts val="0"/>
              </a:spcBef>
              <a:spcAft>
                <a:spcPts val="0"/>
              </a:spcAft>
            </a:pPr>
            <a:r>
              <a:rPr sz="1100" b="1">
                <a:solidFill>
                  <a:srgbClr val="8BC5FA"/>
                </a:solidFill>
                <a:latin typeface="Montserrat"/>
              </a:rPr>
              <a:t>Always presented</a:t>
            </a:r>
          </a:p>
        </p:txBody>
      </p:sp>
      <p:sp>
        <p:nvSpPr>
          <p:cNvPr id="11" name="Down Arrow 10"/>
          <p:cNvSpPr/>
          <p:nvPr/>
        </p:nvSpPr>
        <p:spPr>
          <a:xfrm>
            <a:off x="4417608" y="2020000"/>
            <a:ext cx="300000" cy="230000"/>
          </a:xfrm>
          <a:prstGeom prst="downArrow">
            <a:avLst/>
          </a:prstGeom>
          <a:solidFill>
            <a:srgbClr val="5E8CBE"/>
          </a:solidFill>
          <a:ln>
            <a:noFill/>
          </a:ln>
        </p:spPr>
        <p:txBody>
          <a:bodyPr wrap="square" rtlCol="0" anchor="ctr"/>
          <a:lstStyle/>
          <a:p>
            <a:pPr algn="l">
              <a:lnSpc>
                <a:spcPct val="100000"/>
              </a:lnSpc>
              <a:spcBef>
                <a:spcPts val="0"/>
              </a:spcBef>
              <a:spcAft>
                <a:spcPts val="0"/>
              </a:spcAft>
            </a:pPr>
            <a:endParaRPr/>
          </a:p>
        </p:txBody>
      </p:sp>
      <p:sp>
        <p:nvSpPr>
          <p:cNvPr id="12" name="Rounded Rectangle 11"/>
          <p:cNvSpPr/>
          <p:nvPr/>
        </p:nvSpPr>
        <p:spPr>
          <a:xfrm>
            <a:off x="6092608" y="1050000"/>
            <a:ext cx="2750000" cy="930000"/>
          </a:xfrm>
          <a:prstGeom prst="roundRect">
            <a:avLst>
              <a:gd name="adj" fmla="val 10000"/>
            </a:avLst>
          </a:prstGeom>
          <a:solidFill>
            <a:srgbClr val="234560"/>
          </a:solidFill>
          <a:ln w="25400">
            <a:solidFill>
              <a:srgbClr val="F1CB83"/>
            </a:solidFill>
          </a:ln>
        </p:spPr>
        <p:txBody>
          <a:bodyPr wrap="square" lIns="110000" tIns="60000" rIns="110000" bIns="60000" rtlCol="0" anchor="ctr"/>
          <a:lstStyle/>
          <a:p>
            <a:pPr algn="l">
              <a:lnSpc>
                <a:spcPct val="100000"/>
              </a:lnSpc>
              <a:spcBef>
                <a:spcPts val="0"/>
              </a:spcBef>
              <a:spcAft>
                <a:spcPts val="200"/>
              </a:spcAft>
            </a:pPr>
            <a:r>
              <a:rPr sz="1600" b="1">
                <a:solidFill>
                  <a:srgbClr val="8BC5FA"/>
                </a:solidFill>
                <a:latin typeface="Montserrat"/>
              </a:rPr>
              <a:t>Approximate SVM</a:t>
            </a:r>
          </a:p>
          <a:p>
            <a:pPr algn="l">
              <a:lnSpc>
                <a:spcPct val="100000"/>
              </a:lnSpc>
              <a:spcBef>
                <a:spcPts val="0"/>
              </a:spcBef>
              <a:spcAft>
                <a:spcPts val="200"/>
              </a:spcAft>
            </a:pPr>
            <a:r>
              <a:rPr sz="1200" b="0">
                <a:solidFill>
                  <a:srgbClr val="B7CBE0"/>
                </a:solidFill>
                <a:latin typeface="Montserrat"/>
              </a:rPr>
              <a:t>Nystroem + linear SVM</a:t>
            </a:r>
          </a:p>
          <a:p>
            <a:pPr algn="l">
              <a:lnSpc>
                <a:spcPct val="100000"/>
              </a:lnSpc>
              <a:spcBef>
                <a:spcPts val="0"/>
              </a:spcBef>
              <a:spcAft>
                <a:spcPts val="0"/>
              </a:spcAft>
            </a:pPr>
            <a:r>
              <a:rPr sz="1100" b="1">
                <a:solidFill>
                  <a:srgbClr val="F1CB83"/>
                </a:solidFill>
                <a:latin typeface="Montserrat"/>
              </a:rPr>
              <a:t>Third candidate</a:t>
            </a:r>
          </a:p>
        </p:txBody>
      </p:sp>
      <p:sp>
        <p:nvSpPr>
          <p:cNvPr id="13" name="Down Arrow 12"/>
          <p:cNvSpPr/>
          <p:nvPr/>
        </p:nvSpPr>
        <p:spPr>
          <a:xfrm>
            <a:off x="7317608" y="2020000"/>
            <a:ext cx="300000" cy="230000"/>
          </a:xfrm>
          <a:prstGeom prst="downArrow">
            <a:avLst/>
          </a:prstGeom>
          <a:solidFill>
            <a:srgbClr val="5E8CBE"/>
          </a:solidFill>
          <a:ln>
            <a:noFill/>
          </a:ln>
        </p:spPr>
        <p:txBody>
          <a:bodyPr wrap="square" rtlCol="0" anchor="ctr"/>
          <a:lstStyle/>
          <a:p>
            <a:pPr algn="l">
              <a:lnSpc>
                <a:spcPct val="100000"/>
              </a:lnSpc>
              <a:spcBef>
                <a:spcPts val="0"/>
              </a:spcBef>
              <a:spcAft>
                <a:spcPts val="0"/>
              </a:spcAft>
            </a:pPr>
            <a:endParaRPr/>
          </a:p>
        </p:txBody>
      </p:sp>
      <p:sp>
        <p:nvSpPr>
          <p:cNvPr id="14" name="Rectangle 13"/>
          <p:cNvSpPr/>
          <p:nvPr/>
        </p:nvSpPr>
        <p:spPr>
          <a:xfrm>
            <a:off x="292608" y="2290000"/>
            <a:ext cx="8549640" cy="400000"/>
          </a:xfrm>
          <a:prstGeom prst="rect">
            <a:avLst/>
          </a:prstGeom>
          <a:solidFill>
            <a:srgbClr val="193A58"/>
          </a:solidFill>
          <a:ln>
            <a:noFill/>
          </a:ln>
        </p:spPr>
        <p:txBody>
          <a:bodyPr wrap="square" rtlCol="0" anchor="ctr"/>
          <a:lstStyle/>
          <a:p>
            <a:pPr algn="l">
              <a:lnSpc>
                <a:spcPct val="100000"/>
              </a:lnSpc>
              <a:spcBef>
                <a:spcPts val="0"/>
              </a:spcBef>
              <a:spcAft>
                <a:spcPts val="0"/>
              </a:spcAft>
            </a:pPr>
            <a:endParaRPr/>
          </a:p>
        </p:txBody>
      </p:sp>
      <p:sp>
        <p:nvSpPr>
          <p:cNvPr id="15" name="TextBox 14"/>
          <p:cNvSpPr txBox="1"/>
          <p:nvPr/>
        </p:nvSpPr>
        <p:spPr>
          <a:xfrm>
            <a:off x="412608" y="2290000"/>
            <a:ext cx="2250000" cy="400000"/>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8BC5FA"/>
                </a:solidFill>
                <a:latin typeface="Montserrat"/>
              </a:rPr>
              <a:t>Same data</a:t>
            </a:r>
          </a:p>
        </p:txBody>
      </p:sp>
      <p:sp>
        <p:nvSpPr>
          <p:cNvPr id="16" name="TextBox 15"/>
          <p:cNvSpPr txBox="1"/>
          <p:nvPr/>
        </p:nvSpPr>
        <p:spPr>
          <a:xfrm>
            <a:off x="2692608" y="2290000"/>
            <a:ext cx="6049640" cy="400000"/>
          </a:xfrm>
          <a:prstGeom prst="rect">
            <a:avLst/>
          </a:prstGeom>
          <a:noFill/>
        </p:spPr>
        <p:txBody>
          <a:bodyPr wrap="square" lIns="0" tIns="0" rIns="0" bIns="0" anchor="ctr">
            <a:spAutoFit/>
          </a:bodyPr>
          <a:lstStyle/>
          <a:p>
            <a:pPr algn="l">
              <a:lnSpc>
                <a:spcPct val="100000"/>
              </a:lnSpc>
              <a:spcBef>
                <a:spcPts val="0"/>
              </a:spcBef>
              <a:spcAft>
                <a:spcPts val="0"/>
              </a:spcAft>
            </a:pPr>
            <a:r>
              <a:rPr sz="1300" b="0">
                <a:solidFill>
                  <a:srgbClr val="F7FAFE"/>
                </a:solidFill>
                <a:latin typeface="Montserrat"/>
              </a:rPr>
              <a:t>tabular_v4_21 · 154,080 rows (prep_id ca706e27654e0cf5)</a:t>
            </a:r>
          </a:p>
        </p:txBody>
      </p:sp>
      <p:sp>
        <p:nvSpPr>
          <p:cNvPr id="17" name="Rectangle 16"/>
          <p:cNvSpPr/>
          <p:nvPr/>
        </p:nvSpPr>
        <p:spPr>
          <a:xfrm>
            <a:off x="292608" y="2690000"/>
            <a:ext cx="8549640" cy="400000"/>
          </a:xfrm>
          <a:prstGeom prst="rect">
            <a:avLst/>
          </a:prstGeom>
          <a:solidFill>
            <a:srgbClr val="234560"/>
          </a:solidFill>
          <a:ln>
            <a:noFill/>
          </a:ln>
        </p:spPr>
        <p:txBody>
          <a:bodyPr wrap="square" rtlCol="0" anchor="ctr"/>
          <a:lstStyle/>
          <a:p>
            <a:pPr algn="l">
              <a:lnSpc>
                <a:spcPct val="100000"/>
              </a:lnSpc>
              <a:spcBef>
                <a:spcPts val="0"/>
              </a:spcBef>
              <a:spcAft>
                <a:spcPts val="0"/>
              </a:spcAft>
            </a:pPr>
            <a:endParaRPr/>
          </a:p>
        </p:txBody>
      </p:sp>
      <p:sp>
        <p:nvSpPr>
          <p:cNvPr id="18" name="TextBox 17"/>
          <p:cNvSpPr txBox="1"/>
          <p:nvPr/>
        </p:nvSpPr>
        <p:spPr>
          <a:xfrm>
            <a:off x="412608" y="2690000"/>
            <a:ext cx="2250000" cy="400000"/>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8BC5FA"/>
                </a:solidFill>
                <a:latin typeface="Montserrat"/>
              </a:rPr>
              <a:t>Same budget</a:t>
            </a:r>
          </a:p>
        </p:txBody>
      </p:sp>
      <p:sp>
        <p:nvSpPr>
          <p:cNvPr id="19" name="TextBox 18"/>
          <p:cNvSpPr txBox="1"/>
          <p:nvPr/>
        </p:nvSpPr>
        <p:spPr>
          <a:xfrm>
            <a:off x="2692608" y="2690000"/>
            <a:ext cx="6049640" cy="400000"/>
          </a:xfrm>
          <a:prstGeom prst="rect">
            <a:avLst/>
          </a:prstGeom>
          <a:noFill/>
        </p:spPr>
        <p:txBody>
          <a:bodyPr wrap="square" lIns="0" tIns="0" rIns="0" bIns="0" anchor="ctr">
            <a:spAutoFit/>
          </a:bodyPr>
          <a:lstStyle/>
          <a:p>
            <a:pPr algn="l">
              <a:lnSpc>
                <a:spcPct val="100000"/>
              </a:lnSpc>
              <a:spcBef>
                <a:spcPts val="0"/>
              </a:spcBef>
              <a:spcAft>
                <a:spcPts val="0"/>
              </a:spcAft>
            </a:pPr>
            <a:r>
              <a:rPr sz="1300" b="0">
                <a:solidFill>
                  <a:srgbClr val="F7FAFE"/>
                </a:solidFill>
                <a:latin typeface="Montserrat"/>
              </a:rPr>
              <a:t>20 Optuna trials per family and the same inner CV by shape</a:t>
            </a:r>
          </a:p>
        </p:txBody>
      </p:sp>
      <p:sp>
        <p:nvSpPr>
          <p:cNvPr id="20" name="Rectangle 19"/>
          <p:cNvSpPr/>
          <p:nvPr/>
        </p:nvSpPr>
        <p:spPr>
          <a:xfrm>
            <a:off x="292608" y="3090000"/>
            <a:ext cx="8549640" cy="400000"/>
          </a:xfrm>
          <a:prstGeom prst="rect">
            <a:avLst/>
          </a:prstGeom>
          <a:solidFill>
            <a:srgbClr val="193A58"/>
          </a:solidFill>
          <a:ln>
            <a:noFill/>
          </a:ln>
        </p:spPr>
        <p:txBody>
          <a:bodyPr wrap="square" rtlCol="0" anchor="ctr"/>
          <a:lstStyle/>
          <a:p>
            <a:pPr algn="l">
              <a:lnSpc>
                <a:spcPct val="100000"/>
              </a:lnSpc>
              <a:spcBef>
                <a:spcPts val="0"/>
              </a:spcBef>
              <a:spcAft>
                <a:spcPts val="0"/>
              </a:spcAft>
            </a:pPr>
            <a:endParaRPr/>
          </a:p>
        </p:txBody>
      </p:sp>
      <p:sp>
        <p:nvSpPr>
          <p:cNvPr id="21" name="TextBox 20"/>
          <p:cNvSpPr txBox="1"/>
          <p:nvPr/>
        </p:nvSpPr>
        <p:spPr>
          <a:xfrm>
            <a:off x="412608" y="3090000"/>
            <a:ext cx="2250000" cy="400000"/>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8BC5FA"/>
                </a:solidFill>
                <a:latin typeface="Montserrat"/>
              </a:rPr>
              <a:t>Same protocol</a:t>
            </a:r>
          </a:p>
        </p:txBody>
      </p:sp>
      <p:sp>
        <p:nvSpPr>
          <p:cNvPr id="22" name="TextBox 21"/>
          <p:cNvSpPr txBox="1"/>
          <p:nvPr/>
        </p:nvSpPr>
        <p:spPr>
          <a:xfrm>
            <a:off x="2692608" y="3090000"/>
            <a:ext cx="6049640" cy="400000"/>
          </a:xfrm>
          <a:prstGeom prst="rect">
            <a:avLst/>
          </a:prstGeom>
          <a:noFill/>
        </p:spPr>
        <p:txBody>
          <a:bodyPr wrap="square" lIns="0" tIns="0" rIns="0" bIns="0" anchor="ctr">
            <a:spAutoFit/>
          </a:bodyPr>
          <a:lstStyle/>
          <a:p>
            <a:pPr algn="l">
              <a:lnSpc>
                <a:spcPct val="100000"/>
              </a:lnSpc>
              <a:spcBef>
                <a:spcPts val="0"/>
              </a:spcBef>
              <a:spcAft>
                <a:spcPts val="0"/>
              </a:spcAft>
            </a:pPr>
            <a:r>
              <a:rPr sz="1300" b="0">
                <a:solidFill>
                  <a:srgbClr val="F7FAFE"/>
                </a:solidFill>
                <a:latin typeface="Montserrat"/>
              </a:rPr>
              <a:t>LeaveOneShapeOut: 40 folds, one held-out shape per fold</a:t>
            </a:r>
          </a:p>
        </p:txBody>
      </p:sp>
      <p:sp>
        <p:nvSpPr>
          <p:cNvPr id="23" name="Rectangle 22"/>
          <p:cNvSpPr/>
          <p:nvPr/>
        </p:nvSpPr>
        <p:spPr>
          <a:xfrm>
            <a:off x="292608" y="3490000"/>
            <a:ext cx="8549640" cy="400000"/>
          </a:xfrm>
          <a:prstGeom prst="rect">
            <a:avLst/>
          </a:prstGeom>
          <a:solidFill>
            <a:srgbClr val="234560"/>
          </a:solidFill>
          <a:ln>
            <a:noFill/>
          </a:ln>
        </p:spPr>
        <p:txBody>
          <a:bodyPr wrap="square" rtlCol="0" anchor="ctr"/>
          <a:lstStyle/>
          <a:p>
            <a:pPr algn="l">
              <a:lnSpc>
                <a:spcPct val="100000"/>
              </a:lnSpc>
              <a:spcBef>
                <a:spcPts val="0"/>
              </a:spcBef>
              <a:spcAft>
                <a:spcPts val="0"/>
              </a:spcAft>
            </a:pPr>
            <a:endParaRPr/>
          </a:p>
        </p:txBody>
      </p:sp>
      <p:sp>
        <p:nvSpPr>
          <p:cNvPr id="24" name="TextBox 23"/>
          <p:cNvSpPr txBox="1"/>
          <p:nvPr/>
        </p:nvSpPr>
        <p:spPr>
          <a:xfrm>
            <a:off x="412608" y="3490000"/>
            <a:ext cx="2250000" cy="400000"/>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8BC5FA"/>
                </a:solidFill>
                <a:latin typeface="Montserrat"/>
              </a:rPr>
              <a:t>Same metrics</a:t>
            </a:r>
          </a:p>
        </p:txBody>
      </p:sp>
      <p:sp>
        <p:nvSpPr>
          <p:cNvPr id="25" name="TextBox 24"/>
          <p:cNvSpPr txBox="1"/>
          <p:nvPr/>
        </p:nvSpPr>
        <p:spPr>
          <a:xfrm>
            <a:off x="2692608" y="3490000"/>
            <a:ext cx="6049640" cy="400000"/>
          </a:xfrm>
          <a:prstGeom prst="rect">
            <a:avLst/>
          </a:prstGeom>
          <a:noFill/>
        </p:spPr>
        <p:txBody>
          <a:bodyPr wrap="square" lIns="0" tIns="0" rIns="0" bIns="0" anchor="ctr">
            <a:spAutoFit/>
          </a:bodyPr>
          <a:lstStyle/>
          <a:p>
            <a:pPr algn="l">
              <a:lnSpc>
                <a:spcPct val="100000"/>
              </a:lnSpc>
              <a:spcBef>
                <a:spcPts val="0"/>
              </a:spcBef>
              <a:spcAft>
                <a:spcPts val="0"/>
              </a:spcAft>
            </a:pPr>
            <a:r>
              <a:rPr sz="1300" b="0">
                <a:solidFill>
                  <a:srgbClr val="F7FAFE"/>
                </a:solidFill>
                <a:latin typeface="Montserrat"/>
              </a:rPr>
              <a:t>Volume RMSE · F1 · regressor NSE · confusion matrix</a:t>
            </a:r>
          </a:p>
        </p:txBody>
      </p:sp>
      <p:sp>
        <p:nvSpPr>
          <p:cNvPr id="26" name="Rounded Rectangle 25"/>
          <p:cNvSpPr/>
          <p:nvPr/>
        </p:nvSpPr>
        <p:spPr>
          <a:xfrm>
            <a:off x="292608" y="4180000"/>
            <a:ext cx="8549640" cy="520000"/>
          </a:xfrm>
          <a:prstGeom prst="roundRect">
            <a:avLst>
              <a:gd name="adj" fmla="val 10000"/>
            </a:avLst>
          </a:prstGeom>
          <a:noFill/>
          <a:ln w="25400">
            <a:solidFill>
              <a:srgbClr val="F1CB83"/>
            </a:solidFill>
          </a:ln>
        </p:spPr>
        <p:txBody>
          <a:bodyPr wrap="square" lIns="150000" tIns="30000" rIns="150000" bIns="30000" rtlCol="0" anchor="ctr"/>
          <a:lstStyle/>
          <a:p>
            <a:pPr algn="l">
              <a:lnSpc>
                <a:spcPct val="100000"/>
              </a:lnSpc>
              <a:spcBef>
                <a:spcPts val="0"/>
              </a:spcBef>
              <a:spcAft>
                <a:spcPts val="0"/>
              </a:spcAft>
            </a:pPr>
            <a:r>
              <a:rPr sz="1300" b="1">
                <a:solidFill>
                  <a:srgbClr val="F1CB83"/>
                </a:solidFill>
                <a:latin typeface="Montserrat"/>
              </a:rPr>
              <a:t>Conditional exploratory estimate: hyperparameters are chosen with all shapes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46FF804-ED03-00B4-80BE-81E99A582D04}"/>
              </a:ext>
            </a:extLst>
          </p:cNvPr>
          <p:cNvSpPr>
            <a:spLocks noGrp="1"/>
          </p:cNvSpPr>
          <p:nvPr>
            <p:ph type="sldNum" sz="quarter" idx="4"/>
          </p:nvPr>
        </p:nvSpPr>
        <p:spPr/>
        <p:txBody>
          <a:bodyPr/>
          <a:lstStyle/>
          <a:p>
            <a:fld id="{585754B4-F252-4673-A93E-AFAD19F3B91A}" type="slidenum">
              <a:rPr lang="en-US" noProof="0" smtClean="0"/>
              <a:t>44</a:t>
            </a:fld>
            <a:endParaRPr lang="en-US" noProof="0" dirty="0"/>
          </a:p>
        </p:txBody>
      </p:sp>
      <p:sp>
        <p:nvSpPr>
          <p:cNvPr id="3" name="Título 2">
            <a:extLst>
              <a:ext uri="{FF2B5EF4-FFF2-40B4-BE49-F238E27FC236}">
                <a16:creationId xmlns:a16="http://schemas.microsoft.com/office/drawing/2014/main" id="{A97E69F7-14D0-B481-4806-A4A180ACC0E8}"/>
              </a:ext>
            </a:extLst>
          </p:cNvPr>
          <p:cNvSpPr>
            <a:spLocks noGrp="1"/>
          </p:cNvSpPr>
          <p:nvPr>
            <p:ph type="title"/>
          </p:nvPr>
        </p:nvSpPr>
        <p:spPr>
          <a:xfrm>
            <a:off x="635000" y="1079500"/>
            <a:ext cx="7874000" cy="1905000"/>
          </a:xfrm>
        </p:spPr>
        <p:txBody>
          <a:bodyPr/>
          <a:lstStyle/>
          <a:p>
            <a:r>
              <a:rPr lang="en-US" noProof="0" dirty="0"/>
              <a:t>Machine Learning Model for Hydraulic Failure Prediction in Stormwater Systems</a:t>
            </a:r>
          </a:p>
        </p:txBody>
      </p:sp>
      <p:sp>
        <p:nvSpPr>
          <p:cNvPr id="4" name="Subtítulo 3">
            <a:extLst>
              <a:ext uri="{FF2B5EF4-FFF2-40B4-BE49-F238E27FC236}">
                <a16:creationId xmlns:a16="http://schemas.microsoft.com/office/drawing/2014/main" id="{F2334C66-4D63-D716-251A-3E0420C2F0DE}"/>
              </a:ext>
            </a:extLst>
          </p:cNvPr>
          <p:cNvSpPr>
            <a:spLocks noGrp="1"/>
          </p:cNvSpPr>
          <p:nvPr>
            <p:ph type="subTitle" idx="1"/>
          </p:nvPr>
        </p:nvSpPr>
        <p:spPr/>
        <p:txBody>
          <a:bodyPr/>
          <a:lstStyle/>
          <a:p>
            <a:r>
              <a:rPr lang="en-US" noProof="0" dirty="0"/>
              <a:t>Luis Fernando Fajardo Bravo</a:t>
            </a:r>
          </a:p>
        </p:txBody>
      </p:sp>
      <p:sp>
        <p:nvSpPr>
          <p:cNvPr id="5" name="Marcador de texto 4">
            <a:extLst>
              <a:ext uri="{FF2B5EF4-FFF2-40B4-BE49-F238E27FC236}">
                <a16:creationId xmlns:a16="http://schemas.microsoft.com/office/drawing/2014/main" id="{F370B49F-1F4A-F2BB-8468-490BC5AB86CC}"/>
              </a:ext>
            </a:extLst>
          </p:cNvPr>
          <p:cNvSpPr>
            <a:spLocks noGrp="1"/>
          </p:cNvSpPr>
          <p:nvPr>
            <p:ph type="body" sz="quarter" idx="10"/>
          </p:nvPr>
        </p:nvSpPr>
        <p:spPr>
          <a:xfrm>
            <a:off x="3971418" y="4108392"/>
            <a:ext cx="1392079" cy="447813"/>
          </a:xfrm>
        </p:spPr>
        <p:txBody>
          <a:bodyPr/>
          <a:lstStyle/>
          <a:p>
            <a:r>
              <a:rPr lang="en-US" dirty="0"/>
              <a:t>2026-10-20</a:t>
            </a:r>
          </a:p>
        </p:txBody>
      </p:sp>
    </p:spTree>
    <p:extLst>
      <p:ext uri="{BB962C8B-B14F-4D97-AF65-F5344CB8AC3E}">
        <p14:creationId xmlns:p14="http://schemas.microsoft.com/office/powerpoint/2010/main" val="5171279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2336" y="606808"/>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dirty="0" err="1">
                <a:solidFill>
                  <a:srgbClr val="8BC5FA"/>
                </a:solidFill>
                <a:latin typeface="Libre Baskerville"/>
              </a:rPr>
              <a:t>XGBoost</a:t>
            </a:r>
            <a:r>
              <a:rPr sz="2200" b="1" dirty="0">
                <a:solidFill>
                  <a:srgbClr val="8BC5FA"/>
                </a:solidFill>
                <a:latin typeface="Libre Baskerville"/>
              </a:rPr>
              <a:t> and MLP: results on unseen shapes</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44</a:t>
            </a:r>
          </a:p>
        </p:txBody>
      </p:sp>
      <p:graphicFrame>
        <p:nvGraphicFramePr>
          <p:cNvPr id="8" name="Table results"/>
          <p:cNvGraphicFramePr>
            <a:graphicFrameLocks noGrp="1"/>
          </p:cNvGraphicFramePr>
          <p:nvPr/>
        </p:nvGraphicFramePr>
        <p:xfrm>
          <a:off x="292608" y="1030000"/>
          <a:ext cx="4850000" cy="293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800000">
                  <a:extLst>
                    <a:ext uri="{9D8B030D-6E8A-4147-A177-3AD203B41FA5}">
                      <a16:colId xmlns:a16="http://schemas.microsoft.com/office/drawing/2014/main" val="20001"/>
                    </a:ext>
                  </a:extLst>
                </a:gridCol>
                <a:gridCol w="750000">
                  <a:extLst>
                    <a:ext uri="{9D8B030D-6E8A-4147-A177-3AD203B41FA5}">
                      <a16:colId xmlns:a16="http://schemas.microsoft.com/office/drawing/2014/main" val="20002"/>
                    </a:ext>
                  </a:extLst>
                </a:gridCol>
                <a:gridCol w="750000">
                  <a:extLst>
                    <a:ext uri="{9D8B030D-6E8A-4147-A177-3AD203B41FA5}">
                      <a16:colId xmlns:a16="http://schemas.microsoft.com/office/drawing/2014/main" val="20003"/>
                    </a:ext>
                  </a:extLst>
                </a:gridCol>
                <a:gridCol w="650000">
                  <a:extLst>
                    <a:ext uri="{9D8B030D-6E8A-4147-A177-3AD203B41FA5}">
                      <a16:colId xmlns:a16="http://schemas.microsoft.com/office/drawing/2014/main" val="20004"/>
                    </a:ext>
                  </a:extLst>
                </a:gridCol>
              </a:tblGrid>
              <a:tr h="340000">
                <a:tc>
                  <a:txBody>
                    <a:bodyPr/>
                    <a:lstStyle/>
                    <a:p>
                      <a:pPr algn="l">
                        <a:lnSpc>
                          <a:spcPct val="100000"/>
                        </a:lnSpc>
                        <a:spcBef>
                          <a:spcPts val="0"/>
                        </a:spcBef>
                        <a:spcAft>
                          <a:spcPts val="0"/>
                        </a:spcAft>
                      </a:pPr>
                      <a:r>
                        <a:rPr sz="1200" b="1">
                          <a:solidFill>
                            <a:srgbClr val="F7FAFE"/>
                          </a:solidFill>
                          <a:latin typeface="Montserrat"/>
                        </a:rPr>
                        <a:t>Model</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RMSE</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F1</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AUC</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NSE</a:t>
                      </a:r>
                    </a:p>
                  </a:txBody>
                  <a:tcPr anchor="ctr">
                    <a:solidFill>
                      <a:srgbClr val="355A84"/>
                    </a:solidFill>
                  </a:tcPr>
                </a:tc>
                <a:extLst>
                  <a:ext uri="{0D108BD9-81ED-4DB2-BD59-A6C34878D82A}">
                    <a16:rowId xmlns:a16="http://schemas.microsoft.com/office/drawing/2014/main" val="10000"/>
                  </a:ext>
                </a:extLst>
              </a:tr>
              <a:tr h="370000">
                <a:tc>
                  <a:txBody>
                    <a:bodyPr/>
                    <a:lstStyle/>
                    <a:p>
                      <a:pPr algn="l">
                        <a:lnSpc>
                          <a:spcPct val="100000"/>
                        </a:lnSpc>
                        <a:spcBef>
                          <a:spcPts val="0"/>
                        </a:spcBef>
                        <a:spcAft>
                          <a:spcPts val="0"/>
                        </a:spcAft>
                      </a:pPr>
                      <a:r>
                        <a:rPr sz="1200" b="1">
                          <a:solidFill>
                            <a:srgbClr val="8BC5FA"/>
                          </a:solidFill>
                          <a:latin typeface="Montserrat"/>
                        </a:rPr>
                        <a:t>XGBoost tuned</a:t>
                      </a:r>
                    </a:p>
                  </a:txBody>
                  <a:tcPr anchor="ctr">
                    <a:solidFill>
                      <a:srgbClr val="193A58"/>
                    </a:solidFill>
                  </a:tcPr>
                </a:tc>
                <a:tc>
                  <a:txBody>
                    <a:bodyPr/>
                    <a:lstStyle/>
                    <a:p>
                      <a:pPr algn="l">
                        <a:lnSpc>
                          <a:spcPct val="100000"/>
                        </a:lnSpc>
                        <a:spcBef>
                          <a:spcPts val="0"/>
                        </a:spcBef>
                        <a:spcAft>
                          <a:spcPts val="0"/>
                        </a:spcAft>
                      </a:pPr>
                      <a:r>
                        <a:rPr sz="1200" b="0">
                          <a:solidFill>
                            <a:srgbClr val="8BC5FA"/>
                          </a:solidFill>
                          <a:latin typeface="Montserrat"/>
                        </a:rPr>
                        <a:t>69.64</a:t>
                      </a:r>
                    </a:p>
                  </a:txBody>
                  <a:tcPr anchor="ctr">
                    <a:solidFill>
                      <a:srgbClr val="193A58"/>
                    </a:solidFill>
                  </a:tcPr>
                </a:tc>
                <a:tc>
                  <a:txBody>
                    <a:bodyPr/>
                    <a:lstStyle/>
                    <a:p>
                      <a:pPr algn="l">
                        <a:lnSpc>
                          <a:spcPct val="100000"/>
                        </a:lnSpc>
                        <a:spcBef>
                          <a:spcPts val="0"/>
                        </a:spcBef>
                        <a:spcAft>
                          <a:spcPts val="0"/>
                        </a:spcAft>
                      </a:pPr>
                      <a:r>
                        <a:rPr sz="1200" b="0">
                          <a:solidFill>
                            <a:srgbClr val="8BC5FA"/>
                          </a:solidFill>
                          <a:latin typeface="Montserrat"/>
                        </a:rPr>
                        <a:t>0.9812</a:t>
                      </a:r>
                    </a:p>
                  </a:txBody>
                  <a:tcPr anchor="ctr">
                    <a:solidFill>
                      <a:srgbClr val="193A58"/>
                    </a:solidFill>
                  </a:tcPr>
                </a:tc>
                <a:tc>
                  <a:txBody>
                    <a:bodyPr/>
                    <a:lstStyle/>
                    <a:p>
                      <a:pPr algn="l">
                        <a:lnSpc>
                          <a:spcPct val="100000"/>
                        </a:lnSpc>
                        <a:spcBef>
                          <a:spcPts val="0"/>
                        </a:spcBef>
                        <a:spcAft>
                          <a:spcPts val="0"/>
                        </a:spcAft>
                      </a:pPr>
                      <a:r>
                        <a:rPr sz="1200" b="0">
                          <a:solidFill>
                            <a:srgbClr val="8BC5FA"/>
                          </a:solidFill>
                          <a:latin typeface="Montserrat"/>
                        </a:rPr>
                        <a:t>0.9993</a:t>
                      </a:r>
                    </a:p>
                  </a:txBody>
                  <a:tcPr anchor="ctr">
                    <a:solidFill>
                      <a:srgbClr val="193A58"/>
                    </a:solidFill>
                  </a:tcPr>
                </a:tc>
                <a:tc>
                  <a:txBody>
                    <a:bodyPr/>
                    <a:lstStyle/>
                    <a:p>
                      <a:pPr algn="l">
                        <a:lnSpc>
                          <a:spcPct val="100000"/>
                        </a:lnSpc>
                        <a:spcBef>
                          <a:spcPts val="0"/>
                        </a:spcBef>
                        <a:spcAft>
                          <a:spcPts val="0"/>
                        </a:spcAft>
                      </a:pPr>
                      <a:r>
                        <a:rPr sz="1200" b="0">
                          <a:solidFill>
                            <a:srgbClr val="8BC5FA"/>
                          </a:solidFill>
                          <a:latin typeface="Montserrat"/>
                        </a:rPr>
                        <a:t>0.953</a:t>
                      </a:r>
                    </a:p>
                  </a:txBody>
                  <a:tcPr anchor="ctr">
                    <a:solidFill>
                      <a:srgbClr val="193A58"/>
                    </a:solidFill>
                  </a:tcPr>
                </a:tc>
                <a:extLst>
                  <a:ext uri="{0D108BD9-81ED-4DB2-BD59-A6C34878D82A}">
                    <a16:rowId xmlns:a16="http://schemas.microsoft.com/office/drawing/2014/main" val="10001"/>
                  </a:ext>
                </a:extLst>
              </a:tr>
              <a:tr h="370000">
                <a:tc>
                  <a:txBody>
                    <a:bodyPr/>
                    <a:lstStyle/>
                    <a:p>
                      <a:pPr algn="l">
                        <a:lnSpc>
                          <a:spcPct val="100000"/>
                        </a:lnSpc>
                        <a:spcBef>
                          <a:spcPts val="0"/>
                        </a:spcBef>
                        <a:spcAft>
                          <a:spcPts val="0"/>
                        </a:spcAft>
                      </a:pPr>
                      <a:r>
                        <a:rPr sz="1200" b="0">
                          <a:solidFill>
                            <a:srgbClr val="8BC5FA"/>
                          </a:solidFill>
                          <a:latin typeface="Montserrat"/>
                        </a:rPr>
                        <a:t>XGBoost default</a:t>
                      </a:r>
                    </a:p>
                  </a:txBody>
                  <a:tcPr anchor="ctr">
                    <a:solidFill>
                      <a:srgbClr val="234560"/>
                    </a:solidFill>
                  </a:tcPr>
                </a:tc>
                <a:tc>
                  <a:txBody>
                    <a:bodyPr/>
                    <a:lstStyle/>
                    <a:p>
                      <a:pPr algn="l">
                        <a:lnSpc>
                          <a:spcPct val="100000"/>
                        </a:lnSpc>
                        <a:spcBef>
                          <a:spcPts val="0"/>
                        </a:spcBef>
                        <a:spcAft>
                          <a:spcPts val="0"/>
                        </a:spcAft>
                      </a:pPr>
                      <a:r>
                        <a:rPr sz="1200" b="0">
                          <a:solidFill>
                            <a:srgbClr val="8BC5FA"/>
                          </a:solidFill>
                          <a:latin typeface="Montserrat"/>
                        </a:rPr>
                        <a:t>112.80</a:t>
                      </a:r>
                    </a:p>
                  </a:txBody>
                  <a:tcPr anchor="ctr">
                    <a:solidFill>
                      <a:srgbClr val="234560"/>
                    </a:solidFill>
                  </a:tcPr>
                </a:tc>
                <a:tc>
                  <a:txBody>
                    <a:bodyPr/>
                    <a:lstStyle/>
                    <a:p>
                      <a:pPr algn="l">
                        <a:lnSpc>
                          <a:spcPct val="100000"/>
                        </a:lnSpc>
                        <a:spcBef>
                          <a:spcPts val="0"/>
                        </a:spcBef>
                        <a:spcAft>
                          <a:spcPts val="0"/>
                        </a:spcAft>
                      </a:pPr>
                      <a:r>
                        <a:rPr sz="1200" b="0">
                          <a:solidFill>
                            <a:srgbClr val="8BC5FA"/>
                          </a:solidFill>
                          <a:latin typeface="Montserrat"/>
                        </a:rPr>
                        <a:t>0.9815</a:t>
                      </a:r>
                    </a:p>
                  </a:txBody>
                  <a:tcPr anchor="ctr">
                    <a:solidFill>
                      <a:srgbClr val="234560"/>
                    </a:solidFill>
                  </a:tcPr>
                </a:tc>
                <a:tc>
                  <a:txBody>
                    <a:bodyPr/>
                    <a:lstStyle/>
                    <a:p>
                      <a:pPr algn="l">
                        <a:lnSpc>
                          <a:spcPct val="100000"/>
                        </a:lnSpc>
                        <a:spcBef>
                          <a:spcPts val="0"/>
                        </a:spcBef>
                        <a:spcAft>
                          <a:spcPts val="0"/>
                        </a:spcAft>
                      </a:pPr>
                      <a:r>
                        <a:rPr sz="1200" b="0">
                          <a:solidFill>
                            <a:srgbClr val="8BC5FA"/>
                          </a:solidFill>
                          <a:latin typeface="Montserrat"/>
                        </a:rPr>
                        <a:t>0.9993</a:t>
                      </a:r>
                    </a:p>
                  </a:txBody>
                  <a:tcPr anchor="ctr">
                    <a:solidFill>
                      <a:srgbClr val="234560"/>
                    </a:solidFill>
                  </a:tcPr>
                </a:tc>
                <a:tc>
                  <a:txBody>
                    <a:bodyPr/>
                    <a:lstStyle/>
                    <a:p>
                      <a:pPr algn="l">
                        <a:lnSpc>
                          <a:spcPct val="100000"/>
                        </a:lnSpc>
                        <a:spcBef>
                          <a:spcPts val="0"/>
                        </a:spcBef>
                        <a:spcAft>
                          <a:spcPts val="0"/>
                        </a:spcAft>
                      </a:pPr>
                      <a:r>
                        <a:rPr sz="1200" b="0">
                          <a:solidFill>
                            <a:srgbClr val="8BC5FA"/>
                          </a:solidFill>
                          <a:latin typeface="Montserrat"/>
                        </a:rPr>
                        <a:t>0.877</a:t>
                      </a:r>
                    </a:p>
                  </a:txBody>
                  <a:tcPr anchor="ctr">
                    <a:solidFill>
                      <a:srgbClr val="234560"/>
                    </a:solidFill>
                  </a:tcPr>
                </a:tc>
                <a:extLst>
                  <a:ext uri="{0D108BD9-81ED-4DB2-BD59-A6C34878D82A}">
                    <a16:rowId xmlns:a16="http://schemas.microsoft.com/office/drawing/2014/main" val="10002"/>
                  </a:ext>
                </a:extLst>
              </a:tr>
              <a:tr h="370000">
                <a:tc>
                  <a:txBody>
                    <a:bodyPr/>
                    <a:lstStyle/>
                    <a:p>
                      <a:pPr algn="l">
                        <a:lnSpc>
                          <a:spcPct val="100000"/>
                        </a:lnSpc>
                        <a:spcBef>
                          <a:spcPts val="0"/>
                        </a:spcBef>
                        <a:spcAft>
                          <a:spcPts val="0"/>
                        </a:spcAft>
                      </a:pPr>
                      <a:r>
                        <a:rPr sz="1200" b="1">
                          <a:solidFill>
                            <a:srgbClr val="8BC5FA"/>
                          </a:solidFill>
                          <a:latin typeface="Montserrat"/>
                        </a:rPr>
                        <a:t>MLP tuned</a:t>
                      </a:r>
                    </a:p>
                  </a:txBody>
                  <a:tcPr anchor="ctr">
                    <a:solidFill>
                      <a:srgbClr val="193A58"/>
                    </a:solidFill>
                  </a:tcPr>
                </a:tc>
                <a:tc>
                  <a:txBody>
                    <a:bodyPr/>
                    <a:lstStyle/>
                    <a:p>
                      <a:pPr algn="l">
                        <a:lnSpc>
                          <a:spcPct val="100000"/>
                        </a:lnSpc>
                        <a:spcBef>
                          <a:spcPts val="0"/>
                        </a:spcBef>
                        <a:spcAft>
                          <a:spcPts val="0"/>
                        </a:spcAft>
                      </a:pPr>
                      <a:r>
                        <a:rPr sz="1200" b="0">
                          <a:solidFill>
                            <a:srgbClr val="8BC5FA"/>
                          </a:solidFill>
                          <a:latin typeface="Montserrat"/>
                        </a:rPr>
                        <a:t>101.12</a:t>
                      </a:r>
                    </a:p>
                  </a:txBody>
                  <a:tcPr anchor="ctr">
                    <a:solidFill>
                      <a:srgbClr val="193A58"/>
                    </a:solidFill>
                  </a:tcPr>
                </a:tc>
                <a:tc>
                  <a:txBody>
                    <a:bodyPr/>
                    <a:lstStyle/>
                    <a:p>
                      <a:pPr algn="l">
                        <a:lnSpc>
                          <a:spcPct val="100000"/>
                        </a:lnSpc>
                        <a:spcBef>
                          <a:spcPts val="0"/>
                        </a:spcBef>
                        <a:spcAft>
                          <a:spcPts val="0"/>
                        </a:spcAft>
                      </a:pPr>
                      <a:r>
                        <a:rPr sz="1200" b="0">
                          <a:solidFill>
                            <a:srgbClr val="8BC5FA"/>
                          </a:solidFill>
                          <a:latin typeface="Montserrat"/>
                        </a:rPr>
                        <a:t>0.9783</a:t>
                      </a:r>
                    </a:p>
                  </a:txBody>
                  <a:tcPr anchor="ctr">
                    <a:solidFill>
                      <a:srgbClr val="193A58"/>
                    </a:solidFill>
                  </a:tcPr>
                </a:tc>
                <a:tc>
                  <a:txBody>
                    <a:bodyPr/>
                    <a:lstStyle/>
                    <a:p>
                      <a:pPr algn="l">
                        <a:lnSpc>
                          <a:spcPct val="100000"/>
                        </a:lnSpc>
                        <a:spcBef>
                          <a:spcPts val="0"/>
                        </a:spcBef>
                        <a:spcAft>
                          <a:spcPts val="0"/>
                        </a:spcAft>
                      </a:pPr>
                      <a:r>
                        <a:rPr sz="1200" b="0">
                          <a:solidFill>
                            <a:srgbClr val="8BC5FA"/>
                          </a:solidFill>
                          <a:latin typeface="Montserrat"/>
                        </a:rPr>
                        <a:t>0.9994</a:t>
                      </a:r>
                    </a:p>
                  </a:txBody>
                  <a:tcPr anchor="ctr">
                    <a:solidFill>
                      <a:srgbClr val="193A58"/>
                    </a:solidFill>
                  </a:tcPr>
                </a:tc>
                <a:tc>
                  <a:txBody>
                    <a:bodyPr/>
                    <a:lstStyle/>
                    <a:p>
                      <a:pPr algn="l">
                        <a:lnSpc>
                          <a:spcPct val="100000"/>
                        </a:lnSpc>
                        <a:spcBef>
                          <a:spcPts val="0"/>
                        </a:spcBef>
                        <a:spcAft>
                          <a:spcPts val="0"/>
                        </a:spcAft>
                      </a:pPr>
                      <a:r>
                        <a:rPr sz="1200" b="0">
                          <a:solidFill>
                            <a:srgbClr val="8BC5FA"/>
                          </a:solidFill>
                          <a:latin typeface="Montserrat"/>
                        </a:rPr>
                        <a:t>0.902</a:t>
                      </a:r>
                    </a:p>
                  </a:txBody>
                  <a:tcPr anchor="ctr">
                    <a:solidFill>
                      <a:srgbClr val="193A58"/>
                    </a:solidFill>
                  </a:tcPr>
                </a:tc>
                <a:extLst>
                  <a:ext uri="{0D108BD9-81ED-4DB2-BD59-A6C34878D82A}">
                    <a16:rowId xmlns:a16="http://schemas.microsoft.com/office/drawing/2014/main" val="10003"/>
                  </a:ext>
                </a:extLst>
              </a:tr>
              <a:tr h="370000">
                <a:tc>
                  <a:txBody>
                    <a:bodyPr/>
                    <a:lstStyle/>
                    <a:p>
                      <a:pPr algn="l">
                        <a:lnSpc>
                          <a:spcPct val="100000"/>
                        </a:lnSpc>
                        <a:spcBef>
                          <a:spcPts val="0"/>
                        </a:spcBef>
                        <a:spcAft>
                          <a:spcPts val="0"/>
                        </a:spcAft>
                      </a:pPr>
                      <a:r>
                        <a:rPr sz="1200" b="0">
                          <a:solidFill>
                            <a:srgbClr val="8BC5FA"/>
                          </a:solidFill>
                          <a:latin typeface="Montserrat"/>
                        </a:rPr>
                        <a:t>MLP default</a:t>
                      </a:r>
                    </a:p>
                  </a:txBody>
                  <a:tcPr anchor="ctr">
                    <a:solidFill>
                      <a:srgbClr val="234560"/>
                    </a:solidFill>
                  </a:tcPr>
                </a:tc>
                <a:tc>
                  <a:txBody>
                    <a:bodyPr/>
                    <a:lstStyle/>
                    <a:p>
                      <a:pPr algn="l">
                        <a:lnSpc>
                          <a:spcPct val="100000"/>
                        </a:lnSpc>
                        <a:spcBef>
                          <a:spcPts val="0"/>
                        </a:spcBef>
                        <a:spcAft>
                          <a:spcPts val="0"/>
                        </a:spcAft>
                      </a:pPr>
                      <a:r>
                        <a:rPr sz="1200" b="0">
                          <a:solidFill>
                            <a:srgbClr val="8BC5FA"/>
                          </a:solidFill>
                          <a:latin typeface="Montserrat"/>
                        </a:rPr>
                        <a:t>114.38</a:t>
                      </a:r>
                    </a:p>
                  </a:txBody>
                  <a:tcPr anchor="ctr">
                    <a:solidFill>
                      <a:srgbClr val="234560"/>
                    </a:solidFill>
                  </a:tcPr>
                </a:tc>
                <a:tc>
                  <a:txBody>
                    <a:bodyPr/>
                    <a:lstStyle/>
                    <a:p>
                      <a:pPr algn="l">
                        <a:lnSpc>
                          <a:spcPct val="100000"/>
                        </a:lnSpc>
                        <a:spcBef>
                          <a:spcPts val="0"/>
                        </a:spcBef>
                        <a:spcAft>
                          <a:spcPts val="0"/>
                        </a:spcAft>
                      </a:pPr>
                      <a:r>
                        <a:rPr sz="1200" b="0">
                          <a:solidFill>
                            <a:srgbClr val="8BC5FA"/>
                          </a:solidFill>
                          <a:latin typeface="Montserrat"/>
                        </a:rPr>
                        <a:t>0.9783</a:t>
                      </a:r>
                    </a:p>
                  </a:txBody>
                  <a:tcPr anchor="ctr">
                    <a:solidFill>
                      <a:srgbClr val="234560"/>
                    </a:solidFill>
                  </a:tcPr>
                </a:tc>
                <a:tc>
                  <a:txBody>
                    <a:bodyPr/>
                    <a:lstStyle/>
                    <a:p>
                      <a:pPr algn="l">
                        <a:lnSpc>
                          <a:spcPct val="100000"/>
                        </a:lnSpc>
                        <a:spcBef>
                          <a:spcPts val="0"/>
                        </a:spcBef>
                        <a:spcAft>
                          <a:spcPts val="0"/>
                        </a:spcAft>
                      </a:pPr>
                      <a:r>
                        <a:rPr sz="1200" b="0">
                          <a:solidFill>
                            <a:srgbClr val="8BC5FA"/>
                          </a:solidFill>
                          <a:latin typeface="Montserrat"/>
                        </a:rPr>
                        <a:t>0.9992</a:t>
                      </a:r>
                    </a:p>
                  </a:txBody>
                  <a:tcPr anchor="ctr">
                    <a:solidFill>
                      <a:srgbClr val="234560"/>
                    </a:solidFill>
                  </a:tcPr>
                </a:tc>
                <a:tc>
                  <a:txBody>
                    <a:bodyPr/>
                    <a:lstStyle/>
                    <a:p>
                      <a:pPr algn="l">
                        <a:lnSpc>
                          <a:spcPct val="100000"/>
                        </a:lnSpc>
                        <a:spcBef>
                          <a:spcPts val="0"/>
                        </a:spcBef>
                        <a:spcAft>
                          <a:spcPts val="0"/>
                        </a:spcAft>
                      </a:pPr>
                      <a:r>
                        <a:rPr sz="1200" b="0">
                          <a:solidFill>
                            <a:srgbClr val="8BC5FA"/>
                          </a:solidFill>
                          <a:latin typeface="Montserrat"/>
                        </a:rPr>
                        <a:t>0.878</a:t>
                      </a:r>
                    </a:p>
                  </a:txBody>
                  <a:tcPr anchor="ctr">
                    <a:solidFill>
                      <a:srgbClr val="234560"/>
                    </a:solidFill>
                  </a:tcPr>
                </a:tc>
                <a:extLst>
                  <a:ext uri="{0D108BD9-81ED-4DB2-BD59-A6C34878D82A}">
                    <a16:rowId xmlns:a16="http://schemas.microsoft.com/office/drawing/2014/main" val="10004"/>
                  </a:ext>
                </a:extLst>
              </a:tr>
              <a:tr h="370000">
                <a:tc>
                  <a:txBody>
                    <a:bodyPr/>
                    <a:lstStyle/>
                    <a:p>
                      <a:pPr algn="l">
                        <a:lnSpc>
                          <a:spcPct val="100000"/>
                        </a:lnSpc>
                        <a:spcBef>
                          <a:spcPts val="0"/>
                        </a:spcBef>
                        <a:spcAft>
                          <a:spcPts val="0"/>
                        </a:spcAft>
                      </a:pPr>
                      <a:r>
                        <a:rPr sz="1200" b="0">
                          <a:solidFill>
                            <a:srgbClr val="F7FAFE"/>
                          </a:solidFill>
                          <a:latin typeface="Montserrat"/>
                        </a:rPr>
                        <a:t>SVM tuned</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214.87</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0.8302</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0.9626</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0.583</a:t>
                      </a:r>
                    </a:p>
                  </a:txBody>
                  <a:tcPr anchor="ctr">
                    <a:solidFill>
                      <a:srgbClr val="193A58"/>
                    </a:solidFill>
                  </a:tcPr>
                </a:tc>
                <a:extLst>
                  <a:ext uri="{0D108BD9-81ED-4DB2-BD59-A6C34878D82A}">
                    <a16:rowId xmlns:a16="http://schemas.microsoft.com/office/drawing/2014/main" val="10005"/>
                  </a:ext>
                </a:extLst>
              </a:tr>
              <a:tr h="370000">
                <a:tc>
                  <a:txBody>
                    <a:bodyPr/>
                    <a:lstStyle/>
                    <a:p>
                      <a:pPr algn="l">
                        <a:lnSpc>
                          <a:spcPct val="100000"/>
                        </a:lnSpc>
                        <a:spcBef>
                          <a:spcPts val="0"/>
                        </a:spcBef>
                        <a:spcAft>
                          <a:spcPts val="0"/>
                        </a:spcAft>
                      </a:pPr>
                      <a:r>
                        <a:rPr sz="1200" b="0">
                          <a:solidFill>
                            <a:srgbClr val="F7FAFE"/>
                          </a:solidFill>
                          <a:latin typeface="Montserrat"/>
                        </a:rPr>
                        <a:t>SVM default</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222.46</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0.8625</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0.9719</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0.548</a:t>
                      </a:r>
                    </a:p>
                  </a:txBody>
                  <a:tcPr anchor="ctr">
                    <a:solidFill>
                      <a:srgbClr val="234560"/>
                    </a:solidFill>
                  </a:tcPr>
                </a:tc>
                <a:extLst>
                  <a:ext uri="{0D108BD9-81ED-4DB2-BD59-A6C34878D82A}">
                    <a16:rowId xmlns:a16="http://schemas.microsoft.com/office/drawing/2014/main" val="10006"/>
                  </a:ext>
                </a:extLst>
              </a:tr>
              <a:tr h="370000">
                <a:tc>
                  <a:txBody>
                    <a:bodyPr/>
                    <a:lstStyle/>
                    <a:p>
                      <a:pPr algn="l">
                        <a:lnSpc>
                          <a:spcPct val="100000"/>
                        </a:lnSpc>
                        <a:spcBef>
                          <a:spcPts val="0"/>
                        </a:spcBef>
                        <a:spcAft>
                          <a:spcPts val="0"/>
                        </a:spcAft>
                      </a:pPr>
                      <a:r>
                        <a:rPr sz="1200" b="1">
                          <a:solidFill>
                            <a:srgbClr val="F1CB83"/>
                          </a:solidFill>
                          <a:latin typeface="Montserrat"/>
                        </a:rPr>
                        <a:t>No-learning baseline</a:t>
                      </a:r>
                    </a:p>
                  </a:txBody>
                  <a:tcPr anchor="ctr">
                    <a:solidFill>
                      <a:srgbClr val="193A58"/>
                    </a:solidFill>
                  </a:tcPr>
                </a:tc>
                <a:tc>
                  <a:txBody>
                    <a:bodyPr/>
                    <a:lstStyle/>
                    <a:p>
                      <a:pPr algn="l">
                        <a:lnSpc>
                          <a:spcPct val="100000"/>
                        </a:lnSpc>
                        <a:spcBef>
                          <a:spcPts val="0"/>
                        </a:spcBef>
                        <a:spcAft>
                          <a:spcPts val="0"/>
                        </a:spcAft>
                      </a:pPr>
                      <a:r>
                        <a:rPr sz="1200" b="0">
                          <a:solidFill>
                            <a:srgbClr val="F1CB83"/>
                          </a:solidFill>
                          <a:latin typeface="Montserrat"/>
                        </a:rPr>
                        <a:t>172.86</a:t>
                      </a:r>
                    </a:p>
                  </a:txBody>
                  <a:tcPr anchor="ctr">
                    <a:solidFill>
                      <a:srgbClr val="193A58"/>
                    </a:solidFill>
                  </a:tcPr>
                </a:tc>
                <a:tc>
                  <a:txBody>
                    <a:bodyPr/>
                    <a:lstStyle/>
                    <a:p>
                      <a:pPr algn="l">
                        <a:lnSpc>
                          <a:spcPct val="100000"/>
                        </a:lnSpc>
                        <a:spcBef>
                          <a:spcPts val="0"/>
                        </a:spcBef>
                        <a:spcAft>
                          <a:spcPts val="0"/>
                        </a:spcAft>
                      </a:pPr>
                      <a:r>
                        <a:rPr sz="1200" b="0">
                          <a:solidFill>
                            <a:srgbClr val="F1CB83"/>
                          </a:solidFill>
                          <a:latin typeface="Montserrat"/>
                        </a:rPr>
                        <a:t>0.9764</a:t>
                      </a:r>
                    </a:p>
                  </a:txBody>
                  <a:tcPr anchor="ctr">
                    <a:solidFill>
                      <a:srgbClr val="193A58"/>
                    </a:solidFill>
                  </a:tcPr>
                </a:tc>
                <a:tc>
                  <a:txBody>
                    <a:bodyPr/>
                    <a:lstStyle/>
                    <a:p>
                      <a:pPr algn="l">
                        <a:lnSpc>
                          <a:spcPct val="100000"/>
                        </a:lnSpc>
                        <a:spcBef>
                          <a:spcPts val="0"/>
                        </a:spcBef>
                        <a:spcAft>
                          <a:spcPts val="0"/>
                        </a:spcAft>
                      </a:pPr>
                      <a:r>
                        <a:rPr sz="1200" b="0">
                          <a:solidFill>
                            <a:srgbClr val="F1CB83"/>
                          </a:solidFill>
                          <a:latin typeface="Montserrat"/>
                        </a:rPr>
                        <a:t>0.9844</a:t>
                      </a:r>
                    </a:p>
                  </a:txBody>
                  <a:tcPr anchor="ctr">
                    <a:solidFill>
                      <a:srgbClr val="193A58"/>
                    </a:solidFill>
                  </a:tcPr>
                </a:tc>
                <a:tc>
                  <a:txBody>
                    <a:bodyPr/>
                    <a:lstStyle/>
                    <a:p>
                      <a:pPr algn="l">
                        <a:lnSpc>
                          <a:spcPct val="100000"/>
                        </a:lnSpc>
                        <a:spcBef>
                          <a:spcPts val="0"/>
                        </a:spcBef>
                        <a:spcAft>
                          <a:spcPts val="0"/>
                        </a:spcAft>
                      </a:pPr>
                      <a:r>
                        <a:rPr sz="1200" b="0">
                          <a:solidFill>
                            <a:srgbClr val="F1CB83"/>
                          </a:solidFill>
                          <a:latin typeface="Montserrat"/>
                        </a:rPr>
                        <a:t>0.710</a:t>
                      </a:r>
                    </a:p>
                  </a:txBody>
                  <a:tcPr anchor="ctr">
                    <a:solidFill>
                      <a:srgbClr val="193A58"/>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292608" y="4070000"/>
            <a:ext cx="4850000" cy="420000"/>
          </a:xfrm>
          <a:prstGeom prst="rect">
            <a:avLst/>
          </a:prstGeom>
          <a:noFill/>
        </p:spPr>
        <p:txBody>
          <a:bodyPr wrap="square" lIns="0" tIns="0" rIns="0" bIns="0" anchor="t">
            <a:spAutoFit/>
          </a:bodyPr>
          <a:lstStyle/>
          <a:p>
            <a:pPr algn="l">
              <a:lnSpc>
                <a:spcPct val="100000"/>
              </a:lnSpc>
              <a:spcBef>
                <a:spcPts val="0"/>
              </a:spcBef>
              <a:spcAft>
                <a:spcPts val="0"/>
              </a:spcAft>
            </a:pPr>
            <a:r>
              <a:rPr sz="1000" b="0">
                <a:solidFill>
                  <a:srgbClr val="B7CBE0"/>
                </a:solidFill>
                <a:latin typeface="Montserrat"/>
              </a:rPr>
              <a:t>Pooled volume RMSE in m³ (lower is better); regressor NSE on flooded nodes. Bars label the tuned value; default values are in the table</a:t>
            </a:r>
          </a:p>
        </p:txBody>
      </p:sp>
      <p:sp>
        <p:nvSpPr>
          <p:cNvPr id="10" name="TextBox 9"/>
          <p:cNvSpPr txBox="1"/>
          <p:nvPr/>
        </p:nvSpPr>
        <p:spPr>
          <a:xfrm>
            <a:off x="5292608" y="1030000"/>
            <a:ext cx="3549640" cy="420000"/>
          </a:xfrm>
          <a:prstGeom prst="rect">
            <a:avLst/>
          </a:prstGeom>
          <a:noFill/>
        </p:spPr>
        <p:txBody>
          <a:bodyPr wrap="square" lIns="0" tIns="0" rIns="0" bIns="0" anchor="t">
            <a:spAutoFit/>
          </a:bodyPr>
          <a:lstStyle/>
          <a:p>
            <a:pPr algn="l">
              <a:lnSpc>
                <a:spcPct val="100000"/>
              </a:lnSpc>
              <a:spcBef>
                <a:spcPts val="0"/>
              </a:spcBef>
              <a:spcAft>
                <a:spcPts val="100"/>
              </a:spcAft>
            </a:pPr>
            <a:r>
              <a:rPr sz="1100" b="0">
                <a:solidFill>
                  <a:srgbClr val="B7CBE0"/>
                </a:solidFill>
                <a:latin typeface="Montserrat"/>
              </a:rPr>
              <a:t>Volume RMSE (m³): lower is better</a:t>
            </a:r>
          </a:p>
          <a:p>
            <a:pPr algn="l">
              <a:lnSpc>
                <a:spcPct val="100000"/>
              </a:lnSpc>
              <a:spcBef>
                <a:spcPts val="0"/>
              </a:spcBef>
              <a:spcAft>
                <a:spcPts val="0"/>
              </a:spcAft>
            </a:pPr>
            <a:r>
              <a:rPr sz="1000" b="1">
                <a:solidFill>
                  <a:srgbClr val="F1CB83"/>
                </a:solidFill>
                <a:latin typeface="Montserrat"/>
              </a:rPr>
              <a:t>No-learning baseline: 172.86</a:t>
            </a:r>
          </a:p>
        </p:txBody>
      </p:sp>
      <p:graphicFrame>
        <p:nvGraphicFramePr>
          <p:cNvPr id="11" name="Chart 10"/>
          <p:cNvGraphicFramePr>
            <a:graphicFrameLocks noGrp="1"/>
          </p:cNvGraphicFramePr>
          <p:nvPr/>
        </p:nvGraphicFramePr>
        <p:xfrm>
          <a:off x="5292608" y="1430000"/>
          <a:ext cx="3549640" cy="1380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292608" y="2870000"/>
            <a:ext cx="3549640" cy="420000"/>
          </a:xfrm>
          <a:prstGeom prst="rect">
            <a:avLst/>
          </a:prstGeom>
          <a:noFill/>
        </p:spPr>
        <p:txBody>
          <a:bodyPr wrap="square" lIns="0" tIns="0" rIns="0" bIns="0" anchor="t">
            <a:spAutoFit/>
          </a:bodyPr>
          <a:lstStyle/>
          <a:p>
            <a:pPr algn="l">
              <a:lnSpc>
                <a:spcPct val="100000"/>
              </a:lnSpc>
              <a:spcBef>
                <a:spcPts val="0"/>
              </a:spcBef>
              <a:spcAft>
                <a:spcPts val="100"/>
              </a:spcAft>
            </a:pPr>
            <a:r>
              <a:rPr sz="1100" b="0">
                <a:solidFill>
                  <a:srgbClr val="B7CBE0"/>
                </a:solidFill>
                <a:latin typeface="Montserrat"/>
              </a:rPr>
              <a:t>Pooled F1: higher is better</a:t>
            </a:r>
          </a:p>
          <a:p>
            <a:pPr algn="l">
              <a:lnSpc>
                <a:spcPct val="100000"/>
              </a:lnSpc>
              <a:spcBef>
                <a:spcPts val="0"/>
              </a:spcBef>
              <a:spcAft>
                <a:spcPts val="0"/>
              </a:spcAft>
            </a:pPr>
            <a:r>
              <a:rPr sz="1000" b="1">
                <a:solidFill>
                  <a:srgbClr val="F1CB83"/>
                </a:solidFill>
                <a:latin typeface="Montserrat"/>
              </a:rPr>
              <a:t>No-learning baseline: 0.9764</a:t>
            </a:r>
          </a:p>
        </p:txBody>
      </p:sp>
      <p:graphicFrame>
        <p:nvGraphicFramePr>
          <p:cNvPr id="13" name="Chart 12"/>
          <p:cNvGraphicFramePr>
            <a:graphicFrameLocks noGrp="1"/>
          </p:cNvGraphicFramePr>
          <p:nvPr/>
        </p:nvGraphicFramePr>
        <p:xfrm>
          <a:off x="5292608" y="3270000"/>
          <a:ext cx="3549640" cy="13800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2336" y="67738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dirty="0" err="1">
                <a:solidFill>
                  <a:srgbClr val="8BC5FA"/>
                </a:solidFill>
                <a:latin typeface="Libre Baskerville"/>
              </a:rPr>
              <a:t>Optuna</a:t>
            </a:r>
            <a:r>
              <a:rPr sz="2200" b="1" dirty="0">
                <a:solidFill>
                  <a:srgbClr val="8BC5FA"/>
                </a:solidFill>
                <a:latin typeface="Libre Baskerville"/>
              </a:rPr>
              <a:t> tuning: 20 trials per family</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45</a:t>
            </a:r>
          </a:p>
        </p:txBody>
      </p:sp>
      <p:sp>
        <p:nvSpPr>
          <p:cNvPr id="8" name="TextBox 7"/>
          <p:cNvSpPr txBox="1"/>
          <p:nvPr/>
        </p:nvSpPr>
        <p:spPr>
          <a:xfrm>
            <a:off x="292608" y="1030000"/>
            <a:ext cx="5000000" cy="260000"/>
          </a:xfrm>
          <a:prstGeom prst="rect">
            <a:avLst/>
          </a:prstGeom>
          <a:noFill/>
        </p:spPr>
        <p:txBody>
          <a:bodyPr wrap="square" lIns="0" tIns="0" rIns="0" bIns="0" anchor="t">
            <a:spAutoFit/>
          </a:bodyPr>
          <a:lstStyle/>
          <a:p>
            <a:pPr algn="l">
              <a:lnSpc>
                <a:spcPct val="100000"/>
              </a:lnSpc>
              <a:spcBef>
                <a:spcPts val="0"/>
              </a:spcBef>
              <a:spcAft>
                <a:spcPts val="0"/>
              </a:spcAft>
            </a:pPr>
            <a:r>
              <a:rPr sz="1100" b="0">
                <a:solidFill>
                  <a:srgbClr val="B7CBE0"/>
                </a:solidFill>
                <a:latin typeface="Montserrat"/>
              </a:rPr>
              <a:t>Best inner RMSE up to that trial (m³)</a:t>
            </a:r>
          </a:p>
        </p:txBody>
      </p:sp>
      <p:graphicFrame>
        <p:nvGraphicFramePr>
          <p:cNvPr id="9" name="Chart 8"/>
          <p:cNvGraphicFramePr>
            <a:graphicFrameLocks noGrp="1"/>
          </p:cNvGraphicFramePr>
          <p:nvPr/>
        </p:nvGraphicFramePr>
        <p:xfrm>
          <a:off x="292608" y="1280000"/>
          <a:ext cx="5000000" cy="325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tuning"/>
          <p:cNvGraphicFramePr>
            <a:graphicFrameLocks noGrp="1"/>
          </p:cNvGraphicFramePr>
          <p:nvPr/>
        </p:nvGraphicFramePr>
        <p:xfrm>
          <a:off x="5492608" y="1280000"/>
          <a:ext cx="3349640" cy="1780000"/>
        </p:xfrm>
        <a:graphic>
          <a:graphicData uri="http://schemas.openxmlformats.org/drawingml/2006/table">
            <a:tbl>
              <a:tblPr firstRow="1" bandRow="1">
                <a:tableStyleId>{5C22544A-7EE6-4342-B048-85BDC9FD1C3A}</a:tableStyleId>
              </a:tblPr>
              <a:tblGrid>
                <a:gridCol w="1350000">
                  <a:extLst>
                    <a:ext uri="{9D8B030D-6E8A-4147-A177-3AD203B41FA5}">
                      <a16:colId xmlns:a16="http://schemas.microsoft.com/office/drawing/2014/main" val="20000"/>
                    </a:ext>
                  </a:extLst>
                </a:gridCol>
                <a:gridCol w="1150000">
                  <a:extLst>
                    <a:ext uri="{9D8B030D-6E8A-4147-A177-3AD203B41FA5}">
                      <a16:colId xmlns:a16="http://schemas.microsoft.com/office/drawing/2014/main" val="20001"/>
                    </a:ext>
                  </a:extLst>
                </a:gridCol>
                <a:gridCol w="849640">
                  <a:extLst>
                    <a:ext uri="{9D8B030D-6E8A-4147-A177-3AD203B41FA5}">
                      <a16:colId xmlns:a16="http://schemas.microsoft.com/office/drawing/2014/main" val="20002"/>
                    </a:ext>
                  </a:extLst>
                </a:gridCol>
              </a:tblGrid>
              <a:tr h="340000">
                <a:tc>
                  <a:txBody>
                    <a:bodyPr/>
                    <a:lstStyle/>
                    <a:p>
                      <a:pPr algn="l">
                        <a:lnSpc>
                          <a:spcPct val="100000"/>
                        </a:lnSpc>
                        <a:spcBef>
                          <a:spcPts val="0"/>
                        </a:spcBef>
                        <a:spcAft>
                          <a:spcPts val="0"/>
                        </a:spcAft>
                      </a:pPr>
                      <a:r>
                        <a:rPr sz="1200" b="1">
                          <a:solidFill>
                            <a:srgbClr val="F7FAFE"/>
                          </a:solidFill>
                          <a:latin typeface="Montserrat"/>
                        </a:rPr>
                        <a:t>Family</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Best RMSE</a:t>
                      </a:r>
                    </a:p>
                  </a:txBody>
                  <a:tcPr anchor="ctr">
                    <a:solidFill>
                      <a:srgbClr val="355A84"/>
                    </a:solidFill>
                  </a:tcPr>
                </a:tc>
                <a:tc>
                  <a:txBody>
                    <a:bodyPr/>
                    <a:lstStyle/>
                    <a:p>
                      <a:pPr algn="l">
                        <a:lnSpc>
                          <a:spcPct val="100000"/>
                        </a:lnSpc>
                        <a:spcBef>
                          <a:spcPts val="0"/>
                        </a:spcBef>
                        <a:spcAft>
                          <a:spcPts val="0"/>
                        </a:spcAft>
                      </a:pPr>
                      <a:r>
                        <a:rPr sz="1200" b="1">
                          <a:solidFill>
                            <a:srgbClr val="F7FAFE"/>
                          </a:solidFill>
                          <a:latin typeface="Montserrat"/>
                        </a:rPr>
                        <a:t>Min</a:t>
                      </a:r>
                    </a:p>
                  </a:txBody>
                  <a:tcPr anchor="ctr">
                    <a:solidFill>
                      <a:srgbClr val="355A84"/>
                    </a:solidFill>
                  </a:tcPr>
                </a:tc>
                <a:extLst>
                  <a:ext uri="{0D108BD9-81ED-4DB2-BD59-A6C34878D82A}">
                    <a16:rowId xmlns:a16="http://schemas.microsoft.com/office/drawing/2014/main" val="10000"/>
                  </a:ext>
                </a:extLst>
              </a:tr>
              <a:tr h="480000">
                <a:tc>
                  <a:txBody>
                    <a:bodyPr/>
                    <a:lstStyle/>
                    <a:p>
                      <a:pPr algn="l">
                        <a:lnSpc>
                          <a:spcPct val="100000"/>
                        </a:lnSpc>
                        <a:spcBef>
                          <a:spcPts val="0"/>
                        </a:spcBef>
                        <a:spcAft>
                          <a:spcPts val="0"/>
                        </a:spcAft>
                      </a:pPr>
                      <a:r>
                        <a:rPr sz="1200" b="1">
                          <a:solidFill>
                            <a:srgbClr val="8BC5FA"/>
                          </a:solidFill>
                          <a:latin typeface="Montserrat"/>
                        </a:rPr>
                        <a:t>XGBoost</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65.7</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12.6</a:t>
                      </a:r>
                    </a:p>
                  </a:txBody>
                  <a:tcPr anchor="ctr">
                    <a:solidFill>
                      <a:srgbClr val="193A58"/>
                    </a:solidFill>
                  </a:tcPr>
                </a:tc>
                <a:extLst>
                  <a:ext uri="{0D108BD9-81ED-4DB2-BD59-A6C34878D82A}">
                    <a16:rowId xmlns:a16="http://schemas.microsoft.com/office/drawing/2014/main" val="10001"/>
                  </a:ext>
                </a:extLst>
              </a:tr>
              <a:tr h="480000">
                <a:tc>
                  <a:txBody>
                    <a:bodyPr/>
                    <a:lstStyle/>
                    <a:p>
                      <a:pPr algn="l">
                        <a:lnSpc>
                          <a:spcPct val="100000"/>
                        </a:lnSpc>
                        <a:spcBef>
                          <a:spcPts val="0"/>
                        </a:spcBef>
                        <a:spcAft>
                          <a:spcPts val="0"/>
                        </a:spcAft>
                      </a:pPr>
                      <a:r>
                        <a:rPr sz="1200" b="1">
                          <a:solidFill>
                            <a:srgbClr val="A4FF9F"/>
                          </a:solidFill>
                          <a:latin typeface="Montserrat"/>
                        </a:rPr>
                        <a:t>MLP</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77.2</a:t>
                      </a:r>
                    </a:p>
                  </a:txBody>
                  <a:tcPr anchor="ctr">
                    <a:solidFill>
                      <a:srgbClr val="234560"/>
                    </a:solidFill>
                  </a:tcPr>
                </a:tc>
                <a:tc>
                  <a:txBody>
                    <a:bodyPr/>
                    <a:lstStyle/>
                    <a:p>
                      <a:pPr algn="l">
                        <a:lnSpc>
                          <a:spcPct val="100000"/>
                        </a:lnSpc>
                        <a:spcBef>
                          <a:spcPts val="0"/>
                        </a:spcBef>
                        <a:spcAft>
                          <a:spcPts val="0"/>
                        </a:spcAft>
                      </a:pPr>
                      <a:r>
                        <a:rPr sz="1200" b="0">
                          <a:solidFill>
                            <a:srgbClr val="F7FAFE"/>
                          </a:solidFill>
                          <a:latin typeface="Montserrat"/>
                        </a:rPr>
                        <a:t>51.7</a:t>
                      </a:r>
                    </a:p>
                  </a:txBody>
                  <a:tcPr anchor="ctr">
                    <a:solidFill>
                      <a:srgbClr val="234560"/>
                    </a:solidFill>
                  </a:tcPr>
                </a:tc>
                <a:extLst>
                  <a:ext uri="{0D108BD9-81ED-4DB2-BD59-A6C34878D82A}">
                    <a16:rowId xmlns:a16="http://schemas.microsoft.com/office/drawing/2014/main" val="10002"/>
                  </a:ext>
                </a:extLst>
              </a:tr>
              <a:tr h="480000">
                <a:tc>
                  <a:txBody>
                    <a:bodyPr/>
                    <a:lstStyle/>
                    <a:p>
                      <a:pPr algn="l">
                        <a:lnSpc>
                          <a:spcPct val="100000"/>
                        </a:lnSpc>
                        <a:spcBef>
                          <a:spcPts val="0"/>
                        </a:spcBef>
                        <a:spcAft>
                          <a:spcPts val="0"/>
                        </a:spcAft>
                      </a:pPr>
                      <a:r>
                        <a:rPr sz="1200" b="1">
                          <a:solidFill>
                            <a:srgbClr val="F1CB83"/>
                          </a:solidFill>
                          <a:latin typeface="Montserrat"/>
                        </a:rPr>
                        <a:t>Approx. SVM</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202.4</a:t>
                      </a:r>
                    </a:p>
                  </a:txBody>
                  <a:tcPr anchor="ctr">
                    <a:solidFill>
                      <a:srgbClr val="193A58"/>
                    </a:solidFill>
                  </a:tcPr>
                </a:tc>
                <a:tc>
                  <a:txBody>
                    <a:bodyPr/>
                    <a:lstStyle/>
                    <a:p>
                      <a:pPr algn="l">
                        <a:lnSpc>
                          <a:spcPct val="100000"/>
                        </a:lnSpc>
                        <a:spcBef>
                          <a:spcPts val="0"/>
                        </a:spcBef>
                        <a:spcAft>
                          <a:spcPts val="0"/>
                        </a:spcAft>
                      </a:pPr>
                      <a:r>
                        <a:rPr sz="1200" b="0">
                          <a:solidFill>
                            <a:srgbClr val="F7FAFE"/>
                          </a:solidFill>
                          <a:latin typeface="Montserrat"/>
                        </a:rPr>
                        <a:t>13.8</a:t>
                      </a:r>
                    </a:p>
                  </a:txBody>
                  <a:tcPr anchor="ctr">
                    <a:solidFill>
                      <a:srgbClr val="193A58"/>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5492608" y="3180000"/>
            <a:ext cx="3349640" cy="900000"/>
          </a:xfrm>
          <a:prstGeom prst="rect">
            <a:avLst/>
          </a:prstGeom>
          <a:noFill/>
        </p:spPr>
        <p:txBody>
          <a:bodyPr wrap="square" lIns="0" tIns="0" rIns="0" bIns="0" anchor="t">
            <a:spAutoFit/>
          </a:bodyPr>
          <a:lstStyle/>
          <a:p>
            <a:pPr algn="l">
              <a:lnSpc>
                <a:spcPct val="100000"/>
              </a:lnSpc>
              <a:spcBef>
                <a:spcPts val="0"/>
              </a:spcBef>
              <a:spcAft>
                <a:spcPts val="400"/>
              </a:spcAft>
            </a:pPr>
            <a:r>
              <a:rPr sz="1000" b="0">
                <a:solidFill>
                  <a:srgbClr val="B7CBE0"/>
                </a:solidFill>
                <a:latin typeface="Montserrat"/>
              </a:rPr>
              <a:t>Inner RMSE: GroupKFold(5) by shape inside the search; not the LeaveOneShapeOut figure.</a:t>
            </a:r>
          </a:p>
          <a:p>
            <a:pPr algn="l">
              <a:lnSpc>
                <a:spcPct val="100000"/>
              </a:lnSpc>
              <a:spcBef>
                <a:spcPts val="0"/>
              </a:spcBef>
              <a:spcAft>
                <a:spcPts val="0"/>
              </a:spcAft>
            </a:pPr>
            <a:r>
              <a:rPr sz="1000" b="0">
                <a:solidFill>
                  <a:srgbClr val="B7CBE0"/>
                </a:solidFill>
                <a:latin typeface="Montserrat"/>
              </a:rPr>
              <a:t>Min: duration of the whole study.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46</a:t>
            </a:r>
          </a:p>
        </p:txBody>
      </p:sp>
      <p:sp>
        <p:nvSpPr>
          <p:cNvPr id="8" name="TextBox 7"/>
          <p:cNvSpPr txBox="1"/>
          <p:nvPr/>
        </p:nvSpPr>
        <p:spPr>
          <a:xfrm>
            <a:off x="292608" y="1050000"/>
            <a:ext cx="4124820" cy="3000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8BC5FA"/>
                </a:solidFill>
                <a:latin typeface="Montserrat"/>
              </a:rPr>
              <a:t>Tuned XGBoost</a:t>
            </a:r>
          </a:p>
        </p:txBody>
      </p:sp>
      <p:sp>
        <p:nvSpPr>
          <p:cNvPr id="9" name="TextBox 8"/>
          <p:cNvSpPr txBox="1"/>
          <p:nvPr/>
        </p:nvSpPr>
        <p:spPr>
          <a:xfrm>
            <a:off x="1242608" y="1390000"/>
            <a:ext cx="1567410" cy="38000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B7CBE0"/>
                </a:solidFill>
                <a:latin typeface="Montserrat"/>
              </a:rPr>
              <a:t>PREDICTED</a:t>
            </a:r>
          </a:p>
          <a:p>
            <a:pPr algn="l">
              <a:lnSpc>
                <a:spcPct val="100000"/>
              </a:lnSpc>
              <a:spcBef>
                <a:spcPts val="0"/>
              </a:spcBef>
              <a:spcAft>
                <a:spcPts val="0"/>
              </a:spcAft>
            </a:pPr>
            <a:r>
              <a:rPr sz="1200" b="1">
                <a:solidFill>
                  <a:srgbClr val="F7FAFE"/>
                </a:solidFill>
                <a:latin typeface="Montserrat"/>
              </a:rPr>
              <a:t>no flood</a:t>
            </a:r>
          </a:p>
        </p:txBody>
      </p:sp>
      <p:sp>
        <p:nvSpPr>
          <p:cNvPr id="10" name="TextBox 9"/>
          <p:cNvSpPr txBox="1"/>
          <p:nvPr/>
        </p:nvSpPr>
        <p:spPr>
          <a:xfrm>
            <a:off x="2850018" y="1390000"/>
            <a:ext cx="1567410" cy="38000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B7CBE0"/>
                </a:solidFill>
                <a:latin typeface="Montserrat"/>
              </a:rPr>
              <a:t>PREDICTED</a:t>
            </a:r>
          </a:p>
          <a:p>
            <a:pPr algn="l">
              <a:lnSpc>
                <a:spcPct val="100000"/>
              </a:lnSpc>
              <a:spcBef>
                <a:spcPts val="0"/>
              </a:spcBef>
              <a:spcAft>
                <a:spcPts val="0"/>
              </a:spcAft>
            </a:pPr>
            <a:r>
              <a:rPr sz="1200" b="1">
                <a:solidFill>
                  <a:srgbClr val="F7FAFE"/>
                </a:solidFill>
                <a:latin typeface="Montserrat"/>
              </a:rPr>
              <a:t>flood</a:t>
            </a:r>
          </a:p>
        </p:txBody>
      </p:sp>
      <p:sp>
        <p:nvSpPr>
          <p:cNvPr id="11" name="Rounded Rectangle 10"/>
          <p:cNvSpPr/>
          <p:nvPr/>
        </p:nvSpPr>
        <p:spPr>
          <a:xfrm>
            <a:off x="1242608" y="1790000"/>
            <a:ext cx="1567410" cy="800000"/>
          </a:xfrm>
          <a:prstGeom prst="roundRect">
            <a:avLst>
              <a:gd name="adj" fmla="val 10000"/>
            </a:avLst>
          </a:prstGeom>
          <a:solidFill>
            <a:srgbClr val="234560"/>
          </a:solidFill>
          <a:ln w="12700">
            <a:solidFill>
              <a:srgbClr val="5E8CBE"/>
            </a:solidFill>
          </a:ln>
        </p:spPr>
        <p:txBody>
          <a:bodyPr wrap="square" lIns="110000" tIns="70000" rIns="80000" bIns="30000" rtlCol="0" anchor="t"/>
          <a:lstStyle/>
          <a:p>
            <a:pPr algn="l">
              <a:lnSpc>
                <a:spcPct val="100000"/>
              </a:lnSpc>
              <a:spcBef>
                <a:spcPts val="0"/>
              </a:spcBef>
              <a:spcAft>
                <a:spcPts val="100"/>
              </a:spcAft>
            </a:pPr>
            <a:r>
              <a:rPr sz="2000" b="1">
                <a:solidFill>
                  <a:srgbClr val="F7FAFE"/>
                </a:solidFill>
                <a:latin typeface="Montserrat"/>
              </a:rPr>
              <a:t>106,472</a:t>
            </a:r>
          </a:p>
          <a:p>
            <a:pPr algn="l">
              <a:lnSpc>
                <a:spcPct val="100000"/>
              </a:lnSpc>
              <a:spcBef>
                <a:spcPts val="0"/>
              </a:spcBef>
              <a:spcAft>
                <a:spcPts val="0"/>
              </a:spcAft>
            </a:pPr>
            <a:r>
              <a:rPr sz="1100" b="0">
                <a:solidFill>
                  <a:srgbClr val="B7CBE0"/>
                </a:solidFill>
                <a:latin typeface="Montserrat"/>
              </a:rPr>
              <a:t>TN</a:t>
            </a:r>
          </a:p>
        </p:txBody>
      </p:sp>
      <p:sp>
        <p:nvSpPr>
          <p:cNvPr id="12" name="Rounded Rectangle 11"/>
          <p:cNvSpPr/>
          <p:nvPr/>
        </p:nvSpPr>
        <p:spPr>
          <a:xfrm>
            <a:off x="2850018" y="1790000"/>
            <a:ext cx="1567410" cy="800000"/>
          </a:xfrm>
          <a:prstGeom prst="roundRect">
            <a:avLst>
              <a:gd name="adj" fmla="val 10000"/>
            </a:avLst>
          </a:prstGeom>
          <a:solidFill>
            <a:srgbClr val="193A58"/>
          </a:solidFill>
          <a:ln w="12700">
            <a:solidFill>
              <a:srgbClr val="F1CB83"/>
            </a:solidFill>
          </a:ln>
        </p:spPr>
        <p:txBody>
          <a:bodyPr wrap="square" lIns="110000" tIns="70000" rIns="80000" bIns="30000" rtlCol="0" anchor="t"/>
          <a:lstStyle/>
          <a:p>
            <a:pPr algn="l">
              <a:lnSpc>
                <a:spcPct val="100000"/>
              </a:lnSpc>
              <a:spcBef>
                <a:spcPts val="0"/>
              </a:spcBef>
              <a:spcAft>
                <a:spcPts val="100"/>
              </a:spcAft>
            </a:pPr>
            <a:r>
              <a:rPr sz="2000" b="1">
                <a:solidFill>
                  <a:srgbClr val="F1CB83"/>
                </a:solidFill>
                <a:latin typeface="Montserrat"/>
              </a:rPr>
              <a:t>1,383</a:t>
            </a:r>
          </a:p>
          <a:p>
            <a:pPr algn="l">
              <a:lnSpc>
                <a:spcPct val="100000"/>
              </a:lnSpc>
              <a:spcBef>
                <a:spcPts val="0"/>
              </a:spcBef>
              <a:spcAft>
                <a:spcPts val="0"/>
              </a:spcAft>
            </a:pPr>
            <a:r>
              <a:rPr sz="1100" b="0">
                <a:solidFill>
                  <a:srgbClr val="B7CBE0"/>
                </a:solidFill>
                <a:latin typeface="Montserrat"/>
              </a:rPr>
              <a:t>FP</a:t>
            </a:r>
          </a:p>
        </p:txBody>
      </p:sp>
      <p:sp>
        <p:nvSpPr>
          <p:cNvPr id="13" name="Rounded Rectangle 12"/>
          <p:cNvSpPr/>
          <p:nvPr/>
        </p:nvSpPr>
        <p:spPr>
          <a:xfrm>
            <a:off x="1242608" y="2630000"/>
            <a:ext cx="1567410" cy="800000"/>
          </a:xfrm>
          <a:prstGeom prst="roundRect">
            <a:avLst>
              <a:gd name="adj" fmla="val 10000"/>
            </a:avLst>
          </a:prstGeom>
          <a:solidFill>
            <a:srgbClr val="193A58"/>
          </a:solidFill>
          <a:ln w="38100">
            <a:solidFill>
              <a:srgbClr val="F1CB83"/>
            </a:solidFill>
          </a:ln>
        </p:spPr>
        <p:txBody>
          <a:bodyPr wrap="square" lIns="110000" tIns="70000" rIns="80000" bIns="30000" rtlCol="0" anchor="t"/>
          <a:lstStyle/>
          <a:p>
            <a:pPr algn="l">
              <a:lnSpc>
                <a:spcPct val="100000"/>
              </a:lnSpc>
              <a:spcBef>
                <a:spcPts val="0"/>
              </a:spcBef>
              <a:spcAft>
                <a:spcPts val="100"/>
              </a:spcAft>
            </a:pPr>
            <a:r>
              <a:rPr sz="2000" b="1">
                <a:solidFill>
                  <a:srgbClr val="F1CB83"/>
                </a:solidFill>
                <a:latin typeface="Montserrat"/>
              </a:rPr>
              <a:t>378</a:t>
            </a:r>
          </a:p>
          <a:p>
            <a:pPr algn="l">
              <a:lnSpc>
                <a:spcPct val="100000"/>
              </a:lnSpc>
              <a:spcBef>
                <a:spcPts val="0"/>
              </a:spcBef>
              <a:spcAft>
                <a:spcPts val="0"/>
              </a:spcAft>
            </a:pPr>
            <a:r>
              <a:rPr sz="1100" b="0">
                <a:solidFill>
                  <a:srgbClr val="B7CBE0"/>
                </a:solidFill>
                <a:latin typeface="Montserrat"/>
              </a:rPr>
              <a:t>FN</a:t>
            </a:r>
          </a:p>
        </p:txBody>
      </p:sp>
      <p:sp>
        <p:nvSpPr>
          <p:cNvPr id="14" name="Rounded Rectangle 13"/>
          <p:cNvSpPr/>
          <p:nvPr/>
        </p:nvSpPr>
        <p:spPr>
          <a:xfrm>
            <a:off x="2850018" y="2630000"/>
            <a:ext cx="1567410" cy="800000"/>
          </a:xfrm>
          <a:prstGeom prst="roundRect">
            <a:avLst>
              <a:gd name="adj" fmla="val 10000"/>
            </a:avLst>
          </a:prstGeom>
          <a:solidFill>
            <a:srgbClr val="355A84"/>
          </a:solidFill>
          <a:ln w="19050">
            <a:solidFill>
              <a:srgbClr val="8BC5FA"/>
            </a:solidFill>
          </a:ln>
        </p:spPr>
        <p:txBody>
          <a:bodyPr wrap="square" lIns="110000" tIns="70000" rIns="80000" bIns="30000" rtlCol="0" anchor="t"/>
          <a:lstStyle/>
          <a:p>
            <a:pPr algn="l">
              <a:lnSpc>
                <a:spcPct val="100000"/>
              </a:lnSpc>
              <a:spcBef>
                <a:spcPts val="0"/>
              </a:spcBef>
              <a:spcAft>
                <a:spcPts val="100"/>
              </a:spcAft>
            </a:pPr>
            <a:r>
              <a:rPr sz="2000" b="1">
                <a:solidFill>
                  <a:srgbClr val="F7FAFE"/>
                </a:solidFill>
                <a:latin typeface="Montserrat"/>
              </a:rPr>
              <a:t>45,847</a:t>
            </a:r>
          </a:p>
          <a:p>
            <a:pPr algn="l">
              <a:lnSpc>
                <a:spcPct val="100000"/>
              </a:lnSpc>
              <a:spcBef>
                <a:spcPts val="0"/>
              </a:spcBef>
              <a:spcAft>
                <a:spcPts val="0"/>
              </a:spcAft>
            </a:pPr>
            <a:r>
              <a:rPr sz="1100" b="0">
                <a:solidFill>
                  <a:srgbClr val="B7CBE0"/>
                </a:solidFill>
                <a:latin typeface="Montserrat"/>
              </a:rPr>
              <a:t>TP</a:t>
            </a:r>
          </a:p>
        </p:txBody>
      </p:sp>
      <p:sp>
        <p:nvSpPr>
          <p:cNvPr id="15" name="TextBox 14"/>
          <p:cNvSpPr txBox="1"/>
          <p:nvPr/>
        </p:nvSpPr>
        <p:spPr>
          <a:xfrm>
            <a:off x="292608" y="1790000"/>
            <a:ext cx="890000" cy="800000"/>
          </a:xfrm>
          <a:prstGeom prst="rect">
            <a:avLst/>
          </a:prstGeom>
          <a:noFill/>
        </p:spPr>
        <p:txBody>
          <a:bodyPr wrap="square" lIns="0" tIns="0" rIns="0" bIns="0" anchor="ctr">
            <a:spAutoFit/>
          </a:bodyPr>
          <a:lstStyle/>
          <a:p>
            <a:pPr algn="l">
              <a:lnSpc>
                <a:spcPct val="100000"/>
              </a:lnSpc>
              <a:spcBef>
                <a:spcPts val="0"/>
              </a:spcBef>
              <a:spcAft>
                <a:spcPts val="0"/>
              </a:spcAft>
            </a:pPr>
            <a:r>
              <a:rPr sz="900" b="1">
                <a:solidFill>
                  <a:srgbClr val="B7CBE0"/>
                </a:solidFill>
                <a:latin typeface="Montserrat"/>
              </a:rPr>
              <a:t>ACTUAL</a:t>
            </a:r>
          </a:p>
          <a:p>
            <a:pPr algn="l">
              <a:lnSpc>
                <a:spcPct val="100000"/>
              </a:lnSpc>
              <a:spcBef>
                <a:spcPts val="0"/>
              </a:spcBef>
              <a:spcAft>
                <a:spcPts val="0"/>
              </a:spcAft>
            </a:pPr>
            <a:r>
              <a:rPr sz="1200" b="1">
                <a:solidFill>
                  <a:srgbClr val="F7FAFE"/>
                </a:solidFill>
                <a:latin typeface="Montserrat"/>
              </a:rPr>
              <a:t>no flood</a:t>
            </a:r>
          </a:p>
        </p:txBody>
      </p:sp>
      <p:sp>
        <p:nvSpPr>
          <p:cNvPr id="16" name="TextBox 15"/>
          <p:cNvSpPr txBox="1"/>
          <p:nvPr/>
        </p:nvSpPr>
        <p:spPr>
          <a:xfrm>
            <a:off x="292608" y="2630000"/>
            <a:ext cx="890000" cy="800000"/>
          </a:xfrm>
          <a:prstGeom prst="rect">
            <a:avLst/>
          </a:prstGeom>
          <a:noFill/>
        </p:spPr>
        <p:txBody>
          <a:bodyPr wrap="square" lIns="0" tIns="0" rIns="0" bIns="0" anchor="ctr">
            <a:spAutoFit/>
          </a:bodyPr>
          <a:lstStyle/>
          <a:p>
            <a:pPr algn="l">
              <a:lnSpc>
                <a:spcPct val="100000"/>
              </a:lnSpc>
              <a:spcBef>
                <a:spcPts val="0"/>
              </a:spcBef>
              <a:spcAft>
                <a:spcPts val="0"/>
              </a:spcAft>
            </a:pPr>
            <a:r>
              <a:rPr sz="900" b="1">
                <a:solidFill>
                  <a:srgbClr val="B7CBE0"/>
                </a:solidFill>
                <a:latin typeface="Montserrat"/>
              </a:rPr>
              <a:t>ACTUAL</a:t>
            </a:r>
          </a:p>
          <a:p>
            <a:pPr algn="l">
              <a:lnSpc>
                <a:spcPct val="100000"/>
              </a:lnSpc>
              <a:spcBef>
                <a:spcPts val="0"/>
              </a:spcBef>
              <a:spcAft>
                <a:spcPts val="0"/>
              </a:spcAft>
            </a:pPr>
            <a:r>
              <a:rPr sz="1200" b="1">
                <a:solidFill>
                  <a:srgbClr val="F7FAFE"/>
                </a:solidFill>
                <a:latin typeface="Montserrat"/>
              </a:rPr>
              <a:t>flood</a:t>
            </a:r>
          </a:p>
        </p:txBody>
      </p:sp>
      <p:sp>
        <p:nvSpPr>
          <p:cNvPr id="17" name="TextBox 16"/>
          <p:cNvSpPr txBox="1"/>
          <p:nvPr/>
        </p:nvSpPr>
        <p:spPr>
          <a:xfrm>
            <a:off x="292608" y="3520000"/>
            <a:ext cx="4124820" cy="280000"/>
          </a:xfrm>
          <a:prstGeom prst="rect">
            <a:avLst/>
          </a:prstGeom>
          <a:noFill/>
        </p:spPr>
        <p:txBody>
          <a:bodyPr wrap="square" lIns="0" tIns="0" rIns="0" bIns="0" anchor="t">
            <a:spAutoFit/>
          </a:bodyPr>
          <a:lstStyle/>
          <a:p>
            <a:pPr algn="l">
              <a:lnSpc>
                <a:spcPct val="100000"/>
              </a:lnSpc>
              <a:spcBef>
                <a:spcPts val="0"/>
              </a:spcBef>
              <a:spcAft>
                <a:spcPts val="0"/>
              </a:spcAft>
            </a:pPr>
            <a:r>
              <a:rPr sz="1200" b="0">
                <a:solidFill>
                  <a:srgbClr val="B7CBE0"/>
                </a:solidFill>
                <a:latin typeface="Montserrat"/>
              </a:rPr>
              <a:t>Recall </a:t>
            </a:r>
            <a:r>
              <a:rPr sz="1200" b="1">
                <a:solidFill>
                  <a:srgbClr val="F7FAFE"/>
                </a:solidFill>
                <a:latin typeface="Montserrat"/>
              </a:rPr>
              <a:t>0.9918</a:t>
            </a:r>
            <a:r>
              <a:rPr sz="1200" b="0">
                <a:solidFill>
                  <a:srgbClr val="B7CBE0"/>
                </a:solidFill>
                <a:latin typeface="Montserrat"/>
              </a:rPr>
              <a:t>  ·  Precision </a:t>
            </a:r>
            <a:r>
              <a:rPr sz="1200" b="1">
                <a:solidFill>
                  <a:srgbClr val="F7FAFE"/>
                </a:solidFill>
                <a:latin typeface="Montserrat"/>
              </a:rPr>
              <a:t>0.9707</a:t>
            </a:r>
            <a:r>
              <a:rPr sz="1200" b="0">
                <a:solidFill>
                  <a:srgbClr val="B7CBE0"/>
                </a:solidFill>
                <a:latin typeface="Montserrat"/>
              </a:rPr>
              <a:t>  ·  F1 </a:t>
            </a:r>
            <a:r>
              <a:rPr sz="1200" b="1">
                <a:solidFill>
                  <a:srgbClr val="8BC5FA"/>
                </a:solidFill>
                <a:latin typeface="Montserrat"/>
              </a:rPr>
              <a:t>0.9812</a:t>
            </a:r>
          </a:p>
        </p:txBody>
      </p:sp>
      <p:sp>
        <p:nvSpPr>
          <p:cNvPr id="18" name="Rounded Rectangle 17"/>
          <p:cNvSpPr/>
          <p:nvPr/>
        </p:nvSpPr>
        <p:spPr>
          <a:xfrm>
            <a:off x="292608" y="3850000"/>
            <a:ext cx="4124820" cy="480000"/>
          </a:xfrm>
          <a:prstGeom prst="roundRect">
            <a:avLst>
              <a:gd name="adj" fmla="val 10000"/>
            </a:avLst>
          </a:prstGeom>
          <a:solidFill>
            <a:srgbClr val="193A58"/>
          </a:solidFill>
          <a:ln w="19050">
            <a:solidFill>
              <a:srgbClr val="F1CB83"/>
            </a:solidFill>
          </a:ln>
        </p:spPr>
        <p:txBody>
          <a:bodyPr wrap="square" lIns="110000" tIns="30000" rIns="110000" bIns="30000" rtlCol="0" anchor="ctr"/>
          <a:lstStyle/>
          <a:p>
            <a:pPr algn="l">
              <a:lnSpc>
                <a:spcPct val="100000"/>
              </a:lnSpc>
              <a:spcBef>
                <a:spcPts val="0"/>
              </a:spcBef>
              <a:spcAft>
                <a:spcPts val="0"/>
              </a:spcAft>
            </a:pPr>
            <a:r>
              <a:rPr sz="1200" b="1">
                <a:solidFill>
                  <a:srgbClr val="F7FAFE"/>
                </a:solidFill>
                <a:latin typeface="Montserrat"/>
              </a:rPr>
              <a:t>FN in the 1 m³ band: 333 of 378</a:t>
            </a:r>
          </a:p>
        </p:txBody>
      </p:sp>
      <p:sp>
        <p:nvSpPr>
          <p:cNvPr id="19" name="TextBox 18"/>
          <p:cNvSpPr txBox="1"/>
          <p:nvPr/>
        </p:nvSpPr>
        <p:spPr>
          <a:xfrm>
            <a:off x="4717428" y="1050000"/>
            <a:ext cx="4124820" cy="3000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8BC5FA"/>
                </a:solidFill>
                <a:latin typeface="Montserrat"/>
              </a:rPr>
              <a:t>Tuned MLP</a:t>
            </a:r>
          </a:p>
        </p:txBody>
      </p:sp>
      <p:sp>
        <p:nvSpPr>
          <p:cNvPr id="20" name="TextBox 19"/>
          <p:cNvSpPr txBox="1"/>
          <p:nvPr/>
        </p:nvSpPr>
        <p:spPr>
          <a:xfrm>
            <a:off x="5667428" y="1390000"/>
            <a:ext cx="1567410" cy="38000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B7CBE0"/>
                </a:solidFill>
                <a:latin typeface="Montserrat"/>
              </a:rPr>
              <a:t>PREDICTED</a:t>
            </a:r>
          </a:p>
          <a:p>
            <a:pPr algn="l">
              <a:lnSpc>
                <a:spcPct val="100000"/>
              </a:lnSpc>
              <a:spcBef>
                <a:spcPts val="0"/>
              </a:spcBef>
              <a:spcAft>
                <a:spcPts val="0"/>
              </a:spcAft>
            </a:pPr>
            <a:r>
              <a:rPr sz="1200" b="1">
                <a:solidFill>
                  <a:srgbClr val="F7FAFE"/>
                </a:solidFill>
                <a:latin typeface="Montserrat"/>
              </a:rPr>
              <a:t>no flood</a:t>
            </a:r>
          </a:p>
        </p:txBody>
      </p:sp>
      <p:sp>
        <p:nvSpPr>
          <p:cNvPr id="21" name="TextBox 20"/>
          <p:cNvSpPr txBox="1"/>
          <p:nvPr/>
        </p:nvSpPr>
        <p:spPr>
          <a:xfrm>
            <a:off x="7274838" y="1390000"/>
            <a:ext cx="1567410" cy="38000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B7CBE0"/>
                </a:solidFill>
                <a:latin typeface="Montserrat"/>
              </a:rPr>
              <a:t>PREDICTED</a:t>
            </a:r>
          </a:p>
          <a:p>
            <a:pPr algn="l">
              <a:lnSpc>
                <a:spcPct val="100000"/>
              </a:lnSpc>
              <a:spcBef>
                <a:spcPts val="0"/>
              </a:spcBef>
              <a:spcAft>
                <a:spcPts val="0"/>
              </a:spcAft>
            </a:pPr>
            <a:r>
              <a:rPr sz="1200" b="1">
                <a:solidFill>
                  <a:srgbClr val="F7FAFE"/>
                </a:solidFill>
                <a:latin typeface="Montserrat"/>
              </a:rPr>
              <a:t>flood</a:t>
            </a:r>
          </a:p>
        </p:txBody>
      </p:sp>
      <p:sp>
        <p:nvSpPr>
          <p:cNvPr id="22" name="Rounded Rectangle 21"/>
          <p:cNvSpPr/>
          <p:nvPr/>
        </p:nvSpPr>
        <p:spPr>
          <a:xfrm>
            <a:off x="5667428" y="1790000"/>
            <a:ext cx="1567410" cy="800000"/>
          </a:xfrm>
          <a:prstGeom prst="roundRect">
            <a:avLst>
              <a:gd name="adj" fmla="val 10000"/>
            </a:avLst>
          </a:prstGeom>
          <a:solidFill>
            <a:srgbClr val="234560"/>
          </a:solidFill>
          <a:ln w="12700">
            <a:solidFill>
              <a:srgbClr val="5E8CBE"/>
            </a:solidFill>
          </a:ln>
        </p:spPr>
        <p:txBody>
          <a:bodyPr wrap="square" lIns="110000" tIns="70000" rIns="80000" bIns="30000" rtlCol="0" anchor="t"/>
          <a:lstStyle/>
          <a:p>
            <a:pPr algn="l">
              <a:lnSpc>
                <a:spcPct val="100000"/>
              </a:lnSpc>
              <a:spcBef>
                <a:spcPts val="0"/>
              </a:spcBef>
              <a:spcAft>
                <a:spcPts val="100"/>
              </a:spcAft>
            </a:pPr>
            <a:r>
              <a:rPr sz="2000" b="1">
                <a:solidFill>
                  <a:srgbClr val="F7FAFE"/>
                </a:solidFill>
                <a:latin typeface="Montserrat"/>
              </a:rPr>
              <a:t>106,302</a:t>
            </a:r>
          </a:p>
          <a:p>
            <a:pPr algn="l">
              <a:lnSpc>
                <a:spcPct val="100000"/>
              </a:lnSpc>
              <a:spcBef>
                <a:spcPts val="0"/>
              </a:spcBef>
              <a:spcAft>
                <a:spcPts val="0"/>
              </a:spcAft>
            </a:pPr>
            <a:r>
              <a:rPr sz="1100" b="0">
                <a:solidFill>
                  <a:srgbClr val="B7CBE0"/>
                </a:solidFill>
                <a:latin typeface="Montserrat"/>
              </a:rPr>
              <a:t>TN</a:t>
            </a:r>
          </a:p>
        </p:txBody>
      </p:sp>
      <p:sp>
        <p:nvSpPr>
          <p:cNvPr id="23" name="Rounded Rectangle 22"/>
          <p:cNvSpPr/>
          <p:nvPr/>
        </p:nvSpPr>
        <p:spPr>
          <a:xfrm>
            <a:off x="7274838" y="1790000"/>
            <a:ext cx="1567410" cy="800000"/>
          </a:xfrm>
          <a:prstGeom prst="roundRect">
            <a:avLst>
              <a:gd name="adj" fmla="val 10000"/>
            </a:avLst>
          </a:prstGeom>
          <a:solidFill>
            <a:srgbClr val="193A58"/>
          </a:solidFill>
          <a:ln w="12700">
            <a:solidFill>
              <a:srgbClr val="F1CB83"/>
            </a:solidFill>
          </a:ln>
        </p:spPr>
        <p:txBody>
          <a:bodyPr wrap="square" lIns="110000" tIns="70000" rIns="80000" bIns="30000" rtlCol="0" anchor="t"/>
          <a:lstStyle/>
          <a:p>
            <a:pPr algn="l">
              <a:lnSpc>
                <a:spcPct val="100000"/>
              </a:lnSpc>
              <a:spcBef>
                <a:spcPts val="0"/>
              </a:spcBef>
              <a:spcAft>
                <a:spcPts val="100"/>
              </a:spcAft>
            </a:pPr>
            <a:r>
              <a:rPr sz="2000" b="1">
                <a:solidFill>
                  <a:srgbClr val="F1CB83"/>
                </a:solidFill>
                <a:latin typeface="Montserrat"/>
              </a:rPr>
              <a:t>1,553</a:t>
            </a:r>
          </a:p>
          <a:p>
            <a:pPr algn="l">
              <a:lnSpc>
                <a:spcPct val="100000"/>
              </a:lnSpc>
              <a:spcBef>
                <a:spcPts val="0"/>
              </a:spcBef>
              <a:spcAft>
                <a:spcPts val="0"/>
              </a:spcAft>
            </a:pPr>
            <a:r>
              <a:rPr sz="1100" b="0">
                <a:solidFill>
                  <a:srgbClr val="B7CBE0"/>
                </a:solidFill>
                <a:latin typeface="Montserrat"/>
              </a:rPr>
              <a:t>FP</a:t>
            </a:r>
          </a:p>
        </p:txBody>
      </p:sp>
      <p:sp>
        <p:nvSpPr>
          <p:cNvPr id="24" name="Rounded Rectangle 23"/>
          <p:cNvSpPr/>
          <p:nvPr/>
        </p:nvSpPr>
        <p:spPr>
          <a:xfrm>
            <a:off x="5667428" y="2630000"/>
            <a:ext cx="1567410" cy="800000"/>
          </a:xfrm>
          <a:prstGeom prst="roundRect">
            <a:avLst>
              <a:gd name="adj" fmla="val 10000"/>
            </a:avLst>
          </a:prstGeom>
          <a:solidFill>
            <a:srgbClr val="193A58"/>
          </a:solidFill>
          <a:ln w="38100">
            <a:solidFill>
              <a:srgbClr val="F1CB83"/>
            </a:solidFill>
          </a:ln>
        </p:spPr>
        <p:txBody>
          <a:bodyPr wrap="square" lIns="110000" tIns="70000" rIns="80000" bIns="30000" rtlCol="0" anchor="t"/>
          <a:lstStyle/>
          <a:p>
            <a:pPr algn="l">
              <a:lnSpc>
                <a:spcPct val="100000"/>
              </a:lnSpc>
              <a:spcBef>
                <a:spcPts val="0"/>
              </a:spcBef>
              <a:spcAft>
                <a:spcPts val="100"/>
              </a:spcAft>
            </a:pPr>
            <a:r>
              <a:rPr sz="2000" b="1">
                <a:solidFill>
                  <a:srgbClr val="F1CB83"/>
                </a:solidFill>
                <a:latin typeface="Montserrat"/>
              </a:rPr>
              <a:t>473</a:t>
            </a:r>
          </a:p>
          <a:p>
            <a:pPr algn="l">
              <a:lnSpc>
                <a:spcPct val="100000"/>
              </a:lnSpc>
              <a:spcBef>
                <a:spcPts val="0"/>
              </a:spcBef>
              <a:spcAft>
                <a:spcPts val="0"/>
              </a:spcAft>
            </a:pPr>
            <a:r>
              <a:rPr sz="1100" b="0">
                <a:solidFill>
                  <a:srgbClr val="B7CBE0"/>
                </a:solidFill>
                <a:latin typeface="Montserrat"/>
              </a:rPr>
              <a:t>FN</a:t>
            </a:r>
          </a:p>
        </p:txBody>
      </p:sp>
      <p:sp>
        <p:nvSpPr>
          <p:cNvPr id="25" name="Rounded Rectangle 24"/>
          <p:cNvSpPr/>
          <p:nvPr/>
        </p:nvSpPr>
        <p:spPr>
          <a:xfrm>
            <a:off x="7274838" y="2630000"/>
            <a:ext cx="1567410" cy="800000"/>
          </a:xfrm>
          <a:prstGeom prst="roundRect">
            <a:avLst>
              <a:gd name="adj" fmla="val 10000"/>
            </a:avLst>
          </a:prstGeom>
          <a:solidFill>
            <a:srgbClr val="355A84"/>
          </a:solidFill>
          <a:ln w="19050">
            <a:solidFill>
              <a:srgbClr val="8BC5FA"/>
            </a:solidFill>
          </a:ln>
        </p:spPr>
        <p:txBody>
          <a:bodyPr wrap="square" lIns="110000" tIns="70000" rIns="80000" bIns="30000" rtlCol="0" anchor="t"/>
          <a:lstStyle/>
          <a:p>
            <a:pPr algn="l">
              <a:lnSpc>
                <a:spcPct val="100000"/>
              </a:lnSpc>
              <a:spcBef>
                <a:spcPts val="0"/>
              </a:spcBef>
              <a:spcAft>
                <a:spcPts val="100"/>
              </a:spcAft>
            </a:pPr>
            <a:r>
              <a:rPr sz="2000" b="1">
                <a:solidFill>
                  <a:srgbClr val="F7FAFE"/>
                </a:solidFill>
                <a:latin typeface="Montserrat"/>
              </a:rPr>
              <a:t>45,752</a:t>
            </a:r>
          </a:p>
          <a:p>
            <a:pPr algn="l">
              <a:lnSpc>
                <a:spcPct val="100000"/>
              </a:lnSpc>
              <a:spcBef>
                <a:spcPts val="0"/>
              </a:spcBef>
              <a:spcAft>
                <a:spcPts val="0"/>
              </a:spcAft>
            </a:pPr>
            <a:r>
              <a:rPr sz="1100" b="0">
                <a:solidFill>
                  <a:srgbClr val="B7CBE0"/>
                </a:solidFill>
                <a:latin typeface="Montserrat"/>
              </a:rPr>
              <a:t>TP</a:t>
            </a:r>
          </a:p>
        </p:txBody>
      </p:sp>
      <p:sp>
        <p:nvSpPr>
          <p:cNvPr id="26" name="TextBox 25"/>
          <p:cNvSpPr txBox="1"/>
          <p:nvPr/>
        </p:nvSpPr>
        <p:spPr>
          <a:xfrm>
            <a:off x="4717428" y="1790000"/>
            <a:ext cx="890000" cy="800000"/>
          </a:xfrm>
          <a:prstGeom prst="rect">
            <a:avLst/>
          </a:prstGeom>
          <a:noFill/>
        </p:spPr>
        <p:txBody>
          <a:bodyPr wrap="square" lIns="0" tIns="0" rIns="0" bIns="0" anchor="ctr">
            <a:spAutoFit/>
          </a:bodyPr>
          <a:lstStyle/>
          <a:p>
            <a:pPr algn="l">
              <a:lnSpc>
                <a:spcPct val="100000"/>
              </a:lnSpc>
              <a:spcBef>
                <a:spcPts val="0"/>
              </a:spcBef>
              <a:spcAft>
                <a:spcPts val="0"/>
              </a:spcAft>
            </a:pPr>
            <a:r>
              <a:rPr sz="900" b="1">
                <a:solidFill>
                  <a:srgbClr val="B7CBE0"/>
                </a:solidFill>
                <a:latin typeface="Montserrat"/>
              </a:rPr>
              <a:t>ACTUAL</a:t>
            </a:r>
          </a:p>
          <a:p>
            <a:pPr algn="l">
              <a:lnSpc>
                <a:spcPct val="100000"/>
              </a:lnSpc>
              <a:spcBef>
                <a:spcPts val="0"/>
              </a:spcBef>
              <a:spcAft>
                <a:spcPts val="0"/>
              </a:spcAft>
            </a:pPr>
            <a:r>
              <a:rPr sz="1200" b="1">
                <a:solidFill>
                  <a:srgbClr val="F7FAFE"/>
                </a:solidFill>
                <a:latin typeface="Montserrat"/>
              </a:rPr>
              <a:t>no flood</a:t>
            </a:r>
          </a:p>
        </p:txBody>
      </p:sp>
      <p:sp>
        <p:nvSpPr>
          <p:cNvPr id="27" name="TextBox 26"/>
          <p:cNvSpPr txBox="1"/>
          <p:nvPr/>
        </p:nvSpPr>
        <p:spPr>
          <a:xfrm>
            <a:off x="4717428" y="2630000"/>
            <a:ext cx="890000" cy="800000"/>
          </a:xfrm>
          <a:prstGeom prst="rect">
            <a:avLst/>
          </a:prstGeom>
          <a:noFill/>
        </p:spPr>
        <p:txBody>
          <a:bodyPr wrap="square" lIns="0" tIns="0" rIns="0" bIns="0" anchor="ctr">
            <a:spAutoFit/>
          </a:bodyPr>
          <a:lstStyle/>
          <a:p>
            <a:pPr algn="l">
              <a:lnSpc>
                <a:spcPct val="100000"/>
              </a:lnSpc>
              <a:spcBef>
                <a:spcPts val="0"/>
              </a:spcBef>
              <a:spcAft>
                <a:spcPts val="0"/>
              </a:spcAft>
            </a:pPr>
            <a:r>
              <a:rPr sz="900" b="1">
                <a:solidFill>
                  <a:srgbClr val="B7CBE0"/>
                </a:solidFill>
                <a:latin typeface="Montserrat"/>
              </a:rPr>
              <a:t>ACTUAL</a:t>
            </a:r>
          </a:p>
          <a:p>
            <a:pPr algn="l">
              <a:lnSpc>
                <a:spcPct val="100000"/>
              </a:lnSpc>
              <a:spcBef>
                <a:spcPts val="0"/>
              </a:spcBef>
              <a:spcAft>
                <a:spcPts val="0"/>
              </a:spcAft>
            </a:pPr>
            <a:r>
              <a:rPr sz="1200" b="1">
                <a:solidFill>
                  <a:srgbClr val="F7FAFE"/>
                </a:solidFill>
                <a:latin typeface="Montserrat"/>
              </a:rPr>
              <a:t>flood</a:t>
            </a:r>
          </a:p>
        </p:txBody>
      </p:sp>
      <p:sp>
        <p:nvSpPr>
          <p:cNvPr id="28" name="TextBox 27"/>
          <p:cNvSpPr txBox="1"/>
          <p:nvPr/>
        </p:nvSpPr>
        <p:spPr>
          <a:xfrm>
            <a:off x="4717428" y="3520000"/>
            <a:ext cx="4124820" cy="280000"/>
          </a:xfrm>
          <a:prstGeom prst="rect">
            <a:avLst/>
          </a:prstGeom>
          <a:noFill/>
        </p:spPr>
        <p:txBody>
          <a:bodyPr wrap="square" lIns="0" tIns="0" rIns="0" bIns="0" anchor="t">
            <a:spAutoFit/>
          </a:bodyPr>
          <a:lstStyle/>
          <a:p>
            <a:pPr algn="l">
              <a:lnSpc>
                <a:spcPct val="100000"/>
              </a:lnSpc>
              <a:spcBef>
                <a:spcPts val="0"/>
              </a:spcBef>
              <a:spcAft>
                <a:spcPts val="0"/>
              </a:spcAft>
            </a:pPr>
            <a:r>
              <a:rPr sz="1200" b="0">
                <a:solidFill>
                  <a:srgbClr val="B7CBE0"/>
                </a:solidFill>
                <a:latin typeface="Montserrat"/>
              </a:rPr>
              <a:t>Recall </a:t>
            </a:r>
            <a:r>
              <a:rPr sz="1200" b="1">
                <a:solidFill>
                  <a:srgbClr val="F7FAFE"/>
                </a:solidFill>
                <a:latin typeface="Montserrat"/>
              </a:rPr>
              <a:t>0.9898</a:t>
            </a:r>
            <a:r>
              <a:rPr sz="1200" b="0">
                <a:solidFill>
                  <a:srgbClr val="B7CBE0"/>
                </a:solidFill>
                <a:latin typeface="Montserrat"/>
              </a:rPr>
              <a:t>  ·  Precision </a:t>
            </a:r>
            <a:r>
              <a:rPr sz="1200" b="1">
                <a:solidFill>
                  <a:srgbClr val="F7FAFE"/>
                </a:solidFill>
                <a:latin typeface="Montserrat"/>
              </a:rPr>
              <a:t>0.9672</a:t>
            </a:r>
            <a:r>
              <a:rPr sz="1200" b="0">
                <a:solidFill>
                  <a:srgbClr val="B7CBE0"/>
                </a:solidFill>
                <a:latin typeface="Montserrat"/>
              </a:rPr>
              <a:t>  ·  F1 </a:t>
            </a:r>
            <a:r>
              <a:rPr sz="1200" b="1">
                <a:solidFill>
                  <a:srgbClr val="8BC5FA"/>
                </a:solidFill>
                <a:latin typeface="Montserrat"/>
              </a:rPr>
              <a:t>0.9783</a:t>
            </a:r>
          </a:p>
        </p:txBody>
      </p:sp>
      <p:sp>
        <p:nvSpPr>
          <p:cNvPr id="29" name="Rounded Rectangle 28"/>
          <p:cNvSpPr/>
          <p:nvPr/>
        </p:nvSpPr>
        <p:spPr>
          <a:xfrm>
            <a:off x="4717428" y="3850000"/>
            <a:ext cx="4124820" cy="480000"/>
          </a:xfrm>
          <a:prstGeom prst="roundRect">
            <a:avLst>
              <a:gd name="adj" fmla="val 10000"/>
            </a:avLst>
          </a:prstGeom>
          <a:solidFill>
            <a:srgbClr val="193A58"/>
          </a:solidFill>
          <a:ln w="19050">
            <a:solidFill>
              <a:srgbClr val="F1CB83"/>
            </a:solidFill>
          </a:ln>
        </p:spPr>
        <p:txBody>
          <a:bodyPr wrap="square" lIns="110000" tIns="30000" rIns="110000" bIns="30000" rtlCol="0" anchor="ctr"/>
          <a:lstStyle/>
          <a:p>
            <a:pPr algn="l">
              <a:lnSpc>
                <a:spcPct val="100000"/>
              </a:lnSpc>
              <a:spcBef>
                <a:spcPts val="0"/>
              </a:spcBef>
              <a:spcAft>
                <a:spcPts val="0"/>
              </a:spcAft>
            </a:pPr>
            <a:r>
              <a:rPr sz="1200" b="1">
                <a:solidFill>
                  <a:srgbClr val="F7FAFE"/>
                </a:solidFill>
                <a:latin typeface="Montserrat"/>
              </a:rPr>
              <a:t>FN in the 1 m³ band: 354 of 473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47</a:t>
            </a:r>
          </a:p>
        </p:txBody>
      </p:sp>
      <p:pic>
        <p:nvPicPr>
          <p:cNvPr id="8" name="Picture 7" descr="parity_nodes_3models.png"/>
          <p:cNvPicPr>
            <a:picLocks noChangeAspect="1"/>
          </p:cNvPicPr>
          <p:nvPr/>
        </p:nvPicPr>
        <p:blipFill>
          <a:blip r:embed="rId3"/>
          <a:stretch>
            <a:fillRect/>
          </a:stretch>
        </p:blipFill>
        <p:spPr>
          <a:xfrm>
            <a:off x="297122" y="1030000"/>
            <a:ext cx="8540611" cy="3080000"/>
          </a:xfrm>
          <a:prstGeom prst="rect">
            <a:avLst/>
          </a:prstGeom>
        </p:spPr>
      </p:pic>
      <p:sp>
        <p:nvSpPr>
          <p:cNvPr id="9" name="Rounded Rectangle 8"/>
          <p:cNvSpPr/>
          <p:nvPr/>
        </p:nvSpPr>
        <p:spPr>
          <a:xfrm>
            <a:off x="292608" y="4180000"/>
            <a:ext cx="2769880" cy="56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200"/>
              </a:spcAft>
            </a:pPr>
            <a:r>
              <a:rPr sz="1000" b="0">
                <a:solidFill>
                  <a:srgbClr val="B7CBE0"/>
                </a:solidFill>
                <a:latin typeface="Montserrat"/>
              </a:rPr>
              <a:t>R² · XGBoost / MLP / SVM</a:t>
            </a:r>
          </a:p>
          <a:p>
            <a:pPr algn="l">
              <a:lnSpc>
                <a:spcPct val="100000"/>
              </a:lnSpc>
              <a:spcBef>
                <a:spcPts val="0"/>
              </a:spcBef>
              <a:spcAft>
                <a:spcPts val="0"/>
              </a:spcAft>
            </a:pPr>
            <a:r>
              <a:rPr sz="1500" b="1">
                <a:solidFill>
                  <a:srgbClr val="8BC5FA"/>
                </a:solidFill>
                <a:latin typeface="Montserrat"/>
              </a:rPr>
              <a:t>0.961</a:t>
            </a:r>
            <a:r>
              <a:rPr sz="1500" b="0">
                <a:solidFill>
                  <a:srgbClr val="B7CBE0"/>
                </a:solidFill>
                <a:latin typeface="Montserrat"/>
              </a:rPr>
              <a:t>  ·  </a:t>
            </a:r>
            <a:r>
              <a:rPr sz="1500" b="1">
                <a:solidFill>
                  <a:srgbClr val="F2A65A"/>
                </a:solidFill>
                <a:latin typeface="Montserrat"/>
              </a:rPr>
              <a:t>0.918</a:t>
            </a:r>
            <a:r>
              <a:rPr sz="1500" b="0">
                <a:solidFill>
                  <a:srgbClr val="B7CBE0"/>
                </a:solidFill>
                <a:latin typeface="Montserrat"/>
              </a:rPr>
              <a:t>  ·  </a:t>
            </a:r>
            <a:r>
              <a:rPr sz="1500" b="1">
                <a:solidFill>
                  <a:srgbClr val="A4FF9F"/>
                </a:solidFill>
                <a:latin typeface="Montserrat"/>
              </a:rPr>
              <a:t>0.628</a:t>
            </a:r>
          </a:p>
        </p:txBody>
      </p:sp>
      <p:sp>
        <p:nvSpPr>
          <p:cNvPr id="10" name="Rounded Rectangle 9"/>
          <p:cNvSpPr/>
          <p:nvPr/>
        </p:nvSpPr>
        <p:spPr>
          <a:xfrm>
            <a:off x="3182488" y="4180000"/>
            <a:ext cx="2769880" cy="56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200"/>
              </a:spcAft>
            </a:pPr>
            <a:r>
              <a:rPr sz="1000" b="0">
                <a:solidFill>
                  <a:srgbClr val="B7CBE0"/>
                </a:solidFill>
                <a:latin typeface="Montserrat"/>
              </a:rPr>
              <a:t>Pooled RMSE (m³)</a:t>
            </a:r>
          </a:p>
          <a:p>
            <a:pPr algn="l">
              <a:lnSpc>
                <a:spcPct val="100000"/>
              </a:lnSpc>
              <a:spcBef>
                <a:spcPts val="0"/>
              </a:spcBef>
              <a:spcAft>
                <a:spcPts val="0"/>
              </a:spcAft>
            </a:pPr>
            <a:r>
              <a:rPr sz="1500" b="1">
                <a:solidFill>
                  <a:srgbClr val="8BC5FA"/>
                </a:solidFill>
                <a:latin typeface="Montserrat"/>
              </a:rPr>
              <a:t>69.64</a:t>
            </a:r>
            <a:r>
              <a:rPr sz="1500" b="0">
                <a:solidFill>
                  <a:srgbClr val="B7CBE0"/>
                </a:solidFill>
                <a:latin typeface="Montserrat"/>
              </a:rPr>
              <a:t>  ·  </a:t>
            </a:r>
            <a:r>
              <a:rPr sz="1500" b="1">
                <a:solidFill>
                  <a:srgbClr val="F2A65A"/>
                </a:solidFill>
                <a:latin typeface="Montserrat"/>
              </a:rPr>
              <a:t>101.12</a:t>
            </a:r>
            <a:r>
              <a:rPr sz="1500" b="0">
                <a:solidFill>
                  <a:srgbClr val="B7CBE0"/>
                </a:solidFill>
                <a:latin typeface="Montserrat"/>
              </a:rPr>
              <a:t>  ·  </a:t>
            </a:r>
            <a:r>
              <a:rPr sz="1500" b="1">
                <a:solidFill>
                  <a:srgbClr val="A4FF9F"/>
                </a:solidFill>
                <a:latin typeface="Montserrat"/>
              </a:rPr>
              <a:t>214.87</a:t>
            </a:r>
          </a:p>
        </p:txBody>
      </p:sp>
      <p:sp>
        <p:nvSpPr>
          <p:cNvPr id="11" name="Rounded Rectangle 10"/>
          <p:cNvSpPr/>
          <p:nvPr/>
        </p:nvSpPr>
        <p:spPr>
          <a:xfrm>
            <a:off x="6072368" y="4180000"/>
            <a:ext cx="2769880" cy="560000"/>
          </a:xfrm>
          <a:prstGeom prst="roundRect">
            <a:avLst>
              <a:gd name="adj" fmla="val 10000"/>
            </a:avLst>
          </a:prstGeom>
          <a:solidFill>
            <a:srgbClr val="193A58"/>
          </a:solidFill>
          <a:ln w="12700">
            <a:solidFill>
              <a:srgbClr val="F1CB83"/>
            </a:solidFill>
          </a:ln>
        </p:spPr>
        <p:txBody>
          <a:bodyPr wrap="square" lIns="110000" tIns="60000" rIns="110000" bIns="60000" rtlCol="0" anchor="ctr"/>
          <a:lstStyle/>
          <a:p>
            <a:pPr algn="l">
              <a:lnSpc>
                <a:spcPct val="100000"/>
              </a:lnSpc>
              <a:spcBef>
                <a:spcPts val="0"/>
              </a:spcBef>
              <a:spcAft>
                <a:spcPts val="200"/>
              </a:spcAft>
            </a:pPr>
            <a:r>
              <a:rPr sz="1000" b="0">
                <a:solidFill>
                  <a:srgbClr val="B7CBE0"/>
                </a:solidFill>
                <a:latin typeface="Montserrat"/>
              </a:rPr>
              <a:t>SWMM-flooded rows missed</a:t>
            </a:r>
          </a:p>
          <a:p>
            <a:pPr algn="l">
              <a:lnSpc>
                <a:spcPct val="100000"/>
              </a:lnSpc>
              <a:spcBef>
                <a:spcPts val="0"/>
              </a:spcBef>
              <a:spcAft>
                <a:spcPts val="0"/>
              </a:spcAft>
            </a:pPr>
            <a:r>
              <a:rPr sz="1500" b="1">
                <a:solidFill>
                  <a:srgbClr val="8BC5FA"/>
                </a:solidFill>
                <a:latin typeface="Montserrat"/>
              </a:rPr>
              <a:t>379</a:t>
            </a:r>
            <a:r>
              <a:rPr sz="1500" b="0">
                <a:solidFill>
                  <a:srgbClr val="B7CBE0"/>
                </a:solidFill>
                <a:latin typeface="Montserrat"/>
              </a:rPr>
              <a:t>  ·  </a:t>
            </a:r>
            <a:r>
              <a:rPr sz="1500" b="1">
                <a:solidFill>
                  <a:srgbClr val="F2A65A"/>
                </a:solidFill>
                <a:latin typeface="Montserrat"/>
              </a:rPr>
              <a:t>473</a:t>
            </a:r>
            <a:r>
              <a:rPr sz="1500" b="0">
                <a:solidFill>
                  <a:srgbClr val="B7CBE0"/>
                </a:solidFill>
                <a:latin typeface="Montserrat"/>
              </a:rPr>
              <a:t>  ·  </a:t>
            </a:r>
            <a:r>
              <a:rPr sz="1500" b="1">
                <a:solidFill>
                  <a:srgbClr val="A4FF9F"/>
                </a:solidFill>
                <a:latin typeface="Montserrat"/>
              </a:rPr>
              <a:t>9,076</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7190" y="569299"/>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02336" y="636808"/>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dirty="0">
                <a:solidFill>
                  <a:srgbClr val="8BC5FA"/>
                </a:solidFill>
                <a:latin typeface="Libre Baskerville"/>
              </a:rPr>
              <a:t>Parity per scenario: total flooded volume</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48</a:t>
            </a:r>
          </a:p>
        </p:txBody>
      </p:sp>
      <p:pic>
        <p:nvPicPr>
          <p:cNvPr id="8" name="Picture 7" descr="parity_scenario_totals_3models.png"/>
          <p:cNvPicPr>
            <a:picLocks noChangeAspect="1"/>
          </p:cNvPicPr>
          <p:nvPr/>
        </p:nvPicPr>
        <p:blipFill>
          <a:blip r:embed="rId3"/>
          <a:stretch>
            <a:fillRect/>
          </a:stretch>
        </p:blipFill>
        <p:spPr>
          <a:xfrm>
            <a:off x="292608" y="1030000"/>
            <a:ext cx="3545615" cy="3700000"/>
          </a:xfrm>
          <a:prstGeom prst="rect">
            <a:avLst/>
          </a:prstGeom>
        </p:spPr>
      </p:pic>
      <p:sp>
        <p:nvSpPr>
          <p:cNvPr id="9" name="Rounded Rectangle 8"/>
          <p:cNvSpPr/>
          <p:nvPr/>
        </p:nvSpPr>
        <p:spPr>
          <a:xfrm>
            <a:off x="4038223" y="1030000"/>
            <a:ext cx="4804025" cy="90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200"/>
              </a:spcAft>
            </a:pPr>
            <a:r>
              <a:rPr sz="1000" b="0" dirty="0">
                <a:solidFill>
                  <a:srgbClr val="B7CBE0"/>
                </a:solidFill>
                <a:latin typeface="Montserrat"/>
              </a:rPr>
              <a:t>Median scenario error, % (790 scenarios ≥ 1 m³) · </a:t>
            </a:r>
            <a:r>
              <a:rPr sz="1000" b="0" dirty="0" err="1">
                <a:solidFill>
                  <a:srgbClr val="B7CBE0"/>
                </a:solidFill>
                <a:latin typeface="Montserrat"/>
              </a:rPr>
              <a:t>XGBoost</a:t>
            </a:r>
            <a:r>
              <a:rPr sz="1000" b="0" dirty="0">
                <a:solidFill>
                  <a:srgbClr val="B7CBE0"/>
                </a:solidFill>
                <a:latin typeface="Montserrat"/>
              </a:rPr>
              <a:t> / MLP / SVM</a:t>
            </a:r>
          </a:p>
          <a:p>
            <a:pPr algn="l">
              <a:lnSpc>
                <a:spcPct val="100000"/>
              </a:lnSpc>
              <a:spcBef>
                <a:spcPts val="0"/>
              </a:spcBef>
              <a:spcAft>
                <a:spcPts val="0"/>
              </a:spcAft>
            </a:pPr>
            <a:r>
              <a:rPr sz="1500" b="1" dirty="0">
                <a:solidFill>
                  <a:srgbClr val="8BC5FA"/>
                </a:solidFill>
                <a:latin typeface="Montserrat"/>
              </a:rPr>
              <a:t>15.5%</a:t>
            </a:r>
            <a:r>
              <a:rPr sz="1500" b="0" dirty="0">
                <a:solidFill>
                  <a:srgbClr val="B7CBE0"/>
                </a:solidFill>
                <a:latin typeface="Montserrat"/>
              </a:rPr>
              <a:t>  ·  </a:t>
            </a:r>
            <a:r>
              <a:rPr sz="1500" b="1" dirty="0">
                <a:solidFill>
                  <a:srgbClr val="F2A65A"/>
                </a:solidFill>
                <a:latin typeface="Montserrat"/>
              </a:rPr>
              <a:t>12.7%</a:t>
            </a:r>
            <a:r>
              <a:rPr sz="1500" b="0" dirty="0">
                <a:solidFill>
                  <a:srgbClr val="B7CBE0"/>
                </a:solidFill>
                <a:latin typeface="Montserrat"/>
              </a:rPr>
              <a:t>  ·  </a:t>
            </a:r>
            <a:r>
              <a:rPr sz="1500" b="1" dirty="0">
                <a:solidFill>
                  <a:srgbClr val="A4FF9F"/>
                </a:solidFill>
                <a:latin typeface="Montserrat"/>
              </a:rPr>
              <a:t>30.4%</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Flood map: largest-error shape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Largest XGBoost error of the 40 shapes · shape_quasi_uniform_block · factor 3.0</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50</a:t>
            </a:r>
          </a:p>
        </p:txBody>
      </p:sp>
      <p:pic>
        <p:nvPicPr>
          <p:cNvPr id="8" name="Picture 7" descr="flood_map_max_error_shape_quasi_uniform_block_f3.0.png"/>
          <p:cNvPicPr>
            <a:picLocks noChangeAspect="1"/>
          </p:cNvPicPr>
          <p:nvPr/>
        </p:nvPicPr>
        <p:blipFill>
          <a:blip r:embed="rId3"/>
          <a:stretch>
            <a:fillRect/>
          </a:stretch>
        </p:blipFill>
        <p:spPr>
          <a:xfrm>
            <a:off x="292608" y="1030000"/>
            <a:ext cx="8549640" cy="2389160"/>
          </a:xfrm>
          <a:prstGeom prst="rect">
            <a:avLst/>
          </a:prstGeom>
        </p:spPr>
      </p:pic>
      <p:sp>
        <p:nvSpPr>
          <p:cNvPr id="9" name="Rounded Rectangle 8"/>
          <p:cNvSpPr/>
          <p:nvPr/>
        </p:nvSpPr>
        <p:spPr>
          <a:xfrm>
            <a:off x="292608" y="3530000"/>
            <a:ext cx="2054910" cy="1180000"/>
          </a:xfrm>
          <a:prstGeom prst="roundRect">
            <a:avLst>
              <a:gd name="adj" fmla="val 10000"/>
            </a:avLst>
          </a:prstGeom>
          <a:solidFill>
            <a:srgbClr val="193A58"/>
          </a:solidFill>
          <a:ln w="12700">
            <a:solidFill>
              <a:srgbClr val="5E8CBE"/>
            </a:solidFill>
          </a:ln>
        </p:spPr>
        <p:txBody>
          <a:bodyPr wrap="square" lIns="110000" tIns="60000" rIns="110000" bIns="60000" rtlCol="0" anchor="t"/>
          <a:lstStyle/>
          <a:p>
            <a:pPr algn="l">
              <a:lnSpc>
                <a:spcPct val="100000"/>
              </a:lnSpc>
              <a:spcBef>
                <a:spcPts val="0"/>
              </a:spcBef>
              <a:spcAft>
                <a:spcPts val="200"/>
              </a:spcAft>
            </a:pPr>
            <a:r>
              <a:rPr sz="1300" b="1">
                <a:solidFill>
                  <a:srgbClr val="B7CBE0"/>
                </a:solidFill>
                <a:latin typeface="Montserrat"/>
              </a:rPr>
              <a:t>SWMM</a:t>
            </a:r>
          </a:p>
          <a:p>
            <a:pPr algn="l">
              <a:lnSpc>
                <a:spcPct val="100000"/>
              </a:lnSpc>
              <a:spcBef>
                <a:spcPts val="0"/>
              </a:spcBef>
              <a:spcAft>
                <a:spcPts val="100"/>
              </a:spcAft>
            </a:pPr>
            <a:r>
              <a:rPr sz="1500" b="1">
                <a:solidFill>
                  <a:srgbClr val="F7FAFE"/>
                </a:solidFill>
                <a:latin typeface="Montserrat"/>
              </a:rPr>
              <a:t>82,128 m³</a:t>
            </a:r>
          </a:p>
          <a:p>
            <a:pPr algn="l">
              <a:lnSpc>
                <a:spcPct val="100000"/>
              </a:lnSpc>
              <a:spcBef>
                <a:spcPts val="0"/>
              </a:spcBef>
              <a:spcAft>
                <a:spcPts val="0"/>
              </a:spcAft>
            </a:pPr>
            <a:r>
              <a:rPr sz="1200" b="0">
                <a:solidFill>
                  <a:srgbClr val="B7CBE0"/>
                </a:solidFill>
                <a:latin typeface="Montserrat"/>
              </a:rPr>
              <a:t>61 flooded nodes</a:t>
            </a:r>
          </a:p>
        </p:txBody>
      </p:sp>
      <p:sp>
        <p:nvSpPr>
          <p:cNvPr id="10" name="Rounded Rectangle 9"/>
          <p:cNvSpPr/>
          <p:nvPr/>
        </p:nvSpPr>
        <p:spPr>
          <a:xfrm>
            <a:off x="2457518" y="3530000"/>
            <a:ext cx="2054910" cy="1180000"/>
          </a:xfrm>
          <a:prstGeom prst="roundRect">
            <a:avLst>
              <a:gd name="adj" fmla="val 10000"/>
            </a:avLst>
          </a:prstGeom>
          <a:solidFill>
            <a:srgbClr val="193A58"/>
          </a:solidFill>
          <a:ln w="19050">
            <a:solidFill>
              <a:srgbClr val="8BC5FA"/>
            </a:solidFill>
          </a:ln>
        </p:spPr>
        <p:txBody>
          <a:bodyPr wrap="square" lIns="110000" tIns="60000" rIns="110000" bIns="60000" rtlCol="0" anchor="t"/>
          <a:lstStyle/>
          <a:p>
            <a:pPr algn="l">
              <a:lnSpc>
                <a:spcPct val="100000"/>
              </a:lnSpc>
              <a:spcBef>
                <a:spcPts val="0"/>
              </a:spcBef>
              <a:spcAft>
                <a:spcPts val="200"/>
              </a:spcAft>
            </a:pPr>
            <a:r>
              <a:rPr sz="1300" b="1">
                <a:solidFill>
                  <a:srgbClr val="8BC5FA"/>
                </a:solidFill>
                <a:latin typeface="Montserrat"/>
              </a:rPr>
              <a:t>XGBoost</a:t>
            </a:r>
          </a:p>
          <a:p>
            <a:pPr algn="l">
              <a:lnSpc>
                <a:spcPct val="100000"/>
              </a:lnSpc>
              <a:spcBef>
                <a:spcPts val="0"/>
              </a:spcBef>
              <a:spcAft>
                <a:spcPts val="100"/>
              </a:spcAft>
            </a:pPr>
            <a:r>
              <a:rPr sz="1200" b="1">
                <a:solidFill>
                  <a:srgbClr val="F7FAFE"/>
                </a:solidFill>
                <a:latin typeface="Montserrat"/>
              </a:rPr>
              <a:t>59,408 m³ (-27.7%)</a:t>
            </a:r>
          </a:p>
          <a:p>
            <a:pPr algn="l">
              <a:lnSpc>
                <a:spcPct val="100000"/>
              </a:lnSpc>
              <a:spcBef>
                <a:spcPts val="0"/>
              </a:spcBef>
              <a:spcAft>
                <a:spcPts val="100"/>
              </a:spcAft>
            </a:pPr>
            <a:r>
              <a:rPr sz="1100" b="0">
                <a:solidFill>
                  <a:srgbClr val="B7CBE0"/>
                </a:solidFill>
                <a:latin typeface="Montserrat"/>
              </a:rPr>
              <a:t>+0 false · −0 missed</a:t>
            </a:r>
          </a:p>
          <a:p>
            <a:pPr algn="l">
              <a:lnSpc>
                <a:spcPct val="100000"/>
              </a:lnSpc>
              <a:spcBef>
                <a:spcPts val="0"/>
              </a:spcBef>
              <a:spcAft>
                <a:spcPts val="0"/>
              </a:spcAft>
            </a:pPr>
            <a:r>
              <a:rPr sz="1100" b="0">
                <a:solidFill>
                  <a:srgbClr val="B7CBE0"/>
                </a:solidFill>
                <a:latin typeface="Montserrat"/>
              </a:rPr>
              <a:t>Node RMSE 296.2 m³</a:t>
            </a:r>
          </a:p>
        </p:txBody>
      </p:sp>
      <p:sp>
        <p:nvSpPr>
          <p:cNvPr id="11" name="Rounded Rectangle 10"/>
          <p:cNvSpPr/>
          <p:nvPr/>
        </p:nvSpPr>
        <p:spPr>
          <a:xfrm>
            <a:off x="4622428" y="3530000"/>
            <a:ext cx="2054910" cy="1180000"/>
          </a:xfrm>
          <a:prstGeom prst="roundRect">
            <a:avLst>
              <a:gd name="adj" fmla="val 10000"/>
            </a:avLst>
          </a:prstGeom>
          <a:solidFill>
            <a:srgbClr val="193A58"/>
          </a:solidFill>
          <a:ln w="19050">
            <a:solidFill>
              <a:srgbClr val="F2A65A"/>
            </a:solidFill>
          </a:ln>
        </p:spPr>
        <p:txBody>
          <a:bodyPr wrap="square" lIns="110000" tIns="60000" rIns="110000" bIns="60000" rtlCol="0" anchor="t"/>
          <a:lstStyle/>
          <a:p>
            <a:pPr algn="l">
              <a:lnSpc>
                <a:spcPct val="100000"/>
              </a:lnSpc>
              <a:spcBef>
                <a:spcPts val="0"/>
              </a:spcBef>
              <a:spcAft>
                <a:spcPts val="200"/>
              </a:spcAft>
            </a:pPr>
            <a:r>
              <a:rPr sz="1300" b="1">
                <a:solidFill>
                  <a:srgbClr val="F2A65A"/>
                </a:solidFill>
                <a:latin typeface="Montserrat"/>
              </a:rPr>
              <a:t>MLP</a:t>
            </a:r>
          </a:p>
          <a:p>
            <a:pPr algn="l">
              <a:lnSpc>
                <a:spcPct val="100000"/>
              </a:lnSpc>
              <a:spcBef>
                <a:spcPts val="0"/>
              </a:spcBef>
              <a:spcAft>
                <a:spcPts val="100"/>
              </a:spcAft>
            </a:pPr>
            <a:r>
              <a:rPr sz="1200" b="1">
                <a:solidFill>
                  <a:srgbClr val="F7FAFE"/>
                </a:solidFill>
                <a:latin typeface="Montserrat"/>
              </a:rPr>
              <a:t>51,643 m³ (-37.1%)</a:t>
            </a:r>
          </a:p>
          <a:p>
            <a:pPr algn="l">
              <a:lnSpc>
                <a:spcPct val="100000"/>
              </a:lnSpc>
              <a:spcBef>
                <a:spcPts val="0"/>
              </a:spcBef>
              <a:spcAft>
                <a:spcPts val="100"/>
              </a:spcAft>
            </a:pPr>
            <a:r>
              <a:rPr sz="1100" b="0">
                <a:solidFill>
                  <a:srgbClr val="B7CBE0"/>
                </a:solidFill>
                <a:latin typeface="Montserrat"/>
              </a:rPr>
              <a:t>+4 false · −0 missed</a:t>
            </a:r>
          </a:p>
          <a:p>
            <a:pPr algn="l">
              <a:lnSpc>
                <a:spcPct val="100000"/>
              </a:lnSpc>
              <a:spcBef>
                <a:spcPts val="0"/>
              </a:spcBef>
              <a:spcAft>
                <a:spcPts val="0"/>
              </a:spcAft>
            </a:pPr>
            <a:r>
              <a:rPr sz="1100" b="0">
                <a:solidFill>
                  <a:srgbClr val="B7CBE0"/>
                </a:solidFill>
                <a:latin typeface="Montserrat"/>
              </a:rPr>
              <a:t>Node RMSE 473.3 m³</a:t>
            </a:r>
          </a:p>
        </p:txBody>
      </p:sp>
      <p:sp>
        <p:nvSpPr>
          <p:cNvPr id="12" name="Rounded Rectangle 11"/>
          <p:cNvSpPr/>
          <p:nvPr/>
        </p:nvSpPr>
        <p:spPr>
          <a:xfrm>
            <a:off x="6787338" y="3530000"/>
            <a:ext cx="2054910" cy="1180000"/>
          </a:xfrm>
          <a:prstGeom prst="roundRect">
            <a:avLst>
              <a:gd name="adj" fmla="val 10000"/>
            </a:avLst>
          </a:prstGeom>
          <a:solidFill>
            <a:srgbClr val="193A58"/>
          </a:solidFill>
          <a:ln w="19050">
            <a:solidFill>
              <a:srgbClr val="A4FF9F"/>
            </a:solidFill>
          </a:ln>
        </p:spPr>
        <p:txBody>
          <a:bodyPr wrap="square" lIns="110000" tIns="60000" rIns="110000" bIns="60000" rtlCol="0" anchor="t"/>
          <a:lstStyle/>
          <a:p>
            <a:pPr algn="l">
              <a:lnSpc>
                <a:spcPct val="100000"/>
              </a:lnSpc>
              <a:spcBef>
                <a:spcPts val="0"/>
              </a:spcBef>
              <a:spcAft>
                <a:spcPts val="200"/>
              </a:spcAft>
            </a:pPr>
            <a:r>
              <a:rPr sz="1300" b="1">
                <a:solidFill>
                  <a:srgbClr val="A4FF9F"/>
                </a:solidFill>
                <a:latin typeface="Montserrat"/>
              </a:rPr>
              <a:t>SVM</a:t>
            </a:r>
          </a:p>
          <a:p>
            <a:pPr algn="l">
              <a:lnSpc>
                <a:spcPct val="100000"/>
              </a:lnSpc>
              <a:spcBef>
                <a:spcPts val="0"/>
              </a:spcBef>
              <a:spcAft>
                <a:spcPts val="100"/>
              </a:spcAft>
            </a:pPr>
            <a:r>
              <a:rPr sz="1200" b="1">
                <a:solidFill>
                  <a:srgbClr val="F7FAFE"/>
                </a:solidFill>
                <a:latin typeface="Montserrat"/>
              </a:rPr>
              <a:t>59,610 m³ (-27.4%)</a:t>
            </a:r>
          </a:p>
          <a:p>
            <a:pPr algn="l">
              <a:lnSpc>
                <a:spcPct val="100000"/>
              </a:lnSpc>
              <a:spcBef>
                <a:spcPts val="0"/>
              </a:spcBef>
              <a:spcAft>
                <a:spcPts val="100"/>
              </a:spcAft>
            </a:pPr>
            <a:r>
              <a:rPr sz="1100" b="0">
                <a:solidFill>
                  <a:srgbClr val="B7CBE0"/>
                </a:solidFill>
                <a:latin typeface="Montserrat"/>
              </a:rPr>
              <a:t>+13 false · −7 missed</a:t>
            </a:r>
          </a:p>
          <a:p>
            <a:pPr algn="l">
              <a:lnSpc>
                <a:spcPct val="100000"/>
              </a:lnSpc>
              <a:spcBef>
                <a:spcPts val="0"/>
              </a:spcBef>
              <a:spcAft>
                <a:spcPts val="0"/>
              </a:spcAft>
            </a:pPr>
            <a:r>
              <a:rPr sz="1100" b="0">
                <a:solidFill>
                  <a:srgbClr val="B7CBE0"/>
                </a:solidFill>
                <a:latin typeface="Montserrat"/>
              </a:rPr>
              <a:t>Node RMSE 583.2 m³</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Flood map: median-error shape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Median XGBoost error (position 21 of 40 shapes) · shape_delayed_abrupt_peak · factor 3.0</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51</a:t>
            </a:r>
          </a:p>
        </p:txBody>
      </p:sp>
      <p:pic>
        <p:nvPicPr>
          <p:cNvPr id="8" name="Picture 7" descr="flood_map_median_error_shape_delayed_abrupt_peak_f3.0.png"/>
          <p:cNvPicPr>
            <a:picLocks noChangeAspect="1"/>
          </p:cNvPicPr>
          <p:nvPr/>
        </p:nvPicPr>
        <p:blipFill>
          <a:blip r:embed="rId3"/>
          <a:stretch>
            <a:fillRect/>
          </a:stretch>
        </p:blipFill>
        <p:spPr>
          <a:xfrm>
            <a:off x="292608" y="1030000"/>
            <a:ext cx="8549640" cy="2389160"/>
          </a:xfrm>
          <a:prstGeom prst="rect">
            <a:avLst/>
          </a:prstGeom>
        </p:spPr>
      </p:pic>
      <p:sp>
        <p:nvSpPr>
          <p:cNvPr id="9" name="Rounded Rectangle 8"/>
          <p:cNvSpPr/>
          <p:nvPr/>
        </p:nvSpPr>
        <p:spPr>
          <a:xfrm>
            <a:off x="292608" y="3530000"/>
            <a:ext cx="2054910" cy="1180000"/>
          </a:xfrm>
          <a:prstGeom prst="roundRect">
            <a:avLst>
              <a:gd name="adj" fmla="val 10000"/>
            </a:avLst>
          </a:prstGeom>
          <a:solidFill>
            <a:srgbClr val="193A58"/>
          </a:solidFill>
          <a:ln w="12700">
            <a:solidFill>
              <a:srgbClr val="5E8CBE"/>
            </a:solidFill>
          </a:ln>
        </p:spPr>
        <p:txBody>
          <a:bodyPr wrap="square" lIns="110000" tIns="60000" rIns="110000" bIns="60000" rtlCol="0" anchor="t"/>
          <a:lstStyle/>
          <a:p>
            <a:pPr algn="l">
              <a:lnSpc>
                <a:spcPct val="100000"/>
              </a:lnSpc>
              <a:spcBef>
                <a:spcPts val="0"/>
              </a:spcBef>
              <a:spcAft>
                <a:spcPts val="200"/>
              </a:spcAft>
            </a:pPr>
            <a:r>
              <a:rPr sz="1300" b="1">
                <a:solidFill>
                  <a:srgbClr val="B7CBE0"/>
                </a:solidFill>
                <a:latin typeface="Montserrat"/>
              </a:rPr>
              <a:t>SWMM</a:t>
            </a:r>
          </a:p>
          <a:p>
            <a:pPr algn="l">
              <a:lnSpc>
                <a:spcPct val="100000"/>
              </a:lnSpc>
              <a:spcBef>
                <a:spcPts val="0"/>
              </a:spcBef>
              <a:spcAft>
                <a:spcPts val="100"/>
              </a:spcAft>
            </a:pPr>
            <a:r>
              <a:rPr sz="1500" b="1">
                <a:solidFill>
                  <a:srgbClr val="F7FAFE"/>
                </a:solidFill>
                <a:latin typeface="Montserrat"/>
              </a:rPr>
              <a:t>12,718 m³</a:t>
            </a:r>
          </a:p>
          <a:p>
            <a:pPr algn="l">
              <a:lnSpc>
                <a:spcPct val="100000"/>
              </a:lnSpc>
              <a:spcBef>
                <a:spcPts val="0"/>
              </a:spcBef>
              <a:spcAft>
                <a:spcPts val="0"/>
              </a:spcAft>
            </a:pPr>
            <a:r>
              <a:rPr sz="1200" b="0">
                <a:solidFill>
                  <a:srgbClr val="B7CBE0"/>
                </a:solidFill>
                <a:latin typeface="Montserrat"/>
              </a:rPr>
              <a:t>60 flooded nodes</a:t>
            </a:r>
          </a:p>
        </p:txBody>
      </p:sp>
      <p:sp>
        <p:nvSpPr>
          <p:cNvPr id="10" name="Rounded Rectangle 9"/>
          <p:cNvSpPr/>
          <p:nvPr/>
        </p:nvSpPr>
        <p:spPr>
          <a:xfrm>
            <a:off x="2457518" y="3530000"/>
            <a:ext cx="2054910" cy="1180000"/>
          </a:xfrm>
          <a:prstGeom prst="roundRect">
            <a:avLst>
              <a:gd name="adj" fmla="val 10000"/>
            </a:avLst>
          </a:prstGeom>
          <a:solidFill>
            <a:srgbClr val="193A58"/>
          </a:solidFill>
          <a:ln w="19050">
            <a:solidFill>
              <a:srgbClr val="8BC5FA"/>
            </a:solidFill>
          </a:ln>
        </p:spPr>
        <p:txBody>
          <a:bodyPr wrap="square" lIns="110000" tIns="60000" rIns="110000" bIns="60000" rtlCol="0" anchor="t"/>
          <a:lstStyle/>
          <a:p>
            <a:pPr algn="l">
              <a:lnSpc>
                <a:spcPct val="100000"/>
              </a:lnSpc>
              <a:spcBef>
                <a:spcPts val="0"/>
              </a:spcBef>
              <a:spcAft>
                <a:spcPts val="200"/>
              </a:spcAft>
            </a:pPr>
            <a:r>
              <a:rPr sz="1300" b="1">
                <a:solidFill>
                  <a:srgbClr val="8BC5FA"/>
                </a:solidFill>
                <a:latin typeface="Montserrat"/>
              </a:rPr>
              <a:t>XGBoost</a:t>
            </a:r>
          </a:p>
          <a:p>
            <a:pPr algn="l">
              <a:lnSpc>
                <a:spcPct val="100000"/>
              </a:lnSpc>
              <a:spcBef>
                <a:spcPts val="0"/>
              </a:spcBef>
              <a:spcAft>
                <a:spcPts val="100"/>
              </a:spcAft>
            </a:pPr>
            <a:r>
              <a:rPr sz="1200" b="1">
                <a:solidFill>
                  <a:srgbClr val="F7FAFE"/>
                </a:solidFill>
                <a:latin typeface="Montserrat"/>
              </a:rPr>
              <a:t>14,108 m³ (+10.9%)</a:t>
            </a:r>
          </a:p>
          <a:p>
            <a:pPr algn="l">
              <a:lnSpc>
                <a:spcPct val="100000"/>
              </a:lnSpc>
              <a:spcBef>
                <a:spcPts val="0"/>
              </a:spcBef>
              <a:spcAft>
                <a:spcPts val="100"/>
              </a:spcAft>
            </a:pPr>
            <a:r>
              <a:rPr sz="1100" b="0">
                <a:solidFill>
                  <a:srgbClr val="B7CBE0"/>
                </a:solidFill>
                <a:latin typeface="Montserrat"/>
              </a:rPr>
              <a:t>+0 false · −0 missed</a:t>
            </a:r>
          </a:p>
          <a:p>
            <a:pPr algn="l">
              <a:lnSpc>
                <a:spcPct val="100000"/>
              </a:lnSpc>
              <a:spcBef>
                <a:spcPts val="0"/>
              </a:spcBef>
              <a:spcAft>
                <a:spcPts val="0"/>
              </a:spcAft>
            </a:pPr>
            <a:r>
              <a:rPr sz="1100" b="0">
                <a:solidFill>
                  <a:srgbClr val="B7CBE0"/>
                </a:solidFill>
                <a:latin typeface="Montserrat"/>
              </a:rPr>
              <a:t>Node RMSE 20.1 m³</a:t>
            </a:r>
          </a:p>
        </p:txBody>
      </p:sp>
      <p:sp>
        <p:nvSpPr>
          <p:cNvPr id="11" name="Rounded Rectangle 10"/>
          <p:cNvSpPr/>
          <p:nvPr/>
        </p:nvSpPr>
        <p:spPr>
          <a:xfrm>
            <a:off x="4622428" y="3530000"/>
            <a:ext cx="2054910" cy="1180000"/>
          </a:xfrm>
          <a:prstGeom prst="roundRect">
            <a:avLst>
              <a:gd name="adj" fmla="val 10000"/>
            </a:avLst>
          </a:prstGeom>
          <a:solidFill>
            <a:srgbClr val="193A58"/>
          </a:solidFill>
          <a:ln w="19050">
            <a:solidFill>
              <a:srgbClr val="F2A65A"/>
            </a:solidFill>
          </a:ln>
        </p:spPr>
        <p:txBody>
          <a:bodyPr wrap="square" lIns="110000" tIns="60000" rIns="110000" bIns="60000" rtlCol="0" anchor="t"/>
          <a:lstStyle/>
          <a:p>
            <a:pPr algn="l">
              <a:lnSpc>
                <a:spcPct val="100000"/>
              </a:lnSpc>
              <a:spcBef>
                <a:spcPts val="0"/>
              </a:spcBef>
              <a:spcAft>
                <a:spcPts val="200"/>
              </a:spcAft>
            </a:pPr>
            <a:r>
              <a:rPr sz="1300" b="1">
                <a:solidFill>
                  <a:srgbClr val="F2A65A"/>
                </a:solidFill>
                <a:latin typeface="Montserrat"/>
              </a:rPr>
              <a:t>MLP</a:t>
            </a:r>
          </a:p>
          <a:p>
            <a:pPr algn="l">
              <a:lnSpc>
                <a:spcPct val="100000"/>
              </a:lnSpc>
              <a:spcBef>
                <a:spcPts val="0"/>
              </a:spcBef>
              <a:spcAft>
                <a:spcPts val="100"/>
              </a:spcAft>
            </a:pPr>
            <a:r>
              <a:rPr sz="1200" b="1">
                <a:solidFill>
                  <a:srgbClr val="F7FAFE"/>
                </a:solidFill>
                <a:latin typeface="Montserrat"/>
              </a:rPr>
              <a:t>12,857 m³ (+1.1%)</a:t>
            </a:r>
          </a:p>
          <a:p>
            <a:pPr algn="l">
              <a:lnSpc>
                <a:spcPct val="100000"/>
              </a:lnSpc>
              <a:spcBef>
                <a:spcPts val="0"/>
              </a:spcBef>
              <a:spcAft>
                <a:spcPts val="100"/>
              </a:spcAft>
            </a:pPr>
            <a:r>
              <a:rPr sz="1100" b="0">
                <a:solidFill>
                  <a:srgbClr val="B7CBE0"/>
                </a:solidFill>
                <a:latin typeface="Montserrat"/>
              </a:rPr>
              <a:t>+0 false · −0 missed</a:t>
            </a:r>
          </a:p>
          <a:p>
            <a:pPr algn="l">
              <a:lnSpc>
                <a:spcPct val="100000"/>
              </a:lnSpc>
              <a:spcBef>
                <a:spcPts val="0"/>
              </a:spcBef>
              <a:spcAft>
                <a:spcPts val="0"/>
              </a:spcAft>
            </a:pPr>
            <a:r>
              <a:rPr sz="1100" b="0">
                <a:solidFill>
                  <a:srgbClr val="B7CBE0"/>
                </a:solidFill>
                <a:latin typeface="Montserrat"/>
              </a:rPr>
              <a:t>Node RMSE 21.4 m³</a:t>
            </a:r>
          </a:p>
        </p:txBody>
      </p:sp>
      <p:sp>
        <p:nvSpPr>
          <p:cNvPr id="12" name="Rounded Rectangle 11"/>
          <p:cNvSpPr/>
          <p:nvPr/>
        </p:nvSpPr>
        <p:spPr>
          <a:xfrm>
            <a:off x="6787338" y="3530000"/>
            <a:ext cx="2054910" cy="1180000"/>
          </a:xfrm>
          <a:prstGeom prst="roundRect">
            <a:avLst>
              <a:gd name="adj" fmla="val 10000"/>
            </a:avLst>
          </a:prstGeom>
          <a:solidFill>
            <a:srgbClr val="193A58"/>
          </a:solidFill>
          <a:ln w="19050">
            <a:solidFill>
              <a:srgbClr val="A4FF9F"/>
            </a:solidFill>
          </a:ln>
        </p:spPr>
        <p:txBody>
          <a:bodyPr wrap="square" lIns="110000" tIns="60000" rIns="110000" bIns="60000" rtlCol="0" anchor="t"/>
          <a:lstStyle/>
          <a:p>
            <a:pPr algn="l">
              <a:lnSpc>
                <a:spcPct val="100000"/>
              </a:lnSpc>
              <a:spcBef>
                <a:spcPts val="0"/>
              </a:spcBef>
              <a:spcAft>
                <a:spcPts val="200"/>
              </a:spcAft>
            </a:pPr>
            <a:r>
              <a:rPr sz="1300" b="1">
                <a:solidFill>
                  <a:srgbClr val="A4FF9F"/>
                </a:solidFill>
                <a:latin typeface="Montserrat"/>
              </a:rPr>
              <a:t>SVM</a:t>
            </a:r>
          </a:p>
          <a:p>
            <a:pPr algn="l">
              <a:lnSpc>
                <a:spcPct val="100000"/>
              </a:lnSpc>
              <a:spcBef>
                <a:spcPts val="0"/>
              </a:spcBef>
              <a:spcAft>
                <a:spcPts val="100"/>
              </a:spcAft>
            </a:pPr>
            <a:r>
              <a:rPr sz="1200" b="1">
                <a:solidFill>
                  <a:srgbClr val="F7FAFE"/>
                </a:solidFill>
                <a:latin typeface="Montserrat"/>
              </a:rPr>
              <a:t>11,576 m³ (-9.0%)</a:t>
            </a:r>
          </a:p>
          <a:p>
            <a:pPr algn="l">
              <a:lnSpc>
                <a:spcPct val="100000"/>
              </a:lnSpc>
              <a:spcBef>
                <a:spcPts val="0"/>
              </a:spcBef>
              <a:spcAft>
                <a:spcPts val="100"/>
              </a:spcAft>
            </a:pPr>
            <a:r>
              <a:rPr sz="1100" b="0">
                <a:solidFill>
                  <a:srgbClr val="B7CBE0"/>
                </a:solidFill>
                <a:latin typeface="Montserrat"/>
              </a:rPr>
              <a:t>+5 false · −10 missed</a:t>
            </a:r>
          </a:p>
          <a:p>
            <a:pPr algn="l">
              <a:lnSpc>
                <a:spcPct val="100000"/>
              </a:lnSpc>
              <a:spcBef>
                <a:spcPts val="0"/>
              </a:spcBef>
              <a:spcAft>
                <a:spcPts val="0"/>
              </a:spcAft>
            </a:pPr>
            <a:r>
              <a:rPr sz="1100" b="0">
                <a:solidFill>
                  <a:srgbClr val="B7CBE0"/>
                </a:solidFill>
                <a:latin typeface="Montserrat"/>
              </a:rPr>
              <a:t>Node RMSE 89.4 m³</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Flood map: smallest-error shape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Smallest XGBoost error (shapes with ≥ 20 flooded rows) · shape_ultra_short_impulse · factor 3.0</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52</a:t>
            </a:r>
          </a:p>
        </p:txBody>
      </p:sp>
      <p:pic>
        <p:nvPicPr>
          <p:cNvPr id="8" name="Picture 7" descr="flood_map_min_error_shape_ultra_short_impulse_f3.0.png"/>
          <p:cNvPicPr>
            <a:picLocks noChangeAspect="1"/>
          </p:cNvPicPr>
          <p:nvPr/>
        </p:nvPicPr>
        <p:blipFill>
          <a:blip r:embed="rId3"/>
          <a:stretch>
            <a:fillRect/>
          </a:stretch>
        </p:blipFill>
        <p:spPr>
          <a:xfrm>
            <a:off x="292608" y="1030000"/>
            <a:ext cx="8549640" cy="2389160"/>
          </a:xfrm>
          <a:prstGeom prst="rect">
            <a:avLst/>
          </a:prstGeom>
        </p:spPr>
      </p:pic>
      <p:sp>
        <p:nvSpPr>
          <p:cNvPr id="9" name="Rounded Rectangle 8"/>
          <p:cNvSpPr/>
          <p:nvPr/>
        </p:nvSpPr>
        <p:spPr>
          <a:xfrm>
            <a:off x="292608" y="3530000"/>
            <a:ext cx="2054910" cy="1180000"/>
          </a:xfrm>
          <a:prstGeom prst="roundRect">
            <a:avLst>
              <a:gd name="adj" fmla="val 10000"/>
            </a:avLst>
          </a:prstGeom>
          <a:solidFill>
            <a:srgbClr val="193A58"/>
          </a:solidFill>
          <a:ln w="12700">
            <a:solidFill>
              <a:srgbClr val="5E8CBE"/>
            </a:solidFill>
          </a:ln>
        </p:spPr>
        <p:txBody>
          <a:bodyPr wrap="square" lIns="110000" tIns="60000" rIns="110000" bIns="60000" rtlCol="0" anchor="t"/>
          <a:lstStyle/>
          <a:p>
            <a:pPr algn="l">
              <a:lnSpc>
                <a:spcPct val="100000"/>
              </a:lnSpc>
              <a:spcBef>
                <a:spcPts val="0"/>
              </a:spcBef>
              <a:spcAft>
                <a:spcPts val="200"/>
              </a:spcAft>
            </a:pPr>
            <a:r>
              <a:rPr sz="1300" b="1">
                <a:solidFill>
                  <a:srgbClr val="B7CBE0"/>
                </a:solidFill>
                <a:latin typeface="Montserrat"/>
              </a:rPr>
              <a:t>SWMM</a:t>
            </a:r>
          </a:p>
          <a:p>
            <a:pPr algn="l">
              <a:lnSpc>
                <a:spcPct val="100000"/>
              </a:lnSpc>
              <a:spcBef>
                <a:spcPts val="0"/>
              </a:spcBef>
              <a:spcAft>
                <a:spcPts val="100"/>
              </a:spcAft>
            </a:pPr>
            <a:r>
              <a:rPr sz="1500" b="1">
                <a:solidFill>
                  <a:srgbClr val="F7FAFE"/>
                </a:solidFill>
                <a:latin typeface="Montserrat"/>
              </a:rPr>
              <a:t>283 m³</a:t>
            </a:r>
          </a:p>
          <a:p>
            <a:pPr algn="l">
              <a:lnSpc>
                <a:spcPct val="100000"/>
              </a:lnSpc>
              <a:spcBef>
                <a:spcPts val="0"/>
              </a:spcBef>
              <a:spcAft>
                <a:spcPts val="0"/>
              </a:spcAft>
            </a:pPr>
            <a:r>
              <a:rPr sz="1200" b="0">
                <a:solidFill>
                  <a:srgbClr val="B7CBE0"/>
                </a:solidFill>
                <a:latin typeface="Montserrat"/>
              </a:rPr>
              <a:t>36 flooded nodes</a:t>
            </a:r>
          </a:p>
        </p:txBody>
      </p:sp>
      <p:sp>
        <p:nvSpPr>
          <p:cNvPr id="10" name="Rounded Rectangle 9"/>
          <p:cNvSpPr/>
          <p:nvPr/>
        </p:nvSpPr>
        <p:spPr>
          <a:xfrm>
            <a:off x="2457518" y="3530000"/>
            <a:ext cx="2054910" cy="1180000"/>
          </a:xfrm>
          <a:prstGeom prst="roundRect">
            <a:avLst>
              <a:gd name="adj" fmla="val 10000"/>
            </a:avLst>
          </a:prstGeom>
          <a:solidFill>
            <a:srgbClr val="193A58"/>
          </a:solidFill>
          <a:ln w="19050">
            <a:solidFill>
              <a:srgbClr val="8BC5FA"/>
            </a:solidFill>
          </a:ln>
        </p:spPr>
        <p:txBody>
          <a:bodyPr wrap="square" lIns="110000" tIns="60000" rIns="110000" bIns="60000" rtlCol="0" anchor="t"/>
          <a:lstStyle/>
          <a:p>
            <a:pPr algn="l">
              <a:lnSpc>
                <a:spcPct val="100000"/>
              </a:lnSpc>
              <a:spcBef>
                <a:spcPts val="0"/>
              </a:spcBef>
              <a:spcAft>
                <a:spcPts val="200"/>
              </a:spcAft>
            </a:pPr>
            <a:r>
              <a:rPr sz="1300" b="1">
                <a:solidFill>
                  <a:srgbClr val="8BC5FA"/>
                </a:solidFill>
                <a:latin typeface="Montserrat"/>
              </a:rPr>
              <a:t>XGBoost</a:t>
            </a:r>
          </a:p>
          <a:p>
            <a:pPr algn="l">
              <a:lnSpc>
                <a:spcPct val="100000"/>
              </a:lnSpc>
              <a:spcBef>
                <a:spcPts val="0"/>
              </a:spcBef>
              <a:spcAft>
                <a:spcPts val="100"/>
              </a:spcAft>
            </a:pPr>
            <a:r>
              <a:rPr sz="1200" b="1">
                <a:solidFill>
                  <a:srgbClr val="F7FAFE"/>
                </a:solidFill>
                <a:latin typeface="Montserrat"/>
              </a:rPr>
              <a:t>423 m³ (+49.4%)</a:t>
            </a:r>
          </a:p>
          <a:p>
            <a:pPr algn="l">
              <a:lnSpc>
                <a:spcPct val="100000"/>
              </a:lnSpc>
              <a:spcBef>
                <a:spcPts val="0"/>
              </a:spcBef>
              <a:spcAft>
                <a:spcPts val="100"/>
              </a:spcAft>
            </a:pPr>
            <a:r>
              <a:rPr sz="1100" b="0">
                <a:solidFill>
                  <a:srgbClr val="B7CBE0"/>
                </a:solidFill>
                <a:latin typeface="Montserrat"/>
              </a:rPr>
              <a:t>+20 false · −1 missed</a:t>
            </a:r>
          </a:p>
          <a:p>
            <a:pPr algn="l">
              <a:lnSpc>
                <a:spcPct val="100000"/>
              </a:lnSpc>
              <a:spcBef>
                <a:spcPts val="0"/>
              </a:spcBef>
              <a:spcAft>
                <a:spcPts val="0"/>
              </a:spcAft>
            </a:pPr>
            <a:r>
              <a:rPr sz="1100" b="0">
                <a:solidFill>
                  <a:srgbClr val="B7CBE0"/>
                </a:solidFill>
                <a:latin typeface="Montserrat"/>
              </a:rPr>
              <a:t>Node RMSE 2.2 m³</a:t>
            </a:r>
          </a:p>
        </p:txBody>
      </p:sp>
      <p:sp>
        <p:nvSpPr>
          <p:cNvPr id="11" name="Rounded Rectangle 10"/>
          <p:cNvSpPr/>
          <p:nvPr/>
        </p:nvSpPr>
        <p:spPr>
          <a:xfrm>
            <a:off x="4622428" y="3530000"/>
            <a:ext cx="2054910" cy="1180000"/>
          </a:xfrm>
          <a:prstGeom prst="roundRect">
            <a:avLst>
              <a:gd name="adj" fmla="val 10000"/>
            </a:avLst>
          </a:prstGeom>
          <a:solidFill>
            <a:srgbClr val="193A58"/>
          </a:solidFill>
          <a:ln w="19050">
            <a:solidFill>
              <a:srgbClr val="F2A65A"/>
            </a:solidFill>
          </a:ln>
        </p:spPr>
        <p:txBody>
          <a:bodyPr wrap="square" lIns="110000" tIns="60000" rIns="110000" bIns="60000" rtlCol="0" anchor="t"/>
          <a:lstStyle/>
          <a:p>
            <a:pPr algn="l">
              <a:lnSpc>
                <a:spcPct val="100000"/>
              </a:lnSpc>
              <a:spcBef>
                <a:spcPts val="0"/>
              </a:spcBef>
              <a:spcAft>
                <a:spcPts val="200"/>
              </a:spcAft>
            </a:pPr>
            <a:r>
              <a:rPr sz="1300" b="1">
                <a:solidFill>
                  <a:srgbClr val="F2A65A"/>
                </a:solidFill>
                <a:latin typeface="Montserrat"/>
              </a:rPr>
              <a:t>MLP</a:t>
            </a:r>
          </a:p>
          <a:p>
            <a:pPr algn="l">
              <a:lnSpc>
                <a:spcPct val="100000"/>
              </a:lnSpc>
              <a:spcBef>
                <a:spcPts val="0"/>
              </a:spcBef>
              <a:spcAft>
                <a:spcPts val="100"/>
              </a:spcAft>
            </a:pPr>
            <a:r>
              <a:rPr sz="1200" b="1">
                <a:solidFill>
                  <a:srgbClr val="F7FAFE"/>
                </a:solidFill>
                <a:latin typeface="Montserrat"/>
              </a:rPr>
              <a:t>533 m³ (+88.3%)</a:t>
            </a:r>
          </a:p>
          <a:p>
            <a:pPr algn="l">
              <a:lnSpc>
                <a:spcPct val="100000"/>
              </a:lnSpc>
              <a:spcBef>
                <a:spcPts val="0"/>
              </a:spcBef>
              <a:spcAft>
                <a:spcPts val="100"/>
              </a:spcAft>
            </a:pPr>
            <a:r>
              <a:rPr sz="1100" b="0">
                <a:solidFill>
                  <a:srgbClr val="B7CBE0"/>
                </a:solidFill>
                <a:latin typeface="Montserrat"/>
              </a:rPr>
              <a:t>+23 false · −1 missed</a:t>
            </a:r>
          </a:p>
          <a:p>
            <a:pPr algn="l">
              <a:lnSpc>
                <a:spcPct val="100000"/>
              </a:lnSpc>
              <a:spcBef>
                <a:spcPts val="0"/>
              </a:spcBef>
              <a:spcAft>
                <a:spcPts val="0"/>
              </a:spcAft>
            </a:pPr>
            <a:r>
              <a:rPr sz="1100" b="0">
                <a:solidFill>
                  <a:srgbClr val="B7CBE0"/>
                </a:solidFill>
                <a:latin typeface="Montserrat"/>
              </a:rPr>
              <a:t>Node RMSE 3.7 m³</a:t>
            </a:r>
          </a:p>
        </p:txBody>
      </p:sp>
      <p:sp>
        <p:nvSpPr>
          <p:cNvPr id="12" name="Rounded Rectangle 11"/>
          <p:cNvSpPr/>
          <p:nvPr/>
        </p:nvSpPr>
        <p:spPr>
          <a:xfrm>
            <a:off x="6787338" y="3530000"/>
            <a:ext cx="2054910" cy="1180000"/>
          </a:xfrm>
          <a:prstGeom prst="roundRect">
            <a:avLst>
              <a:gd name="adj" fmla="val 10000"/>
            </a:avLst>
          </a:prstGeom>
          <a:solidFill>
            <a:srgbClr val="193A58"/>
          </a:solidFill>
          <a:ln w="19050">
            <a:solidFill>
              <a:srgbClr val="A4FF9F"/>
            </a:solidFill>
          </a:ln>
        </p:spPr>
        <p:txBody>
          <a:bodyPr wrap="square" lIns="110000" tIns="60000" rIns="110000" bIns="60000" rtlCol="0" anchor="t"/>
          <a:lstStyle/>
          <a:p>
            <a:pPr algn="l">
              <a:lnSpc>
                <a:spcPct val="100000"/>
              </a:lnSpc>
              <a:spcBef>
                <a:spcPts val="0"/>
              </a:spcBef>
              <a:spcAft>
                <a:spcPts val="200"/>
              </a:spcAft>
            </a:pPr>
            <a:r>
              <a:rPr sz="1300" b="1">
                <a:solidFill>
                  <a:srgbClr val="A4FF9F"/>
                </a:solidFill>
                <a:latin typeface="Montserrat"/>
              </a:rPr>
              <a:t>SVM</a:t>
            </a:r>
          </a:p>
          <a:p>
            <a:pPr algn="l">
              <a:lnSpc>
                <a:spcPct val="100000"/>
              </a:lnSpc>
              <a:spcBef>
                <a:spcPts val="0"/>
              </a:spcBef>
              <a:spcAft>
                <a:spcPts val="100"/>
              </a:spcAft>
            </a:pPr>
            <a:r>
              <a:rPr sz="1200" b="1">
                <a:solidFill>
                  <a:srgbClr val="F7FAFE"/>
                </a:solidFill>
                <a:latin typeface="Montserrat"/>
              </a:rPr>
              <a:t>1,499 m³ (+429.6%)</a:t>
            </a:r>
          </a:p>
          <a:p>
            <a:pPr algn="l">
              <a:lnSpc>
                <a:spcPct val="100000"/>
              </a:lnSpc>
              <a:spcBef>
                <a:spcPts val="0"/>
              </a:spcBef>
              <a:spcAft>
                <a:spcPts val="100"/>
              </a:spcAft>
            </a:pPr>
            <a:r>
              <a:rPr sz="1100" b="0">
                <a:solidFill>
                  <a:srgbClr val="B7CBE0"/>
                </a:solidFill>
                <a:latin typeface="Montserrat"/>
              </a:rPr>
              <a:t>+22 false · −4 missed</a:t>
            </a:r>
          </a:p>
          <a:p>
            <a:pPr algn="l">
              <a:lnSpc>
                <a:spcPct val="100000"/>
              </a:lnSpc>
              <a:spcBef>
                <a:spcPts val="0"/>
              </a:spcBef>
              <a:spcAft>
                <a:spcPts val="0"/>
              </a:spcAft>
            </a:pPr>
            <a:r>
              <a:rPr sz="1100" b="0">
                <a:solidFill>
                  <a:srgbClr val="B7CBE0"/>
                </a:solidFill>
                <a:latin typeface="Montserrat"/>
              </a:rPr>
              <a:t>Node RMSE 16.3 m³</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Conclusions and next steps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Tuned XGBoost is the best on pooled RMSE; the approximate SVM falls below the baseline</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53</a:t>
            </a:r>
          </a:p>
        </p:txBody>
      </p:sp>
      <p:sp>
        <p:nvSpPr>
          <p:cNvPr id="8" name="Rounded Rectangle 7"/>
          <p:cNvSpPr/>
          <p:nvPr/>
        </p:nvSpPr>
        <p:spPr>
          <a:xfrm>
            <a:off x="292608" y="1050000"/>
            <a:ext cx="4300000" cy="1300000"/>
          </a:xfrm>
          <a:prstGeom prst="roundRect">
            <a:avLst>
              <a:gd name="adj" fmla="val 10000"/>
            </a:avLst>
          </a:prstGeom>
          <a:solidFill>
            <a:srgbClr val="234560"/>
          </a:solidFill>
          <a:ln w="25400">
            <a:solidFill>
              <a:srgbClr val="8BC5FA"/>
            </a:solidFill>
          </a:ln>
        </p:spPr>
        <p:txBody>
          <a:bodyPr wrap="square" lIns="110000" tIns="60000" rIns="110000" bIns="60000" rtlCol="0" anchor="t"/>
          <a:lstStyle/>
          <a:p>
            <a:pPr algn="l">
              <a:lnSpc>
                <a:spcPct val="100000"/>
              </a:lnSpc>
              <a:spcBef>
                <a:spcPts val="0"/>
              </a:spcBef>
              <a:spcAft>
                <a:spcPts val="200"/>
              </a:spcAft>
            </a:pPr>
            <a:r>
              <a:rPr sz="1400" b="1">
                <a:solidFill>
                  <a:srgbClr val="8BC5FA"/>
                </a:solidFill>
                <a:latin typeface="Montserrat"/>
              </a:rPr>
              <a:t>Tuned XGBoost is the best</a:t>
            </a:r>
          </a:p>
          <a:p>
            <a:pPr algn="l">
              <a:lnSpc>
                <a:spcPct val="100000"/>
              </a:lnSpc>
              <a:spcBef>
                <a:spcPts val="0"/>
              </a:spcBef>
              <a:spcAft>
                <a:spcPts val="0"/>
              </a:spcAft>
            </a:pPr>
            <a:r>
              <a:rPr sz="1200" b="0">
                <a:solidFill>
                  <a:srgbClr val="F7FAFE"/>
                </a:solidFill>
                <a:latin typeface="Montserrat"/>
              </a:rPr>
              <a:t>RMSE 69.6 m³ (−38% vs its default parameters) and node parity R² 0.96; tuned MLP 2nd: 101.1 m³. But the MLP has the best median scenario error (12.7% vs 15.5%). Both with F1 ≈ 0.98 and AUC ≈ 0.999</a:t>
            </a:r>
          </a:p>
        </p:txBody>
      </p:sp>
      <p:sp>
        <p:nvSpPr>
          <p:cNvPr id="9" name="Rounded Rectangle 8"/>
          <p:cNvSpPr/>
          <p:nvPr/>
        </p:nvSpPr>
        <p:spPr>
          <a:xfrm>
            <a:off x="292608" y="2430000"/>
            <a:ext cx="4300000" cy="1250000"/>
          </a:xfrm>
          <a:prstGeom prst="roundRect">
            <a:avLst>
              <a:gd name="adj" fmla="val 10000"/>
            </a:avLst>
          </a:prstGeom>
          <a:solidFill>
            <a:srgbClr val="193A58"/>
          </a:solidFill>
          <a:ln w="19050">
            <a:solidFill>
              <a:srgbClr val="F1CB83"/>
            </a:solidFill>
          </a:ln>
        </p:spPr>
        <p:txBody>
          <a:bodyPr wrap="square" lIns="110000" tIns="60000" rIns="110000" bIns="60000" rtlCol="0" anchor="t"/>
          <a:lstStyle/>
          <a:p>
            <a:pPr algn="l">
              <a:lnSpc>
                <a:spcPct val="100000"/>
              </a:lnSpc>
              <a:spcBef>
                <a:spcPts val="0"/>
              </a:spcBef>
              <a:spcAft>
                <a:spcPts val="200"/>
              </a:spcAft>
            </a:pPr>
            <a:r>
              <a:rPr sz="1400" b="1">
                <a:solidFill>
                  <a:srgbClr val="F1CB83"/>
                </a:solidFill>
                <a:latin typeface="Montserrat"/>
              </a:rPr>
              <a:t>SVM: third, below the baseline</a:t>
            </a:r>
          </a:p>
          <a:p>
            <a:pPr algn="l">
              <a:lnSpc>
                <a:spcPct val="100000"/>
              </a:lnSpc>
              <a:spcBef>
                <a:spcPts val="0"/>
              </a:spcBef>
              <a:spcAft>
                <a:spcPts val="0"/>
              </a:spcAft>
            </a:pPr>
            <a:r>
              <a:rPr sz="1200" b="0">
                <a:solidFill>
                  <a:srgbClr val="F7FAFE"/>
                </a:solidFill>
                <a:latin typeface="Montserrat"/>
              </a:rPr>
              <a:t>RMSE ≈ 215 vs 173 m³; F1 0.83 vs 0.976. Plausible causes (not tested): approximate kernel, limited search space, Platt calibration neutralizing class_weight (seen on a toy problem only)</a:t>
            </a:r>
          </a:p>
        </p:txBody>
      </p:sp>
      <p:sp>
        <p:nvSpPr>
          <p:cNvPr id="10" name="Rounded Rectangle 9"/>
          <p:cNvSpPr/>
          <p:nvPr/>
        </p:nvSpPr>
        <p:spPr>
          <a:xfrm>
            <a:off x="292608" y="3760000"/>
            <a:ext cx="4300000" cy="990000"/>
          </a:xfrm>
          <a:prstGeom prst="roundRect">
            <a:avLst>
              <a:gd name="adj" fmla="val 10000"/>
            </a:avLst>
          </a:prstGeom>
          <a:solidFill>
            <a:srgbClr val="193A58"/>
          </a:solidFill>
          <a:ln w="12700">
            <a:solidFill>
              <a:srgbClr val="5E8CBE"/>
            </a:solidFill>
          </a:ln>
        </p:spPr>
        <p:txBody>
          <a:bodyPr wrap="square" lIns="110000" tIns="60000" rIns="110000" bIns="60000" rtlCol="0" anchor="t"/>
          <a:lstStyle/>
          <a:p>
            <a:pPr algn="l">
              <a:lnSpc>
                <a:spcPct val="100000"/>
              </a:lnSpc>
              <a:spcBef>
                <a:spcPts val="0"/>
              </a:spcBef>
              <a:spcAft>
                <a:spcPts val="200"/>
              </a:spcAft>
            </a:pPr>
            <a:r>
              <a:rPr sz="1400" b="1">
                <a:solidFill>
                  <a:srgbClr val="B7CBE0"/>
                </a:solidFill>
                <a:latin typeface="Montserrat"/>
              </a:rPr>
              <a:t>Honest scope</a:t>
            </a:r>
          </a:p>
          <a:p>
            <a:pPr algn="l">
              <a:lnSpc>
                <a:spcPct val="100000"/>
              </a:lnSpc>
              <a:spcBef>
                <a:spcPts val="0"/>
              </a:spcBef>
              <a:spcAft>
                <a:spcPts val="0"/>
              </a:spcAft>
            </a:pPr>
            <a:r>
              <a:rPr sz="1200" b="0">
                <a:solidFill>
                  <a:srgbClr val="F7FAFE"/>
                </a:solidFill>
                <a:latin typeface="Montserrat"/>
              </a:rPr>
              <a:t>Hyperparameters chosen with all shapes (optimistic equally) · one network · 963 of 1000 runs · MLP: 200 epochs, batch 1024 · XGBoost: n_jobs=1</a:t>
            </a:r>
          </a:p>
        </p:txBody>
      </p:sp>
      <p:sp>
        <p:nvSpPr>
          <p:cNvPr id="11" name="TextBox 10"/>
          <p:cNvSpPr txBox="1"/>
          <p:nvPr/>
        </p:nvSpPr>
        <p:spPr>
          <a:xfrm>
            <a:off x="4842608" y="1050000"/>
            <a:ext cx="3999640" cy="240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B7CBE0"/>
                </a:solidFill>
                <a:latin typeface="Montserrat"/>
              </a:rPr>
              <a:t>NEXT STEPS</a:t>
            </a:r>
          </a:p>
        </p:txBody>
      </p:sp>
      <p:sp>
        <p:nvSpPr>
          <p:cNvPr id="12" name="Oval 11"/>
          <p:cNvSpPr/>
          <p:nvPr/>
        </p:nvSpPr>
        <p:spPr>
          <a:xfrm>
            <a:off x="4842608" y="1360000"/>
            <a:ext cx="380000" cy="380000"/>
          </a:xfrm>
          <a:prstGeom prst="ellipse">
            <a:avLst/>
          </a:prstGeom>
          <a:solidFill>
            <a:srgbClr val="8BC5FA"/>
          </a:solidFill>
          <a:ln>
            <a:noFill/>
          </a:ln>
        </p:spPr>
        <p:txBody>
          <a:bodyPr wrap="square" lIns="0" tIns="0" rIns="0" bIns="0" rtlCol="0" anchor="ctr"/>
          <a:lstStyle/>
          <a:p>
            <a:pPr algn="ctr">
              <a:lnSpc>
                <a:spcPct val="100000"/>
              </a:lnSpc>
              <a:spcBef>
                <a:spcPts val="0"/>
              </a:spcBef>
              <a:spcAft>
                <a:spcPts val="0"/>
              </a:spcAft>
            </a:pPr>
            <a:r>
              <a:rPr sz="1400" b="1">
                <a:solidFill>
                  <a:srgbClr val="0E2A47"/>
                </a:solidFill>
                <a:latin typeface="Montserrat"/>
              </a:rPr>
              <a:t>1</a:t>
            </a:r>
          </a:p>
        </p:txBody>
      </p:sp>
      <p:sp>
        <p:nvSpPr>
          <p:cNvPr id="13" name="Rounded Rectangle 12"/>
          <p:cNvSpPr/>
          <p:nvPr/>
        </p:nvSpPr>
        <p:spPr>
          <a:xfrm>
            <a:off x="5322608" y="1310000"/>
            <a:ext cx="3519640" cy="4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200" b="0">
                <a:solidFill>
                  <a:srgbClr val="F7FAFE"/>
                </a:solidFill>
                <a:latin typeface="Montserrat"/>
              </a:rPr>
              <a:t>Decide the label: path A (recommended) or B</a:t>
            </a:r>
          </a:p>
        </p:txBody>
      </p:sp>
      <p:sp>
        <p:nvSpPr>
          <p:cNvPr id="14" name="Oval 13"/>
          <p:cNvSpPr/>
          <p:nvPr/>
        </p:nvSpPr>
        <p:spPr>
          <a:xfrm>
            <a:off x="4842608" y="1920000"/>
            <a:ext cx="380000" cy="380000"/>
          </a:xfrm>
          <a:prstGeom prst="ellipse">
            <a:avLst/>
          </a:prstGeom>
          <a:solidFill>
            <a:srgbClr val="8BC5FA"/>
          </a:solidFill>
          <a:ln>
            <a:noFill/>
          </a:ln>
        </p:spPr>
        <p:txBody>
          <a:bodyPr wrap="square" lIns="0" tIns="0" rIns="0" bIns="0" rtlCol="0" anchor="ctr"/>
          <a:lstStyle/>
          <a:p>
            <a:pPr algn="ctr">
              <a:lnSpc>
                <a:spcPct val="100000"/>
              </a:lnSpc>
              <a:spcBef>
                <a:spcPts val="0"/>
              </a:spcBef>
              <a:spcAft>
                <a:spcPts val="0"/>
              </a:spcAft>
            </a:pPr>
            <a:r>
              <a:rPr sz="1400" b="1">
                <a:solidFill>
                  <a:srgbClr val="0E2A47"/>
                </a:solidFill>
                <a:latin typeface="Montserrat"/>
              </a:rPr>
              <a:t>2</a:t>
            </a:r>
          </a:p>
        </p:txBody>
      </p:sp>
      <p:sp>
        <p:nvSpPr>
          <p:cNvPr id="15" name="Rounded Rectangle 14"/>
          <p:cNvSpPr/>
          <p:nvPr/>
        </p:nvSpPr>
        <p:spPr>
          <a:xfrm>
            <a:off x="5322608" y="1870000"/>
            <a:ext cx="3519640" cy="4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200" b="0">
                <a:solidFill>
                  <a:srgbClr val="F7FAFE"/>
                </a:solidFill>
                <a:latin typeface="Montserrat"/>
              </a:rPr>
              <a:t>Nested tuning by shape</a:t>
            </a:r>
          </a:p>
        </p:txBody>
      </p:sp>
      <p:sp>
        <p:nvSpPr>
          <p:cNvPr id="16" name="Oval 15"/>
          <p:cNvSpPr/>
          <p:nvPr/>
        </p:nvSpPr>
        <p:spPr>
          <a:xfrm>
            <a:off x="4842608" y="2480000"/>
            <a:ext cx="380000" cy="380000"/>
          </a:xfrm>
          <a:prstGeom prst="ellipse">
            <a:avLst/>
          </a:prstGeom>
          <a:solidFill>
            <a:srgbClr val="8BC5FA"/>
          </a:solidFill>
          <a:ln>
            <a:noFill/>
          </a:ln>
        </p:spPr>
        <p:txBody>
          <a:bodyPr wrap="square" lIns="0" tIns="0" rIns="0" bIns="0" rtlCol="0" anchor="ctr"/>
          <a:lstStyle/>
          <a:p>
            <a:pPr algn="ctr">
              <a:lnSpc>
                <a:spcPct val="100000"/>
              </a:lnSpc>
              <a:spcBef>
                <a:spcPts val="0"/>
              </a:spcBef>
              <a:spcAft>
                <a:spcPts val="0"/>
              </a:spcAft>
            </a:pPr>
            <a:r>
              <a:rPr sz="1400" b="1">
                <a:solidFill>
                  <a:srgbClr val="0E2A47"/>
                </a:solidFill>
                <a:latin typeface="Montserrat"/>
              </a:rPr>
              <a:t>3</a:t>
            </a:r>
          </a:p>
        </p:txBody>
      </p:sp>
      <p:sp>
        <p:nvSpPr>
          <p:cNvPr id="17" name="Rounded Rectangle 16"/>
          <p:cNvSpPr/>
          <p:nvPr/>
        </p:nvSpPr>
        <p:spPr>
          <a:xfrm>
            <a:off x="5322608" y="2430000"/>
            <a:ext cx="3519640" cy="4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200" b="0">
                <a:solidFill>
                  <a:srgbClr val="F7FAFE"/>
                </a:solidFill>
                <a:latin typeface="Montserrat"/>
              </a:rPr>
              <a:t>More trials and a wider search space for the SVM</a:t>
            </a:r>
          </a:p>
        </p:txBody>
      </p:sp>
      <p:sp>
        <p:nvSpPr>
          <p:cNvPr id="18" name="Oval 17"/>
          <p:cNvSpPr/>
          <p:nvPr/>
        </p:nvSpPr>
        <p:spPr>
          <a:xfrm>
            <a:off x="4842608" y="3040000"/>
            <a:ext cx="380000" cy="380000"/>
          </a:xfrm>
          <a:prstGeom prst="ellipse">
            <a:avLst/>
          </a:prstGeom>
          <a:solidFill>
            <a:srgbClr val="8BC5FA"/>
          </a:solidFill>
          <a:ln>
            <a:noFill/>
          </a:ln>
        </p:spPr>
        <p:txBody>
          <a:bodyPr wrap="square" lIns="0" tIns="0" rIns="0" bIns="0" rtlCol="0" anchor="ctr"/>
          <a:lstStyle/>
          <a:p>
            <a:pPr algn="ctr">
              <a:lnSpc>
                <a:spcPct val="100000"/>
              </a:lnSpc>
              <a:spcBef>
                <a:spcPts val="0"/>
              </a:spcBef>
              <a:spcAft>
                <a:spcPts val="0"/>
              </a:spcAft>
            </a:pPr>
            <a:r>
              <a:rPr sz="1400" b="1">
                <a:solidFill>
                  <a:srgbClr val="0E2A47"/>
                </a:solidFill>
                <a:latin typeface="Montserrat"/>
              </a:rPr>
              <a:t>4</a:t>
            </a:r>
          </a:p>
        </p:txBody>
      </p:sp>
      <p:sp>
        <p:nvSpPr>
          <p:cNvPr id="19" name="Rounded Rectangle 18"/>
          <p:cNvSpPr/>
          <p:nvPr/>
        </p:nvSpPr>
        <p:spPr>
          <a:xfrm>
            <a:off x="5322608" y="2990000"/>
            <a:ext cx="3519640" cy="4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200" b="0">
                <a:solidFill>
                  <a:srgbClr val="F7FAFE"/>
                </a:solidFill>
                <a:latin typeface="Montserrat"/>
              </a:rPr>
              <a:t>Confusion matrix for the extreme shapes</a:t>
            </a:r>
          </a:p>
        </p:txBody>
      </p:sp>
      <p:sp>
        <p:nvSpPr>
          <p:cNvPr id="20" name="Oval 19"/>
          <p:cNvSpPr/>
          <p:nvPr/>
        </p:nvSpPr>
        <p:spPr>
          <a:xfrm>
            <a:off x="4842608" y="3600000"/>
            <a:ext cx="380000" cy="380000"/>
          </a:xfrm>
          <a:prstGeom prst="ellipse">
            <a:avLst/>
          </a:prstGeom>
          <a:solidFill>
            <a:srgbClr val="8BC5FA"/>
          </a:solidFill>
          <a:ln>
            <a:noFill/>
          </a:ln>
        </p:spPr>
        <p:txBody>
          <a:bodyPr wrap="square" lIns="0" tIns="0" rIns="0" bIns="0" rtlCol="0" anchor="ctr"/>
          <a:lstStyle/>
          <a:p>
            <a:pPr algn="ctr">
              <a:lnSpc>
                <a:spcPct val="100000"/>
              </a:lnSpc>
              <a:spcBef>
                <a:spcPts val="0"/>
              </a:spcBef>
              <a:spcAft>
                <a:spcPts val="0"/>
              </a:spcAft>
            </a:pPr>
            <a:r>
              <a:rPr sz="1400" b="1">
                <a:solidFill>
                  <a:srgbClr val="0E2A47"/>
                </a:solidFill>
                <a:latin typeface="Montserrat"/>
              </a:rPr>
              <a:t>5</a:t>
            </a:r>
          </a:p>
        </p:txBody>
      </p:sp>
      <p:sp>
        <p:nvSpPr>
          <p:cNvPr id="21" name="Rounded Rectangle 20"/>
          <p:cNvSpPr/>
          <p:nvPr/>
        </p:nvSpPr>
        <p:spPr>
          <a:xfrm>
            <a:off x="5322608" y="3550000"/>
            <a:ext cx="3519640" cy="4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200" b="0">
                <a:solidFill>
                  <a:srgbClr val="F7FAFE"/>
                </a:solidFill>
                <a:latin typeface="Montserrat"/>
              </a:rPr>
              <a:t>Propagate to per-family maps</a:t>
            </a:r>
          </a:p>
        </p:txBody>
      </p:sp>
      <p:sp>
        <p:nvSpPr>
          <p:cNvPr id="22" name="Oval 21"/>
          <p:cNvSpPr/>
          <p:nvPr/>
        </p:nvSpPr>
        <p:spPr>
          <a:xfrm>
            <a:off x="4842608" y="4160000"/>
            <a:ext cx="380000" cy="380000"/>
          </a:xfrm>
          <a:prstGeom prst="ellipse">
            <a:avLst/>
          </a:prstGeom>
          <a:solidFill>
            <a:srgbClr val="8BC5FA"/>
          </a:solidFill>
          <a:ln>
            <a:noFill/>
          </a:ln>
        </p:spPr>
        <p:txBody>
          <a:bodyPr wrap="square" lIns="0" tIns="0" rIns="0" bIns="0" rtlCol="0" anchor="ctr"/>
          <a:lstStyle/>
          <a:p>
            <a:pPr algn="ctr">
              <a:lnSpc>
                <a:spcPct val="100000"/>
              </a:lnSpc>
              <a:spcBef>
                <a:spcPts val="0"/>
              </a:spcBef>
              <a:spcAft>
                <a:spcPts val="0"/>
              </a:spcAft>
            </a:pPr>
            <a:r>
              <a:rPr sz="1400" b="1">
                <a:solidFill>
                  <a:srgbClr val="0E2A47"/>
                </a:solidFill>
                <a:latin typeface="Montserrat"/>
              </a:rPr>
              <a:t>6</a:t>
            </a:r>
          </a:p>
        </p:txBody>
      </p:sp>
      <p:sp>
        <p:nvSpPr>
          <p:cNvPr id="23" name="Rounded Rectangle 22"/>
          <p:cNvSpPr/>
          <p:nvPr/>
        </p:nvSpPr>
        <p:spPr>
          <a:xfrm>
            <a:off x="5322608" y="4110000"/>
            <a:ext cx="3519640" cy="480000"/>
          </a:xfrm>
          <a:prstGeom prst="roundRect">
            <a:avLst>
              <a:gd name="adj" fmla="val 10000"/>
            </a:avLst>
          </a:prstGeom>
          <a:solidFill>
            <a:srgbClr val="193A58"/>
          </a:solidFill>
          <a:ln w="12700">
            <a:solidFill>
              <a:srgbClr val="5E8CBE"/>
            </a:solidFill>
          </a:ln>
        </p:spPr>
        <p:txBody>
          <a:bodyPr wrap="square" lIns="110000" tIns="60000" rIns="110000" bIns="60000" rtlCol="0" anchor="ctr"/>
          <a:lstStyle/>
          <a:p>
            <a:pPr algn="l">
              <a:lnSpc>
                <a:spcPct val="100000"/>
              </a:lnSpc>
              <a:spcBef>
                <a:spcPts val="0"/>
              </a:spcBef>
              <a:spcAft>
                <a:spcPts val="0"/>
              </a:spcAft>
            </a:pPr>
            <a:r>
              <a:rPr sz="1200" b="0">
                <a:solidFill>
                  <a:srgbClr val="F7FAFE"/>
                </a:solidFill>
                <a:latin typeface="Montserrat"/>
              </a:rPr>
              <a:t>Regenerate base-deck pictures with Spanish text (slides 5, 34)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txBody>
          <a:bodyPr wrap="square" rtlCol="0" anchor="ctr"/>
          <a:lstStyle/>
          <a:p>
            <a:pPr algn="l">
              <a:lnSpc>
                <a:spcPct val="100000"/>
              </a:lnSpc>
              <a:spcBef>
                <a:spcPts val="0"/>
              </a:spcBef>
              <a:spcAft>
                <a:spcPts val="0"/>
              </a:spcAft>
            </a:pPr>
            <a:endParaRPr/>
          </a:p>
        </p:txBody>
      </p:sp>
      <p:sp>
        <p:nvSpPr>
          <p:cNvPr id="3" name="Rectangle 2"/>
          <p:cNvSpPr/>
          <p:nvPr/>
        </p:nvSpPr>
        <p:spPr>
          <a:xfrm>
            <a:off x="274320" y="210312"/>
            <a:ext cx="50292" cy="411480"/>
          </a:xfrm>
          <a:prstGeom prst="rect">
            <a:avLst/>
          </a:prstGeom>
          <a:solidFill>
            <a:srgbClr val="8BC5FA"/>
          </a:solidFill>
          <a:ln>
            <a:noFill/>
          </a:ln>
        </p:spPr>
        <p:txBody>
          <a:bodyPr wrap="square" rtlCol="0" anchor="ctr"/>
          <a:lstStyle/>
          <a:p>
            <a:pPr algn="l">
              <a:lnSpc>
                <a:spcPct val="100000"/>
              </a:lnSpc>
              <a:spcBef>
                <a:spcPts val="0"/>
              </a:spcBef>
              <a:spcAft>
                <a:spcPts val="0"/>
              </a:spcAft>
            </a:pP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gn="l">
              <a:lnSpc>
                <a:spcPct val="106000"/>
              </a:lnSpc>
              <a:spcBef>
                <a:spcPts val="0"/>
              </a:spcBef>
              <a:spcAft>
                <a:spcPts val="300"/>
              </a:spcAft>
            </a:pPr>
            <a:r>
              <a:rPr sz="2200" b="1">
                <a:solidFill>
                  <a:srgbClr val="8BC5FA"/>
                </a:solidFill>
                <a:latin typeface="Libre Baskerville"/>
              </a:rPr>
              <a:t>Where the models fail: error by shape</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gn="l">
              <a:lnSpc>
                <a:spcPct val="106000"/>
              </a:lnSpc>
              <a:spcBef>
                <a:spcPts val="0"/>
              </a:spcBef>
              <a:spcAft>
                <a:spcPts val="300"/>
              </a:spcAft>
            </a:pPr>
            <a:r>
              <a:rPr sz="1050" b="0">
                <a:solidFill>
                  <a:srgbClr val="B7CBE0"/>
                </a:solidFill>
                <a:latin typeface="Montserrat"/>
              </a:rPr>
              <a:t>Total flood volume error per hydrograph shape (all factors pooled) · 40 shapes · out-of-fold</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gn="l">
              <a:lnSpc>
                <a:spcPct val="106000"/>
              </a:lnSpc>
              <a:spcBef>
                <a:spcPts val="0"/>
              </a:spcBef>
              <a:spcAft>
                <a:spcPts val="300"/>
              </a:spcAft>
            </a:pPr>
            <a:r>
              <a:rPr sz="800" b="0">
                <a:solidFill>
                  <a:srgbClr val="B7CBE0"/>
                </a:solidFill>
                <a:latin typeface="Montserrat"/>
              </a:rPr>
              <a:t>MLSMFP  |  Progress: audit, approximate SVM and fair comparison  |  October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gn="l">
              <a:lnSpc>
                <a:spcPct val="106000"/>
              </a:lnSpc>
              <a:spcBef>
                <a:spcPts val="0"/>
              </a:spcBef>
              <a:spcAft>
                <a:spcPts val="300"/>
              </a:spcAft>
            </a:pPr>
            <a:r>
              <a:rPr sz="1100" b="0">
                <a:solidFill>
                  <a:srgbClr val="8BC5FA"/>
                </a:solidFill>
                <a:latin typeface="Montserrat"/>
              </a:rPr>
              <a:t>49</a:t>
            </a:r>
          </a:p>
        </p:txBody>
      </p:sp>
      <p:pic>
        <p:nvPicPr>
          <p:cNvPr id="8" name="Picture 7" descr="error_by_shape.png"/>
          <p:cNvPicPr>
            <a:picLocks noChangeAspect="1"/>
          </p:cNvPicPr>
          <p:nvPr/>
        </p:nvPicPr>
        <p:blipFill>
          <a:blip r:embed="rId3"/>
          <a:stretch>
            <a:fillRect/>
          </a:stretch>
        </p:blipFill>
        <p:spPr>
          <a:xfrm>
            <a:off x="292608" y="1030000"/>
            <a:ext cx="3305001" cy="3699999"/>
          </a:xfrm>
          <a:prstGeom prst="rect">
            <a:avLst/>
          </a:prstGeom>
        </p:spPr>
      </p:pic>
      <p:sp>
        <p:nvSpPr>
          <p:cNvPr id="9" name="Rounded Rectangle 8"/>
          <p:cNvSpPr/>
          <p:nvPr/>
        </p:nvSpPr>
        <p:spPr>
          <a:xfrm>
            <a:off x="3797609" y="1030000"/>
            <a:ext cx="5044639" cy="1380000"/>
          </a:xfrm>
          <a:prstGeom prst="roundRect">
            <a:avLst>
              <a:gd name="adj" fmla="val 10000"/>
            </a:avLst>
          </a:prstGeom>
          <a:solidFill>
            <a:srgbClr val="234560"/>
          </a:solidFill>
          <a:ln w="25400">
            <a:solidFill>
              <a:srgbClr val="8BC5FA"/>
            </a:solidFill>
          </a:ln>
        </p:spPr>
        <p:txBody>
          <a:bodyPr wrap="square" lIns="110000" tIns="60000" rIns="110000" bIns="60000" rtlCol="0" anchor="t"/>
          <a:lstStyle/>
          <a:p>
            <a:pPr algn="l">
              <a:lnSpc>
                <a:spcPct val="100000"/>
              </a:lnSpc>
              <a:spcBef>
                <a:spcPts val="0"/>
              </a:spcBef>
              <a:spcAft>
                <a:spcPts val="300"/>
              </a:spcAft>
            </a:pPr>
            <a:r>
              <a:rPr sz="1300" b="1">
                <a:solidFill>
                  <a:srgbClr val="8BC5FA"/>
                </a:solidFill>
                <a:latin typeface="Montserrat"/>
              </a:rPr>
              <a:t>A few shapes concentrate the failures</a:t>
            </a:r>
          </a:p>
          <a:p>
            <a:pPr algn="l">
              <a:lnSpc>
                <a:spcPct val="100000"/>
              </a:lnSpc>
              <a:spcBef>
                <a:spcPts val="0"/>
              </a:spcBef>
              <a:spcAft>
                <a:spcPts val="0"/>
              </a:spcAft>
            </a:pPr>
            <a:r>
              <a:rPr sz="1200" b="0">
                <a:solidFill>
                  <a:srgbClr val="F7FAFE"/>
                </a:solidFill>
                <a:latin typeface="Montserrat"/>
              </a:rPr>
              <a:t>shape_quasi_uniform_block is under-predicted by all three (XGBoost / MLP / SVM: -31.2% · -26.3% · -42.9%). It carries the largest SWMM volume (1.77 million m³) and holds 61% of XGBoost's squared error</a:t>
            </a:r>
          </a:p>
        </p:txBody>
      </p:sp>
      <p:sp>
        <p:nvSpPr>
          <p:cNvPr id="10" name="Rounded Rectangle 9"/>
          <p:cNvSpPr/>
          <p:nvPr/>
        </p:nvSpPr>
        <p:spPr>
          <a:xfrm>
            <a:off x="3797609" y="2510000"/>
            <a:ext cx="5044639" cy="1100000"/>
          </a:xfrm>
          <a:prstGeom prst="roundRect">
            <a:avLst>
              <a:gd name="adj" fmla="val 10000"/>
            </a:avLst>
          </a:prstGeom>
          <a:solidFill>
            <a:srgbClr val="193A58"/>
          </a:solidFill>
          <a:ln w="19050">
            <a:solidFill>
              <a:srgbClr val="F1CB83"/>
            </a:solidFill>
          </a:ln>
        </p:spPr>
        <p:txBody>
          <a:bodyPr wrap="square" lIns="110000" tIns="60000" rIns="110000" bIns="60000" rtlCol="0" anchor="t"/>
          <a:lstStyle/>
          <a:p>
            <a:pPr algn="l">
              <a:lnSpc>
                <a:spcPct val="100000"/>
              </a:lnSpc>
              <a:spcBef>
                <a:spcPts val="0"/>
              </a:spcBef>
              <a:spcAft>
                <a:spcPts val="300"/>
              </a:spcAft>
            </a:pPr>
            <a:r>
              <a:rPr sz="1300" b="1">
                <a:solidFill>
                  <a:srgbClr val="F1CB83"/>
                </a:solidFill>
                <a:latin typeface="Montserrat"/>
              </a:rPr>
              <a:t>common_bogota is over-predicted</a:t>
            </a:r>
          </a:p>
          <a:p>
            <a:pPr algn="l">
              <a:lnSpc>
                <a:spcPct val="100000"/>
              </a:lnSpc>
              <a:spcBef>
                <a:spcPts val="0"/>
              </a:spcBef>
              <a:spcAft>
                <a:spcPts val="0"/>
              </a:spcAft>
            </a:pPr>
            <a:r>
              <a:rPr sz="1200" b="0">
                <a:solidFill>
                  <a:srgbClr val="F7FAFE"/>
                </a:solidFill>
                <a:latin typeface="Montserrat"/>
              </a:rPr>
              <a:t>+33.0% · +61.6% · +93.6%; a small-volume shape (21,577 m³ in SWMM), so its absolute impact is small</a:t>
            </a:r>
          </a:p>
        </p:txBody>
      </p:sp>
      <p:sp>
        <p:nvSpPr>
          <p:cNvPr id="11" name="Rounded Rectangle 10"/>
          <p:cNvSpPr/>
          <p:nvPr/>
        </p:nvSpPr>
        <p:spPr>
          <a:xfrm>
            <a:off x="3797609" y="3710000"/>
            <a:ext cx="5044639" cy="1020000"/>
          </a:xfrm>
          <a:prstGeom prst="roundRect">
            <a:avLst>
              <a:gd name="adj" fmla="val 10000"/>
            </a:avLst>
          </a:prstGeom>
          <a:solidFill>
            <a:srgbClr val="193A58"/>
          </a:solidFill>
          <a:ln w="12700">
            <a:solidFill>
              <a:srgbClr val="5E8CBE"/>
            </a:solidFill>
          </a:ln>
        </p:spPr>
        <p:txBody>
          <a:bodyPr wrap="square" lIns="110000" tIns="60000" rIns="110000" bIns="60000" rtlCol="0" anchor="t"/>
          <a:lstStyle/>
          <a:p>
            <a:pPr algn="l">
              <a:lnSpc>
                <a:spcPct val="100000"/>
              </a:lnSpc>
              <a:spcBef>
                <a:spcPts val="0"/>
              </a:spcBef>
              <a:spcAft>
                <a:spcPts val="300"/>
              </a:spcAft>
            </a:pPr>
            <a:r>
              <a:rPr sz="1300" b="1">
                <a:solidFill>
                  <a:srgbClr val="B7CBE0"/>
                </a:solidFill>
                <a:latin typeface="Montserrat"/>
              </a:rPr>
              <a:t>Across shapes</a:t>
            </a:r>
          </a:p>
          <a:p>
            <a:pPr algn="l">
              <a:lnSpc>
                <a:spcPct val="100000"/>
              </a:lnSpc>
              <a:spcBef>
                <a:spcPts val="0"/>
              </a:spcBef>
              <a:spcAft>
                <a:spcPts val="0"/>
              </a:spcAft>
            </a:pPr>
            <a:r>
              <a:rPr sz="1200" b="0">
                <a:solidFill>
                  <a:srgbClr val="F7FAFE"/>
                </a:solidFill>
                <a:latin typeface="Montserrat"/>
              </a:rPr>
              <a:t>Median |error|: 13.7% · 10.5% · 20.9%. Shapes with |error| &gt; 20%: 7 · 5 · 21 (XGBoost / MLP / SVM)</a:t>
            </a:r>
          </a:p>
        </p:txBody>
      </p:sp>
    </p:spTree>
  </p:cSld>
  <p:clrMapOvr>
    <a:masterClrMapping/>
  </p:clrMapOvr>
</p:sld>
</file>

<file path=ppt/theme/theme1.xml><?xml version="1.0" encoding="utf-8"?>
<a:theme xmlns:a="http://schemas.openxmlformats.org/drawingml/2006/main" name="diap">
  <a:themeElements>
    <a:clrScheme name="Simple Light">
      <a:dk1>
        <a:srgbClr val="FFFFFF"/>
      </a:dk1>
      <a:lt1>
        <a:srgbClr val="0C2C45"/>
      </a:lt1>
      <a:dk2>
        <a:srgbClr val="8BC5FA"/>
      </a:dk2>
      <a:lt2>
        <a:srgbClr val="243C59"/>
      </a:lt2>
      <a:accent1>
        <a:srgbClr val="5083C2"/>
      </a:accent1>
      <a:accent2>
        <a:srgbClr val="355A84"/>
      </a:accent2>
      <a:accent3>
        <a:srgbClr val="FFFFFF"/>
      </a:accent3>
      <a:accent4>
        <a:srgbClr val="FFFFFF"/>
      </a:accent4>
      <a:accent5>
        <a:srgbClr val="FFFFFF"/>
      </a:accent5>
      <a:accent6>
        <a:srgbClr val="FFFFFF"/>
      </a:accent6>
      <a:hlink>
        <a:srgbClr val="FFFFFF"/>
      </a:hlink>
      <a:folHlink>
        <a:srgbClr val="0097A7"/>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5B3C633-C8C3-46EC-A779-D84379177807}">
  <we:reference id="wa200010725" version="1.0.0.1" store="es-MX" storeType="OMEX"/>
  <we:alternateReferences>
    <we:reference id="WA200010725" version="1.0.0.1" store="" storeType="OMEX"/>
  </we:alternateReferences>
  <we:properties>
    <we:property name="claude.fileId" value="&quot;0e8703bd-6d4e-4448-859d-ea000cb375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10184</TotalTime>
  <Words>11182</Words>
  <Application>Microsoft Office PowerPoint</Application>
  <PresentationFormat>Presentación en pantalla (16:9)</PresentationFormat>
  <Paragraphs>916</Paragraphs>
  <Slides>54</Slides>
  <Notes>33</Notes>
  <HiddenSlides>7</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54</vt:i4>
      </vt:variant>
    </vt:vector>
  </HeadingPairs>
  <TitlesOfParts>
    <vt:vector size="59" baseType="lpstr">
      <vt:lpstr>Arial</vt:lpstr>
      <vt:lpstr>Zen Antique</vt:lpstr>
      <vt:lpstr>Montserrat</vt:lpstr>
      <vt:lpstr>Libre Baskerville</vt:lpstr>
      <vt:lpstr>diap</vt:lpstr>
      <vt:lpstr>Machine Learning Model for Hydraulic Failure Prediction in Stormwater Systems</vt:lpstr>
      <vt:lpstr>Thesis II Schedule</vt:lpstr>
      <vt:lpstr>Presentación de PowerPoint</vt:lpstr>
      <vt:lpstr>Presentación de PowerPoint</vt:lpstr>
      <vt:lpstr>Presentación de PowerPoint</vt:lpstr>
      <vt:lpstr>Presentación de PowerPoint</vt:lpstr>
      <vt:lpstr>Hydrograph 1</vt:lpstr>
      <vt:lpstr>Hydrograph 1</vt:lpstr>
      <vt:lpstr>Hydrograph 2</vt:lpstr>
      <vt:lpstr>Hydrograph 2</vt:lpstr>
      <vt:lpstr>Validation hydrographs</vt:lpstr>
      <vt:lpstr>Presentación de PowerPoint</vt:lpstr>
      <vt:lpstr>Presentación de PowerPoint</vt:lpstr>
      <vt:lpstr>Presentación de PowerPoint</vt:lpstr>
      <vt:lpstr>Data handling and model training workflow</vt:lpstr>
      <vt:lpstr>Example database – Node 75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Machine Learning Model for Hydraulic Failure Prediction in Stormwater Systems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Nitrogen Narcosis Caused by Diving Case Report</dc:title>
  <dc:creator>Maria Alejandra Gonzalez Molina</dc:creator>
  <cp:lastModifiedBy>Luis Fernando Fajardo Bravo</cp:lastModifiedBy>
  <cp:revision>78</cp:revision>
  <cp:lastPrinted>2026-07-30T02:50:58Z</cp:lastPrinted>
  <dcterms:modified xsi:type="dcterms:W3CDTF">2026-10-20T13:36:38Z</dcterms:modified>
</cp:coreProperties>
</file>