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6"/>
  </p:notesMasterIdLst>
  <p:handoutMasterIdLst>
    <p:handoutMasterId r:id="rId57"/>
  </p:handoutMasterIdLst>
  <p:sldIdLst>
    <p:sldId id="470" r:id="rId4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</p:sldIdLst>
  <p:sldSz cx="9144000" cy="5143500" type="screen16x9"/>
  <p:notesSz cx="6858000" cy="9144000"/>
  <p:embeddedFontLst>
    <p:embeddedFont>
      <p:font typeface="Libre Baskerville" panose="020B0604020202020204" charset="0"/>
      <p:regular r:id="rId58"/>
      <p:bold r:id="rId59"/>
      <p:italic r:id="rId60"/>
    </p:embeddedFont>
    <p:embeddedFont>
      <p:font typeface="Montserrat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4400" autoAdjust="0"/>
  </p:normalViewPr>
  <p:slideViewPr>
    <p:cSldViewPr snapToGrid="0">
      <p:cViewPr varScale="1">
        <p:scale>
          <a:sx n="141" d="100"/>
          <a:sy n="141" d="100"/>
        </p:scale>
        <p:origin x="852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45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font" Target="fonts/font7.fnt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20/10/2026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61550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Avance semanal: datos A listos; transferencia en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Corte al 28 de octubre de 2026 · distinguir selección interna de evaluación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DATOS DE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de 1.000 simulaciones pasaron QA.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73,78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Mejor RMSE interno tras 50 ensayos Optuna en 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E2A47"/>
                </a:solidFill>
                <a:latin typeface="Montserrat"/>
              </a:rPr>
              <a:t>En curso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Aún no hay métricas de transferencia.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017520"/>
            <a:ext cx="8193024" cy="804672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36392"/>
            <a:ext cx="1234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08960"/>
            <a:ext cx="64465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>
                <a:solidFill>
                  <a:srgbClr val="2D3034"/>
                </a:solidFill>
                <a:latin typeface="Montserrat"/>
              </a:rPr>
              <a:t>Búsqueda de 50 ensayos activa; después se ajustará el ensemble final de cinco semillas.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96512"/>
            <a:ext cx="80924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1">
                <a:solidFill>
                  <a:srgbClr val="0E2A47"/>
                </a:solidFill>
                <a:latin typeface="Montserrat"/>
              </a:rPr>
              <a:t>Conclusión de hoy: A es trazable y XGBoost tiene candidato reproducible; la transferencia a B todavía debe medirse.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Conjunto A: simulaciones filtradas con QA hidráulico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Criterios aplicados provisionalmente: continuidad, drenaje y cobertura completa de resultados.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CORRIDAS 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Simulaciones SWMM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APTAS PARA 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866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Tras controles de 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EXCLUIDAS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Sin imputar etiquetas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FORMAS PRESENTES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36 /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Cuatro grupos sin corrida apta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32888"/>
            <a:ext cx="5394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MOTIVOS DE EXCLUSIÓN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44368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No drenada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355A84"/>
          </a:solidFill>
          <a:ln>
            <a:solidFill>
              <a:srgbClr val="355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293522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29584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Continuidad &gt; 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3566160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566160"/>
            <a:ext cx="998524" cy="182880"/>
          </a:xfrm>
          <a:prstGeom prst="rect">
            <a:avLst/>
          </a:prstGeom>
          <a:solidFill>
            <a:srgbClr val="8BC5FA"/>
          </a:solidFill>
          <a:ln>
            <a:solidFill>
              <a:srgbClr val="8BC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52044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35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87752"/>
            <a:ext cx="2148840" cy="136245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2715768"/>
            <a:ext cx="182880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072384"/>
            <a:ext cx="1837943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160 nodos · 21 variables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41.497 filas inundadas (29,9%)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Umbral: 1 m³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160520"/>
            <a:ext cx="81381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Los motivos se traslapan en una corrida. El 5% y las tolerancias de drenaje aún requieren justificación hidráulica.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Diseño de evaluación: B permanece aislada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selección usa A; la red B se reserva para una prueba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A · Chico 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corridas aptas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Preparación congelada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SELECCIÓN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GroupKFold(5)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Separación por forma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Optuna solo ve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B · Chico Norte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Etiquetas cerradas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Una red no representa todas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2926080"/>
            <a:ext cx="8193024" cy="100584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026664"/>
            <a:ext cx="768096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Control contra fuga de información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364992"/>
            <a:ext cx="7635240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D3034"/>
                </a:solidFill>
                <a:latin typeface="Montserrat"/>
              </a:rPr>
              <a:t>Se verifican manifiestos, archivos por corrida, claves y variables. Las predicciones se sellan y reproducen antes de abrir los RPT de 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87952"/>
            <a:ext cx="81381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>
                <a:solidFill>
                  <a:srgbClr val="5B6977"/>
                </a:solidFill>
                <a:latin typeface="Montserrat"/>
              </a:rPr>
              <a:t>Alcance: transferencia a una red externa; no prueba generalización a una población de redes.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XGBoost: 73,78 m³ de RMSE interno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50 ensayos Optuna · GroupKFold(5) por forma · semilla 42 · selección solo con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05840"/>
            <a:ext cx="5577840" cy="26171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1338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20700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MEJOR ENSAYO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3" y="146304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E2A47"/>
                </a:solidFill>
                <a:latin typeface="Montserrat"/>
              </a:rPr>
              <a:t>#13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3" y="188366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ID Optuna; numeración desde cero.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41401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48716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CRITERIO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74320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73,782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316382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macro_network_rmse; en A equivale al RMSE de una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03320"/>
            <a:ext cx="2697480" cy="694944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776472"/>
            <a:ext cx="2395728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Candidato ajustado con A; aún no es el resultado de 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89120"/>
            <a:ext cx="5449824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B6977"/>
                </a:solidFill>
                <a:latin typeface="Montserrat"/>
              </a:rPr>
              <a:t>La línea oscura muestra el mejor RMSE acumulado; es una estimación de selección interna.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Estado de modelos y simulaciones de la red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Los conteos de B son operativos; todavía no son métricas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355A84"/>
                </a:solidFill>
                <a:latin typeface="Montserrat"/>
              </a:rPr>
              <a:t>XGBOOST · COMPLETADO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/ 50 ensayos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Candidato ajustado con A. Se verificaron la recarga de los modelos y la procedencia de sus archivos.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0E2A47"/>
                </a:solidFill>
                <a:latin typeface="Montserrat"/>
              </a:rPr>
              <a:t>MLP · BÚSQUEDA ACTIVA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ensayos previstos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GroupKFold(5), 200 épocas por fold. Falta ajustar el ensemble final de cinco semillas (42–46).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867912"/>
            <a:ext cx="162763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RED B · CORTE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840480"/>
            <a:ext cx="6519672" cy="35661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0" b="1">
                <a:solidFill>
                  <a:srgbClr val="0E2A47"/>
                </a:solidFill>
                <a:latin typeface="Montserrat"/>
              </a:rPr>
              <a:t>324 aptas · 114 excluidas · 537 pendientes de 975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97680"/>
            <a:ext cx="8119872" cy="173736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297680"/>
            <a:ext cx="3647696" cy="173736"/>
          </a:xfrm>
          <a:prstGeom prst="rect">
            <a:avLst/>
          </a:prstGeom>
          <a:solidFill>
            <a:srgbClr val="5E8CBE"/>
          </a:solidFill>
          <a:ln>
            <a:solidFill>
              <a:srgbClr val="5E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489704"/>
            <a:ext cx="8119872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5B6977"/>
                </a:solidFill>
                <a:latin typeface="Montserrat"/>
              </a:rPr>
              <a:t>Etiquetas de B aún cerradas para el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Mapas y gráficos de paridad: siguiente hito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Las figuras previas corresponden a otros modelos y otro protocolo; no se mezclan con esta evaluación.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Terminar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Cerrar búsqueda y ajustar cinco semillas.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Sellar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Congelar modelos, variables y hashes de predicción.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6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Evaluar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Verificar RPT, QA y cobertura; calcular métricas.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Graficar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Paridad por nodo/escenario y mapas espaciales.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27832"/>
            <a:ext cx="7754112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2A47"/>
                </a:solidFill>
                <a:latin typeface="Montserrat"/>
              </a:rPr>
              <a:t>No reutilizamos figuras antiguas: mezclarlas con los nuevos candidatos exageraría la evidencia de transferencia.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87368"/>
            <a:ext cx="797356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60" b="0">
                <a:solidFill>
                  <a:srgbClr val="5B6977"/>
                </a:solidFill>
                <a:latin typeface="Montserrat"/>
              </a:rPr>
              <a:t>Visual actual válido: curva de convergencia de los 50 ensayos internos de XGBoost (diapositiva 48).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Qué podemos afirmar hoy y qué falta comprobar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auditoría convirtió una tabla histórica en un experimento trazable con etiquetas protegidas.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55A84"/>
                </a:solidFill>
                <a:latin typeface="Montserrat"/>
              </a:rPr>
              <a:t>Evidencia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Dataset A reconstruido y filtrado, con manifiestos y hashes.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XGBoost seleccionado entre 50 ensayos; candidato verificado.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Nueva red B en simulación, con exclusiones reportadas.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Evidencia 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Terminar MLP y ajustar el ensemble de cinco semillas.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Sellar predicciones; evaluar B y generar mapas/paridad nuevos.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Probar otra red antes de afirmar generalización amplia.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767328"/>
            <a:ext cx="82296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Cautela hidráulica: continuidad ≤ 5%, extensiones de drenaje y tolerancias numéricas son provisionales; falta justificarlas.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79392"/>
            <a:ext cx="8229600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Alcance: hidrogramas sintéticos de caudal por nodo; lluvia–escorrentía sigue fuera del proyecto actual.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Trazabilidad y decisiones congeladas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Cada resultado queda asociado a una preparación, un protocolo y artefactos verificables.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33856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ID de preparación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07008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813323e3ef75b752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07008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138.560 filas · 866 corridas · tabular_v4_21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55648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28800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Manifiesto de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28800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4bf0c50f61b2287…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Fuentes, archivos por corrida y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77440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50592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Prerregistro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50592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6d5b729e33bd1162…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50592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Sellado antes de las búsquedas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999232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072384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Estudio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72384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5b3ace9ece0223b8…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72384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50 ensayos · semilla 42 · GroupKFold(5)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621024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94176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Protocolo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694176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e1e66e5ab9a41273…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94176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39 × 25 escenarios · staging sin etiquetas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8183879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5B6977"/>
                </a:solidFill>
                <a:latin typeface="Montserrat"/>
              </a:rPr>
              <a:t>Rutas y hashes completos en los manifiestos y la bitácora; las etiquetas de B no se guardan en SQLite.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t>Modelo de aprendizaje automático para predecir fallas hidráulicas</a:t>
            </a:r>
          </a:p>
          <a:p>
            <a:r>
              <a:t>en redes de alcantarillado pluvial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/>
          <a:lstStyle/>
          <a:p>
            <a:r>
              <a:t>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17127943"/>
      </p:ext>
    </p:extLst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11182</Words>
  <Application>Microsoft Office PowerPoint</Application>
  <PresentationFormat>Presentación en pantalla (16:9)</PresentationFormat>
  <Paragraphs>916</Paragraphs>
  <Slides>54</Slides>
  <Notes>33</Notes>
  <HiddenSlides>7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Zen Antique</vt:lpstr>
      <vt:lpstr>Montserrat</vt:lpstr>
      <vt:lpstr>Libre Baskerville</vt:lpstr>
      <vt:lpstr>diap</vt:lpstr>
      <vt:lpstr>Machine Learning Model for Hydraulic Failure Prediction in Stormwater Systems</vt:lpstr>
      <vt:lpstr>Thesis II Schedule</vt:lpstr>
      <vt:lpstr>Presentación de PowerPoint</vt:lpstr>
      <vt:lpstr>Presentación de PowerPoint</vt:lpstr>
      <vt:lpstr>Presentación de PowerPoint</vt:lpstr>
      <vt:lpstr>Presentación de PowerPoint</vt:lpstr>
      <vt:lpstr>Hydrograph 1</vt:lpstr>
      <vt:lpstr>Hydrograph 1</vt:lpstr>
      <vt:lpstr>Hydrograph 2</vt:lpstr>
      <vt:lpstr>Hydrograph 2</vt:lpstr>
      <vt:lpstr>Validation hydrographs</vt:lpstr>
      <vt:lpstr>Presentación de PowerPoint</vt:lpstr>
      <vt:lpstr>Presentación de PowerPoint</vt:lpstr>
      <vt:lpstr>Presentación de PowerPoint</vt:lpstr>
      <vt:lpstr>Data handling and model training workflow</vt:lpstr>
      <vt:lpstr>Example database – Node 75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Machine Learning Model for Hydraulic Failure Prediction in Stormwater Systems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 Fajardo Bravo</cp:lastModifiedBy>
  <cp:revision>78</cp:revision>
  <cp:lastPrinted>2026-07-30T02:50:58Z</cp:lastPrinted>
  <dcterms:modified xsi:type="dcterms:W3CDTF">2026-10-20T13:36:38Z</dcterms:modified>
</cp:coreProperties>
</file>