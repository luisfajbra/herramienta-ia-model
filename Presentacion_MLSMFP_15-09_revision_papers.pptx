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2"/>
  </p:notesMasterIdLst>
  <p:handoutMasterIdLst>
    <p:handoutMasterId r:id="rId33"/>
  </p:handoutMasterIdLst>
  <p:sldIdLst>
    <p:sldId id="356" r:id="rId2"/>
    <p:sldId id="412" r:id="rId3"/>
    <p:sldId id="419" r:id="rId4"/>
    <p:sldId id="420" r:id="rId5"/>
    <p:sldId id="429" r:id="rId6"/>
    <p:sldId id="431" r:id="rId7"/>
    <p:sldId id="421" r:id="rId8"/>
    <p:sldId id="422" r:id="rId9"/>
    <p:sldId id="423" r:id="rId10"/>
    <p:sldId id="424" r:id="rId11"/>
    <p:sldId id="432" r:id="rId12"/>
    <p:sldId id="416" r:id="rId13"/>
    <p:sldId id="417" r:id="rId14"/>
    <p:sldId id="418" r:id="rId15"/>
    <p:sldId id="427" r:id="rId16"/>
    <p:sldId id="428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46" r:id="rId31"/>
  </p:sldIdLst>
  <p:sldSz cx="9144000" cy="5143500" type="screen16x9"/>
  <p:notesSz cx="6858000" cy="9144000"/>
  <p:embeddedFontLst>
    <p:embeddedFont>
      <p:font typeface="Libre Baskerville" panose="020B0604020202020204" charset="0"/>
      <p:regular r:id="rId34"/>
      <p:bold r:id="rId35"/>
      <p:italic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2" autoAdjust="0"/>
    <p:restoredTop sz="94400" autoAdjust="0"/>
  </p:normalViewPr>
  <p:slideViewPr>
    <p:cSldViewPr snapToGrid="0">
      <p:cViewPr varScale="1">
        <p:scale>
          <a:sx n="87" d="100"/>
          <a:sy n="87" d="100"/>
        </p:scale>
        <p:origin x="96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22/09/2026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4:39:27.1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24461,'1039'19'0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69863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2ACD-391E-BFA8-4946-273C3C1B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60AC92-FD3C-B5B1-9592-566E42FF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749602-211D-CC24-93A9-B99A4826D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2566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209AF-B256-F79D-01C0-DEE25CE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FE2BDB-D1CD-9102-A167-9BEACBD25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A35544-7779-52CD-525A-C3F8424B7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6297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0336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8763-6BE7-3EED-06AF-187EA77A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DBBC01-22A6-4A87-E929-CC7F58418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5E92510-A5BB-A530-B362-1E6107B37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5530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E2EB-6CB3-7D3A-712B-258AC4F7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856E60-D474-CB55-D00C-240581A3C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ECDF11-1B20-9101-FCCE-82BA35AEE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488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 Graph neural network-based surrogate modelling for real-time hydraulic prediction of urban drainage networks</a:t>
            </a:r>
          </a:p>
          <a:p>
            <a:r>
              <a:t>*Detalles computacionales del preprint; publicación revisada verificada. Contrastar con versión editorial antes de replicar.</a:t>
            </a:r>
          </a:p>
          <a:p>
            <a:r>
              <a:t>Fuente: https://arxiv.org/pdf/2404.10324</a:t>
            </a:r>
          </a:p>
          <a:p>
            <a:r>
              <a:t>Código: https://github.com/Zhiyu014/GNN-UDS</a:t>
            </a:r>
          </a:p>
          <a:p>
            <a:endParaRPr/>
          </a:p>
          <a:p>
            <a:r>
              <a:t>P2 Accelerating hydrodynamic simulations of urban drainage systems with physics-guided machine learning</a:t>
            </a:r>
          </a:p>
          <a:p>
            <a:r>
              <a:t>Texto publicado, secciones 2.3–2.6, 3.2 y 3.5. Sus tiempos no incluyen nuestro desarrollo ni se trasladan a nuestra red.</a:t>
            </a:r>
          </a:p>
          <a:p>
            <a:r>
              <a:t>Fuente: https://backend.orbit.dtu.dk/ws/portalfiles/portal/282620979/1_s2.0_S0043135422009198_main.pdf</a:t>
            </a:r>
          </a:p>
          <a:p>
            <a:r>
              <a:t>Código: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</a:t>
            </a:r>
          </a:p>
          <a:p>
            <a:r>
              <a:t>*Detalles computacionales del preprint; publicación revisada verificada. Contrastar con versión editorial antes de replicar.</a:t>
            </a:r>
          </a:p>
          <a:p>
            <a:r>
              <a:t>CONDICIONAL: útil si necesitamos dinámica temporal; no sustituir XGBoost solo por modernidad.</a:t>
            </a:r>
          </a:p>
          <a:p>
            <a:r>
              <a:t>Fuente: https://arxiv.org/pdf/2404.10324</a:t>
            </a:r>
          </a:p>
          <a:p>
            <a:endParaRPr/>
          </a:p>
          <a:p>
            <a:r>
              <a:t>P2</a:t>
            </a:r>
          </a:p>
          <a:p>
            <a:r>
              <a:t>Texto publicado, secciones 2.3–2.6, 3.2 y 3.5. Sus tiempos no incluyen nuestro desarrollo ni se trasladan a nuestra red.</a:t>
            </a:r>
          </a:p>
          <a:p>
            <a:r>
              <a:t>APROVECHAR IDEAS: extremos y errores de volumen. Implementación temporal completa, solo con una necesidad demostrada.</a:t>
            </a:r>
          </a:p>
          <a:p>
            <a:r>
              <a:t>Fuente: https://backend.orbit.dtu.dk/ws/portalfiles/portal/282620979/1_s2.0_S0043135422009198_main.pdf</a:t>
            </a:r>
          </a:p>
          <a:p>
            <a:endParaRPr/>
          </a:p>
          <a:p>
            <a:r>
              <a:t>Los rangos de esfuerzo son estimaciones propias para adaptar a nuestro objetivo; no son resultados de los autores. No asumir que la GPU publicada sea mínima.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 Transferable and data efficient metamodeling of storm water system nodal depths using auto-regressive graph neural networks</a:t>
            </a:r>
          </a:p>
          <a:p>
            <a:r>
              <a:t>Texto publicado, secciones 2.1, 2.4, 4.3–4.4 y 6.2.3. Transferencia limitada y objetivo distinto al de la tesis.</a:t>
            </a:r>
          </a:p>
          <a:p>
            <a:r>
              <a:t>Fuente: https://repository.tudelft.nl/file/File_82fef3ff-9a5f-4275-bd8f-6a4eb06c463d</a:t>
            </a:r>
          </a:p>
          <a:p>
            <a:r>
              <a:t>Código: https://github.com/alextremo0205/SWMM_GNN_Repository_Paper_version</a:t>
            </a:r>
          </a:p>
          <a:p>
            <a:endParaRPr/>
          </a:p>
          <a:p>
            <a:r>
              <a:t>P4 Evaluation of graph neural networks for urban drainage metamodeling: Key components and transferability analysis</a:t>
            </a:r>
          </a:p>
          <a:p>
            <a:r>
              <a:t>Texto publicado, secciones 3.3–3.6 y 5.3; README del código. A100 usada no significa A100 obligatoria.</a:t>
            </a:r>
          </a:p>
          <a:p>
            <a:r>
              <a:t>Fuente: https://repository.tudelft.nl/file/File_1cf09147-d8d4-4be3-8b42-f2e508ab64a6</a:t>
            </a:r>
          </a:p>
          <a:p>
            <a:r>
              <a:t>Código: https://github.com/alextremo0205/SWMM_GNN_Component_Evaluation_and_Transferability_Analysis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</a:t>
            </a:r>
          </a:p>
          <a:p>
            <a:r>
              <a:t>Texto publicado, secciones 2.1, 2.4, 4.3–4.4 y 6.2.3. Transferencia limitada y objetivo distinto al de la tesis.</a:t>
            </a:r>
          </a:p>
          <a:p>
            <a:r>
              <a:t>SEGUNDA ETAPA: mejor candidato reproducible si la topología aporta valor medible sobre la MLP.</a:t>
            </a:r>
          </a:p>
          <a:p>
            <a:r>
              <a:t>Fuente: https://repository.tudelft.nl/file/File_82fef3ff-9a5f-4275-bd8f-6a4eb06c463d</a:t>
            </a:r>
          </a:p>
          <a:p>
            <a:endParaRPr/>
          </a:p>
          <a:p>
            <a:r>
              <a:t>P4</a:t>
            </a:r>
          </a:p>
          <a:p>
            <a:r>
              <a:t>Texto publicado, secciones 3.3–3.6 y 5.3; README del código. A100 usada no significa A100 obligatoria.</a:t>
            </a:r>
          </a:p>
          <a:p>
            <a:r>
              <a:t>POSPONER: alto costo para el objetivo actual. Priorizar cuando transferencia sea una pregunta central de la tesis.</a:t>
            </a:r>
          </a:p>
          <a:p>
            <a:r>
              <a:t>Fuente: https://repository.tudelft.nl/file/File_1cf09147-d8d4-4be3-8b42-f2e508ab64a6</a:t>
            </a:r>
          </a:p>
          <a:p>
            <a:endParaRPr/>
          </a:p>
          <a:p>
            <a:r>
              <a:t>Los rangos de esfuerzo son estimaciones propias para adaptar a nuestro objetivo; no son resultados de los autores. No asumir que la GPU publicada sea mínima.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 Evaluation of Artificial Neural Network Surrogate Models for Detention-Based Flood Control in Urban Areas</a:t>
            </a:r>
          </a:p>
          <a:p>
            <a:r>
              <a:t>Solo resumen editorial y afiliaciones. Publicado en línea 03/09/2026; número de revista noviembre 2026.</a:t>
            </a:r>
          </a:p>
          <a:p>
            <a:r>
              <a:t>Fuente: https://ascelibrary.org/doi/abs/10.1061/JWRMD5.WRENG-7598</a:t>
            </a:r>
          </a:p>
          <a:p>
            <a:r>
              <a:t>Código: </a:t>
            </a:r>
          </a:p>
          <a:p>
            <a:endParaRPr/>
          </a:p>
          <a:p>
            <a:r>
              <a:t>P6 A Disaggregation–Emulation Approach for Optimization of Large Urban Drainage Systems</a:t>
            </a:r>
          </a:p>
          <a:p>
            <a:r>
              <a:t>Artículo y PDF institucional verificados. La aceleración híbrida no debe compararse como sustitución completa de SWMM.</a:t>
            </a:r>
          </a:p>
          <a:p>
            <a:r>
              <a:t>Fuente: https://agupubs.onlinelibrary.wiley.com/doi/abs/10.1029/2020WR029098</a:t>
            </a:r>
          </a:p>
          <a:p>
            <a:r>
              <a:t>Código: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</a:t>
            </a:r>
          </a:p>
          <a:p>
            <a:r>
              <a:t>Solo resumen editorial y afiliaciones. Publicado en línea 03/09/2026; número de revista noviembre 2026.</a:t>
            </a:r>
          </a:p>
          <a:p>
            <a:r>
              <a:t>PRIORIDAD ALTA: piloto MLP acotado; consultar texto completo antes de atribuirle detalles de entrenamiento.</a:t>
            </a:r>
          </a:p>
          <a:p>
            <a:r>
              <a:t>Fuente: https://ascelibrary.org/doi/abs/10.1061/JWRMD5.WRENG-7598</a:t>
            </a:r>
          </a:p>
          <a:p>
            <a:endParaRPr/>
          </a:p>
          <a:p>
            <a:r>
              <a:t>P6</a:t>
            </a:r>
          </a:p>
          <a:p>
            <a:r>
              <a:t>Artículo y PDF institucional verificados. La aceleración híbrida no debe compararse como sustitución completa de SWMM.</a:t>
            </a:r>
          </a:p>
          <a:p>
            <a:r>
              <a:t>SOLO ANTECEDENTE: implementar particionado híbrido aporta poco al objetivo actual y añade mantenimiento.</a:t>
            </a:r>
          </a:p>
          <a:p>
            <a:r>
              <a:t>Fuente: https://agupubs.onlinelibrary.wiley.com/doi/abs/10.1029/2020WR029098</a:t>
            </a:r>
          </a:p>
          <a:p>
            <a:endParaRPr/>
          </a:p>
          <a:p>
            <a:r>
              <a:t>Los rangos de esfuerzo son estimaciones propias para adaptar a nuestro objetivo; no son resultados de los autores. No asumir que la GPU publicada sea mínima.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 Machine Learning-Based Surrogate Modeling for Urban Water Networks: Review and Future Research Directions</a:t>
            </a:r>
          </a:p>
          <a:p>
            <a:r>
              <a:t>Revisión publicada; sus recomendaciones no son resultados experimentales ni prueba de superioridad neuronal.</a:t>
            </a:r>
          </a:p>
          <a:p>
            <a:r>
              <a:t>Fuente: https://agupubs.onlinelibrary.wiley.com/doi/10.1029/2021WR031808</a:t>
            </a:r>
          </a:p>
          <a:p>
            <a:r>
              <a:t>Código: </a:t>
            </a:r>
          </a:p>
          <a:p>
            <a:endParaRPr/>
          </a:p>
          <a:p>
            <a:r>
              <a:t>P8 A surrogate machine learning modeling approach for enhancing the efficiency of urban flood modeling at metropolitan scales</a:t>
            </a:r>
          </a:p>
          <a:p>
            <a:r>
              <a:t>Resumen editorial y repositorio consultados; no atribuir al artículo variables exactas no confirmadas en el texto completo.</a:t>
            </a:r>
          </a:p>
          <a:p>
            <a:r>
              <a:t>Fuente: https://www.sciencedirect.com/science/article/pii/S2210670725001544</a:t>
            </a:r>
          </a:p>
          <a:p>
            <a:r>
              <a:t>Código: https://github.com/FRAderyani/Metropolitan-SurrogateModel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</a:t>
            </a:r>
          </a:p>
          <a:p>
            <a:r>
              <a:t>Revisión publicada; sus recomendaciones no son resultados experimentales ni prueba de superioridad neuronal.</a:t>
            </a:r>
          </a:p>
          <a:p>
            <a:r>
              <a:t>PRIORIDAD ALTA: fortalecer estado del arte sin costo computacional adicional.</a:t>
            </a:r>
          </a:p>
          <a:p>
            <a:r>
              <a:t>Fuente: https://agupubs.onlinelibrary.wiley.com/doi/10.1029/2021WR031808</a:t>
            </a:r>
          </a:p>
          <a:p>
            <a:endParaRPr/>
          </a:p>
          <a:p>
            <a:r>
              <a:t>P8</a:t>
            </a:r>
          </a:p>
          <a:p>
            <a:r>
              <a:t>Resumen editorial y repositorio consultados; no atribuir al artículo variables exactas no confirmadas en el texto completo.</a:t>
            </a:r>
          </a:p>
          <a:p>
            <a:r>
              <a:t>PRIORIDAD MEDIA: comparador y mejoras de datos. No es evidencia de redes neuronales.</a:t>
            </a:r>
          </a:p>
          <a:p>
            <a:r>
              <a:t>Fuente: https://www.sciencedirect.com/science/article/pii/S2210670725001544</a:t>
            </a:r>
          </a:p>
          <a:p>
            <a:endParaRPr/>
          </a:p>
          <a:p>
            <a:r>
              <a:t>Los rangos de esfuerzo son estimaciones propias para adaptar a nuestro objetivo; no son resultados de los autores. No asumir que la GPU publicada sea mínima.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 *Detalles computacionales del preprint; publicación revisada verificada. Contrastar con versión editorial antes de replicar.</a:t>
            </a:r>
          </a:p>
          <a:p>
            <a:r>
              <a:t>https://arxiv.org/pdf/2404.10324</a:t>
            </a:r>
          </a:p>
          <a:p>
            <a:r>
              <a:t>https://github.com/Zhiyu014/GNN-UDS</a:t>
            </a:r>
          </a:p>
          <a:p>
            <a:endParaRPr/>
          </a:p>
          <a:p>
            <a:r>
              <a:t>P2 Texto publicado, secciones 2.3–2.6, 3.2 y 3.5. Sus tiempos no incluyen nuestro desarrollo ni se trasladan a nuestra red.</a:t>
            </a:r>
          </a:p>
          <a:p>
            <a:r>
              <a:t>https://backend.orbit.dtu.dk/ws/portalfiles/portal/282620979/1_s2.0_S0043135422009198_main.pdf</a:t>
            </a:r>
          </a:p>
          <a:p>
            <a:endParaRPr/>
          </a:p>
          <a:p>
            <a:endParaRPr/>
          </a:p>
          <a:p>
            <a:r>
              <a:t>P3 Texto publicado, secciones 2.1, 2.4, 4.3–4.4 y 6.2.3. Transferencia limitada y objetivo distinto al de la tesis.</a:t>
            </a:r>
          </a:p>
          <a:p>
            <a:r>
              <a:t>https://repository.tudelft.nl/file/File_82fef3ff-9a5f-4275-bd8f-6a4eb06c463d</a:t>
            </a:r>
          </a:p>
          <a:p>
            <a:r>
              <a:t>https://github.com/alextremo0205/SWMM_GNN_Repository_Paper_version</a:t>
            </a:r>
          </a:p>
          <a:p>
            <a:endParaRPr/>
          </a:p>
          <a:p>
            <a:r>
              <a:t>P4 Texto publicado, secciones 3.3–3.6 y 5.3; README del código. A100 usada no significa A100 obligatoria.</a:t>
            </a:r>
          </a:p>
          <a:p>
            <a:r>
              <a:t>https://repository.tudelft.nl/file/File_1cf09147-d8d4-4be3-8b42-f2e508ab64a6</a:t>
            </a:r>
          </a:p>
          <a:p>
            <a:r>
              <a:t>https://github.com/alextremo0205/SWMM_GNN_Component_Evaluation_and_Transferability_Analysis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 Solo resumen editorial y afiliaciones. Publicado en línea 03/09/2026; número de revista noviembre 2026.</a:t>
            </a:r>
          </a:p>
          <a:p>
            <a:r>
              <a:t>https://ascelibrary.org/doi/abs/10.1061/JWRMD5.WRENG-7598</a:t>
            </a:r>
          </a:p>
          <a:p>
            <a:endParaRPr/>
          </a:p>
          <a:p>
            <a:endParaRPr/>
          </a:p>
          <a:p>
            <a:r>
              <a:t>P6 Artículo y PDF institucional verificados. La aceleración híbrida no debe compararse como sustitución completa de SWMM.</a:t>
            </a:r>
          </a:p>
          <a:p>
            <a:r>
              <a:t>https://agupubs.onlinelibrary.wiley.com/doi/abs/10.1029/2020WR029098</a:t>
            </a:r>
          </a:p>
          <a:p>
            <a:endParaRPr/>
          </a:p>
          <a:p>
            <a:endParaRPr/>
          </a:p>
          <a:p>
            <a:r>
              <a:t>P7 Revisión publicada; sus recomendaciones no son resultados experimentales ni prueba de superioridad neuronal.</a:t>
            </a:r>
          </a:p>
          <a:p>
            <a:r>
              <a:t>https://agupubs.onlinelibrary.wiley.com/doi/10.1029/2021WR031808</a:t>
            </a:r>
          </a:p>
          <a:p>
            <a:endParaRPr/>
          </a:p>
          <a:p>
            <a:endParaRPr/>
          </a:p>
          <a:p>
            <a:r>
              <a:t>P8 Resumen editorial y repositorio consultados; no atribuir al artículo variables exactas no confirmadas en el texto completo.</a:t>
            </a:r>
          </a:p>
          <a:p>
            <a:r>
              <a:t>https://www.sciencedirect.com/science/article/pii/S2210670725001544</a:t>
            </a:r>
          </a:p>
          <a:p>
            <a:r>
              <a:t>https://github.com/FRAderyani/Metropolitan-SurrogateModel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watres.2024.12214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16/j.watres.2022.118972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watres.2024.12239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16/j.watres.2025.125079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1/JWRMD5.WRENG-759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29/2020WR029098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9/2021WR031808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i.org/10.1016/j.scs.2025.106277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watres.2024.12214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1016/j.watres.2025.125079" TargetMode="External"/><Relationship Id="rId5" Type="http://schemas.openxmlformats.org/officeDocument/2006/relationships/hyperlink" Target="https://doi.org/10.1016/j.watres.2024.122396" TargetMode="External"/><Relationship Id="rId4" Type="http://schemas.openxmlformats.org/officeDocument/2006/relationships/hyperlink" Target="https://doi.org/10.1016/j.watres.2022.118972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61/JWRMD5.WRENG-759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1016/j.scs.2025.106277" TargetMode="External"/><Relationship Id="rId5" Type="http://schemas.openxmlformats.org/officeDocument/2006/relationships/hyperlink" Target="https://doi.org/10.1029/2021WR031808" TargetMode="External"/><Relationship Id="rId4" Type="http://schemas.openxmlformats.org/officeDocument/2006/relationships/hyperlink" Target="https://doi.org/10.1029/2020WR0290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rPr lang="en-US" noProof="0" dirty="0"/>
              <a:t>Machine Learning Model for Hydraulic Failure Prediction in Stormwater Systems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rPr lang="en-US" dirty="0"/>
              <a:t>15</a:t>
            </a:r>
            <a:r>
              <a:rPr lang="en-US" noProof="0" dirty="0"/>
              <a:t>/09/2026</a:t>
            </a:r>
          </a:p>
        </p:txBody>
      </p:sp>
    </p:spTree>
    <p:extLst>
      <p:ext uri="{BB962C8B-B14F-4D97-AF65-F5344CB8AC3E}">
        <p14:creationId xmlns:p14="http://schemas.microsoft.com/office/powerpoint/2010/main" val="29162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9CAFC-5177-D67A-6614-34FBD6988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Cronograma Tesis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A8C51F-8A78-1D8A-B04C-3F51073EB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2</a:t>
            </a:fld>
            <a:endParaRPr lang="es-CO"/>
          </a:p>
        </p:txBody>
      </p:sp>
      <p:sp>
        <p:nvSpPr>
          <p:cNvPr id="3" name="AutoShape 2" descr="Cronograma actualizado">
            <a:extLst>
              <a:ext uri="{FF2B5EF4-FFF2-40B4-BE49-F238E27FC236}">
                <a16:creationId xmlns:a16="http://schemas.microsoft.com/office/drawing/2014/main" id="{391512BD-75DB-46B7-9427-7D00345A2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358308" cy="335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D4184A-46BC-4EFA-BF41-F2D33FE988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41" t="11123" r="2222" b="9558"/>
          <a:stretch/>
        </p:blipFill>
        <p:spPr>
          <a:xfrm>
            <a:off x="948266" y="1172904"/>
            <a:ext cx="7247467" cy="39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0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4FA5-8482-AF15-2C20-2ECA027A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AB1E0C-009F-75F6-A7E1-8E163B3B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3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1CD7F5-D937-D25E-8F98-B9EE4D46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3" b="57003"/>
          <a:stretch>
            <a:fillRect/>
          </a:stretch>
        </p:blipFill>
        <p:spPr>
          <a:xfrm>
            <a:off x="498517" y="1375143"/>
            <a:ext cx="8146966" cy="276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0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5315B-EC17-2E0E-77A8-7C956F9A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387F3A-E029-914C-63E6-E3BA7A184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4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A93BC3-14B7-9383-36AF-D772AA336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309"/>
          <a:stretch>
            <a:fillRect/>
          </a:stretch>
        </p:blipFill>
        <p:spPr>
          <a:xfrm>
            <a:off x="587753" y="886046"/>
            <a:ext cx="7968493" cy="408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2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07178-35E0-9ABD-FDED-1310C8D1F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5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A65B0F5-20CF-5338-0942-2661BEFF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91" b="47331"/>
          <a:stretch>
            <a:fillRect/>
          </a:stretch>
        </p:blipFill>
        <p:spPr>
          <a:xfrm>
            <a:off x="95497" y="1525227"/>
            <a:ext cx="4408714" cy="24111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E36C39-D4F6-88C7-C127-2DA81F3B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21"/>
          <a:stretch>
            <a:fillRect/>
          </a:stretch>
        </p:blipFill>
        <p:spPr>
          <a:xfrm>
            <a:off x="4572000" y="1525227"/>
            <a:ext cx="4408714" cy="241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0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07178-35E0-9ABD-FDED-1310C8D1F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6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7ED31B-0E71-4B15-A5DD-D678D0230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16"/>
          <a:stretch/>
        </p:blipFill>
        <p:spPr>
          <a:xfrm>
            <a:off x="0" y="1140178"/>
            <a:ext cx="9144000" cy="30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9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26DB37-67F3-8520-E2D7-FBB1D39F3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7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DCDC6EB-0825-9C8C-45AB-5F5ABC780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2179FF-67EB-4C0B-A271-9679AEDC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24" y="1393341"/>
            <a:ext cx="4541693" cy="28382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322B59-3F9B-4B7A-AD0A-C2520D14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883" y="1393341"/>
            <a:ext cx="4541693" cy="28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9D52-9E34-0926-C8C1-47AA7E4E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823F5-67D7-B033-4B55-AA60FBF0B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8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6B9EDD6-4D4B-372B-3595-7F663CA86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BD982C-AC36-4772-9DED-E98FCBBE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55" y="1457216"/>
            <a:ext cx="3157021" cy="32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5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FDE7-4805-3429-7AB8-8450B869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F2EBCF-B505-5B79-3BEF-C3568754B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9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9339CA4-DF15-7763-E093-853AF320F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2DFF09-AE1F-459C-ADE1-1A31CBCD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13" y="1498681"/>
            <a:ext cx="4306487" cy="26556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9529BE3-4746-4F1F-A4F7-5B5C00D0B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82" y="1498681"/>
            <a:ext cx="4226998" cy="26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5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76CB-76A9-EEB9-D917-4A2C0EEBF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27D437-394F-8E4A-0B83-E4EDE565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10</a:t>
            </a:fld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E7BB490-16C1-CBEF-4A70-93F0E7D40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32" y="629031"/>
            <a:ext cx="8259468" cy="682937"/>
          </a:xfrm>
        </p:spPr>
        <p:txBody>
          <a:bodyPr/>
          <a:lstStyle/>
          <a:p>
            <a:pPr algn="ctr"/>
            <a:r>
              <a:rPr lang="es-CO" sz="3600" dirty="0"/>
              <a:t>Hidrograma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5BF9FC-2F24-4D51-BE15-55CEC2DA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49" y="1174648"/>
            <a:ext cx="3825701" cy="38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4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FB974-508E-4911-A51E-8A1258E6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684" y="712063"/>
            <a:ext cx="6728028" cy="1948500"/>
          </a:xfrm>
        </p:spPr>
        <p:txBody>
          <a:bodyPr/>
          <a:lstStyle/>
          <a:p>
            <a:r>
              <a:rPr lang="es-CO" sz="2400" dirty="0"/>
              <a:t>Hidrogramas de validación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77A189-3140-48BF-983E-8EAC48737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11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8B79CF2-DA30-4611-B391-F0715A55D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6"/>
          <a:stretch/>
        </p:blipFill>
        <p:spPr>
          <a:xfrm>
            <a:off x="169112" y="1185334"/>
            <a:ext cx="8805775" cy="358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2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3497D6-9EFC-5C3C-3D97-5839F30B0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12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AB3D8465-6913-E28D-A772-257D3B80A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193712"/>
              </p:ext>
            </p:extLst>
          </p:nvPr>
        </p:nvGraphicFramePr>
        <p:xfrm>
          <a:off x="341208" y="1018309"/>
          <a:ext cx="8269391" cy="3539482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Ampliar considerablemente el conjunto de simulaciones: generar más información de entrenamiento antes de concluir que se necesita cambiar la arquitectura del modelo.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Todos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80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Aumentar la diversidad de los escenarios de entrenamiento: incorporar eventos extremos, combinaciones poco frecuentes y condiciones fuera del rango actualmente considerado.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Todos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0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Explicar claramente la clasificación binaria: describir el criterio utilizado para determinar si ocurre o no inundación en un nodo y cómo se asignan las clases.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Profundizar en la información que conduce a la clasificación: analizar qué variables y condiciones hidráulicas llevan al modelo a predecir inundación o no inundación.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9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Aclarar la terminología de las variables hidráulicas: definir con precisión la diferencia entre incoming discharge, inflow y las variables relacionadas con la magnitud o el escalamiento del caudal.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Asegurar una comparación justa entre modelos: indicar explícitamente que todos fueron entrenados y evaluados con los mismos datos, particiones, métricas y procedimientos de validación.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Raziyeh Farmani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8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Incorporar información temporal, espacial y topológica: incluir descriptores de la evolución del evento, del estado hidráulico previo y de las relaciones entre nodos vecinos, aguas arriba y aguas abajo.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Raziyeh Farmani, Alejandra Tabares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4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294EAF-EDC7-1E8C-E44E-837C2B6F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A138E4-B0F9-7A69-20CB-7E01BE5FC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13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99180F23-7B54-B0E8-E28E-651F0632C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9955"/>
              </p:ext>
            </p:extLst>
          </p:nvPr>
        </p:nvGraphicFramePr>
        <p:xfrm>
          <a:off x="341208" y="1018309"/>
          <a:ext cx="8269391" cy="400620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Implementar una búsqueda sistemática de hiperparámetros: explicar claramente el procedimiento automatizado y utilizar optimización bayesiana, por ejemplo mediante Optuna.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Alejandra Tabares, Raziyeh Farmani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80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A4FF9F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Redefinir el objetivo principal de la investigación: precisar si el propósito es desarrollar un modelo sustituto para acelerar simulaciones hidráulicas, apoyar decisiones en tiempo real o combinar ambos alcances.</a:t>
                      </a:r>
                    </a:p>
                  </a:txBody>
                  <a:tcPr marL="9525" marR="9525" marT="9525" marB="0" anchor="ctr">
                    <a:solidFill>
                      <a:srgbClr val="A4F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A4F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192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Explicar con mayor claridad la arquitectura general del modelo: identificar las variables de entrada, las salidas predichas y la relación entre ambas.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5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Mejorar la interpretación de la importancia de variables: explicar cómo se calcula la importancia y cómo debe interpretarse desde una perspectiva hidráulica.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63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Evaluar la suficiencia y representatividad del dataset: justificar si el número y la diversidad de simulaciones son adecuados para entrenar los modelos y evaluar su capacidad de generalización.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97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Justificar con mayor profundidad la selección de algoritmos: explicar por qué se evaluaron modelos lineales, máquinas de vectores de soporte y XGBoost, incluyendo sus ventajas y limitaciones.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87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Analizar la influencia de los hiperparámetros principales: evaluar cómo parámetros como la profundidad máxima, el número de árboles, la tasa de aprendizaje y el submuestreo afectan el desempeño.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1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Extender la validación a nuevos escenarios: evaluar la capacidad del modelo para extrapolar fuera del rango de entrenamiento e identificar las condiciones en las que sus predicciones dejan de ser confiables.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465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64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36966B-BBD8-9949-C49D-F6AA6FB9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310A4D-EBE8-B1B7-336E-5751D0F0E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14</a:t>
            </a:fld>
            <a:endParaRPr lang="es-CO"/>
          </a:p>
        </p:txBody>
      </p:sp>
      <p:graphicFrame>
        <p:nvGraphicFramePr>
          <p:cNvPr id="7" name="Tabla 9">
            <a:extLst>
              <a:ext uri="{FF2B5EF4-FFF2-40B4-BE49-F238E27FC236}">
                <a16:creationId xmlns:a16="http://schemas.microsoft.com/office/drawing/2014/main" id="{810318F4-2DEB-026B-FE1D-3ACA7ADEC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26406"/>
              </p:ext>
            </p:extLst>
          </p:nvPr>
        </p:nvGraphicFramePr>
        <p:xfrm>
          <a:off x="341208" y="1018309"/>
          <a:ext cx="8269391" cy="322515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813174">
                  <a:extLst>
                    <a:ext uri="{9D8B030D-6E8A-4147-A177-3AD203B41FA5}">
                      <a16:colId xmlns:a16="http://schemas.microsoft.com/office/drawing/2014/main" val="1918186888"/>
                    </a:ext>
                  </a:extLst>
                </a:gridCol>
                <a:gridCol w="4710545">
                  <a:extLst>
                    <a:ext uri="{9D8B030D-6E8A-4147-A177-3AD203B41FA5}">
                      <a16:colId xmlns:a16="http://schemas.microsoft.com/office/drawing/2014/main" val="3052564932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71442164"/>
                    </a:ext>
                  </a:extLst>
                </a:gridCol>
              </a:tblGrid>
              <a:tr h="272407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Observaciones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000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90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Profundizar en la discusión técnica de los resultados: interpretar el desempeño desde una perspectiva hidráulica, analizar las causas de los errores y discutir las limitaciones e implicaciones prácticas.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20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Fortalecer la revisión de literatura: ampliar y actualizar el estado del arte, precisar el vacío de investigación y explicar cómo el trabajo contribuye a abordarlo.</a:t>
                      </a:r>
                    </a:p>
                  </a:txBody>
                  <a:tcPr marL="9525" marR="9525" marT="9525" marB="0" anchor="ctr">
                    <a:solidFill>
                      <a:srgbClr val="FFFF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chemeClr val="bg1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FFFF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6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Reforzar el rigor metodológico y la reproducibilidad: justificar las decisiones metodológicas, documentar los procedimientos y respaldarlos con literatura científica.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Pedro Iglesias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9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Explorar arquitecturas neuronales espaciotemporales: después de ampliar los datos y mejorar las variables, evaluar una combinación de RNN y CNN para representar la evolución temporal y las relaciones entre nodos.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Alejandra Tabares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Evaluar una red hidráulica sin calibrar como análisis complementario: analizar cómo cambia el desempeño del modelo y estudiar la incertidumbre asociada con las simulaciones.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Alejandra Tabares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48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000" b="0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Definir variables de estado para eventos con múltiples picos: incorporar información como el volumen almacenado antes de cada pulso para representar el almacenamiento residual de la red.</a:t>
                      </a:r>
                    </a:p>
                  </a:txBody>
                  <a:tcPr marL="9525" marR="9525" marT="9525" marB="0" anchor="ctr">
                    <a:solidFill>
                      <a:srgbClr val="5E8C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000" dirty="0">
                          <a:solidFill>
                            <a:srgbClr val="FFFFFF"/>
                          </a:solidFill>
                        </a:rPr>
                        <a:t>Jaime Plazas</a:t>
                      </a:r>
                    </a:p>
                  </a:txBody>
                  <a:tcPr>
                    <a:solidFill>
                      <a:srgbClr val="5E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7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6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30F5E-BA68-202E-7B0A-48C9A641F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34" y="591410"/>
            <a:ext cx="3277985" cy="554763"/>
          </a:xfrm>
        </p:spPr>
        <p:txBody>
          <a:bodyPr/>
          <a:lstStyle/>
          <a:p>
            <a:r>
              <a:rPr lang="es-CO" sz="1600" dirty="0"/>
              <a:t>Flujo de manejo de datos y entrenamiento del modelo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69496C-9079-71F3-0908-C0C85CA72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15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080E53-A15F-1798-2E61-46485B05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2" t="3160" r="9775" b="6049"/>
          <a:stretch>
            <a:fillRect/>
          </a:stretch>
        </p:blipFill>
        <p:spPr bwMode="auto">
          <a:xfrm>
            <a:off x="581891" y="1146173"/>
            <a:ext cx="2909454" cy="3917664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FE4015AE-274D-F04E-C156-503874D2BFD4}"/>
              </a:ext>
            </a:extLst>
          </p:cNvPr>
          <p:cNvSpPr txBox="1">
            <a:spLocks/>
          </p:cNvSpPr>
          <p:nvPr/>
        </p:nvSpPr>
        <p:spPr>
          <a:xfrm>
            <a:off x="5020889" y="646828"/>
            <a:ext cx="3277985" cy="554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4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Libre Baskerville"/>
              <a:buNone/>
              <a:defRPr sz="5200" b="1" i="0" u="none" strike="noStrike" cap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r>
              <a:rPr lang="es-CO" sz="1600" dirty="0"/>
              <a:t>Flujo de validación del modelo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98B8C84-083F-6C4E-9CAD-8BD78F63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57" t="3197" r="5357" b="5036"/>
          <a:stretch>
            <a:fillRect/>
          </a:stretch>
        </p:blipFill>
        <p:spPr bwMode="auto">
          <a:xfrm>
            <a:off x="4821382" y="1324696"/>
            <a:ext cx="3243813" cy="3233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5AB56417-6C2E-26EF-424B-C4227955EC5B}"/>
                  </a:ext>
                </a:extLst>
              </p14:cNvPr>
              <p14:cNvContentPartPr/>
              <p14:nvPr/>
            </p14:nvContentPartPr>
            <p14:xfrm>
              <a:off x="5333738" y="2105640"/>
              <a:ext cx="374400" cy="720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5AB56417-6C2E-26EF-424B-C4227955EC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7738" y="2069640"/>
                <a:ext cx="446040" cy="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62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BF259-65CE-D3EB-286B-F1391FBE0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784" y="695900"/>
            <a:ext cx="8072432" cy="405600"/>
          </a:xfrm>
        </p:spPr>
        <p:txBody>
          <a:bodyPr/>
          <a:lstStyle/>
          <a:p>
            <a:r>
              <a:rPr lang="es-CO" sz="2000" dirty="0"/>
              <a:t>Ejemplo de base de datos – Nodo 75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1B04AC-391E-C7FC-2E4F-9C47FB32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s-CO" smtClean="0"/>
              <a:t>16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E68C9FC-8E88-4A1F-8146-1AA60470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" y="1573366"/>
            <a:ext cx="8749145" cy="145696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C0F9941-C470-694D-AE62-C375EA5DBADB}"/>
              </a:ext>
            </a:extLst>
          </p:cNvPr>
          <p:cNvSpPr txBox="1"/>
          <p:nvPr/>
        </p:nvSpPr>
        <p:spPr>
          <a:xfrm>
            <a:off x="443345" y="3463636"/>
            <a:ext cx="8503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Verde: Identificadores y valores de respuesta, no van al modelo como entradas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Morado: Variables de entrada o </a:t>
            </a:r>
            <a:r>
              <a:rPr lang="es-CO" dirty="0" err="1">
                <a:solidFill>
                  <a:schemeClr val="tx1"/>
                </a:solidFill>
              </a:rPr>
              <a:t>features</a:t>
            </a:r>
            <a:r>
              <a:rPr lang="es-CO" dirty="0">
                <a:solidFill>
                  <a:schemeClr val="tx1"/>
                </a:solidFill>
              </a:rPr>
              <a:t>, son los valores e información que usa el modelo para entrar</a:t>
            </a:r>
          </a:p>
        </p:txBody>
      </p:sp>
    </p:spTree>
    <p:extLst>
      <p:ext uri="{BB962C8B-B14F-4D97-AF65-F5344CB8AC3E}">
        <p14:creationId xmlns:p14="http://schemas.microsoft.com/office/powerpoint/2010/main" val="1799131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¿Vale la pena cambiar XGBoost?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Objetivo: inundación y volumen total por nodo. La complejidad adicional necesita una ganancia demostrada.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Ruta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Esfuerzo orientativo*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Decisión para la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6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8BC5FA"/>
                          </a:solidFill>
                          <a:latin typeface="Montserrat"/>
                        </a:rPr>
                        <a:t>Mantener y fortalecer XGBoost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Datos diversos + validación por familias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PRIORIDAD 1. Es la referencia que ya funciona; probar dónde falla.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6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8BC5FA"/>
                          </a:solidFill>
                          <a:latin typeface="Montserrat"/>
                        </a:rPr>
                        <a:t>MLP tabular existente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30–60 h · 1–2 semanas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PRIORIDAD 2. Comparación neuronal controlada con las mismas 17 entradas.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6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8BC5FA"/>
                          </a:solidFill>
                          <a:latin typeface="Montserrat"/>
                        </a:rPr>
                        <a:t>GNN / modelo temporal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120–240 h · 4–8 semanas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CONDICIONAL. Solo si mejora extremos, topología o dinámica necesaria.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6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20" b="1">
                          <a:solidFill>
                            <a:srgbClr val="8BC5FA"/>
                          </a:solidFill>
                          <a:latin typeface="Montserrat"/>
                        </a:rPr>
                        <a:t>Transferencia entre redes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180–300 h · 6–10 semanas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60" b="0">
                          <a:solidFill>
                            <a:srgbClr val="F7FAFE"/>
                          </a:solidFill>
                          <a:latin typeface="Montserrat"/>
                        </a:rPr>
                        <a:t>SEGUNDA ETAPA. Requiere otras redes y prueba en el destino.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489704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1CB83"/>
                </a:solidFill>
                <a:latin typeface="Montserrat"/>
              </a:rPr>
              <a:t>*Estimaciones propias de adaptación, no tiempos publicados. 1 semana-persona = 30 h; rangos no aditivos.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Qué tenemos y qué falta medir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Base local inspeccionada: Chico Sur; una red, etiquetas de SWMM y escenarios sintéticos.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547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Aspecto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Situación / implicación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8BC5FA"/>
                          </a:solidFill>
                          <a:latin typeface="Montserrat"/>
                        </a:rPr>
                        <a:t>Datos actuales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40" b="0">
                          <a:solidFill>
                            <a:srgbClr val="F7FAFE"/>
                          </a:solidFill>
                          <a:latin typeface="Montserrat"/>
                        </a:rPr>
                        <a:t>160 nodos y 160 tuberías; sin subcuencas ni pluviómetros. Entradas por hidrogramas; 17 features tabulares.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8BC5FA"/>
                          </a:solidFill>
                          <a:latin typeface="Montserrat"/>
                        </a:rPr>
                        <a:t>Variables adicionales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40" b="0">
                          <a:solidFill>
                            <a:srgbClr val="F7FAFE"/>
                          </a:solidFill>
                          <a:latin typeface="Montserrat"/>
                        </a:rPr>
                        <a:t>Geometría y conectividad: recuperar INP. Series de estados y caudales: preparar/exportar. Lluvia–escorrentía: nuevo alcance hidrológico.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8BC5FA"/>
                          </a:solidFill>
                          <a:latin typeface="Montserrat"/>
                        </a:rPr>
                        <a:t>GPU disponible localmente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40" b="0">
                          <a:solidFill>
                            <a:srgbClr val="F7FAFE"/>
                          </a:solidFill>
                          <a:latin typeface="Montserrat"/>
                        </a:rPr>
                        <a:t>NVIDIA T400, 4 GB. Una GPU mayor usada en un paper no es un requisito mínimo demostrado. Ensayar memoria y tiempo primero.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8BC5FA"/>
                          </a:solidFill>
                          <a:latin typeface="Montserrat"/>
                        </a:rPr>
                        <a:t>Supuestos del costo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40" b="0">
                          <a:solidFill>
                            <a:srgbClr val="F7FAFE"/>
                          </a:solidFill>
                          <a:latin typeface="Montserrat"/>
                        </a:rPr>
                        <a:t>Una persona con Python/SWMM; 30 h/semana. Incluye datos, adaptación y validación; excluye esperas, licencias y formación desde cero.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1">
                          <a:solidFill>
                            <a:srgbClr val="8BC5FA"/>
                          </a:solidFill>
                          <a:latin typeface="Montserrat"/>
                        </a:rPr>
                        <a:t>Lo que no podemos prometer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40" b="0">
                          <a:solidFill>
                            <a:srgbClr val="F7FAFE"/>
                          </a:solidFill>
                          <a:latin typeface="Montserrat"/>
                        </a:rPr>
                        <a:t>Tiempos locales de simulación/entrenamiento aún sin benchmark. Las etiquetas sintéticas prueban emulación de SWMM, no exactitud frente a campo.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Evidencia y aporte · P1–P2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English summaries are paraphrases, not verbatim abstracts. “Otra red” significa un sistema hidráulico independiente.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Paper / publicación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English summary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¿Extrapola a otra red?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Aporte real a la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P1 · Zhang et al. (2024)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Research 263, 122142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CityU Hong Kong (registro institucional)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 graph neural surrogate learns SWMM hydraulics using node–pipe relationships, flow balance and flooding constraints. Outputs are temporal states rather than event-total volumes.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demostrada hacia otra red. Un caso de estudio; nuevas lluvias no equivalen a nueva topología.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Alta cercanía hidráulica. Estudiar clasificación de inundación y balance; adoptar todo el modelo amplía el alcance temporal.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P2 · Palmitessa et al. (2022)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Research 223, 118972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Technical University of Denmark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Physics-guided residual networks emulate MIKE 1D hydraulics and evaluate excess volumes per node and event. Extreme-event coverage improves surcharge representation.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prueba transferencia de pesos. Dos sistemas evalúan la metodología; no demuestran un modelo universal sin reentrenar.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Muy útil para volumen por nodo, extremos y restricciones físicas. Cambiar MIKE 1D por SWMM sería una adaptación.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3"/>
              </a:rPr>
              <a:t>P1 · DOI 10.1016/j.watres.2024.122142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4"/>
              </a:rPr>
              <a:t>P2 · DOI 10.1016/j.watres.2022.118972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Datos, recursos y esfuerzo · P1–P2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REPORTADO = evidencia consultada. ESTIMADO = juicio de planificación; no benchmark ni promesa de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835488"/>
              </p:ext>
            </p:extLst>
          </p:nvPr>
        </p:nvGraphicFramePr>
        <p:xfrm>
          <a:off x="292608" y="1051560"/>
          <a:ext cx="85496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Paper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Variables / preparación que falta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Recursos usados por autores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 dirty="0" err="1">
                          <a:solidFill>
                            <a:srgbClr val="F7FAFE"/>
                          </a:solidFill>
                          <a:latin typeface="Montserrat"/>
                        </a:rPr>
                        <a:t>Adaptación</a:t>
                      </a:r>
                      <a:r>
                        <a:rPr sz="1100" b="1" dirty="0">
                          <a:solidFill>
                            <a:srgbClr val="F7FAFE"/>
                          </a:solidFill>
                          <a:latin typeface="Montserrat"/>
                        </a:rPr>
                        <a:t> a </a:t>
                      </a:r>
                      <a:r>
                        <a:rPr sz="1100" b="1" dirty="0" err="1">
                          <a:solidFill>
                            <a:srgbClr val="F7FAFE"/>
                          </a:solidFill>
                          <a:latin typeface="Montserrat"/>
                        </a:rPr>
                        <a:t>tesis</a:t>
                      </a:r>
                      <a:endParaRPr sz="1100" b="1" dirty="0">
                        <a:solidFill>
                          <a:srgbClr val="F7FAFE"/>
                        </a:solidFill>
                        <a:latin typeface="Montserrat"/>
                      </a:endParaRP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P1 · Zhang et al. (2024)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Falta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preparar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h(t), Q(t)</a:t>
                      </a:r>
                      <a:r>
                        <a:rPr lang="es-CO"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y flooding(t).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Conectividad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: recuperable del INP.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Definir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estados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iniciales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disponibles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al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inferir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REPORTADO*: RTX A5000 24 GB; GNN ≈2,14 h por entrenamiento (20.000 épocas). No es mínimo requerido ni tiempo local.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120–210 h (4–7 sem.). Datos: 40–70 h; modelo y validación: 80–140 h. T400: piloto con lotes pequeños; memoria/tiempo por medir.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P2 · Palmitessa et al. (2022)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Falta dataset temporal de niveles, caudales y desbordamientos. Geometría: INP. Reproducción exacta: acceso/licencia MIKE 1D; adaptación SWMM evita esa dependencia.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REPORTADO: CPU i9, 32 GB RAM; 0,5–2 h de entrenamiento. GPU no mejoró la simulación autorregresiva en su implementación.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ESTIMADO: 120–180 h (4–6 sem.).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Datos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: 30–60 h;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adaptación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y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pruebas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: 90–120 h. CPU es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ruta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viable para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piloto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;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medir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nuestro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 </a:t>
                      </a:r>
                      <a:r>
                        <a:rPr sz="1170" b="0" dirty="0" err="1">
                          <a:solidFill>
                            <a:srgbClr val="F7FAFE"/>
                          </a:solidFill>
                          <a:latin typeface="Montserrat"/>
                        </a:rPr>
                        <a:t>caso</a:t>
                      </a:r>
                      <a:r>
                        <a:rPr sz="1170" b="0" dirty="0">
                          <a:solidFill>
                            <a:srgbClr val="F7FAFE"/>
                          </a:solidFill>
                          <a:latin typeface="Montserrat"/>
                        </a:rPr>
                        <a:t>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P1: CONDICIONAL: útil si necesitamos dinámica temporal; no sustituir XGBoost solo por modernidad.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P2: APROVECHAR IDEAS: extremos y errores de volumen. Implementación temporal completa, solo con una necesidad demostrada.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Evidencia y aporte · P3–P4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English summaries are paraphrases, not verbatim abstracts. “Otra red” significa un sistema hidráulico independiente.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Paper / publicación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English summary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¿Extrapola a otra red?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Aporte real a la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P3 · Garzón et al. (2024)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Research 266, 122396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TU Delft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An autoregressive GNN emulates SWMM hydraulic heads using graph geometry and runoff histories. Window balancing, normalization and staged temporal training support data-efficient learning.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PARCIAL: zero-shot a una subred no vista del mismo sistema. No demuestra transferencia a otra ciudad o red independiente.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Código y datos públicos. Buen punto de partida GNN; predecir niveles no resuelve por sí solo nuestro volumen desbordado.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P4 · Garzón et al. (2026)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Research 290, 125079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TU Delft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GNN layer type, depth and prediction horizon are evaluated on two drainage networks. Transfer experiments distinguish new domains from new hydraulic targets and compare fine-tuning strategies.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SÍ, CON ADAPTACIÓN entre dos redes. Zero-shot fue pobre; fine-tuning recupera desempeño. Entrenamiento conjunto no prueba una tercera red desconocida.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Referencia para una futura transferencia. Exige varias redes y adapta cargas/caudales, no directamente volumen de inundación.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3"/>
              </a:rPr>
              <a:t>P3 · DOI 10.1016/j.watres.2024.122396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4"/>
              </a:rPr>
              <a:t>P4 · DOI 10.1016/j.watres.2025.125079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Datos, recursos y esfuerzo · P3–P4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REPORTADO = evidencia consultada. ESTIMADO = juicio de planificación; no benchmark ni promesa de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Paper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Variables / preparación que falta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Recursos usados por autores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Adaptación a nuestra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P3 · Garzón et al. (2024)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Conectividad, cotas y longitudes: recuperar INP. Preparar inflows y niveles temporales. Añadir etiqueta/salida de desbordamiento para nuestro objetivo.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REPORTADO: DelftBlue, GPUs V100S 32 GB para experimentos/búsqueda. 100 épocas, AdamW. No declara ese tamaño como mínimo.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120–240 h (4–8 sem.). Datos: 30–60 h; GNN, salida de volumen y evaluación: 90–180 h. T400: factibilidad pendiente de piloto.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P4 · Garzón et al. (2026)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Otras redes y series de estados/caudales; revisar entrada de lluvia. INP actual sin subcuencas/pluviómetros. Revisar offsets, aristas paralelas y estructuras especiales.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REPORTADO: experimentos GPU; rendimiento en A100 80 GB. Huber/AdamW, 25 épocas. El repositorio tiene restricciones de elementos hidráulicos.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180–300 h (6–10 sem.). Datos: 60–100 h; adaptación/transferencia: 120–200 h. Excluye conseguir redes. T400: ensayo reducido; nube solo tras medir.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P3: SEGUNDA ETAPA: mejor candidato reproducible si la topología aporta valor medible sobre la MLP.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P4: POSPONER: alto costo para el objetivo actual. Priorizar cuando transferencia sea una pregunta central de la tesis.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Evidencia y aporte · P5–P6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English summaries are paraphrases, not verbatim abstracts. “Otra red” significa un sistema hidráulico independiente.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Paper / publicación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English summary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¿Extrapola a otra red?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Aporte real a la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P5 · Brazão et al. (2026)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J. Water Resources Planning and Management (ASCE), 152(11)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U. Federal de Paraíba / U. de Brasília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MLP surrogates predict SWMM flood volume and maximum outflow for detention-system design. Dataset size and network depth are assessed, followed by multiobjective optimization.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documentada en el resumen disponible. Volumen total reportado; no confirmar salida por nodo ni transferencia sin texto completo.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Apoya un comparador MLP económico. No acredita que MLP supere XGBoost en nuestras mismas entradas y particiones.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P6 · Seyedashraf et al. (2021)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Resources Research 57, e2020WR029098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U. Manchester / UCL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MLP and GRNN models emulate boundary conditions for a reduced SWMM network. The hybrid system accelerates drainage-design optimization while retaining simulation in the region of interest.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demuestra pesos transferibles. Aplicaciones a dos casos no equivalen a extrapolar un modelo entrenado hacia otra red.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Aporta diseño experimental y comparación MLP/GRNN. Menor pertinencia: aquí buscamos inferencia por nodo sin ejecutar SWMM.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3"/>
              </a:rPr>
              <a:t>P5 · DOI 10.1061/JWRMD5.WRENG-7598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4"/>
              </a:rPr>
              <a:t>P6 · DOI 10.1029/2020WR029098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Datos, recursos y esfuerzo · P5–P6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REPORTADO = evidencia consultada. ESTIMADO = juicio de planificación; no benchmark ni promesa de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Paper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Variables / preparación que falta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Recursos usados por autores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Adaptación a nuestra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P5 · Brazão et al. (2026)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Adaptación nodo–evento: reutilizar las 17 features. Replicar diseño de detención: capacidad, salidas, ubicación y lluvia; esos escenarios no están en nuestro INP.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NO VERIFICADO: hardware/tiempo no accesibles en resumen. No hay base para exigir una GPU grande.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30–60 h (1–2 sem.) para adaptar MLP existente: datos 6–12 h; ajuste/pruebas 24–48 h. CPU o T400. No equivale a réplica completa.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P6 · Seyedashraf et al. (2021)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Definir región y nodos de corte; series de carga/caudal en interfaces; variables de diseño SuDS. Cambia el flujo de trabajo actual.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REPORTADO: CPU i7-8565U y 8 GB RAM. No exige GPU. 2.000 configuraciones y división 70/15/15 en su estudio.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90–150 h (3–5 sem.) para enfoque híbrido: datos/cortes 30–60 h; integración/pruebas 60–90 h. CPU; costo de SWMM por medir.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P5: PRIORIDAD ALTA: piloto MLP acotado; consultar texto completo antes de atribuirle detalles de entrenamiento.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P6: SOLO ANTECEDENTE: implementar particionado híbrido aporta poco al objetivo actual y añade mantenimiento.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Evidencia y aporte · P7–P8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English summaries are paraphrases, not verbatim abstracts. “Otra red” significa un sistema hidráulico independiente.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3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Paper / publicación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English summary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¿Extrapola a otra red?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Aporte real a la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P7 · Garzón et al. (2022)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Water Resources Research 58, e2021WR031808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TU Delft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 review of 31 urban-water surrogate studies identifies limitations in dimensionality, interpretability and transferability, and discusses research directions for more generalizable models.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APLICA: revisión. Discute transferencia; no presenta un modelo propio que la demuestre.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Alta utilidad para justificar selección de modelos y vacío de investigación. No obliga a desarrollar otra arquitectura.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0472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8BC5FA"/>
                          </a:solidFill>
                          <a:latin typeface="Montserrat"/>
                        </a:rPr>
                        <a:t>P8 · Aderyani et al. (2025)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Sustainable Cities and Society 123, 106277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8BC5FA"/>
                          </a:solidFill>
                          <a:latin typeface="Montserrat"/>
                        </a:rPr>
                        <a:t>Registro editorial + código de autores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Hydraulic clustering and Random Forest surrogates estimate flood duration, peak and volume at metropolitan scale. The method is a non-neural comparator close to our target.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NO verificada entre redes independientes. Escala metropolitana y nuevas lluvias no demuestran transferencia geográfica.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20" b="0">
                          <a:solidFill>
                            <a:srgbClr val="F7FAFE"/>
                          </a:solidFill>
                          <a:latin typeface="Montserrat"/>
                        </a:rPr>
                        <a:t>Refuerza la pertinencia del enfoque tabular. Explorar variables/agrupación antes de cambiar de familia de modelo.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3"/>
              </a:rPr>
              <a:t>P7 · DOI 10.1029/2021WR031808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90288"/>
            <a:ext cx="41330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19" b="0">
                <a:solidFill>
                  <a:srgbClr val="B7CBE0"/>
                </a:solidFill>
                <a:latin typeface="Montserrat"/>
                <a:hlinkClick r:id="rId4"/>
              </a:rPr>
              <a:t>P8 · DOI 10.1016/j.scs.2025.106277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Datos, recursos y esfuerzo · P7–P8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REPORTADO = evidencia consultada. ESTIMADO = juicio de planificación; no benchmark ni promesa de calendario.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Paper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Variables / preparación que falta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Recursos usados por autores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7FAFE"/>
                          </a:solidFill>
                          <a:latin typeface="Montserrat"/>
                        </a:rPr>
                        <a:t>Adaptación a nuestra tesis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P7 · Garzón et al. (2022)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Ninguna variable nueva. Hace falta una matriz crítica de objetivos, datos, validación y limitaciones.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NO APLICA: lectura y síntesis bibliográfica, sin entrenamiento ni GPU.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12–24 h de lectura/síntesis (0,4–0,8 sem.). Sin simulaciones. No es una estimación de implementación.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18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30" b="1">
                          <a:solidFill>
                            <a:srgbClr val="8BC5FA"/>
                          </a:solidFill>
                          <a:latin typeface="Montserrat"/>
                        </a:rPr>
                        <a:t>P8 · Aderyani et al. (2025)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Clústeres hidráulicos (INP); descriptores de lluvia y, para sus otras salidas, duración/pico de inundación. No necesarios si mantenemos solo volumen.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Código público: Random Forest + GridSearchCV; simulación paralela. No requiere GPU para RF. Tiempo de réplica no verificado.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70" b="0">
                          <a:solidFill>
                            <a:srgbClr val="F7FAFE"/>
                          </a:solidFill>
                          <a:latin typeface="Montserrat"/>
                        </a:rPr>
                        <a:t>ESTIMADO: 15–45 h (0,5–1,5 sem.) para adaptar ideas: datos 5–15 h; comparación 10–30 h. CPU. Réplica metropolitana fuera de este rango.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490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P7: PRIORIDAD ALTA: fortalecer estado del arte sin costo computacional adicional.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45354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F1CB83"/>
                </a:solidFill>
                <a:latin typeface="Montserrat"/>
              </a:rPr>
              <a:t>P8: PRIORIDAD MEDIA: comparador y mejoras de datos. No es evidencia de redes neuronales.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Criterio para invertir más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Recomendación propia: cerrar primero un experimento pequeño y comparable; decidir con resultados reservados.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Paso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Qué se hace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Condición para continuar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40" b="1">
                          <a:solidFill>
                            <a:srgbClr val="8BC5FA"/>
                          </a:solidFill>
                          <a:latin typeface="Montserrat"/>
                        </a:rPr>
                        <a:t>1 · Piloto MLP</a:t>
                      </a:r>
                    </a:p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40" b="0">
                          <a:solidFill>
                            <a:srgbClr val="8BC5FA"/>
                          </a:solidFill>
                          <a:latin typeface="Montserrat"/>
                        </a:rPr>
                        <a:t>30–60 h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Mismas entradas y eventos; ajuste interno y selección de época; varias semillas.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Mejora práctica predefinida en volumen, extremos o falsos negativos. No decidir por entrenamiento.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40" b="1">
                          <a:solidFill>
                            <a:srgbClr val="8BC5FA"/>
                          </a:solidFill>
                          <a:latin typeface="Montserrat"/>
                        </a:rPr>
                        <a:t>2 · Datos antes de arquitectura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Reservar familias de hidrogramas, multipicos y extremos. Medir XGBoost y MLP.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Si ambos fallan igual, revisar cobertura y descriptores; más capas no recuperan información ausente.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40" b="1">
                          <a:solidFill>
                            <a:srgbClr val="8BC5FA"/>
                          </a:solidFill>
                          <a:latin typeface="Montserrat"/>
                        </a:rPr>
                        <a:t>3 · Piloto GNN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Probar una muestra, lotes pequeños y memoria pico antes de alquilar GPU.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Continuar si hay una hipótesis topológica clara y datos temporales/objetivos disponibles.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40" b="1">
                          <a:solidFill>
                            <a:srgbClr val="8BC5FA"/>
                          </a:solidFill>
                          <a:latin typeface="Montserrat"/>
                        </a:rPr>
                        <a:t>4 · Transferencia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Comparar desde cero, zero-shot y fine-tuning con igual presupuesto de datos destino.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80" b="0">
                          <a:solidFill>
                            <a:srgbClr val="F7FAFE"/>
                          </a:solidFill>
                          <a:latin typeface="Montserrat"/>
                        </a:rPr>
                        <a:t>Eventos destino reservados. No llamar “extrapolación” al entrenamiento conjunto en redes ya vistas.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608576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F1CB83"/>
                </a:solidFill>
                <a:latin typeface="Montserrat"/>
              </a:rPr>
              <a:t>Ninguno de estos trabajos garantiza superar nuestro XGBoost con el mismo objetivo, datos y validación.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Presupuesto computacional: medir 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Separar horas-persona de desarrollo, horas-máquina de entrenamiento y tiempo para generar etiquetas.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051560"/>
          <a:ext cx="8549640" cy="3547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Costo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F7FAFE"/>
                          </a:solidFill>
                          <a:latin typeface="Montserrat"/>
                        </a:rPr>
                        <a:t>Cómo estimarlo para esta red</a:t>
                      </a:r>
                    </a:p>
                  </a:txBody>
                  <a:tcPr marT="64008" marB="64008">
                    <a:solidFill>
                      <a:srgbClr val="355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8BC5FA"/>
                          </a:solidFill>
                          <a:latin typeface="Montserrat"/>
                        </a:rPr>
                        <a:t>Simulaciones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F7FAFE"/>
                          </a:solidFill>
                          <a:latin typeface="Montserrat"/>
                        </a:rPr>
                        <a:t>Cronometrar 20 eventos representativos. Tiempo ≈ N × mediana por evento / paralelismo efectivo; revisar también extremos lentos.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8BC5FA"/>
                          </a:solidFill>
                          <a:latin typeface="Montserrat"/>
                        </a:rPr>
                        <a:t>Búsqueda de modelos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F7FAFE"/>
                          </a:solidFill>
                          <a:latin typeface="Montserrat"/>
                        </a:rPr>
                        <a:t>Tiempo ≈ configuraciones × folds × semillas × duración de un ajuste. No confundir “un entrenamiento de 2 h” con toda la búsqueda.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8BC5FA"/>
                          </a:solidFill>
                          <a:latin typeface="Montserrat"/>
                        </a:rPr>
                        <a:t>Datos temporales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F7FAFE"/>
                          </a:solidFill>
                          <a:latin typeface="Montserrat"/>
                        </a:rPr>
                        <a:t>Ejemplo propio: 1.000 eventos × 1.440 pasos × (160×3 + 160×2 variables) × 4 bytes ≈ 4,6 GB crudos; sin ventanas duplicadas ni cachés.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8BC5FA"/>
                          </a:solidFill>
                          <a:latin typeface="Montserrat"/>
                        </a:rPr>
                        <a:t>Memoria de GPU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F7FAFE"/>
                          </a:solidFill>
                          <a:latin typeface="Montserrat"/>
                        </a:rPr>
                        <a:t>Depende de lotes, ventana, capas y gradientes; no del tamaño del CSV. T400 4 GB: piloto. Si no cabe, evaluar GPU 16–24 GB; no comprar por el paper.</a:t>
                      </a:r>
                    </a:p>
                  </a:txBody>
                  <a:tcPr marT="64008" marB="64008">
                    <a:solidFill>
                      <a:srgbClr val="23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449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60" b="1">
                          <a:solidFill>
                            <a:srgbClr val="8BC5FA"/>
                          </a:solidFill>
                          <a:latin typeface="Montserrat"/>
                        </a:rPr>
                        <a:t>Decisión de alcance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F7FAFE"/>
                          </a:solidFill>
                          <a:latin typeface="Montserrat"/>
                        </a:rPr>
                        <a:t>Con objetivo por evento y XGBoost sólido: MLP primero. Para GNN/transferencia, reservar semanas adicionales solo tras demostrar una necesidad.</a:t>
                      </a:r>
                    </a:p>
                  </a:txBody>
                  <a:tcPr marT="64008" marB="64008">
                    <a:solidFill>
                      <a:srgbClr val="193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Referencias y nivel de acceso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Títulos completos y DOI clicables. Las notas de las tablas contienen enlaces a textos y repositorios.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051560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3"/>
              </a:rPr>
              <a:t>Zhang et al. (2024) · Graph neural network-based surrogate modelling for real-time hydraulic prediction of urban drainage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52704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3"/>
              </a:rPr>
              <a:t>Water Research 263, 122142 | DOI 10.1016/j.watres.2024.122142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11095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11095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4"/>
              </a:rPr>
              <a:t>Palmitessa et al. (2022) · Accelerating hydrodynamic simulations of urban drainage systems with physics-guided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86584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4"/>
              </a:rPr>
              <a:t>Water Research 223, 118972 | DOI 10.1016/j.watres.2022.118972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77063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70632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5"/>
              </a:rPr>
              <a:t>Garzón et al. (2024) · Transferable and data efficient metamodeling of storm water system nodal depths using auto-regressive graph neural 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46120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5"/>
              </a:rPr>
              <a:t>Water Research 266, 122396 | DOI 10.1016/j.watres.2024.122396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30168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30168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6"/>
              </a:rPr>
              <a:t>Garzón et al. (2026) · Evaluation of graph neural networks for urban drainage metamodeling: Key components and transferability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05656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6"/>
              </a:rPr>
              <a:t>Water Research 290, 125079 | DOI 10.1016/j.watres.2025.125079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10312"/>
            <a:ext cx="50292" cy="411480"/>
          </a:xfrm>
          <a:prstGeom prst="rect">
            <a:avLst/>
          </a:prstGeom>
          <a:solidFill>
            <a:srgbClr val="8BC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9768" y="192024"/>
            <a:ext cx="8339327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8BC5FA"/>
                </a:solidFill>
                <a:latin typeface="Libre Baskerville"/>
              </a:rPr>
              <a:t>Referencias y nivel de acceso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58368"/>
            <a:ext cx="8275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7CBE0"/>
                </a:solidFill>
                <a:latin typeface="Montserrat"/>
              </a:rPr>
              <a:t>Títulos completos y DOI clicables. Las notas de las tablas contienen enlaces a textos y repositorios.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4892040"/>
            <a:ext cx="7863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B7CBE0"/>
                </a:solidFill>
                <a:latin typeface="Montserrat"/>
              </a:rPr>
              <a:t>MLSMFP  |  Revisión crítica de literatura  |  22 septiembre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188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BC5FA"/>
                </a:solidFill>
                <a:latin typeface="Montserrat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051560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3"/>
              </a:rPr>
              <a:t>Brazão et al. (2026) · Evaluation of Artificial Neural Network Surrogate Models for Detention-Based Flood Control in Urban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52704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3"/>
              </a:rPr>
              <a:t>J. Water Resources Planning and Management (ASCE), 152(11) | DOI 10.1061/JWRMD5.WRENG-7598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11095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11095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4"/>
              </a:rPr>
              <a:t>Seyedashraf et al. (2021) · A Disaggregation–Emulation Approach for Optimization of Large Urban Drainage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86584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4"/>
              </a:rPr>
              <a:t>Water Resources Research 57, e2020WR029098 | DOI 10.1029/2020WR029098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77063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70632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5"/>
              </a:rPr>
              <a:t>Garzón et al. (2022) · Machine Learning-Based Surrogate Modeling for Urban Water Networks: Review and Future Research Directions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46120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5"/>
              </a:rPr>
              <a:t>Water Resources Research 58, e2021WR031808 | DOI 10.1029/2021WR031808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30168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8BC5FA"/>
                </a:solidFill>
                <a:latin typeface="Montserrat"/>
              </a:rPr>
              <a:t>P8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30168"/>
            <a:ext cx="7635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F7FAFE"/>
                </a:solidFill>
                <a:latin typeface="Montserrat"/>
                <a:hlinkClick r:id="rId6"/>
              </a:rPr>
              <a:t>Aderyani et al. (2025) · A surrogate machine learning modeling approach for enhancing the efficiency of urban flood modeling at metropolitan scales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05656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7CBE0"/>
                </a:solidFill>
                <a:latin typeface="Montserrat"/>
                <a:hlinkClick r:id="rId6"/>
              </a:rPr>
              <a:t>Sustainable Cities and Society 123, 106277 | DOI 10.1016/j.scs.2025.106277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10167</TotalTime>
  <Words>5220</Words>
  <Application>Microsoft Office PowerPoint</Application>
  <PresentationFormat>Presentación en pantalla (16:9)</PresentationFormat>
  <Paragraphs>471</Paragraphs>
  <Slides>30</Slides>
  <Notes>16</Notes>
  <HiddenSlides>5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Libre Baskerville</vt:lpstr>
      <vt:lpstr>Arial</vt:lpstr>
      <vt:lpstr>Zen Antique</vt:lpstr>
      <vt:lpstr>Montserrat</vt:lpstr>
      <vt:lpstr>diap</vt:lpstr>
      <vt:lpstr>Machine Learning Model for Hydraulic Failure Prediction in Stormwater Systems</vt:lpstr>
      <vt:lpstr>Cronograma Tesis II</vt:lpstr>
      <vt:lpstr>Presentación de PowerPoint</vt:lpstr>
      <vt:lpstr>Presentación de PowerPoint</vt:lpstr>
      <vt:lpstr>Presentación de PowerPoint</vt:lpstr>
      <vt:lpstr>Presentación de PowerPoint</vt:lpstr>
      <vt:lpstr>Hidrograma 1</vt:lpstr>
      <vt:lpstr>Hidrograma 1</vt:lpstr>
      <vt:lpstr>Hidrograma 2</vt:lpstr>
      <vt:lpstr>Hidrograma 2</vt:lpstr>
      <vt:lpstr>Hidrogramas de validación</vt:lpstr>
      <vt:lpstr>Presentación de PowerPoint</vt:lpstr>
      <vt:lpstr>Presentación de PowerPoint</vt:lpstr>
      <vt:lpstr>Presentación de PowerPoint</vt:lpstr>
      <vt:lpstr>Flujo de manejo de datos y entrenamiento del modelo</vt:lpstr>
      <vt:lpstr>Ejemplo de base de datos – Nodo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75</cp:revision>
  <cp:lastPrinted>2026-07-30T02:50:58Z</cp:lastPrinted>
  <dcterms:modified xsi:type="dcterms:W3CDTF">2026-09-22T14:48:22Z</dcterms:modified>
</cp:coreProperties>
</file>