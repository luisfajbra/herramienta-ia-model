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8"/>
  </p:notesMasterIdLst>
  <p:handoutMasterIdLst>
    <p:handoutMasterId r:id="rId19"/>
  </p:handoutMasterIdLst>
  <p:sldIdLst>
    <p:sldId id="356" r:id="rId2"/>
    <p:sldId id="412" r:id="rId3"/>
    <p:sldId id="419" r:id="rId4"/>
    <p:sldId id="420" r:id="rId5"/>
    <p:sldId id="429" r:id="rId6"/>
    <p:sldId id="431" r:id="rId7"/>
    <p:sldId id="421" r:id="rId8"/>
    <p:sldId id="422" r:id="rId9"/>
    <p:sldId id="423" r:id="rId10"/>
    <p:sldId id="424" r:id="rId11"/>
    <p:sldId id="432" r:id="rId12"/>
    <p:sldId id="416" r:id="rId13"/>
    <p:sldId id="417" r:id="rId14"/>
    <p:sldId id="418" r:id="rId15"/>
    <p:sldId id="427" r:id="rId16"/>
    <p:sldId id="428" r:id="rId17"/>
  </p:sldIdLst>
  <p:sldSz cx="9144000" cy="5143500" type="screen16x9"/>
  <p:notesSz cx="6858000" cy="9144000"/>
  <p:embeddedFontLst>
    <p:embeddedFont>
      <p:font typeface="Libre Baskerville" panose="020B0604020202020204" charset="0"/>
      <p:regular r:id="rId20"/>
      <p:bold r:id="rId21"/>
      <p: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A4FF9F"/>
    <a:srgbClr val="5E8CBE"/>
    <a:srgbClr val="867AB8"/>
    <a:srgbClr val="FF7C80"/>
    <a:srgbClr val="8BC5FA"/>
    <a:srgbClr val="31547B"/>
    <a:srgbClr val="355A84"/>
    <a:srgbClr val="93A6C1"/>
    <a:srgbClr val="508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0DF707-0B7A-4722-825E-A8C82910448D}">
  <a:tblStyle styleId="{B70DF707-0B7A-4722-825E-A8C829104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94400" autoAdjust="0"/>
  </p:normalViewPr>
  <p:slideViewPr>
    <p:cSldViewPr snapToGrid="0">
      <p:cViewPr varScale="1">
        <p:scale>
          <a:sx n="87" d="100"/>
          <a:sy n="87" d="100"/>
        </p:scale>
        <p:origin x="18" y="-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1D31A96-AA36-E222-75CD-942A5EB991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C89931-5FA1-104C-E402-96DD3FE88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6F0B-887D-48C5-BC7E-1B58F2397D46}" type="datetimeFigureOut">
              <a:rPr lang="es-CO" smtClean="0"/>
              <a:t>15/09/2026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DE2FF6-00C1-28C4-B854-E31A77EFB5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43366-C97E-5D30-6A61-70599CFB0E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8D6B6-0D79-4A52-B148-990ABCFC1E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0113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4:39:27.1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24461,'1039'19'0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69863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52ACD-391E-BFA8-4946-273C3C1B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60AC92-FD3C-B5B1-9592-566E42FF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749602-211D-CC24-93A9-B99A4826D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2566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209AF-B256-F79D-01C0-DEE25CE6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FE2BDB-D1CD-9102-A167-9BEACBD25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A35544-7779-52CD-525A-C3F8424B7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6297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10336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38763-6BE7-3EED-06AF-187EA77A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DBBC01-22A6-4A87-E929-CC7F58418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E92510-A5BB-A530-B362-1E6107B37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65530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8E2EB-6CB3-7D3A-712B-258AC4F71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856E60-D474-CB55-D00C-240581A3C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8ECDF11-1B20-9101-FCCE-82BA35AEE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488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Portada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35F034-20D9-B4C5-8358-9688592E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05" y="987873"/>
            <a:ext cx="6588199" cy="375821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89B234E-DA3E-ADB7-C645-D2663C91D17A}"/>
              </a:ext>
            </a:extLst>
          </p:cNvPr>
          <p:cNvCxnSpPr/>
          <p:nvPr userDrawn="1"/>
        </p:nvCxnSpPr>
        <p:spPr>
          <a:xfrm>
            <a:off x="224175" y="3099830"/>
            <a:ext cx="869564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46BD2D74-0A2E-C2B6-BEBB-A7A73007ED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18445" y="3513265"/>
            <a:ext cx="4507107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BC81BF4-67AC-BF92-3B23-337A171E5C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0747" y="4108392"/>
            <a:ext cx="1122501" cy="447813"/>
          </a:xfrm>
        </p:spPr>
        <p:txBody>
          <a:bodyPr/>
          <a:lstStyle>
            <a:lvl1pPr marL="114300" indent="0">
              <a:buNone/>
              <a:defRPr sz="1400"/>
            </a:lvl1pPr>
          </a:lstStyle>
          <a:p>
            <a:pPr lvl="0"/>
            <a:r>
              <a:rPr lang="es-ES" dirty="0" err="1"/>
              <a:t>to</a:t>
            </a:r>
            <a:r>
              <a:rPr lang="es-ES" dirty="0"/>
              <a:t>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893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1350" y="1423263"/>
            <a:ext cx="5405100" cy="194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1350" y="3314625"/>
            <a:ext cx="5405100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950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2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141350" y="2549500"/>
            <a:ext cx="6861300" cy="10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58700" y="1353788"/>
            <a:ext cx="1626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331150" y="3627713"/>
            <a:ext cx="44817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D7D205FF-0CD9-CE2F-E2C1-83481A2B8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395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7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521092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6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1AF50676-8359-BE63-DD6F-3F783BB6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3" name="Google Shape;24;p4">
            <a:extLst>
              <a:ext uri="{FF2B5EF4-FFF2-40B4-BE49-F238E27FC236}">
                <a16:creationId xmlns:a16="http://schemas.microsoft.com/office/drawing/2014/main" id="{B7538562-B18C-A308-8992-A29375029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615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391583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55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2;p4">
            <a:extLst>
              <a:ext uri="{FF2B5EF4-FFF2-40B4-BE49-F238E27FC236}">
                <a16:creationId xmlns:a16="http://schemas.microsoft.com/office/drawing/2014/main" id="{4C5B8F73-FC8B-9241-7678-C4DDCD3019A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A07BA6-F4A9-9808-ED15-76AEE7C7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3300"/>
            </a:lvl1pPr>
          </a:lstStyle>
          <a:p>
            <a:r>
              <a:rPr lang="es-ES" dirty="0"/>
              <a:t>Haga clic para modificar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75B560-8E7C-D540-20BE-B237247E6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0C5ADD-74DF-90D3-03A8-63663869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7555" y="1391915"/>
            <a:ext cx="6187177" cy="421861"/>
          </a:xfrm>
        </p:spPr>
        <p:txBody>
          <a:bodyPr/>
          <a:lstStyle>
            <a:lvl1pPr marL="114300" indent="0" algn="l">
              <a:buNone/>
              <a:defRPr lang="es-CO" sz="2400" b="1" i="0" u="none" strike="noStrike" cap="none" dirty="0">
                <a:solidFill>
                  <a:srgbClr val="FFFFB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30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090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3562925" y="2238025"/>
            <a:ext cx="4864800" cy="19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562925" y="970775"/>
            <a:ext cx="4864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F9367B2C-BBE5-04C5-44F7-3356491E6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40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711350" y="1580150"/>
            <a:ext cx="5151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711350" y="2340250"/>
            <a:ext cx="51510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74F13D-0CE4-3400-4DA2-4B2131FFD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854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560250" y="3291125"/>
            <a:ext cx="4626600" cy="11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8B88258-C5B6-1041-8893-E62BA8F14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089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670700" y="1580875"/>
            <a:ext cx="58026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1670700" y="3114124"/>
            <a:ext cx="5802600" cy="4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8AC9DA0D-3DCA-DFC3-BE58-DCA1A789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0572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6341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720000" y="75784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2" hasCustomPrompt="1"/>
          </p:nvPr>
        </p:nvSpPr>
        <p:spPr>
          <a:xfrm>
            <a:off x="767145" y="1806480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444845" y="197170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3" hasCustomPrompt="1"/>
          </p:nvPr>
        </p:nvSpPr>
        <p:spPr>
          <a:xfrm>
            <a:off x="4664695" y="2391672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5342395" y="255769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5" hasCustomPrompt="1"/>
          </p:nvPr>
        </p:nvSpPr>
        <p:spPr>
          <a:xfrm>
            <a:off x="767145" y="2976864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6"/>
          </p:nvPr>
        </p:nvSpPr>
        <p:spPr>
          <a:xfrm>
            <a:off x="1444845" y="3143681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7" hasCustomPrompt="1"/>
          </p:nvPr>
        </p:nvSpPr>
        <p:spPr>
          <a:xfrm>
            <a:off x="4664695" y="3562056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8"/>
          </p:nvPr>
        </p:nvSpPr>
        <p:spPr>
          <a:xfrm>
            <a:off x="5342395" y="3729672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9" hasCustomPrompt="1"/>
          </p:nvPr>
        </p:nvSpPr>
        <p:spPr>
          <a:xfrm>
            <a:off x="767145" y="4147248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3"/>
          </p:nvPr>
        </p:nvSpPr>
        <p:spPr>
          <a:xfrm>
            <a:off x="1444845" y="4315663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4"/>
          </p:nvPr>
        </p:nvSpPr>
        <p:spPr>
          <a:xfrm>
            <a:off x="1444875" y="1646950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5"/>
          </p:nvPr>
        </p:nvSpPr>
        <p:spPr>
          <a:xfrm>
            <a:off x="1444875" y="2841512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6"/>
          </p:nvPr>
        </p:nvSpPr>
        <p:spPr>
          <a:xfrm>
            <a:off x="1444875" y="4036075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7"/>
          </p:nvPr>
        </p:nvSpPr>
        <p:spPr>
          <a:xfrm>
            <a:off x="5342400" y="3438794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8"/>
          </p:nvPr>
        </p:nvSpPr>
        <p:spPr>
          <a:xfrm>
            <a:off x="5342400" y="2244231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6A022A7-5EAA-EFCC-2C64-7193F298683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9460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2290050" y="3989413"/>
            <a:ext cx="45639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458150" y="2816863"/>
            <a:ext cx="6227700" cy="122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E81FD6E-2FFF-28AE-374E-DDC20EFB9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4084" y="4868702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9443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preserve="1">
  <p:cSld name="Title and 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subTitle" idx="1"/>
          </p:nvPr>
        </p:nvSpPr>
        <p:spPr>
          <a:xfrm>
            <a:off x="973797" y="3011475"/>
            <a:ext cx="439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73809" y="1270425"/>
            <a:ext cx="4398300" cy="17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>
            <a:spLocks noGrp="1"/>
          </p:cNvSpPr>
          <p:nvPr>
            <p:ph type="pic" idx="2"/>
          </p:nvPr>
        </p:nvSpPr>
        <p:spPr>
          <a:xfrm>
            <a:off x="5327150" y="1080200"/>
            <a:ext cx="2983200" cy="2983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011B3A5-BA18-77C0-B197-5934FE569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159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>
  <p:cSld name="Title and text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371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subTitle" idx="1"/>
          </p:nvPr>
        </p:nvSpPr>
        <p:spPr>
          <a:xfrm>
            <a:off x="1889400" y="3812150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1889550" y="3306875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C836EED-38EE-4930-F765-436660262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5149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558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>
  <p:cSld name="Title and text 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3153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720000" y="66710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1"/>
          </p:nvPr>
        </p:nvSpPr>
        <p:spPr>
          <a:xfrm>
            <a:off x="719413" y="1383062"/>
            <a:ext cx="5347500" cy="17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5E61C1E-9234-A230-B547-BF54ADA7F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804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999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preserve="1">
  <p:cSld name="Title and two columns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418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1366805" y="1856906"/>
            <a:ext cx="30267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2"/>
          </p:nvPr>
        </p:nvSpPr>
        <p:spPr>
          <a:xfrm>
            <a:off x="4706911" y="1895947"/>
            <a:ext cx="30231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3"/>
          </p:nvPr>
        </p:nvSpPr>
        <p:spPr>
          <a:xfrm>
            <a:off x="1366805" y="2360869"/>
            <a:ext cx="3026700" cy="22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4"/>
          </p:nvPr>
        </p:nvSpPr>
        <p:spPr>
          <a:xfrm>
            <a:off x="4706911" y="2362069"/>
            <a:ext cx="3023100" cy="22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720000" y="70318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11EDC36-5F6C-7891-6A2B-41384387A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47058" y="485467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142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preserve="1">
  <p:cSld name="Title and two columns 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921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720000" y="696921"/>
            <a:ext cx="7758665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1"/>
          </p:nvPr>
        </p:nvSpPr>
        <p:spPr>
          <a:xfrm>
            <a:off x="720000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subTitle" idx="2"/>
          </p:nvPr>
        </p:nvSpPr>
        <p:spPr>
          <a:xfrm>
            <a:off x="4626665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6B8D90A-F721-5BFA-9520-C8133011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9531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 preserve="1">
  <p:cSld name="Background 2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CF2F18-9AEF-9045-E247-CDBA35581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pic>
        <p:nvPicPr>
          <p:cNvPr id="3" name="Google Shape;9;p2">
            <a:extLst>
              <a:ext uri="{FF2B5EF4-FFF2-40B4-BE49-F238E27FC236}">
                <a16:creationId xmlns:a16="http://schemas.microsoft.com/office/drawing/2014/main" id="{AD9A05E1-271E-DF86-855C-3402A37CE6E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039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077D320-9EC5-A233-F3F1-072E9662F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75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7555" y="7116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5585" y="1448419"/>
            <a:ext cx="8520600" cy="318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FC9AC8-8B9B-C356-BE60-A5E249FA5D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896" b="89974" l="2344" r="97461">
                        <a14:foregroundMark x1="54297" y1="27474" x2="42578" y2="19531"/>
                        <a14:foregroundMark x1="42578" y1="19531" x2="54688" y2="27734"/>
                        <a14:foregroundMark x1="54688" y1="27734" x2="96875" y2="39714"/>
                        <a14:foregroundMark x1="94336" y1="55990" x2="86328" y2="65885"/>
                        <a14:foregroundMark x1="86328" y1="65885" x2="24609" y2="80469"/>
                        <a14:foregroundMark x1="24609" y1="80469" x2="25586" y2="67057"/>
                        <a14:foregroundMark x1="25586" y1="67057" x2="48047" y2="49089"/>
                        <a14:foregroundMark x1="48047" y1="49089" x2="43945" y2="37891"/>
                        <a14:foregroundMark x1="43945" y1="37891" x2="17578" y2="22396"/>
                        <a14:foregroundMark x1="17578" y1="22396" x2="2344" y2="32031"/>
                        <a14:foregroundMark x1="2344" y1="32031" x2="11914" y2="67448"/>
                        <a14:foregroundMark x1="11914" y1="67448" x2="37305" y2="45964"/>
                        <a14:foregroundMark x1="89453" y1="71484" x2="96094" y2="68490"/>
                        <a14:foregroundMark x1="88672" y1="72526" x2="97461" y2="68620"/>
                        <a14:foregroundMark x1="45508" y1="80339" x2="48438" y2="78125"/>
                      </a14:backgroundRemoval>
                    </a14:imgEffect>
                    <a14:imgEffect>
                      <a14:saturation sat="112000"/>
                    </a14:imgEffect>
                  </a14:imgLayer>
                </a14:imgProps>
              </a:ext>
            </a:extLst>
          </a:blip>
          <a:srcRect t="60775" r="7281" b="27471"/>
          <a:stretch/>
        </p:blipFill>
        <p:spPr>
          <a:xfrm>
            <a:off x="6443128" y="-6955"/>
            <a:ext cx="2700872" cy="572700"/>
          </a:xfrm>
          <a:prstGeom prst="rect">
            <a:avLst/>
          </a:prstGeom>
          <a:gradFill>
            <a:gsLst>
              <a:gs pos="19000">
                <a:srgbClr val="0E2A47">
                  <a:alpha val="59000"/>
                  <a:lumMod val="100000"/>
                </a:srgbClr>
              </a:gs>
              <a:gs pos="33000">
                <a:schemeClr val="accent2">
                  <a:lumMod val="10000"/>
                  <a:lumOff val="90000"/>
                </a:schemeClr>
              </a:gs>
              <a:gs pos="77000">
                <a:schemeClr val="accent2">
                  <a:lumMod val="25000"/>
                  <a:lumOff val="7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>
            <a:noFill/>
          </a:ln>
          <a:effectLst>
            <a:softEdge rad="0"/>
          </a:effectLst>
        </p:spPr>
      </p:pic>
      <p:pic>
        <p:nvPicPr>
          <p:cNvPr id="9" name="Google Shape;28;p4">
            <a:extLst>
              <a:ext uri="{FF2B5EF4-FFF2-40B4-BE49-F238E27FC236}">
                <a16:creationId xmlns:a16="http://schemas.microsoft.com/office/drawing/2014/main" id="{C838CF9F-1988-524C-8E01-03AB6CF3D3E1}"/>
              </a:ext>
            </a:extLst>
          </p:cNvPr>
          <p:cNvPicPr preferRelativeResize="0"/>
          <p:nvPr userDrawn="1"/>
        </p:nvPicPr>
        <p:blipFill>
          <a:blip r:embed="rId24">
            <a:alphaModFix amt="70000"/>
          </a:blip>
          <a:stretch>
            <a:fillRect/>
          </a:stretch>
        </p:blipFill>
        <p:spPr>
          <a:xfrm>
            <a:off x="8420241" y="4668168"/>
            <a:ext cx="911641" cy="95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68E9F5-C031-8916-0772-8842EBF6A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1" r="57412"/>
          <a:stretch/>
        </p:blipFill>
        <p:spPr>
          <a:xfrm>
            <a:off x="213505" y="11159"/>
            <a:ext cx="1161848" cy="55668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B677341-6345-4681-C896-F97AE06C9832}"/>
              </a:ext>
            </a:extLst>
          </p:cNvPr>
          <p:cNvSpPr txBox="1"/>
          <p:nvPr userDrawn="1"/>
        </p:nvSpPr>
        <p:spPr>
          <a:xfrm>
            <a:off x="8606436" y="486481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1</a:t>
            </a:r>
            <a:endParaRPr lang="es-ES" sz="1200" dirty="0">
              <a:solidFill>
                <a:schemeClr val="bg1"/>
              </a:solidFill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3C48C39-10AC-00E1-8439-5BCADFB10EA4}"/>
              </a:ext>
            </a:extLst>
          </p:cNvPr>
          <p:cNvSpPr/>
          <p:nvPr userDrawn="1"/>
        </p:nvSpPr>
        <p:spPr>
          <a:xfrm>
            <a:off x="2700873" y="-3427"/>
            <a:ext cx="6481958" cy="569172"/>
          </a:xfrm>
          <a:prstGeom prst="roundRect">
            <a:avLst/>
          </a:prstGeom>
          <a:gradFill flip="none" rotWithShape="1">
            <a:gsLst>
              <a:gs pos="19000">
                <a:srgbClr val="0E2A47">
                  <a:alpha val="59000"/>
                  <a:lumMod val="100000"/>
                </a:srgbClr>
              </a:gs>
              <a:gs pos="43000">
                <a:schemeClr val="accent2">
                  <a:lumMod val="10000"/>
                  <a:lumOff val="90000"/>
                </a:schemeClr>
              </a:gs>
              <a:gs pos="69000">
                <a:schemeClr val="accent2">
                  <a:lumMod val="25000"/>
                  <a:lumOff val="75000"/>
                </a:schemeClr>
              </a:gs>
              <a:gs pos="98230">
                <a:srgbClr val="0E2A47"/>
              </a:gs>
              <a:gs pos="84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Marcador de número de diapositiva 33">
            <a:extLst>
              <a:ext uri="{FF2B5EF4-FFF2-40B4-BE49-F238E27FC236}">
                <a16:creationId xmlns:a16="http://schemas.microsoft.com/office/drawing/2014/main" id="{882642BA-E753-0526-0DB1-979EB663A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4577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pic>
        <p:nvPicPr>
          <p:cNvPr id="5" name="Imagen 4" descr="Imagen que contiene señal&#10;&#10;Descripción generada automáticamente">
            <a:extLst>
              <a:ext uri="{FF2B5EF4-FFF2-40B4-BE49-F238E27FC236}">
                <a16:creationId xmlns:a16="http://schemas.microsoft.com/office/drawing/2014/main" id="{AA992F98-CF33-2388-CD15-8BE6A34588BE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375481" y="11159"/>
            <a:ext cx="356259" cy="540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C7EBD3B-61F3-6418-1C94-41562CE9B0D7}"/>
              </a:ext>
            </a:extLst>
          </p:cNvPr>
          <p:cNvSpPr/>
          <p:nvPr userDrawn="1"/>
        </p:nvSpPr>
        <p:spPr>
          <a:xfrm>
            <a:off x="3777571" y="9823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noProof="0" dirty="0">
                <a:solidFill>
                  <a:srgbClr val="0E2A47"/>
                </a:solidFill>
              </a:rPr>
              <a:t>Department of Civil and Environmental Engineering </a:t>
            </a:r>
          </a:p>
          <a:p>
            <a:r>
              <a:rPr lang="en-US" sz="900" noProof="0" dirty="0">
                <a:solidFill>
                  <a:srgbClr val="0E2A47"/>
                </a:solidFill>
              </a:rPr>
              <a:t>Water Supply and Sewers Systems Research Center</a:t>
            </a:r>
          </a:p>
        </p:txBody>
      </p:sp>
    </p:spTree>
    <p:extLst>
      <p:ext uri="{BB962C8B-B14F-4D97-AF65-F5344CB8AC3E}">
        <p14:creationId xmlns:p14="http://schemas.microsoft.com/office/powerpoint/2010/main" val="40113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84" r:id="rId2"/>
    <p:sldLayoutId id="2147483685" r:id="rId3"/>
    <p:sldLayoutId id="2147483686" r:id="rId4"/>
    <p:sldLayoutId id="2147483688" r:id="rId5"/>
    <p:sldLayoutId id="2147483718" r:id="rId6"/>
    <p:sldLayoutId id="2147483719" r:id="rId7"/>
    <p:sldLayoutId id="2147483689" r:id="rId8"/>
    <p:sldLayoutId id="2147483691" r:id="rId9"/>
    <p:sldLayoutId id="2147483692" r:id="rId10"/>
    <p:sldLayoutId id="2147483693" r:id="rId11"/>
    <p:sldLayoutId id="2147483695" r:id="rId12"/>
    <p:sldLayoutId id="2147483696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14" r:id="rId19"/>
    <p:sldLayoutId id="214748371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customXml" Target="../ink/ink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6FF804-ED03-00B4-80BE-81E99A582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7E69F7-14D0-B481-4806-A4A180A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79500"/>
            <a:ext cx="7874000" cy="1905000"/>
          </a:xfrm>
        </p:spPr>
        <p:txBody>
          <a:bodyPr/>
          <a:lstStyle/>
          <a:p>
            <a:r>
              <a:rPr lang="en-US" noProof="0" dirty="0"/>
              <a:t>Machine Learning Model for Hydraulic Failure Prediction in Stormwater Systems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2334C66-4D63-D716-251A-3E0420C2F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Luis Fernando Fajardo Bravo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70B49F-1F4A-F2BB-8468-490BC5AB8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1418" y="4108392"/>
            <a:ext cx="1392079" cy="447813"/>
          </a:xfrm>
        </p:spPr>
        <p:txBody>
          <a:bodyPr/>
          <a:lstStyle/>
          <a:p>
            <a:r>
              <a:rPr lang="en-US" dirty="0"/>
              <a:t>15</a:t>
            </a:r>
            <a:r>
              <a:rPr lang="en-US" noProof="0" dirty="0"/>
              <a:t>/09/2026</a:t>
            </a:r>
          </a:p>
        </p:txBody>
      </p:sp>
    </p:spTree>
    <p:extLst>
      <p:ext uri="{BB962C8B-B14F-4D97-AF65-F5344CB8AC3E}">
        <p14:creationId xmlns:p14="http://schemas.microsoft.com/office/powerpoint/2010/main" val="291627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9CAFC-5177-D67A-6614-34FBD6988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32" y="629031"/>
            <a:ext cx="8259468" cy="682937"/>
          </a:xfrm>
        </p:spPr>
        <p:txBody>
          <a:bodyPr/>
          <a:lstStyle/>
          <a:p>
            <a:pPr algn="ctr"/>
            <a:r>
              <a:rPr lang="es-CO" sz="3600" dirty="0"/>
              <a:t>Cronograma Tesis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8C51F-8A78-1D8A-B04C-3F51073EB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2</a:t>
            </a:fld>
            <a:endParaRPr lang="es-CO"/>
          </a:p>
        </p:txBody>
      </p:sp>
      <p:sp>
        <p:nvSpPr>
          <p:cNvPr id="3" name="AutoShape 2" descr="Cronograma actualizado">
            <a:extLst>
              <a:ext uri="{FF2B5EF4-FFF2-40B4-BE49-F238E27FC236}">
                <a16:creationId xmlns:a16="http://schemas.microsoft.com/office/drawing/2014/main" id="{391512BD-75DB-46B7-9427-7D00345A21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358308" cy="3358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7D4184A-46BC-4EFA-BF41-F2D33FE988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41" t="11123" r="2222" b="9558"/>
          <a:stretch/>
        </p:blipFill>
        <p:spPr>
          <a:xfrm>
            <a:off x="948266" y="1172904"/>
            <a:ext cx="7247467" cy="397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0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24FA5-8482-AF15-2C20-2ECA027A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AB1E0C-009F-75F6-A7E1-8E163B3B0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3</a:t>
            </a:fld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1CD7F5-D937-D25E-8F98-B9EE4D4689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23" b="57003"/>
          <a:stretch>
            <a:fillRect/>
          </a:stretch>
        </p:blipFill>
        <p:spPr>
          <a:xfrm>
            <a:off x="498517" y="1375143"/>
            <a:ext cx="8146966" cy="276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0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5315B-EC17-2E0E-77A8-7C956F9AD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387F3A-E029-914C-63E6-E3BA7A184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4</a:t>
            </a:fld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A93BC3-14B7-9383-36AF-D772AA3364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309"/>
          <a:stretch>
            <a:fillRect/>
          </a:stretch>
        </p:blipFill>
        <p:spPr>
          <a:xfrm>
            <a:off x="587753" y="886046"/>
            <a:ext cx="7968493" cy="408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2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707178-35E0-9ABD-FDED-1310C8D1F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5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65B0F5-20CF-5338-0942-2661BEFF4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91" b="47331"/>
          <a:stretch>
            <a:fillRect/>
          </a:stretch>
        </p:blipFill>
        <p:spPr>
          <a:xfrm>
            <a:off x="95497" y="1525227"/>
            <a:ext cx="4408714" cy="24111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2E36C39-D4F6-88C7-C127-2DA81F3B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21"/>
          <a:stretch>
            <a:fillRect/>
          </a:stretch>
        </p:blipFill>
        <p:spPr>
          <a:xfrm>
            <a:off x="4572000" y="1525227"/>
            <a:ext cx="4408714" cy="241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05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707178-35E0-9ABD-FDED-1310C8D1F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6</a:t>
            </a:fld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7ED31B-0E71-4B15-A5DD-D678D0230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16"/>
          <a:stretch/>
        </p:blipFill>
        <p:spPr>
          <a:xfrm>
            <a:off x="0" y="1140178"/>
            <a:ext cx="9144000" cy="307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9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26DB37-67F3-8520-E2D7-FBB1D39F3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7</a:t>
            </a:fld>
            <a:endParaRPr lang="es-CO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DCDC6EB-0825-9C8C-45AB-5F5ABC780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32" y="629031"/>
            <a:ext cx="8259468" cy="682937"/>
          </a:xfrm>
        </p:spPr>
        <p:txBody>
          <a:bodyPr/>
          <a:lstStyle/>
          <a:p>
            <a:pPr algn="ctr"/>
            <a:r>
              <a:rPr lang="es-CO" sz="3600" dirty="0"/>
              <a:t>Hidrograma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2179FF-67EB-4C0B-A271-9679AEDC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624" y="1393341"/>
            <a:ext cx="4541693" cy="283826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7322B59-3F9B-4B7A-AD0A-C2520D14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883" y="1393341"/>
            <a:ext cx="4541693" cy="28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3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59D52-9E34-0926-C8C1-47AA7E4E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F823F5-67D7-B033-4B55-AA60FBF0B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8</a:t>
            </a:fld>
            <a:endParaRPr lang="es-CO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96B9EDD6-4D4B-372B-3595-7F663CA86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32" y="629031"/>
            <a:ext cx="8259468" cy="682937"/>
          </a:xfrm>
        </p:spPr>
        <p:txBody>
          <a:bodyPr/>
          <a:lstStyle/>
          <a:p>
            <a:pPr algn="ctr"/>
            <a:r>
              <a:rPr lang="es-CO" sz="3600" dirty="0"/>
              <a:t>Hidrograma 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BD982C-AC36-4772-9DED-E98FCBBEF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955" y="1457216"/>
            <a:ext cx="3157021" cy="326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50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FDE7-4805-3429-7AB8-8450B869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F2EBCF-B505-5B79-3BEF-C3568754B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9</a:t>
            </a:fld>
            <a:endParaRPr lang="es-CO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9339CA4-DF15-7763-E093-853AF320F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32" y="629031"/>
            <a:ext cx="8259468" cy="682937"/>
          </a:xfrm>
        </p:spPr>
        <p:txBody>
          <a:bodyPr/>
          <a:lstStyle/>
          <a:p>
            <a:pPr algn="ctr"/>
            <a:r>
              <a:rPr lang="es-CO" sz="3600" dirty="0"/>
              <a:t>Hidrograma 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2DFF09-AE1F-459C-ADE1-1A31CBCDC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13" y="1498681"/>
            <a:ext cx="4306487" cy="26556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9529BE3-4746-4F1F-A4F7-5B5C00D0B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982" y="1498681"/>
            <a:ext cx="4226998" cy="26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59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76CB-76A9-EEB9-D917-4A2C0EEB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27D437-394F-8E4A-0B83-E4EDE5652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10</a:t>
            </a:fld>
            <a:endParaRPr lang="es-CO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E7BB490-16C1-CBEF-4A70-93F0E7D40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32" y="629031"/>
            <a:ext cx="8259468" cy="682937"/>
          </a:xfrm>
        </p:spPr>
        <p:txBody>
          <a:bodyPr/>
          <a:lstStyle/>
          <a:p>
            <a:pPr algn="ctr"/>
            <a:r>
              <a:rPr lang="es-CO" sz="3600" dirty="0"/>
              <a:t>Hidrograma 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A5BF9FC-2F24-4D51-BE15-55CEC2DA6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149" y="1174648"/>
            <a:ext cx="3825701" cy="383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4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FB974-508E-4911-A51E-8A1258E6D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684" y="712063"/>
            <a:ext cx="6728028" cy="1948500"/>
          </a:xfrm>
        </p:spPr>
        <p:txBody>
          <a:bodyPr/>
          <a:lstStyle/>
          <a:p>
            <a:r>
              <a:rPr lang="es-CO" sz="2400" dirty="0"/>
              <a:t>Hidrogramas de validación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77A189-3140-48BF-983E-8EAC48737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11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8B79CF2-DA30-4611-B391-F0715A55DA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16"/>
          <a:stretch/>
        </p:blipFill>
        <p:spPr>
          <a:xfrm>
            <a:off x="169112" y="1185334"/>
            <a:ext cx="8805775" cy="358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22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3497D6-9EFC-5C3C-3D97-5839F30B0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12</a:t>
            </a:fld>
            <a:endParaRPr lang="es-CO"/>
          </a:p>
        </p:txBody>
      </p:sp>
      <p:graphicFrame>
        <p:nvGraphicFramePr>
          <p:cNvPr id="7" name="Tabla 9">
            <a:extLst>
              <a:ext uri="{FF2B5EF4-FFF2-40B4-BE49-F238E27FC236}">
                <a16:creationId xmlns:a16="http://schemas.microsoft.com/office/drawing/2014/main" id="{AB3D8465-6913-E28D-A772-257D3B80A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193712"/>
              </p:ext>
            </p:extLst>
          </p:nvPr>
        </p:nvGraphicFramePr>
        <p:xfrm>
          <a:off x="341208" y="1018309"/>
          <a:ext cx="8269391" cy="3539482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813174">
                  <a:extLst>
                    <a:ext uri="{9D8B030D-6E8A-4147-A177-3AD203B41FA5}">
                      <a16:colId xmlns:a16="http://schemas.microsoft.com/office/drawing/2014/main" val="1918186888"/>
                    </a:ext>
                  </a:extLst>
                </a:gridCol>
                <a:gridCol w="4710545">
                  <a:extLst>
                    <a:ext uri="{9D8B030D-6E8A-4147-A177-3AD203B41FA5}">
                      <a16:colId xmlns:a16="http://schemas.microsoft.com/office/drawing/2014/main" val="3052564932"/>
                    </a:ext>
                  </a:extLst>
                </a:gridCol>
                <a:gridCol w="1745672">
                  <a:extLst>
                    <a:ext uri="{9D8B030D-6E8A-4147-A177-3AD203B41FA5}">
                      <a16:colId xmlns:a16="http://schemas.microsoft.com/office/drawing/2014/main" val="2071442164"/>
                    </a:ext>
                  </a:extLst>
                </a:gridCol>
              </a:tblGrid>
              <a:tr h="272407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Observaciones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90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Ampliar considerablemente el conjunto de simulaciones: generar más información de entrenamiento antes de concluir que se necesita cambiar la arquitectura del modelo.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Todos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80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Aumentar la diversidad de los escenarios de entrenamiento: incorporar eventos extremos, combinaciones poco frecuentes y condiciones fuera del rango actualmente considerado.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Todos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20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Explicar claramente la clasificación binaria: describir el criterio utilizado para determinar si ocurre o no inundación en un nodo y cómo se asignan las clases.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Raziyeh Farmani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Profundizar en la información que conduce a la clasificación: analizar qué variables y condiciones hidráulicas llevan al modelo a predecir inundación o no inundación.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Raziyeh Farmani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9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Aclarar la terminología de las variables hidráulicas: definir con precisión la diferencia entre incoming discharge, inflow y las variables relacionadas con la magnitud o el escalamiento del caudal.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Raziyeh Farmani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Asegurar una comparación justa entre modelos: indicar explícitamente que todos fueron entrenados y evaluados con los mismos datos, particiones, métricas y procedimientos de validación.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Raziyeh Farmani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481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Incorporar información temporal, espacial y topológica: incluir descriptores de la evolución del evento, del estado hidráulico previo y de las relaciones entre nodos vecinos, aguas arriba y aguas abajo.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Raziyeh Farmani, Alejandra Tabares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41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294EAF-EDC7-1E8C-E44E-837C2B6FC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A138E4-B0F9-7A69-20CB-7E01BE5FC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13</a:t>
            </a:fld>
            <a:endParaRPr lang="es-CO"/>
          </a:p>
        </p:txBody>
      </p:sp>
      <p:graphicFrame>
        <p:nvGraphicFramePr>
          <p:cNvPr id="7" name="Tabla 9">
            <a:extLst>
              <a:ext uri="{FF2B5EF4-FFF2-40B4-BE49-F238E27FC236}">
                <a16:creationId xmlns:a16="http://schemas.microsoft.com/office/drawing/2014/main" id="{99180F23-7B54-B0E8-E28E-651F0632C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49955"/>
              </p:ext>
            </p:extLst>
          </p:nvPr>
        </p:nvGraphicFramePr>
        <p:xfrm>
          <a:off x="341208" y="1018309"/>
          <a:ext cx="8269391" cy="4006207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813174">
                  <a:extLst>
                    <a:ext uri="{9D8B030D-6E8A-4147-A177-3AD203B41FA5}">
                      <a16:colId xmlns:a16="http://schemas.microsoft.com/office/drawing/2014/main" val="1918186888"/>
                    </a:ext>
                  </a:extLst>
                </a:gridCol>
                <a:gridCol w="4710545">
                  <a:extLst>
                    <a:ext uri="{9D8B030D-6E8A-4147-A177-3AD203B41FA5}">
                      <a16:colId xmlns:a16="http://schemas.microsoft.com/office/drawing/2014/main" val="3052564932"/>
                    </a:ext>
                  </a:extLst>
                </a:gridCol>
                <a:gridCol w="1745672">
                  <a:extLst>
                    <a:ext uri="{9D8B030D-6E8A-4147-A177-3AD203B41FA5}">
                      <a16:colId xmlns:a16="http://schemas.microsoft.com/office/drawing/2014/main" val="2071442164"/>
                    </a:ext>
                  </a:extLst>
                </a:gridCol>
              </a:tblGrid>
              <a:tr h="272407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Observaciones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90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Implementar una búsqueda sistemática de hiperparámetros: explicar claramente el procedimiento automatizado y utilizar optimización bayesiana, por ejemplo mediante Optuna.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Alejandra Tabares, Raziyeh Farmani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80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A4FF9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Redefinir el objetivo principal de la investigación: precisar si el propósito es desarrollar un modelo sustituto para acelerar simulaciones hidráulicas, apoyar decisiones en tiempo real o combinar ambos alcances.</a:t>
                      </a:r>
                    </a:p>
                  </a:txBody>
                  <a:tcPr marL="9525" marR="9525" marT="9525" marB="0" anchor="ctr">
                    <a:solidFill>
                      <a:srgbClr val="A4F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A4F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92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Explicar con mayor claridad la arquitectura general del modelo: identificar las variables de entrada, las salidas predichas y la relación entre ambas.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35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Mejorar la interpretación de la importancia de variables: explicar cómo se calcula la importancia y cómo debe interpretarse desde una perspectiva hidráulica.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638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Evaluar la suficiencia y representatividad del dataset: justificar si el número y la diversidad de simulaciones son adecuados para entrenar los modelos y evaluar su capacidad de generalización.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397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Justificar con mayor profundidad la selección de algoritmos: explicar por qué se evaluaron modelos lineales, máquinas de vectores de soporte y XGBoost, incluyendo sus ventajas y limitaciones.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87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Analizar la influencia de los hiperparámetros principales: evaluar cómo parámetros como la profundidad máxima, el número de árboles, la tasa de aprendizaje y el submuestreo afectan el desempeño.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16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Extender la validación a nuevos escenarios: evaluar la capacidad del modelo para extrapolar fuera del rango de entrenamiento e identificar las condiciones en las que sus predicciones dejan de ser confiables.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465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641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36966B-BBD8-9949-C49D-F6AA6FB9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310A4D-EBE8-B1B7-336E-5751D0F0E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14</a:t>
            </a:fld>
            <a:endParaRPr lang="es-CO"/>
          </a:p>
        </p:txBody>
      </p:sp>
      <p:graphicFrame>
        <p:nvGraphicFramePr>
          <p:cNvPr id="7" name="Tabla 9">
            <a:extLst>
              <a:ext uri="{FF2B5EF4-FFF2-40B4-BE49-F238E27FC236}">
                <a16:creationId xmlns:a16="http://schemas.microsoft.com/office/drawing/2014/main" id="{810318F4-2DEB-026B-FE1D-3ACA7ADEC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26406"/>
              </p:ext>
            </p:extLst>
          </p:nvPr>
        </p:nvGraphicFramePr>
        <p:xfrm>
          <a:off x="341208" y="1018309"/>
          <a:ext cx="8269391" cy="3225157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813174">
                  <a:extLst>
                    <a:ext uri="{9D8B030D-6E8A-4147-A177-3AD203B41FA5}">
                      <a16:colId xmlns:a16="http://schemas.microsoft.com/office/drawing/2014/main" val="1918186888"/>
                    </a:ext>
                  </a:extLst>
                </a:gridCol>
                <a:gridCol w="4710545">
                  <a:extLst>
                    <a:ext uri="{9D8B030D-6E8A-4147-A177-3AD203B41FA5}">
                      <a16:colId xmlns:a16="http://schemas.microsoft.com/office/drawing/2014/main" val="3052564932"/>
                    </a:ext>
                  </a:extLst>
                </a:gridCol>
                <a:gridCol w="1745672">
                  <a:extLst>
                    <a:ext uri="{9D8B030D-6E8A-4147-A177-3AD203B41FA5}">
                      <a16:colId xmlns:a16="http://schemas.microsoft.com/office/drawing/2014/main" val="2071442164"/>
                    </a:ext>
                  </a:extLst>
                </a:gridCol>
              </a:tblGrid>
              <a:tr h="272407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Observaciones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90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Profundizar en la discusión técnica de los resultados: interpretar el desempeño desde una perspectiva hidráulica, analizar las causas de los errores y discutir las limitaciones e implicaciones prácticas.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20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Fortalecer la revisión de literatura: ampliar y actualizar el estado del arte, precisar el vacío de investigación y explicar cómo el trabajo contribuye a abordarlo.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Reforzar el rigor metodológico y la reproducibilidad: justificar las decisiones metodológicas, documentar los procedimientos y respaldarlos con literatura científica.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9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Explorar arquitecturas neuronales espaciotemporales: después de ampliar los datos y mejorar las variables, evaluar una combinación de RNN y CNN para representar la evolución temporal y las relaciones entre nodos.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Alejandra Tabares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Evaluar una red hidráulica sin calibrar como análisis complementario: analizar cómo cambia el desempeño del modelo y estudiar la incertidumbre asociada con las simulaciones.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Alejandra Tabares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481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Definir variables de estado para eventos con múltiples picos: incorporar información como el volumen almacenado antes de cada pulso para representar el almacenamiento residual de la red.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Jaime Plazas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865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30F5E-BA68-202E-7B0A-48C9A641F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234" y="591410"/>
            <a:ext cx="3277985" cy="554763"/>
          </a:xfrm>
        </p:spPr>
        <p:txBody>
          <a:bodyPr/>
          <a:lstStyle/>
          <a:p>
            <a:r>
              <a:rPr lang="es-CO" sz="1600" dirty="0"/>
              <a:t>Flujo de manejo de datos y entrenamiento del modelo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69496C-9079-71F3-0908-C0C85CA72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15</a:t>
            </a:fld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080E53-A15F-1798-2E61-46485B05D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2" t="3160" r="9775" b="6049"/>
          <a:stretch>
            <a:fillRect/>
          </a:stretch>
        </p:blipFill>
        <p:spPr bwMode="auto">
          <a:xfrm>
            <a:off x="581891" y="1146173"/>
            <a:ext cx="2909454" cy="3917664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FE4015AE-274D-F04E-C156-503874D2BFD4}"/>
              </a:ext>
            </a:extLst>
          </p:cNvPr>
          <p:cNvSpPr txBox="1">
            <a:spLocks/>
          </p:cNvSpPr>
          <p:nvPr/>
        </p:nvSpPr>
        <p:spPr>
          <a:xfrm>
            <a:off x="5020889" y="646828"/>
            <a:ext cx="3277985" cy="554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4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r>
              <a:rPr lang="es-CO" sz="1600" dirty="0"/>
              <a:t>Flujo de validación del modelo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98B8C84-083F-6C4E-9CAD-8BD78F63DA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57" t="3197" r="5357" b="5036"/>
          <a:stretch>
            <a:fillRect/>
          </a:stretch>
        </p:blipFill>
        <p:spPr bwMode="auto">
          <a:xfrm>
            <a:off x="4821382" y="1324696"/>
            <a:ext cx="3243813" cy="3233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5AB56417-6C2E-26EF-424B-C4227955EC5B}"/>
                  </a:ext>
                </a:extLst>
              </p14:cNvPr>
              <p14:cNvContentPartPr/>
              <p14:nvPr/>
            </p14:nvContentPartPr>
            <p14:xfrm>
              <a:off x="5333738" y="2105640"/>
              <a:ext cx="374400" cy="720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5AB56417-6C2E-26EF-424B-C4227955EC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7738" y="2069640"/>
                <a:ext cx="446040" cy="7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4627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BF259-65CE-D3EB-286B-F1391FBE0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784" y="695900"/>
            <a:ext cx="8072432" cy="405600"/>
          </a:xfrm>
        </p:spPr>
        <p:txBody>
          <a:bodyPr/>
          <a:lstStyle/>
          <a:p>
            <a:r>
              <a:rPr lang="es-CO" sz="2000" dirty="0"/>
              <a:t>Ejemplo de base de datos – Nodo 75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1B04AC-391E-C7FC-2E4F-9C47FB322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16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E68C9FC-8E88-4A1F-8146-1AA60470A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7" y="1573366"/>
            <a:ext cx="8749145" cy="145696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C0F9941-C470-694D-AE62-C375EA5DBADB}"/>
              </a:ext>
            </a:extLst>
          </p:cNvPr>
          <p:cNvSpPr txBox="1"/>
          <p:nvPr/>
        </p:nvSpPr>
        <p:spPr>
          <a:xfrm>
            <a:off x="443345" y="3463636"/>
            <a:ext cx="8503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Verde: Identificadores y valores de respuesta, no van al modelo como entradas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Morado: Variables de entrada o </a:t>
            </a:r>
            <a:r>
              <a:rPr lang="es-CO" dirty="0" err="1">
                <a:solidFill>
                  <a:schemeClr val="tx1"/>
                </a:solidFill>
              </a:rPr>
              <a:t>features</a:t>
            </a:r>
            <a:r>
              <a:rPr lang="es-CO" dirty="0">
                <a:solidFill>
                  <a:schemeClr val="tx1"/>
                </a:solidFill>
              </a:rPr>
              <a:t>, son los valores e información que usa el modelo para entrar</a:t>
            </a:r>
          </a:p>
        </p:txBody>
      </p:sp>
    </p:spTree>
    <p:extLst>
      <p:ext uri="{BB962C8B-B14F-4D97-AF65-F5344CB8AC3E}">
        <p14:creationId xmlns:p14="http://schemas.microsoft.com/office/powerpoint/2010/main" val="1799131582"/>
      </p:ext>
    </p:extLst>
  </p:cSld>
  <p:clrMapOvr>
    <a:masterClrMapping/>
  </p:clrMapOvr>
</p:sld>
</file>

<file path=ppt/theme/theme1.xml><?xml version="1.0" encoding="utf-8"?>
<a:theme xmlns:a="http://schemas.openxmlformats.org/drawingml/2006/main" name="diap">
  <a:themeElements>
    <a:clrScheme name="Simple Light">
      <a:dk1>
        <a:srgbClr val="FFFFFF"/>
      </a:dk1>
      <a:lt1>
        <a:srgbClr val="0C2C45"/>
      </a:lt1>
      <a:dk2>
        <a:srgbClr val="8BC5FA"/>
      </a:dk2>
      <a:lt2>
        <a:srgbClr val="243C59"/>
      </a:lt2>
      <a:accent1>
        <a:srgbClr val="5083C2"/>
      </a:accent1>
      <a:accent2>
        <a:srgbClr val="355A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B3C633-C8C3-46EC-A779-D84379177807}">
  <we:reference id="wa200010725" version="1.0.0.1" store="es-MX" storeType="OMEX"/>
  <we:alternateReferences>
    <we:reference id="WA200010725" version="1.0.0.1" store="" storeType="OMEX"/>
  </we:alternateReferences>
  <we:properties>
    <we:property name="claude.fileId" value="&quot;0e8703bd-6d4e-4448-859d-ea000cb375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10158</TotalTime>
  <Words>762</Words>
  <Application>Microsoft Office PowerPoint</Application>
  <PresentationFormat>Presentación en pantalla (16:9)</PresentationFormat>
  <Paragraphs>96</Paragraphs>
  <Slides>16</Slides>
  <Notes>6</Notes>
  <HiddenSlides>5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Libre Baskerville</vt:lpstr>
      <vt:lpstr>Arial</vt:lpstr>
      <vt:lpstr>Montserrat</vt:lpstr>
      <vt:lpstr>Zen Antique</vt:lpstr>
      <vt:lpstr>diap</vt:lpstr>
      <vt:lpstr>Machine Learning Model for Hydraulic Failure Prediction in Stormwater Systems</vt:lpstr>
      <vt:lpstr>Cronograma Tesis II</vt:lpstr>
      <vt:lpstr>Presentación de PowerPoint</vt:lpstr>
      <vt:lpstr>Presentación de PowerPoint</vt:lpstr>
      <vt:lpstr>Presentación de PowerPoint</vt:lpstr>
      <vt:lpstr>Presentación de PowerPoint</vt:lpstr>
      <vt:lpstr>Hidrograma 1</vt:lpstr>
      <vt:lpstr>Hidrograma 1</vt:lpstr>
      <vt:lpstr>Hidrograma 2</vt:lpstr>
      <vt:lpstr>Hidrograma 2</vt:lpstr>
      <vt:lpstr>Hidrogramas de validación</vt:lpstr>
      <vt:lpstr>Presentación de PowerPoint</vt:lpstr>
      <vt:lpstr>Presentación de PowerPoint</vt:lpstr>
      <vt:lpstr>Presentación de PowerPoint</vt:lpstr>
      <vt:lpstr>Flujo de manejo de datos y entrenamiento del modelo</vt:lpstr>
      <vt:lpstr>Ejemplo de base de datos – Nodo 75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Nitrogen Narcosis Caused by Diving Case Report</dc:title>
  <dc:creator>Maria Alejandra Gonzalez Molina</dc:creator>
  <cp:lastModifiedBy>Luis Fernando</cp:lastModifiedBy>
  <cp:revision>74</cp:revision>
  <cp:lastPrinted>2026-07-30T02:50:58Z</cp:lastPrinted>
  <dcterms:modified xsi:type="dcterms:W3CDTF">2026-09-15T16:13:02Z</dcterms:modified>
</cp:coreProperties>
</file>