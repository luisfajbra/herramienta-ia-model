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45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Avance semanal: datos A listos; transferencia en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Corte al 29 de octubre de 2026 · distinguir selección interna de evaluación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DATOS DE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de 1.000 simulaciones pasaron QA.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73,78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Mejor RMSE interno tras 50 ensayos Optuna en 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E2A47"/>
                </a:solidFill>
                <a:latin typeface="Montserrat"/>
              </a:rPr>
              <a:t>En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Aún no hay métricas de transferencia.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017520"/>
            <a:ext cx="8193024" cy="80467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36392"/>
            <a:ext cx="1234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08960"/>
            <a:ext cx="64465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D3034"/>
                </a:solidFill>
                <a:latin typeface="Montserrat"/>
              </a:rPr>
              <a:t>Búsqueda de 50 ensayos activa; después se ajustará el ensemble final de cinco semillas.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2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1">
                <a:solidFill>
                  <a:srgbClr val="0E2A47"/>
                </a:solidFill>
                <a:latin typeface="Montserrat"/>
              </a:rPr>
              <a:t>Conclusión de hoy: A es trazable y XGBoost tiene candidato reproducible; la transferencia a B todavía debe medirse.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Conjunto A: simulaciones filtradas con QA hidráulico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Criterios aplicados provisionalmente: continuidad, drenaje y cobertura completa de resultados.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CORRIDAS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Simulaciones SWMM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APTAS PARA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Tras controles de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EXCLUIDAS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Sin imputar etiquetas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FORMAS PRESENTES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Cuatro grupos sin corrida apta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94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MOTIVOS DE EXCLUSIÓN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No drenada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355A84"/>
          </a:solidFill>
          <a:ln>
            <a:solidFill>
              <a:srgbClr val="35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9352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9584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Continuidad &gt;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566160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566160"/>
            <a:ext cx="998524" cy="182880"/>
          </a:xfrm>
          <a:prstGeom prst="rect">
            <a:avLst/>
          </a:prstGeom>
          <a:solidFill>
            <a:srgbClr val="8BC5FA"/>
          </a:solidFill>
          <a:ln>
            <a:solidFill>
              <a:srgbClr val="8BC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5204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87752"/>
            <a:ext cx="2148840" cy="136245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715768"/>
            <a:ext cx="182880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072384"/>
            <a:ext cx="1837943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160 nodos · 21 variables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41.497 filas inundadas (29,9%)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Umbral: 1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1381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Los motivos se traslapan en una corrida. El 5% y las tolerancias de drenaje aún requieren justificación hidráulica.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Diseño de evaluación: B permanece aislada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selección usa A; la red B se reserva para una prueba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A · 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corridas aptas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Preparación congelada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SELECCIÓN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Separación por forma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Optuna solo ve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B · 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Etiquetas cerradas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Una red no representa todas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2926080"/>
            <a:ext cx="8193024" cy="100584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26664"/>
            <a:ext cx="768096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Control contra fuga de información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7635240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D3034"/>
                </a:solidFill>
                <a:latin typeface="Montserrat"/>
              </a:rPr>
              <a:t>Se verifican manifiestos, archivos por corrida, claves y variables. Las predicciones se sellan y reproducen antes de abrir los RPT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8138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>
                <a:solidFill>
                  <a:srgbClr val="5B6977"/>
                </a:solidFill>
                <a:latin typeface="Montserrat"/>
              </a:rPr>
              <a:t>Alcance: transferencia a una red externa; no prueba generalización a una población de redes.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B · Chico Norte: topología del INP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Vista de nodos y conducciones; este mapa no contiene resultados de simulación ni predicciones.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48</a:t>
            </a:r>
          </a:p>
        </p:txBody>
      </p:sp>
      <p:pic>
        <p:nvPicPr>
          <p:cNvPr id="7" name="Picture 6" descr="red_b_chico_norte_top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572000" cy="3915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2801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35331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NODOS CON COORDENADAS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1609343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2029967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Inventario geométrico leído del INP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69748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77063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CONDUCCIONES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3026664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447288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Trazado de enlaces entre nodos según el INP.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096512"/>
            <a:ext cx="2834640" cy="40233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123944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0E2A47"/>
                </a:solidFill>
                <a:latin typeface="Montserrat"/>
              </a:rPr>
              <a:t>Topología solamente · sin caudales ni inundación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B · hidrograma sintético y campaña SWMM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Ejemplo de entrada nodal para Chico Norte; los caudales provienen del INP y de formas sintéticas.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49</a:t>
            </a:r>
          </a:p>
        </p:txBody>
      </p:sp>
      <p:pic>
        <p:nvPicPr>
          <p:cNvPr id="7" name="Picture 6" descr="red_b_hidrograma_sint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212080" cy="243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42432" y="12618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3350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ESCENARIOS PLANIFICADOS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591055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0116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39 formas de hidrograma × 25 factores de intensidad.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26334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7066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GRILLA DE FACTORES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962656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E2A47"/>
                </a:solidFill>
                <a:latin typeface="Montserrat"/>
              </a:rPr>
              <a:t>0,2–5,0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3832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Paso de 0,2; se conserva el pico nodal de referencia y se escala por factor.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80924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E2A47"/>
                </a:solidFill>
                <a:latin typeface="Montserrat"/>
              </a:rPr>
              <a:t>Ejemplo: nodo 268I · pico base 54,08 L/s · pico con factor 2,8: 151,4 L/s.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361688"/>
            <a:ext cx="811987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Entrada sintética por nodo (no lluvia ni transformación lluvia–escorrentía). La campaña usa 521 nodos con caudal base positivo.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 · escenario inundado mediano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shape_five_pulse_8h5 · factor 2,8 · misma escala espacial en ambos mapas.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50</a:t>
            </a:r>
          </a:p>
        </p:txBody>
      </p:sp>
      <p:pic>
        <p:nvPicPr>
          <p:cNvPr id="7" name="Picture 6" descr="red_a_mediana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5469"/>
          </a:xfrm>
          <a:prstGeom prst="rect">
            <a:avLst/>
          </a:prstGeom>
        </p:spPr>
      </p:pic>
      <p:pic>
        <p:nvPicPr>
          <p:cNvPr id="8" name="Picture 7" descr="red_a_mediana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5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9.518 m³ · 52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9.278 m³ · 52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80" b="0">
                <a:solidFill>
                  <a:srgbClr val="5B6977"/>
                </a:solidFill>
                <a:latin typeface="Montserrat"/>
              </a:rPr>
              <a:t>Diferencia del volumen total en este ejemplo: -240 m³. Modelo promovido el 06-oct; comparación retrospectiva ilustrativa, no prueba independiente ni de transferencia.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 · escenario de mayor volumen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shape_quasi_uniform_block · factor 5,0 · misma escala espacial en ambos mapas.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51</a:t>
            </a:r>
          </a:p>
        </p:txBody>
      </p:sp>
      <p:pic>
        <p:nvPicPr>
          <p:cNvPr id="7" name="Picture 6" descr="red_a_mayor_volumen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7496"/>
          </a:xfrm>
          <a:prstGeom prst="rect">
            <a:avLst/>
          </a:prstGeom>
        </p:spPr>
      </p:pic>
      <p:pic>
        <p:nvPicPr>
          <p:cNvPr id="8" name="Picture 7" descr="red_a_mayor_volumen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7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183.407 m³ · 93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188.628 m³ · 91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80" b="0">
                <a:solidFill>
                  <a:srgbClr val="5B6977"/>
                </a:solidFill>
                <a:latin typeface="Montserrat"/>
              </a:rPr>
              <a:t>Diferencia del volumen total en este ejemplo: +5,221 m³. Modelo promovido el 06-oct; comparación retrospectiva ilustrativa, no prueba independiente ni de transferencia.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XGBoost: 73,78 m³ de RMSE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50 ensayos Optuna · GroupKFold(5) por forma · semilla 42 · selección solo con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05840"/>
            <a:ext cx="5577840" cy="26171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20700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MEJOR ENSAYO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146304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#13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88366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ID Optuna; numeración desde cero.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CRITERIO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74320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73,782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16382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macro_network_rmse; en A equivale al RMSE de una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Candidato ajustado con A; aún no es el resultado de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La línea oscura muestra el mejor RMSE acumulado; es una estimación de selección interna.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Estado de modelos y simulaciones de la red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Los conteos de B son operativos; todavía no son métricas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355A84"/>
                </a:solidFill>
                <a:latin typeface="Montserrat"/>
              </a:rPr>
              <a:t>XGBOOST · 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ensayos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Candidato ajustado con A. Se verificaron la recarga de los modelos y la procedencia de sus archivos.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0E2A47"/>
                </a:solidFill>
                <a:latin typeface="Montserrat"/>
              </a:rPr>
              <a:t>MLP · BÚSQUEDA ACTIVA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26 / 50 ensayos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Corte 07:01: 26 terminados; trial 27 en curso. Mejor interno: #6, 96,667 m³. Luego se ajusta el ensemble de cinco semillas (42–46).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67912"/>
            <a:ext cx="162763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RED B · CORTE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840480"/>
            <a:ext cx="6519672" cy="35661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0E2A47"/>
                </a:solidFill>
                <a:latin typeface="Montserrat"/>
              </a:rPr>
              <a:t>805 aptas · 159 excluidas · 11 pendientes de 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8119872" cy="173736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97680"/>
            <a:ext cx="8028263" cy="173736"/>
          </a:xfrm>
          <a:prstGeom prst="rect">
            <a:avLst/>
          </a:prstGeom>
          <a:solidFill>
            <a:srgbClr val="5E8CBE"/>
          </a:solidFill>
          <a:ln>
            <a:solidFill>
              <a:srgbClr val="5E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489704"/>
            <a:ext cx="8119872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Etiquetas de B aún cerradas para el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Mapas y gráficos de paridad: siguiente hito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comparación con XGBoost previo es solo ilustrativa; la validación externa A→B sigue pendiente.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Terminar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Cerrar búsqueda y ajustar cinco semillas.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Sellar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Congelar modelos, variables y hashes de predicción.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Evaluar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Verificar RPT, QA y cobertura; calcular métricas.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Graficar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Paridad por nodo/escenario y mapas espaciales.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27832"/>
            <a:ext cx="7754112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ontserrat"/>
              </a:rPr>
              <a:t>La comparación con el modelo previo es retrospectiva; no reemplaza la paridad OOF ni la evaluación externa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797356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60" b="0">
                <a:solidFill>
                  <a:srgbClr val="5B6977"/>
                </a:solidFill>
                <a:latin typeface="Montserrat"/>
              </a:rPr>
              <a:t>Aún no reportamos % de confiabilidad: se calculará con predicciones selladas y etiquetas verificadas de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Qué podemos afirmar hoy y qué falta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auditoría convirtió una tabla histórica en un experimento trazable con etiquetas protegidas.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5A84"/>
                </a:solidFill>
                <a:latin typeface="Montserrat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Dataset A reconstruido y filtrado, con manifiestos y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XGBoost seleccionado entre 50 ensayos; candidato verificado.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Nueva red B en simulación, con exclusiones reportadas.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Evidencia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Terminar MLP y ajustar el ensemble de cinco semillas.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Sellar predicciones; evaluar B y generar mapas/paridad nuevos.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Probar otra red antes de afirmar generalización amplia.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Cautela hidráulica: continuidad ≤ 5%, extensiones de drenaje y tolerancias numéricas son provisionales; falta justificarlas.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Alcance: hidrogramas sintéticos de caudal por nodo; lluvia–escorrentía sigue fuera del proyecto actual.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Trazabilidad y decisiones congeladas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Cada resultado queda asociado a una preparación, un protocolo y artefactos verificables.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29-10-2026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33856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ID de preparación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138.560 filas · 866 corridas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55648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Manifiesto de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2880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4bf0c50f61b2287…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Fuentes, archivos por corrida y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40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Prerregistro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6d5b729e33bd1162…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Sellado antes de las búsquedas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99232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7238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Estudio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7238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5b3ace9ece0223b8…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7238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50 ensayos · semilla 42 · GroupKFold(5)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21024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9417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Protocolo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69417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e1e66e5ab9a41273…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39 × 25 escenarios · staging sin etiquetas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183879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5B6977"/>
                </a:solidFill>
                <a:latin typeface="Montserrat"/>
              </a:rPr>
              <a:t>Rutas y hashes completos en los manifiestos y la bitácora; las etiquetas de B no se guardan en SQLite.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t>Modelo de aprendizaje automático para predecir fallas hidráulicas</a:t>
            </a:r>
          </a:p>
          <a:p>
            <a:r>
              <a:t>en redes de alcantarillado pluvial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t>29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